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c:v>
                </c:pt>
              </c:strCache>
            </c:strRef>
          </c:tx>
          <c:spPr>
            <a:solidFill>
              <a:schemeClr val="tx2"/>
            </a:solidFill>
          </c:spPr>
          <c:cat>
            <c:strRef>
              <c:f>Sheet1!$A$2:$A$5</c:f>
              <c:strCache>
                <c:ptCount val="4"/>
                <c:pt idx="0">
                  <c:v>Find the tools trustworthy</c:v>
                </c:pt>
                <c:pt idx="1">
                  <c:v>Feel adequately trained</c:v>
                </c:pt>
                <c:pt idx="2">
                  <c:v>Institution governs AI well</c:v>
                </c:pt>
                <c:pt idx="3">
                  <c:v>Use AI at work</c:v>
                </c:pt>
              </c:strCache>
            </c:strRef>
          </c:cat>
          <c:val>
            <c:numRef>
              <c:f>Sheet1!$B$2:$B$5</c:f>
              <c:numCache>
                <c:formatCode>General</c:formatCode>
                <c:ptCount val="4"/>
                <c:pt idx="0">
                  <c:v>22</c:v>
                </c:pt>
                <c:pt idx="1">
                  <c:v>27</c:v>
                </c:pt>
                <c:pt idx="2">
                  <c:v>32</c:v>
                </c:pt>
                <c:pt idx="3">
                  <c:v>58</c:v>
                </c:pt>
              </c:numCache>
            </c:numRef>
          </c:val>
        </c:ser>
        <c:dLbls>
          <c:numFmt formatCode="0&quot;%&quot;" sourceLinked="0"/>
          <c:txPr>
            <a:bodyPr/>
            <a:lstStyle/>
            <a:p>
              <a:pPr>
                <a:defRPr sz="1400" b="1"/>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400"/>
            </a:pPr>
          </a:p>
        </c:txPr>
        <c:crossAx val="-2113994440"/>
        <c:crosses val="autoZero"/>
        <c:auto val="1"/>
        <c:lblAlgn val="ctr"/>
        <c:lblOffset val="100"/>
        <c:noMultiLvlLbl val="0"/>
      </c:catAx>
      <c:valAx>
        <c:axId val="-2113994440"/>
        <c:scaling>
          <c:max val="72.0"/>
          <c:min val="0.0"/>
        </c:scaling>
        <c:delete val="1"/>
        <c:axPos val="b"/>
        <c:majorTickMark val="out"/>
        <c:minorTickMark val="none"/>
        <c:tickLblPos val="none"/>
        <c:spPr>
          <a:ln>
            <a:noFill/>
          </a:ln>
        </c:spPr>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c:v>
                </c:pt>
              </c:strCache>
            </c:strRef>
          </c:tx>
          <c:spPr>
            <a:solidFill>
              <a:schemeClr val="tx2"/>
            </a:solidFill>
          </c:spPr>
          <c:cat>
            <c:strRef>
              <c:f>Sheet1!$A$2:$A$4</c:f>
              <c:strCache>
                <c:ptCount val="3"/>
                <c:pt idx="0">
                  <c:v>AI-led</c:v>
                </c:pt>
                <c:pt idx="1">
                  <c:v>AI-assisted</c:v>
                </c:pt>
                <c:pt idx="2">
                  <c:v>Human-only</c:v>
                </c:pt>
              </c:strCache>
            </c:strRef>
          </c:cat>
          <c:val>
            <c:numRef>
              <c:f>Sheet1!$B$2:$B$4</c:f>
              <c:numCache>
                <c:formatCode>General</c:formatCode>
                <c:ptCount val="3"/>
                <c:pt idx="0">
                  <c:v>37</c:v>
                </c:pt>
                <c:pt idx="1">
                  <c:v>91</c:v>
                </c:pt>
                <c:pt idx="2">
                  <c:v>94</c:v>
                </c:pt>
              </c:numCache>
            </c:numRef>
          </c:val>
        </c:ser>
        <c:dLbls>
          <c:numFmt formatCode="0&quot;%&quot;" sourceLinked="0"/>
          <c:txPr>
            <a:bodyPr/>
            <a:lstStyle/>
            <a:p>
              <a:pPr>
                <a:defRPr sz="1400" b="1"/>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400"/>
            </a:pPr>
          </a:p>
        </c:txPr>
        <c:crossAx val="-2113994440"/>
        <c:crosses val="autoZero"/>
        <c:auto val="1"/>
        <c:lblAlgn val="ctr"/>
        <c:lblOffset val="100"/>
        <c:noMultiLvlLbl val="0"/>
      </c:catAx>
      <c:valAx>
        <c:axId val="-2113994440"/>
        <c:scaling>
          <c:max val="112.0"/>
          <c:min val="0.0"/>
        </c:scaling>
        <c:delete val="1"/>
        <c:axPos val="b"/>
        <c:majorTickMark val="out"/>
        <c:minorTickMark val="none"/>
        <c:tickLblPos val="none"/>
        <c:spPr>
          <a:ln>
            <a:noFill/>
          </a:ln>
        </c:spPr>
        <c:crossAx val="-2068027336"/>
        <c:crosses val="autoZero"/>
      </c:valAx>
    </c:plotArea>
    <c:dispBlanksAs val="gap"/>
  </c:chart>
  <c:txPr>
    <a:bodyPr/>
    <a:lstStyle/>
    <a:p>
      <a:pPr>
        <a:defRPr sz="14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(0.5 min)]</a:t>
            </a:r>
          </a:p>
          <a:p/>
          <a:p>
            <a:r>
              <a:t>Welcome. In the next 25 minutes I want to give you three things: a distinction (chat vs. agent), a map (what exists, and what WashU already pays for), and a warning (how not to let this take over your research life). Everything after the break builds on these.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Browser-Tab Loop (1 min)]</a:t>
            </a:r>
          </a:p>
          <a:p/>
          <a:p>
            <a:r>
              <a:t>Raise your hand if this is how you use AI for your analysis right now. (Most hands go up — that's fine; it was mine too.) This loop is fast for a single question. For a research project it is quietly corrosive: the context is lost every time, the record of what changed is gone, and the temptation is to paste data somewhere it shouldn't go. Part 1 is about a different way of working.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[Chat-Based vs. Agent-Based AI (2 min)]</a:t>
            </a:r>
          </a:p>
          <a:p/>
          <a:p>
            <a:r>
              <a:t>The difference is not the model; it's where the model sits. In a chat, the model sees only what you paste and can only hand text back. An agent is given tools: it can list your folders, open the codebook, write 1000_clean.Rmd, run it in R, see that it failed, and fix it. The same model can be used either way. Claude Code — I'll mostly call it Claude CLI today, because we'll run it in the terminal — is an agent. claude.ai in the browser is a chat.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Changes (2 min)]</a:t>
            </a:r>
          </a:p>
          <a:p/>
          <a:p>
            <a:r>
              <a:t>Walk the rows. Two to emphasize. First, the record: an agent's work ends up as files — scripts you can re-run, logs you can read — which is what reproducibility and, later, disclosure require. Second, the last row: the agent does not remove your responsibility to check. It changes what you check — you review scripts and outputs instead of re-pasting snippets. CLAUDE.md, the project memory file, is the subject of Part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Task, Two Ways (2 min)]</a:t>
            </a:r>
          </a:p>
          <a:p/>
          <a:p>
            <a:r>
              <a:t>The counts come from the synthetic dataset we'll use in Part 3. Notice two things in the agent version. It never needed to show you individual records — it worked from counts. And it stopped and asked before deciding what to do with blank ZIPs, because that's a research decision, not a coding one. That's the working style we'll practice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Landscape: How Researchers Use AI Now (2 min)]</a:t>
            </a:r>
          </a:p>
          <a:p/>
          <a:p>
            <a:r>
              <a:t>Sources (verified 2026-10-12):</a:t>
            </a:r>
          </a:p>
          <a:p>
            <a:r>
              <a:t>- Wiley ExplanAItions 2025, press release, October 2025: https://newsroom.wiley.com/press-releases/press-release-details/2025/AI-Adoption-Jumps-to-84-Among-Researchers-as-Expectations-Undergo-Significant-Reality-Check/default.aspx — concern about hallucinations also rose, 51% → 64%; about privacy and security, 47% → 58%.</a:t>
            </a:r>
          </a:p>
          <a:p>
            <a:r>
              <a:t>- Elsevier, Researcher of the Future, November 2025: https://www.elsevier.com/about/press-releases/elseviers-global-survey-of-3-000-researchers-reveals-less-than-half-have</a:t>
            </a:r>
          </a:p>
          <a:p>
            <a:r>
              <a:t>- Korinek, A. (2023). Generative AI for economic research: Use cases and implications for economists. Journal of Economic Literature, 61(4), 1281–1317. https://doi.org/10.1257/jel.20231736</a:t>
            </a:r>
          </a:p>
          <a:p>
            <a:r>
              <a:t>- Korinek, A. (2025). AI agents for economic research (NBER Working Paper 34202). https://doi.org/10.3386/w34202</a:t>
            </a:r>
          </a:p>
          <a:p>
            <a:r>
              <a:t>- For the social science agenda: Grossmann et al. (2023), Science, 380(6650), 1108–1109, https://doi.org/10.1126/science.adi1778 ; Bail (2024), PNAS, 121(21), e2314021121, https://doi.org/10.1073/pnas.2314021121 ; Davidson &amp; Karell (2025), Sociological Methods &amp; Research, 54(3), 775–793, https://doi.org/10.1177/00491241251339184 (introduction to a special issue organized around measurement, prompting, and simulation).</a:t>
            </a:r>
          </a:p>
          <a:p/>
          <a:p>
            <a:r>
              <a:t>Talking points: almost everyone in this room already uses AI; very few were trained to, and most don't fully trust it. That gap — high use, low training, low trust — is exactly what a workflow fixes. And the field is moving from chat toward agents; Korinek's two papers, two years apart, capture that shift in one discipline next door to ours.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It Helps, Where It Fails (2 min)]</a:t>
            </a:r>
          </a:p>
          <a:p/>
          <a:p>
            <a:r>
              <a:t>Sources (verified 2026-10-12):</a:t>
            </a:r>
          </a:p>
          <a:p>
            <a:r>
              <a:t>- Gilardi, F., Alizadeh, M., &amp; Kubli, M. (2023). ChatGPT outperforms crowd workers for text-annotation tasks. PNAS, 120(30), e2305016120. https://doi.org/10.1073/pnas.2305016120</a:t>
            </a:r>
          </a:p>
          <a:p>
            <a:r>
              <a:t>- Barany, A., et al. (2024). ChatGPT for education research: Exploring the potential of large language models for qualitative codebook development. AIED 2024, LNCS 14830, 134–149. https://doi.org/10.1007/978-3-031-64299-9_10 — hybrid human + GPT codebooks beat fully automated ones.</a:t>
            </a:r>
          </a:p>
          <a:p>
            <a:r>
              <a:t>- Brodeur, A., Valenta, D., Marcoci, A., et al. (2026). AI-assisted teams outperform AI-led teams but not human-only teams in assessing research reproducibility in quantitative social science. PNAS, 123(22), e2524747123. https://doi.org/10.1073/pnas.2524747123 — 288 researchers in 103 randomly assigned teams; human-only teams also found more major coding errors.</a:t>
            </a:r>
          </a:p>
          <a:p>
            <a:r>
              <a:t>- Baumann, J., Röttger, P., Urman, A., et al. (2025). Large language model hacking: Quantifying the hidden risks of using LLMs for text annotation (arXiv 2509.08825). https://arxiv.org/abs/2509.08825 — about 31% of hypotheses reached incorrect conclusions with state-of-the-art models, about half with smaller ones (13 million labels, 18 models). Preprint.</a:t>
            </a:r>
          </a:p>
          <a:p>
            <a:r>
              <a:t>- Bisbee, J., Clinton, J. D., Dorff, C., Kenkel, B., &amp; Larson, J. M. (2024). Synthetic replacements for human survey data? The perils of large language models. Political Analysis, 32(4), 401–416. https://doi.org/10.1017/pan.2024.5</a:t>
            </a:r>
          </a:p>
          <a:p>
            <a:r>
              <a:t>- Lu, C., et al. (2026). Towards end-to-end automation of AI research. Nature, 651(8107), 914–919. https://doi.org/10.1038/s41586-026-10265-5 — a fully AI-generated paper passed workshop peer review, but the authors themselves report weak rigor and inaccurate citations.</a:t>
            </a:r>
          </a:p>
          <a:p>
            <a:r>
              <a:t>- Practice guidance for annotation: Törnberg, P. (2024). Best practices for text annotation with large language models. Sociologica, 18(2), 67–85. https://doi.org/10.6092/issn.1971-8853/19461</a:t>
            </a:r>
          </a:p>
          <a:p/>
          <a:p>
            <a:r>
              <a:t>Talking points: the Brodeur study is the one to remember. With a researcher in charge and AI assisting, teams did almost as well as humans alone; when the AI led, reproduction collapsed. That is the design principle behind Part 3: the agent does the connective work, and the researcher decides at every checkpoint. Every "fails" item here is a judgment problem, not a typing problem.</a:t>
            </a:r>
          </a:p>
          <a:p/>
          <a:p>
            <a:r>
              <a:t>Optional mention (preprint; check figures before quoting): Alizadeh, Mosleh, Gilardi, Kasirzadeh, &amp; Tucker (2026), AI coding agents can reproduce social science findings (arXiv 2606.11447), https://arxiv.org/abs/2606.11447 — coding agents reproduced many published findings, but subtle prompt framing could nudge them toward confirmatory specification search.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Platform → Model → Surface (2 min)]</a:t>
            </a:r>
          </a:p>
          <a:p/>
          <a:p>
            <a:r>
              <a:t>People mix these up constantly: "I use ChatGPT" says nothing about which model or whether it touched any files. Keep the three layers separate. The platform account decides what data you may put in it — that's a WashU contract question. The model decides how capable it is and how much it costs. The surface decides whether you're chatting or working with an agent in your project. Today's workshop is mostly about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WashU Provides (2.5 min)]</a:t>
            </a:r>
          </a:p>
          <a:p/>
          <a:p>
            <a:r>
              <a:t>Sources (accessed 2026-10-12): https://ai.washu.edu/tools ; https://it.washu.edu/claude-for-education/ ; https://it.washu.edu/openai ; https://it.washu.edu/copilot-m365/ ; https://it.washu.edu/secure-ask-washu/ ; https://it.washu.edu/items/google-gemini/ .</a:t>
            </a:r>
          </a:p>
          <a:p/>
          <a:p>
            <a:r>
              <a:t>The line at the bottom is the one to remember: Claude Code comes only with Claude Edu, which is not approved for PHI; OpenAI's Codex is not approved for HIPAA or FERPA data; GitHub Copilot is not approved for PHI. So PHI never goes into an agentic workflow — we'll come back to this in Part 4.</a:t>
            </a:r>
          </a:p>
          <a:p/>
          <a:p>
            <a:r>
              <a:t>Two things to check yourself: (1) WashU's pages are inconsistent on Gemini and PHI — don't assume it's approved until the HIPAA Privacy Office (hipaa@wustl.edu) confirms; (2) for students, the Claude Edu page describes Claude Code for faculty and staff — if you're a student, confirm with WashU IT that your free seat includes it. Also worth knowing: WashU offers secure AI API endpoints for researchers on request, and NotebookLM is now called Gemini Notebook.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Tiers and Cost (1.5 min)]</a:t>
            </a:r>
          </a:p>
          <a:p/>
          <a:p>
            <a:r>
              <a:t>Sources (accessed 2026-10-12): https://platform.claude.com/docs/en/about-claude/models/overview ; https://ai.google.dev/gemini-api/docs/models ; https://developers.openai.com/api/docs/models .</a:t>
            </a:r>
          </a:p>
          <a:p/>
          <a:p>
            <a:r>
              <a:t>Every platform has the same structure: a flagship, a balanced middle, and a small fast model. Names change every few months; the structure doesn't. Anthropic describes its smallest model as built "for high-volume, latency-sensitive tasks such as classification, extraction, and routing" — which describes a lot of social science text work. Hold that thought for slide 13.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[Surfaces: Where the Agent Runs (2.5 min)]</a:t>
            </a:r>
          </a:p>
          <a:p/>
          <a:p>
            <a:r>
              <a:t>Sources (accessed 2026-10-12): https://code.claude.com/docs/en/desktop ; https://code.claude.com/docs/en/web-quickstart ; https://claude.com/product/cowork .</a:t>
            </a:r>
          </a:p>
          <a:p/>
          <a:p>
            <a:r>
              <a:t>The CLI and the desktop app's Code tab are the same agent: both run on your machine and read the same CLAUDE.md and settings. We use the terminal because it works the same on every computer, it is where R and your files already live, and the session itself is a readable record. If the terminal makes you uneasy, the desktop app is a fine alternative and everything from Part 2 carries over.</a:t>
            </a:r>
          </a:p>
          <a:p/>
          <a:p>
            <a:r>
              <a:t>Cowork is different: you hand off a task — "turn these 30 PDFs into an annotated table" — and come back to the result. It is designed for knowledge work, not analysis pipelines. Anthropic's description: "You choose the folders and tools. Claude can't reach anything else." Web and cloud runs move your files to Anthropic's infrastructure; under Claude Edu that is approved for FERPA data, never for PHI.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[Division of Labor (2 min)]</a:t>
            </a:r>
          </a:p>
          <a:p/>
          <a:p>
            <a:r>
              <a:t>This is a cost argument and a fit argument. Gemini is free to you and good at reading a lot; use it for the high-volume exploratory work. Claude CLI is where the work touches your project. The handoff is just a file: a literature map from Gemini saved into writing/ becomes context the agent can read. We'll see that in Part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Drown in It (2 min)]</a:t>
            </a:r>
          </a:p>
          <a:p/>
          <a:p>
            <a:r>
              <a:t>This is the most important slide in Part 1, so let me say it plainly. Knowing how to work with an agent like Claude CLI is genuinely valuable — it's why we're here. But don't let it take over. You are education researchers, not AI researchers. Tracking the AI field is my job; let me do that for you, and I'll pass on what actually matters.</a:t>
            </a:r>
          </a:p>
          <a:p/>
          <a:p>
            <a:r>
              <a:t>Scrolling AI news on Threads or X every day will not make your research better. Most of it is announcements, and most announcements won't change how you clean data or estimate a model.</a:t>
            </a:r>
          </a:p>
          <a:p/>
          <a:p>
            <a:r>
              <a:t>On models: I'm honestly not sure most social science work needs the newest frontier model — Opus 5.5 or Fable. Look at the price gap on slide 10. For classifying open-ended responses or extracting fields from documents, a smaller model, validated against a hand-coded sample, is often enough. Where a stronger model does pay off is long, multi-step agent work — like the pipeline in Part 3 — where small mistakes compound. So choose by task, and validate either way. The evidence points the same way: fine-tuned smaller models are competitive with the largest ones on text classification at much lower cost (Chae &amp; Davidson, 2025, Sociological Methods &amp; Research, 55(2), 501–567, https://doi.org/10.1177/00491241251325243), and open models come close to ChatGPT on typical annotation tasks (Alizadeh et al., 2025, Journal of Computational Social Science, 8(1), 17, https://doi.org/10.1007/s42001-024-00345-9). But Baumann et al. (2025) show that annotation choices can flip conclusions with any model — so validation against human coding matters more than model size.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Community, Not a Feed (1 min)]</a:t>
            </a:r>
          </a:p>
          <a:p/>
          <a:p>
            <a:r>
              <a:t>A small community beats a big feed. Bring a prompt that worked, a CLAUDE.md rule that saved you time, a mistake the agent made — that's the information worth sharing. [Describe the channel and how to join.] Now let's set it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7.png"/><Relationship Id="rId4" Type="http://schemas.openxmlformats.org/officeDocument/2006/relationships/image" Target="../media/image35.png"/><Relationship Id="rId5"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7.png"/><Relationship Id="rId4" Type="http://schemas.openxmlformats.org/officeDocument/2006/relationships/chart" Target="../charts/chart2.xml"/><Relationship Id="rId5" Type="http://schemas.openxmlformats.org/officeDocument/2006/relationships/image" Target="../media/image3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5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AI-Empowered Research</a:t>
            </a:r>
          </a:p>
        </p:txBody>
      </p:sp>
      <p:sp>
        <p:nvSpPr>
          <p:cNvPr id="3" name="Text Placeholder 2"/>
          <p:cNvSpPr>
            <a:spLocks noGrp="1"/>
          </p:cNvSpPr>
          <p:nvPr>
            <p:ph type="body" idx="14" sz="quarter"/>
          </p:nvPr>
        </p:nvSpPr>
        <p:spPr>
          <a:xfrm>
            <a:off x="3657600" y="4434840"/>
            <a:ext cx="8138160" cy="457200"/>
          </a:xfrm>
        </p:spPr>
        <p:txBody>
          <a:bodyPr/>
          <a:lstStyle/>
          <a:p>
            <a:r>
              <a:rPr sz="2400"/>
              <a:t>Part 1 · The AI Research Landscape</a:t>
            </a:r>
          </a:p>
        </p:txBody>
      </p:sp>
      <p:sp>
        <p:nvSpPr>
          <p:cNvPr id="4" name="TextBox 3"/>
          <p:cNvSpPr txBox="1"/>
          <p:nvPr/>
        </p:nvSpPr>
        <p:spPr>
          <a:xfrm>
            <a:off x="3657600" y="5074920"/>
            <a:ext cx="8138160" cy="365760"/>
          </a:xfrm>
          <a:prstGeom prst="rect">
            <a:avLst/>
          </a:prstGeom>
          <a:noFill/>
        </p:spPr>
        <p:txBody>
          <a:bodyPr wrap="square" lIns="0" rIns="0" tIns="0" bIns="0" anchor="t">
            <a:spAutoFit/>
          </a:bodyPr>
          <a:lstStyle/>
          <a:p>
            <a:pPr algn="l"/>
            <a:r>
              <a:rPr sz="1600" b="0" i="0">
                <a:solidFill>
                  <a:srgbClr val="5F5F5F"/>
                </a:solidFill>
              </a:rPr>
              <a:t>Yung Chun · CERP³ · Hillman Hall 130 ·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browser-tab loop</a:t>
            </a:r>
          </a:p>
        </p:txBody>
      </p:sp>
      <p:sp>
        <p:nvSpPr>
          <p:cNvPr id="3" name="Text Placeholder 2"/>
          <p:cNvSpPr>
            <a:spLocks noGrp="1"/>
          </p:cNvSpPr>
          <p:nvPr>
            <p:ph type="body" idx="12" sz="quarter"/>
          </p:nvPr>
        </p:nvSpPr>
        <p:spPr/>
        <p:txBody>
          <a:bodyPr/>
          <a:lstStyle/>
          <a:p>
            <a:r>
              <a:t>How most of us use AI for analysis right now</a:t>
            </a:r>
          </a:p>
        </p:txBody>
      </p:sp>
      <p:sp>
        <p:nvSpPr>
          <p:cNvPr id="4" name="Text Placeholder 3"/>
          <p:cNvSpPr>
            <a:spLocks noGrp="1"/>
          </p:cNvSpPr>
          <p:nvPr>
            <p:ph type="body" idx="14" sz="quarter"/>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cxnSp>
        <p:nvCxnSpPr>
          <p:cNvPr id="13" name="Connector 12"/>
          <p:cNvCxnSpPr/>
          <p:nvPr/>
        </p:nvCxnSpPr>
        <p:spPr>
          <a:xfrm>
            <a:off x="3853130" y="260329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094819" y="3629253"/>
            <a:ext cx="0" cy="422453"/>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3853130" y="486643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flipV="1">
            <a:off x="1912990" y="486643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214540" y="3629253"/>
            <a:ext cx="0" cy="422453"/>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912990" y="2603296"/>
            <a:ext cx="543239" cy="211227"/>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0"/>
          <p:cNvSpPr/>
          <p:nvPr/>
        </p:nvSpPr>
        <p:spPr>
          <a:xfrm>
            <a:off x="2103120" y="205740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103120" y="2057400"/>
            <a:ext cx="2103120" cy="548640"/>
          </a:xfrm>
          <a:prstGeom prst="rect">
            <a:avLst/>
          </a:prstGeom>
          <a:noFill/>
        </p:spPr>
        <p:txBody>
          <a:bodyPr wrap="square" lIns="0" rIns="0" tIns="0" bIns="0" anchor="ctr">
            <a:spAutoFit/>
          </a:bodyPr>
          <a:lstStyle/>
          <a:p>
            <a:pPr algn="ctr"/>
            <a:r>
              <a:rPr sz="1500" b="0" i="0">
                <a:solidFill>
                  <a:schemeClr val="tx1"/>
                </a:solidFill>
              </a:rPr>
              <a:t>Copy code</a:t>
            </a:r>
          </a:p>
        </p:txBody>
      </p:sp>
      <p:sp>
        <p:nvSpPr>
          <p:cNvPr id="21" name="loop_1"/>
          <p:cNvSpPr/>
          <p:nvPr/>
        </p:nvSpPr>
        <p:spPr>
          <a:xfrm>
            <a:off x="4043259" y="281178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043259" y="2811780"/>
            <a:ext cx="2103120" cy="548640"/>
          </a:xfrm>
          <a:prstGeom prst="rect">
            <a:avLst/>
          </a:prstGeom>
          <a:noFill/>
        </p:spPr>
        <p:txBody>
          <a:bodyPr wrap="square" lIns="0" rIns="0" tIns="0" bIns="0" anchor="ctr">
            <a:spAutoFit/>
          </a:bodyPr>
          <a:lstStyle/>
          <a:p>
            <a:pPr algn="ctr"/>
            <a:r>
              <a:rPr sz="1500" b="0" i="0">
                <a:solidFill>
                  <a:schemeClr val="tx1"/>
                </a:solidFill>
              </a:rPr>
              <a:t>Paste into a chat</a:t>
            </a:r>
          </a:p>
        </p:txBody>
      </p:sp>
      <p:sp>
        <p:nvSpPr>
          <p:cNvPr id="23" name="loop_2"/>
          <p:cNvSpPr/>
          <p:nvPr/>
        </p:nvSpPr>
        <p:spPr>
          <a:xfrm>
            <a:off x="4043259" y="432054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043259" y="4320540"/>
            <a:ext cx="2103120" cy="548640"/>
          </a:xfrm>
          <a:prstGeom prst="rect">
            <a:avLst/>
          </a:prstGeom>
          <a:noFill/>
        </p:spPr>
        <p:txBody>
          <a:bodyPr wrap="square" lIns="0" rIns="0" tIns="0" bIns="0" anchor="ctr">
            <a:spAutoFit/>
          </a:bodyPr>
          <a:lstStyle/>
          <a:p>
            <a:pPr algn="ctr"/>
            <a:r>
              <a:rPr sz="1500" b="0" i="0">
                <a:solidFill>
                  <a:schemeClr val="tx1"/>
                </a:solidFill>
              </a:rPr>
              <a:t>Read a plausible answer</a:t>
            </a:r>
          </a:p>
        </p:txBody>
      </p:sp>
      <p:sp>
        <p:nvSpPr>
          <p:cNvPr id="25" name="loop_3"/>
          <p:cNvSpPr/>
          <p:nvPr/>
        </p:nvSpPr>
        <p:spPr>
          <a:xfrm>
            <a:off x="2103120" y="507492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103120" y="5074920"/>
            <a:ext cx="2103120" cy="548640"/>
          </a:xfrm>
          <a:prstGeom prst="rect">
            <a:avLst/>
          </a:prstGeom>
          <a:noFill/>
        </p:spPr>
        <p:txBody>
          <a:bodyPr wrap="square" lIns="0" rIns="0" tIns="0" bIns="0" anchor="ctr">
            <a:spAutoFit/>
          </a:bodyPr>
          <a:lstStyle/>
          <a:p>
            <a:pPr algn="ctr"/>
            <a:r>
              <a:rPr sz="1500" b="0" i="0">
                <a:solidFill>
                  <a:schemeClr val="tx1"/>
                </a:solidFill>
              </a:rPr>
              <a:t>Paste it back into R</a:t>
            </a:r>
          </a:p>
        </p:txBody>
      </p:sp>
      <p:sp>
        <p:nvSpPr>
          <p:cNvPr id="27" name="loop_4"/>
          <p:cNvSpPr/>
          <p:nvPr/>
        </p:nvSpPr>
        <p:spPr>
          <a:xfrm>
            <a:off x="162980" y="4320540"/>
            <a:ext cx="2103120" cy="5486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62980" y="4320540"/>
            <a:ext cx="2103120" cy="548640"/>
          </a:xfrm>
          <a:prstGeom prst="rect">
            <a:avLst/>
          </a:prstGeom>
          <a:noFill/>
        </p:spPr>
        <p:txBody>
          <a:bodyPr wrap="square" lIns="0" rIns="0" tIns="0" bIns="0" anchor="ctr">
            <a:spAutoFit/>
          </a:bodyPr>
          <a:lstStyle/>
          <a:p>
            <a:pPr algn="ctr"/>
            <a:r>
              <a:rPr sz="1500" b="1" i="0">
                <a:solidFill>
                  <a:schemeClr val="bg1"/>
                </a:solidFill>
              </a:rPr>
              <a:t>Error</a:t>
            </a:r>
          </a:p>
        </p:txBody>
      </p:sp>
      <p:sp>
        <p:nvSpPr>
          <p:cNvPr id="29" name="loop_5"/>
          <p:cNvSpPr/>
          <p:nvPr/>
        </p:nvSpPr>
        <p:spPr>
          <a:xfrm>
            <a:off x="162980" y="2811780"/>
            <a:ext cx="2103120" cy="54864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62980" y="2811780"/>
            <a:ext cx="2103120" cy="548640"/>
          </a:xfrm>
          <a:prstGeom prst="rect">
            <a:avLst/>
          </a:prstGeom>
          <a:noFill/>
        </p:spPr>
        <p:txBody>
          <a:bodyPr wrap="square" lIns="0" rIns="0" tIns="0" bIns="0" anchor="ctr">
            <a:spAutoFit/>
          </a:bodyPr>
          <a:lstStyle/>
          <a:p>
            <a:pPr algn="ctr"/>
            <a:r>
              <a:rPr sz="1500" b="0" i="0">
                <a:solidFill>
                  <a:schemeClr val="tx1"/>
                </a:solidFill>
              </a:rPr>
              <a:t>Paste the error back</a:t>
            </a:r>
          </a:p>
        </p:txBody>
      </p:sp>
      <p:sp>
        <p:nvSpPr>
          <p:cNvPr id="31" name="icon_FaRotate_circle"/>
          <p:cNvSpPr/>
          <p:nvPr/>
        </p:nvSpPr>
        <p:spPr>
          <a:xfrm>
            <a:off x="2770632" y="3456432"/>
            <a:ext cx="768096" cy="76809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FaRotate_white.png"/>
          <p:cNvPicPr>
            <a:picLocks noChangeAspect="1"/>
          </p:cNvPicPr>
          <p:nvPr/>
        </p:nvPicPr>
        <p:blipFill>
          <a:blip r:embed="rId3"/>
          <a:stretch>
            <a:fillRect/>
          </a:stretch>
        </p:blipFill>
        <p:spPr>
          <a:xfrm>
            <a:off x="2962656" y="3648456"/>
            <a:ext cx="384048" cy="384048"/>
          </a:xfrm>
          <a:prstGeom prst="rect">
            <a:avLst/>
          </a:prstGeom>
        </p:spPr>
      </p:pic>
      <p:sp>
        <p:nvSpPr>
          <p:cNvPr id="33" name="Rounded Rectangle 32"/>
          <p:cNvSpPr/>
          <p:nvPr/>
        </p:nvSpPr>
        <p:spPr>
          <a:xfrm>
            <a:off x="6583680" y="2011680"/>
            <a:ext cx="5093208"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icon_FaBookOpen_circle"/>
          <p:cNvSpPr/>
          <p:nvPr/>
        </p:nvSpPr>
        <p:spPr>
          <a:xfrm>
            <a:off x="6812280" y="2240280"/>
            <a:ext cx="594360" cy="59436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BookOpen_white.png"/>
          <p:cNvPicPr>
            <a:picLocks noChangeAspect="1"/>
          </p:cNvPicPr>
          <p:nvPr/>
        </p:nvPicPr>
        <p:blipFill>
          <a:blip r:embed="rId4"/>
          <a:stretch>
            <a:fillRect/>
          </a:stretch>
        </p:blipFill>
        <p:spPr>
          <a:xfrm>
            <a:off x="6960870" y="2388870"/>
            <a:ext cx="297180" cy="297180"/>
          </a:xfrm>
          <a:prstGeom prst="rect">
            <a:avLst/>
          </a:prstGeom>
        </p:spPr>
      </p:pic>
      <p:sp>
        <p:nvSpPr>
          <p:cNvPr id="36" name="TextBox 35"/>
          <p:cNvSpPr txBox="1"/>
          <p:nvPr/>
        </p:nvSpPr>
        <p:spPr>
          <a:xfrm>
            <a:off x="7635240" y="2011680"/>
            <a:ext cx="3840480" cy="1051560"/>
          </a:xfrm>
          <a:prstGeom prst="rect">
            <a:avLst/>
          </a:prstGeom>
          <a:noFill/>
        </p:spPr>
        <p:txBody>
          <a:bodyPr wrap="square" lIns="0" rIns="0" tIns="0" bIns="0" anchor="ctr">
            <a:spAutoFit/>
          </a:bodyPr>
          <a:lstStyle/>
          <a:p>
            <a:pPr algn="l"/>
            <a:r>
              <a:rPr sz="1700" b="0" i="0">
                <a:solidFill>
                  <a:schemeClr val="tx1"/>
                </a:solidFill>
              </a:rPr>
              <a:t>The model never saw your data dictionary.</a:t>
            </a:r>
          </a:p>
        </p:txBody>
      </p:sp>
      <p:sp>
        <p:nvSpPr>
          <p:cNvPr id="37" name="Rounded Rectangle 36"/>
          <p:cNvSpPr/>
          <p:nvPr/>
        </p:nvSpPr>
        <p:spPr>
          <a:xfrm>
            <a:off x="6583680" y="3273552"/>
            <a:ext cx="5093208"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icon_FaMagnifyingGlass_circle"/>
          <p:cNvSpPr/>
          <p:nvPr/>
        </p:nvSpPr>
        <p:spPr>
          <a:xfrm>
            <a:off x="6812280" y="3502152"/>
            <a:ext cx="594360" cy="59436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FaMagnifyingGlass_white.png"/>
          <p:cNvPicPr>
            <a:picLocks noChangeAspect="1"/>
          </p:cNvPicPr>
          <p:nvPr/>
        </p:nvPicPr>
        <p:blipFill>
          <a:blip r:embed="rId5"/>
          <a:stretch>
            <a:fillRect/>
          </a:stretch>
        </p:blipFill>
        <p:spPr>
          <a:xfrm>
            <a:off x="6960870" y="3650742"/>
            <a:ext cx="297180" cy="297180"/>
          </a:xfrm>
          <a:prstGeom prst="rect">
            <a:avLst/>
          </a:prstGeom>
        </p:spPr>
      </p:pic>
      <p:sp>
        <p:nvSpPr>
          <p:cNvPr id="40" name="TextBox 39"/>
          <p:cNvSpPr txBox="1"/>
          <p:nvPr/>
        </p:nvSpPr>
        <p:spPr>
          <a:xfrm>
            <a:off x="7635240" y="3273552"/>
            <a:ext cx="3840480" cy="1051560"/>
          </a:xfrm>
          <a:prstGeom prst="rect">
            <a:avLst/>
          </a:prstGeom>
          <a:noFill/>
        </p:spPr>
        <p:txBody>
          <a:bodyPr wrap="square" lIns="0" rIns="0" tIns="0" bIns="0" anchor="ctr">
            <a:spAutoFit/>
          </a:bodyPr>
          <a:lstStyle/>
          <a:p>
            <a:pPr algn="l"/>
            <a:r>
              <a:rPr sz="1700" b="0" i="0">
                <a:solidFill>
                  <a:schemeClr val="tx1"/>
                </a:solidFill>
              </a:rPr>
              <a:t>The fix lives in a chat window you will never find again.</a:t>
            </a:r>
          </a:p>
        </p:txBody>
      </p:sp>
      <p:sp>
        <p:nvSpPr>
          <p:cNvPr id="41" name="Rounded Rectangle 40"/>
          <p:cNvSpPr/>
          <p:nvPr/>
        </p:nvSpPr>
        <p:spPr>
          <a:xfrm>
            <a:off x="6583680" y="4535424"/>
            <a:ext cx="5093208"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icon_FaClockRotateLeft_circle"/>
          <p:cNvSpPr/>
          <p:nvPr/>
        </p:nvSpPr>
        <p:spPr>
          <a:xfrm>
            <a:off x="6812280" y="4764024"/>
            <a:ext cx="594360" cy="59436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Picture 42" descr="FaClockRotateLeft_white.png"/>
          <p:cNvPicPr>
            <a:picLocks noChangeAspect="1"/>
          </p:cNvPicPr>
          <p:nvPr/>
        </p:nvPicPr>
        <p:blipFill>
          <a:blip r:embed="rId6"/>
          <a:stretch>
            <a:fillRect/>
          </a:stretch>
        </p:blipFill>
        <p:spPr>
          <a:xfrm>
            <a:off x="6960870" y="4912614"/>
            <a:ext cx="297180" cy="297180"/>
          </a:xfrm>
          <a:prstGeom prst="rect">
            <a:avLst/>
          </a:prstGeom>
        </p:spPr>
      </p:pic>
      <p:sp>
        <p:nvSpPr>
          <p:cNvPr id="44" name="TextBox 43"/>
          <p:cNvSpPr txBox="1"/>
          <p:nvPr/>
        </p:nvSpPr>
        <p:spPr>
          <a:xfrm>
            <a:off x="7635240" y="4535424"/>
            <a:ext cx="3840480" cy="1051560"/>
          </a:xfrm>
          <a:prstGeom prst="rect">
            <a:avLst/>
          </a:prstGeom>
          <a:noFill/>
        </p:spPr>
        <p:txBody>
          <a:bodyPr wrap="square" lIns="0" rIns="0" tIns="0" bIns="0" anchor="ctr">
            <a:spAutoFit/>
          </a:bodyPr>
          <a:lstStyle/>
          <a:p>
            <a:pPr algn="l"/>
            <a:r>
              <a:rPr sz="1700" b="0" i="0">
                <a:solidFill>
                  <a:schemeClr val="tx1"/>
                </a:solidFill>
              </a:rPr>
              <a:t>Six months later, nobody can say what was done to the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Chat-based vs. agent-based AI</a:t>
            </a:r>
          </a:p>
        </p:txBody>
      </p:sp>
      <p:sp>
        <p:nvSpPr>
          <p:cNvPr id="3" name="Text Placeholder 2"/>
          <p:cNvSpPr>
            <a:spLocks noGrp="1"/>
          </p:cNvSpPr>
          <p:nvPr>
            <p:ph type="body" idx="12" sz="quarter"/>
          </p:nvPr>
        </p:nvSpPr>
        <p:spPr/>
        <p:txBody>
          <a:bodyPr/>
          <a:lstStyle/>
          <a:p>
            <a:r>
              <a:t>The difference is not the model; it's where the model sits</a:t>
            </a:r>
          </a:p>
        </p:txBody>
      </p:sp>
      <p:sp>
        <p:nvSpPr>
          <p:cNvPr id="4" name="Text Placeholder 3"/>
          <p:cNvSpPr>
            <a:spLocks noGrp="1"/>
          </p:cNvSpPr>
          <p:nvPr>
            <p:ph type="body" idx="14" sz="quarter"/>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394960" cy="18288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omments_circle"/>
          <p:cNvSpPr/>
          <p:nvPr/>
        </p:nvSpPr>
        <p:spPr>
          <a:xfrm>
            <a:off x="832104" y="2423160"/>
            <a:ext cx="777240" cy="7772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omments_dark.png"/>
          <p:cNvPicPr>
            <a:picLocks noChangeAspect="1"/>
          </p:cNvPicPr>
          <p:nvPr/>
        </p:nvPicPr>
        <p:blipFill>
          <a:blip r:embed="rId3"/>
          <a:stretch>
            <a:fillRect/>
          </a:stretch>
        </p:blipFill>
        <p:spPr>
          <a:xfrm>
            <a:off x="1026414" y="2617470"/>
            <a:ext cx="388620" cy="388620"/>
          </a:xfrm>
          <a:prstGeom prst="rect">
            <a:avLst/>
          </a:prstGeom>
        </p:spPr>
      </p:pic>
      <p:sp>
        <p:nvSpPr>
          <p:cNvPr id="16" name="TextBox 15"/>
          <p:cNvSpPr txBox="1"/>
          <p:nvPr/>
        </p:nvSpPr>
        <p:spPr>
          <a:xfrm>
            <a:off x="1883664" y="1920240"/>
            <a:ext cx="3840480" cy="1828800"/>
          </a:xfrm>
          <a:prstGeom prst="rect">
            <a:avLst/>
          </a:prstGeom>
          <a:noFill/>
        </p:spPr>
        <p:txBody>
          <a:bodyPr wrap="square" lIns="0" rIns="0" tIns="0" bIns="0" anchor="ctr">
            <a:spAutoFit/>
          </a:bodyPr>
          <a:lstStyle/>
          <a:p>
            <a:pPr algn="l"/>
            <a:r>
              <a:rPr sz="2600" b="1" i="0">
                <a:solidFill>
                  <a:schemeClr val="tx1"/>
                </a:solidFill>
              </a:rPr>
              <a:t>A chatbot answers in a window.</a:t>
            </a:r>
          </a:p>
        </p:txBody>
      </p:sp>
      <p:sp>
        <p:nvSpPr>
          <p:cNvPr id="17" name="Rounded Rectangle 16"/>
          <p:cNvSpPr/>
          <p:nvPr/>
        </p:nvSpPr>
        <p:spPr>
          <a:xfrm>
            <a:off x="6281928" y="1920240"/>
            <a:ext cx="5394960" cy="1828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_FaFolderOpen_circle"/>
          <p:cNvSpPr/>
          <p:nvPr/>
        </p:nvSpPr>
        <p:spPr>
          <a:xfrm>
            <a:off x="6601968" y="2423160"/>
            <a:ext cx="777240" cy="7772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aFolderOpen_red.png"/>
          <p:cNvPicPr>
            <a:picLocks noChangeAspect="1"/>
          </p:cNvPicPr>
          <p:nvPr/>
        </p:nvPicPr>
        <p:blipFill>
          <a:blip r:embed="rId4"/>
          <a:stretch>
            <a:fillRect/>
          </a:stretch>
        </p:blipFill>
        <p:spPr>
          <a:xfrm>
            <a:off x="6796278" y="2617470"/>
            <a:ext cx="388620" cy="388620"/>
          </a:xfrm>
          <a:prstGeom prst="rect">
            <a:avLst/>
          </a:prstGeom>
        </p:spPr>
      </p:pic>
      <p:sp>
        <p:nvSpPr>
          <p:cNvPr id="20" name="TextBox 19"/>
          <p:cNvSpPr txBox="1"/>
          <p:nvPr/>
        </p:nvSpPr>
        <p:spPr>
          <a:xfrm>
            <a:off x="7653527" y="1920240"/>
            <a:ext cx="3840480" cy="1828800"/>
          </a:xfrm>
          <a:prstGeom prst="rect">
            <a:avLst/>
          </a:prstGeom>
          <a:noFill/>
        </p:spPr>
        <p:txBody>
          <a:bodyPr wrap="square" lIns="0" rIns="0" tIns="0" bIns="0" anchor="ctr">
            <a:spAutoFit/>
          </a:bodyPr>
          <a:lstStyle/>
          <a:p>
            <a:pPr algn="l"/>
            <a:r>
              <a:rPr sz="2600" b="1" i="0">
                <a:solidFill>
                  <a:schemeClr val="bg1"/>
                </a:solidFill>
              </a:rPr>
              <a:t>An agent works inside your project.</a:t>
            </a:r>
          </a:p>
        </p:txBody>
      </p:sp>
      <p:sp>
        <p:nvSpPr>
          <p:cNvPr id="21" name="TextBox 20"/>
          <p:cNvSpPr txBox="1"/>
          <p:nvPr/>
        </p:nvSpPr>
        <p:spPr>
          <a:xfrm>
            <a:off x="512064" y="3977639"/>
            <a:ext cx="5486400" cy="365760"/>
          </a:xfrm>
          <a:prstGeom prst="rect">
            <a:avLst/>
          </a:prstGeom>
          <a:noFill/>
        </p:spPr>
        <p:txBody>
          <a:bodyPr wrap="square" lIns="0" rIns="0" tIns="0" bIns="0" anchor="t">
            <a:spAutoFit/>
          </a:bodyPr>
          <a:lstStyle/>
          <a:p>
            <a:pPr algn="l"/>
            <a:r>
              <a:rPr sz="1800" b="1" i="0">
                <a:solidFill>
                  <a:schemeClr val="tx2"/>
                </a:solidFill>
              </a:rPr>
              <a:t>An agent can…</a:t>
            </a:r>
          </a:p>
        </p:txBody>
      </p:sp>
      <p:sp>
        <p:nvSpPr>
          <p:cNvPr id="22" name="icon_FaFileLines_circle"/>
          <p:cNvSpPr/>
          <p:nvPr/>
        </p:nvSpPr>
        <p:spPr>
          <a:xfrm>
            <a:off x="1124712"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FileLines_white.png"/>
          <p:cNvPicPr>
            <a:picLocks noChangeAspect="1"/>
          </p:cNvPicPr>
          <p:nvPr/>
        </p:nvPicPr>
        <p:blipFill>
          <a:blip r:embed="rId5"/>
          <a:stretch>
            <a:fillRect/>
          </a:stretch>
        </p:blipFill>
        <p:spPr>
          <a:xfrm>
            <a:off x="1275588" y="4585716"/>
            <a:ext cx="301752" cy="301752"/>
          </a:xfrm>
          <a:prstGeom prst="rect">
            <a:avLst/>
          </a:prstGeom>
        </p:spPr>
      </p:pic>
      <p:sp>
        <p:nvSpPr>
          <p:cNvPr id="24" name="TextBox 23"/>
          <p:cNvSpPr txBox="1"/>
          <p:nvPr/>
        </p:nvSpPr>
        <p:spPr>
          <a:xfrm>
            <a:off x="512064" y="5120640"/>
            <a:ext cx="1828800" cy="365760"/>
          </a:xfrm>
          <a:prstGeom prst="rect">
            <a:avLst/>
          </a:prstGeom>
          <a:noFill/>
        </p:spPr>
        <p:txBody>
          <a:bodyPr wrap="square" lIns="0" rIns="0" tIns="0" bIns="0" anchor="t">
            <a:spAutoFit/>
          </a:bodyPr>
          <a:lstStyle/>
          <a:p>
            <a:pPr algn="ctr"/>
            <a:r>
              <a:rPr sz="1600" b="0" i="0">
                <a:solidFill>
                  <a:schemeClr val="tx1"/>
                </a:solidFill>
              </a:rPr>
              <a:t>Read your files</a:t>
            </a:r>
          </a:p>
        </p:txBody>
      </p:sp>
      <p:cxnSp>
        <p:nvCxnSpPr>
          <p:cNvPr id="25" name="Connector 24"/>
          <p:cNvCxnSpPr/>
          <p:nvPr/>
        </p:nvCxnSpPr>
        <p:spPr>
          <a:xfrm>
            <a:off x="1865376"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icon_FaFileCode_circle"/>
          <p:cNvSpPr/>
          <p:nvPr/>
        </p:nvSpPr>
        <p:spPr>
          <a:xfrm>
            <a:off x="3458718"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FileCode_white.png"/>
          <p:cNvPicPr>
            <a:picLocks noChangeAspect="1"/>
          </p:cNvPicPr>
          <p:nvPr/>
        </p:nvPicPr>
        <p:blipFill>
          <a:blip r:embed="rId6"/>
          <a:stretch>
            <a:fillRect/>
          </a:stretch>
        </p:blipFill>
        <p:spPr>
          <a:xfrm>
            <a:off x="3609594" y="4585716"/>
            <a:ext cx="301752" cy="301752"/>
          </a:xfrm>
          <a:prstGeom prst="rect">
            <a:avLst/>
          </a:prstGeom>
        </p:spPr>
      </p:pic>
      <p:sp>
        <p:nvSpPr>
          <p:cNvPr id="28" name="TextBox 27"/>
          <p:cNvSpPr txBox="1"/>
          <p:nvPr/>
        </p:nvSpPr>
        <p:spPr>
          <a:xfrm>
            <a:off x="2846070" y="5120640"/>
            <a:ext cx="1828800" cy="365760"/>
          </a:xfrm>
          <a:prstGeom prst="rect">
            <a:avLst/>
          </a:prstGeom>
          <a:noFill/>
        </p:spPr>
        <p:txBody>
          <a:bodyPr wrap="square" lIns="0" rIns="0" tIns="0" bIns="0" anchor="t">
            <a:spAutoFit/>
          </a:bodyPr>
          <a:lstStyle/>
          <a:p>
            <a:pPr algn="ctr"/>
            <a:r>
              <a:rPr sz="1600" b="0" i="0">
                <a:solidFill>
                  <a:schemeClr val="tx1"/>
                </a:solidFill>
              </a:rPr>
              <a:t>Write a script to disk</a:t>
            </a:r>
          </a:p>
        </p:txBody>
      </p:sp>
      <p:cxnSp>
        <p:nvCxnSpPr>
          <p:cNvPr id="29" name="Connector 28"/>
          <p:cNvCxnSpPr/>
          <p:nvPr/>
        </p:nvCxnSpPr>
        <p:spPr>
          <a:xfrm>
            <a:off x="4199382"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icon_FaPlay_circle"/>
          <p:cNvSpPr/>
          <p:nvPr/>
        </p:nvSpPr>
        <p:spPr>
          <a:xfrm>
            <a:off x="5792724"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FaPlay_white.png"/>
          <p:cNvPicPr>
            <a:picLocks noChangeAspect="1"/>
          </p:cNvPicPr>
          <p:nvPr/>
        </p:nvPicPr>
        <p:blipFill>
          <a:blip r:embed="rId7"/>
          <a:stretch>
            <a:fillRect/>
          </a:stretch>
        </p:blipFill>
        <p:spPr>
          <a:xfrm>
            <a:off x="5943600" y="4585716"/>
            <a:ext cx="301752" cy="301752"/>
          </a:xfrm>
          <a:prstGeom prst="rect">
            <a:avLst/>
          </a:prstGeom>
        </p:spPr>
      </p:pic>
      <p:sp>
        <p:nvSpPr>
          <p:cNvPr id="32" name="TextBox 31"/>
          <p:cNvSpPr txBox="1"/>
          <p:nvPr/>
        </p:nvSpPr>
        <p:spPr>
          <a:xfrm>
            <a:off x="5180076" y="5120640"/>
            <a:ext cx="1828800" cy="365760"/>
          </a:xfrm>
          <a:prstGeom prst="rect">
            <a:avLst/>
          </a:prstGeom>
          <a:noFill/>
        </p:spPr>
        <p:txBody>
          <a:bodyPr wrap="square" lIns="0" rIns="0" tIns="0" bIns="0" anchor="t">
            <a:spAutoFit/>
          </a:bodyPr>
          <a:lstStyle/>
          <a:p>
            <a:pPr algn="ctr"/>
            <a:r>
              <a:rPr sz="1600" b="0" i="0">
                <a:solidFill>
                  <a:schemeClr val="tx1"/>
                </a:solidFill>
              </a:rPr>
              <a:t>Run it</a:t>
            </a:r>
          </a:p>
        </p:txBody>
      </p:sp>
      <p:cxnSp>
        <p:nvCxnSpPr>
          <p:cNvPr id="33" name="Connector 32"/>
          <p:cNvCxnSpPr/>
          <p:nvPr/>
        </p:nvCxnSpPr>
        <p:spPr>
          <a:xfrm>
            <a:off x="6533388"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icon_FaBug_circle"/>
          <p:cNvSpPr/>
          <p:nvPr/>
        </p:nvSpPr>
        <p:spPr>
          <a:xfrm>
            <a:off x="8126730"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FaBug_white.png"/>
          <p:cNvPicPr>
            <a:picLocks noChangeAspect="1"/>
          </p:cNvPicPr>
          <p:nvPr/>
        </p:nvPicPr>
        <p:blipFill>
          <a:blip r:embed="rId8"/>
          <a:stretch>
            <a:fillRect/>
          </a:stretch>
        </p:blipFill>
        <p:spPr>
          <a:xfrm>
            <a:off x="8277606" y="4585716"/>
            <a:ext cx="301752" cy="301752"/>
          </a:xfrm>
          <a:prstGeom prst="rect">
            <a:avLst/>
          </a:prstGeom>
        </p:spPr>
      </p:pic>
      <p:sp>
        <p:nvSpPr>
          <p:cNvPr id="36" name="TextBox 35"/>
          <p:cNvSpPr txBox="1"/>
          <p:nvPr/>
        </p:nvSpPr>
        <p:spPr>
          <a:xfrm>
            <a:off x="7514082" y="5120640"/>
            <a:ext cx="1828800" cy="365760"/>
          </a:xfrm>
          <a:prstGeom prst="rect">
            <a:avLst/>
          </a:prstGeom>
          <a:noFill/>
        </p:spPr>
        <p:txBody>
          <a:bodyPr wrap="square" lIns="0" rIns="0" tIns="0" bIns="0" anchor="t">
            <a:spAutoFit/>
          </a:bodyPr>
          <a:lstStyle/>
          <a:p>
            <a:pPr algn="ctr"/>
            <a:r>
              <a:rPr sz="1600" b="0" i="0">
                <a:solidFill>
                  <a:schemeClr val="tx1"/>
                </a:solidFill>
              </a:rPr>
              <a:t>Read the error</a:t>
            </a:r>
          </a:p>
        </p:txBody>
      </p:sp>
      <p:cxnSp>
        <p:nvCxnSpPr>
          <p:cNvPr id="37" name="Connector 36"/>
          <p:cNvCxnSpPr/>
          <p:nvPr/>
        </p:nvCxnSpPr>
        <p:spPr>
          <a:xfrm>
            <a:off x="8867394" y="4736592"/>
            <a:ext cx="1456182" cy="0"/>
          </a:xfrm>
          <a:prstGeom prst="line">
            <a:avLst/>
          </a:prstGeom>
          <a:ln w="25400">
            <a:solidFill>
              <a:schemeClr val="accent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icon_FaWrench_circle"/>
          <p:cNvSpPr/>
          <p:nvPr/>
        </p:nvSpPr>
        <p:spPr>
          <a:xfrm>
            <a:off x="10460736" y="4434840"/>
            <a:ext cx="603504" cy="6035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FaWrench_white.png"/>
          <p:cNvPicPr>
            <a:picLocks noChangeAspect="1"/>
          </p:cNvPicPr>
          <p:nvPr/>
        </p:nvPicPr>
        <p:blipFill>
          <a:blip r:embed="rId9"/>
          <a:stretch>
            <a:fillRect/>
          </a:stretch>
        </p:blipFill>
        <p:spPr>
          <a:xfrm>
            <a:off x="10611612" y="4585716"/>
            <a:ext cx="301752" cy="301752"/>
          </a:xfrm>
          <a:prstGeom prst="rect">
            <a:avLst/>
          </a:prstGeom>
        </p:spPr>
      </p:pic>
      <p:sp>
        <p:nvSpPr>
          <p:cNvPr id="40" name="TextBox 39"/>
          <p:cNvSpPr txBox="1"/>
          <p:nvPr/>
        </p:nvSpPr>
        <p:spPr>
          <a:xfrm>
            <a:off x="9848088" y="5120640"/>
            <a:ext cx="1828800" cy="365760"/>
          </a:xfrm>
          <a:prstGeom prst="rect">
            <a:avLst/>
          </a:prstGeom>
          <a:noFill/>
        </p:spPr>
        <p:txBody>
          <a:bodyPr wrap="square" lIns="0" rIns="0" tIns="0" bIns="0" anchor="t">
            <a:spAutoFit/>
          </a:bodyPr>
          <a:lstStyle/>
          <a:p>
            <a:pPr algn="ctr"/>
            <a:r>
              <a:rPr sz="1600" b="0" i="0">
                <a:solidFill>
                  <a:schemeClr val="tx1"/>
                </a:solidFill>
              </a:rPr>
              <a:t>Fix it</a:t>
            </a:r>
          </a:p>
        </p:txBody>
      </p:sp>
      <p:sp>
        <p:nvSpPr>
          <p:cNvPr id="41" name="TextBox 40"/>
          <p:cNvSpPr txBox="1"/>
          <p:nvPr/>
        </p:nvSpPr>
        <p:spPr>
          <a:xfrm>
            <a:off x="512064" y="5532120"/>
            <a:ext cx="11164824" cy="365760"/>
          </a:xfrm>
          <a:prstGeom prst="rect">
            <a:avLst/>
          </a:prstGeom>
          <a:noFill/>
        </p:spPr>
        <p:txBody>
          <a:bodyPr wrap="square" lIns="0" rIns="0" tIns="0" bIns="0" anchor="t">
            <a:spAutoFit/>
          </a:bodyPr>
          <a:lstStyle/>
          <a:p>
            <a:pPr algn="ctr"/>
            <a:r>
              <a:rPr sz="1800" b="1" i="1">
                <a:solidFill>
                  <a:schemeClr val="tx2"/>
                </a:solidFill>
              </a:rPr>
              <a:t>…and leave every step in your folder.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changes</a:t>
            </a:r>
          </a:p>
        </p:txBody>
      </p:sp>
      <p:sp>
        <p:nvSpPr>
          <p:cNvPr id="3" name="Text Placeholder 2"/>
          <p:cNvSpPr>
            <a:spLocks noGrp="1"/>
          </p:cNvSpPr>
          <p:nvPr>
            <p:ph type="body" idx="12" sz="quarter"/>
          </p:nvPr>
        </p:nvSpPr>
        <p:spPr/>
        <p:txBody>
          <a:bodyPr/>
          <a:lstStyle/>
          <a:p>
            <a:r>
              <a:t>Same model, different place: what that does to your work</a:t>
            </a:r>
          </a:p>
        </p:txBody>
      </p:sp>
      <p:sp>
        <p:nvSpPr>
          <p:cNvPr id="4" name="Text Placeholder 3"/>
          <p:cNvSpPr>
            <a:spLocks noGrp="1"/>
          </p:cNvSpPr>
          <p:nvPr>
            <p:ph type="body" idx="14" sz="quarter"/>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3474720"/>
        </p:xfrm>
        <a:graphic>
          <a:graphicData uri="http://schemas.openxmlformats.org/drawingml/2006/table">
            <a:tbl>
              <a:tblPr firstRow="1">
                <a:tableStyleId>{5C22544A-7EE6-4342-B048-85BDC9FD1C3A}</a:tableStyleId>
              </a:tblPr>
              <a:tblGrid>
                <a:gridCol w="2743200"/>
                <a:gridCol w="3657600"/>
                <a:gridCol w="4764024"/>
              </a:tblGrid>
              <a:tr h="457200">
                <a:tc>
                  <a:txBody>
                    <a:bodyPr wrap="square"/>
                    <a:lstStyle/>
                    <a:p>
                      <a:r>
                        <a:rPr sz="1500" b="1">
                          <a:solidFill>
                            <a:schemeClr val="bg1"/>
                          </a:solidFill>
                        </a:rPr>
                        <a:t/>
                      </a:r>
                    </a:p>
                  </a:txBody>
                  <a:tcPr marL="91440" marR="91440" marT="36576" marB="36576" anchor="ctr">
                    <a:solidFill>
                      <a:schemeClr val="tx2"/>
                    </a:solidFill>
                  </a:tcPr>
                </a:tc>
                <a:tc>
                  <a:txBody>
                    <a:bodyPr wrap="square"/>
                    <a:lstStyle/>
                    <a:p>
                      <a:r>
                        <a:rPr sz="1500" b="1">
                          <a:solidFill>
                            <a:schemeClr val="bg1"/>
                          </a:solidFill>
                        </a:rPr>
                        <a:t>Chat</a:t>
                      </a:r>
                    </a:p>
                  </a:txBody>
                  <a:tcPr marL="91440" marR="91440" marT="36576" marB="36576" anchor="ctr">
                    <a:solidFill>
                      <a:schemeClr val="tx2"/>
                    </a:solidFill>
                  </a:tcPr>
                </a:tc>
                <a:tc>
                  <a:txBody>
                    <a:bodyPr wrap="square"/>
                    <a:lstStyle/>
                    <a:p>
                      <a:r>
                        <a:rPr sz="1500" b="1">
                          <a:solidFill>
                            <a:schemeClr val="bg1"/>
                          </a:solidFill>
                        </a:rPr>
                        <a:t>Agent</a:t>
                      </a:r>
                    </a:p>
                  </a:txBody>
                  <a:tcPr marL="91440" marR="91440" marT="36576" marB="36576" anchor="ctr">
                    <a:solidFill>
                      <a:schemeClr val="tx2"/>
                    </a:solidFill>
                  </a:tcPr>
                </a:tc>
              </a:tr>
              <a:tr h="603504">
                <a:tc>
                  <a:txBody>
                    <a:bodyPr wrap="square"/>
                    <a:lstStyle/>
                    <a:p>
                      <a:r>
                        <a:rPr sz="1500" b="1">
                          <a:solidFill>
                            <a:schemeClr val="tx1"/>
                          </a:solidFill>
                        </a:rPr>
                        <a:t>Where the context lives</a:t>
                      </a:r>
                    </a:p>
                  </a:txBody>
                  <a:tcPr marL="91440" marR="91440" marT="36576" marB="36576" anchor="ctr">
                    <a:solidFill>
                      <a:schemeClr val="bg1"/>
                    </a:solidFill>
                  </a:tcPr>
                </a:tc>
                <a:tc>
                  <a:txBody>
                    <a:bodyPr wrap="square"/>
                    <a:lstStyle/>
                    <a:p>
                      <a:r>
                        <a:rPr sz="1500" b="0">
                          <a:solidFill>
                            <a:schemeClr val="tx1"/>
                          </a:solidFill>
                        </a:rPr>
                        <a:t>What you paste, this session</a:t>
                      </a:r>
                    </a:p>
                  </a:txBody>
                  <a:tcPr marL="91440" marR="91440" marT="36576" marB="36576" anchor="ctr">
                    <a:solidFill>
                      <a:schemeClr val="bg1"/>
                    </a:solidFill>
                  </a:tcPr>
                </a:tc>
                <a:tc>
                  <a:txBody>
                    <a:bodyPr wrap="square"/>
                    <a:lstStyle/>
                    <a:p>
                      <a:r>
                        <a:rPr sz="1500" b="0">
                          <a:solidFill>
                            <a:schemeClr val="tx1"/>
                          </a:solidFill>
                        </a:rPr>
                        <a:t>Your project folder + a CLAUDE.md file it reads every time</a:t>
                      </a:r>
                    </a:p>
                  </a:txBody>
                  <a:tcPr marL="91440" marR="91440" marT="36576" marB="36576" anchor="ctr">
                    <a:solidFill>
                      <a:schemeClr val="bg1"/>
                    </a:solidFill>
                  </a:tcPr>
                </a:tc>
              </a:tr>
              <a:tr h="603504">
                <a:tc>
                  <a:txBody>
                    <a:bodyPr wrap="square"/>
                    <a:lstStyle/>
                    <a:p>
                      <a:r>
                        <a:rPr sz="1500" b="1">
                          <a:solidFill>
                            <a:schemeClr val="tx1"/>
                          </a:solidFill>
                        </a:rPr>
                        <a:t>Where the code runs</a:t>
                      </a:r>
                    </a:p>
                  </a:txBody>
                  <a:tcPr marL="91440" marR="91440" marT="36576" marB="36576" anchor="ctr">
                    <a:solidFill>
                      <a:schemeClr val="bg1"/>
                    </a:solidFill>
                  </a:tcPr>
                </a:tc>
                <a:tc>
                  <a:txBody>
                    <a:bodyPr wrap="square"/>
                    <a:lstStyle/>
                    <a:p>
                      <a:r>
                        <a:rPr sz="1500" b="0">
                          <a:solidFill>
                            <a:schemeClr val="tx1"/>
                          </a:solidFill>
                        </a:rPr>
                        <a:t>Nowhere — you copy it out</a:t>
                      </a:r>
                    </a:p>
                  </a:txBody>
                  <a:tcPr marL="91440" marR="91440" marT="36576" marB="36576" anchor="ctr">
                    <a:solidFill>
                      <a:schemeClr val="bg1"/>
                    </a:solidFill>
                  </a:tcPr>
                </a:tc>
                <a:tc>
                  <a:txBody>
                    <a:bodyPr wrap="square"/>
                    <a:lstStyle/>
                    <a:p>
                      <a:r>
                        <a:rPr sz="1500" b="0">
                          <a:solidFill>
                            <a:schemeClr val="tx1"/>
                          </a:solidFill>
                        </a:rPr>
                        <a:t>On your machine, in your R</a:t>
                      </a:r>
                    </a:p>
                  </a:txBody>
                  <a:tcPr marL="91440" marR="91440" marT="36576" marB="36576" anchor="ctr">
                    <a:solidFill>
                      <a:schemeClr val="bg1"/>
                    </a:solidFill>
                  </a:tcPr>
                </a:tc>
              </a:tr>
              <a:tr h="603504">
                <a:tc>
                  <a:txBody>
                    <a:bodyPr wrap="square"/>
                    <a:lstStyle/>
                    <a:p>
                      <a:r>
                        <a:rPr sz="1500" b="1">
                          <a:solidFill>
                            <a:schemeClr val="tx1"/>
                          </a:solidFill>
                        </a:rPr>
                        <a:t>Where the data sits</a:t>
                      </a:r>
                    </a:p>
                  </a:txBody>
                  <a:tcPr marL="91440" marR="91440" marT="36576" marB="36576" anchor="ctr">
                    <a:solidFill>
                      <a:schemeClr val="bg1"/>
                    </a:solidFill>
                  </a:tcPr>
                </a:tc>
                <a:tc>
                  <a:txBody>
                    <a:bodyPr wrap="square"/>
                    <a:lstStyle/>
                    <a:p>
                      <a:r>
                        <a:rPr sz="1500" b="0">
                          <a:solidFill>
                            <a:schemeClr val="tx1"/>
                          </a:solidFill>
                        </a:rPr>
                        <a:t>Wherever you pasted it</a:t>
                      </a:r>
                    </a:p>
                  </a:txBody>
                  <a:tcPr marL="91440" marR="91440" marT="36576" marB="36576" anchor="ctr">
                    <a:solidFill>
                      <a:schemeClr val="bg1"/>
                    </a:solidFill>
                  </a:tcPr>
                </a:tc>
                <a:tc>
                  <a:txBody>
                    <a:bodyPr wrap="square"/>
                    <a:lstStyle/>
                    <a:p>
                      <a:r>
                        <a:rPr sz="1500" b="0">
                          <a:solidFill>
                            <a:schemeClr val="tx1"/>
                          </a:solidFill>
                        </a:rPr>
                        <a:t>Stays in your folder</a:t>
                      </a:r>
                    </a:p>
                  </a:txBody>
                  <a:tcPr marL="91440" marR="91440" marT="36576" marB="36576" anchor="ctr">
                    <a:solidFill>
                      <a:schemeClr val="bg1"/>
                    </a:solidFill>
                  </a:tcPr>
                </a:tc>
              </a:tr>
              <a:tr h="603504">
                <a:tc>
                  <a:txBody>
                    <a:bodyPr wrap="square"/>
                    <a:lstStyle/>
                    <a:p>
                      <a:r>
                        <a:rPr sz="1500" b="1">
                          <a:solidFill>
                            <a:schemeClr val="tx1"/>
                          </a:solidFill>
                        </a:rPr>
                        <a:t>What record is left</a:t>
                      </a:r>
                    </a:p>
                  </a:txBody>
                  <a:tcPr marL="91440" marR="91440" marT="36576" marB="36576" anchor="ctr">
                    <a:solidFill>
                      <a:srgbClr val="F6E2E6"/>
                    </a:solidFill>
                  </a:tcPr>
                </a:tc>
                <a:tc>
                  <a:txBody>
                    <a:bodyPr wrap="square"/>
                    <a:lstStyle/>
                    <a:p>
                      <a:r>
                        <a:rPr sz="1500" b="0">
                          <a:solidFill>
                            <a:schemeClr val="tx1"/>
                          </a:solidFill>
                        </a:rPr>
                        <a:t>A chat transcript</a:t>
                      </a:r>
                    </a:p>
                  </a:txBody>
                  <a:tcPr marL="91440" marR="91440" marT="36576" marB="36576" anchor="ctr">
                    <a:solidFill>
                      <a:srgbClr val="F6E2E6"/>
                    </a:solidFill>
                  </a:tcPr>
                </a:tc>
                <a:tc>
                  <a:txBody>
                    <a:bodyPr wrap="square"/>
                    <a:lstStyle/>
                    <a:p>
                      <a:r>
                        <a:rPr sz="1500" b="1">
                          <a:solidFill>
                            <a:schemeClr val="tx2"/>
                          </a:solidFill>
                        </a:rPr>
                        <a:t>Scripts, logs, outputs, and drafts in your project</a:t>
                      </a:r>
                    </a:p>
                  </a:txBody>
                  <a:tcPr marL="91440" marR="91440" marT="36576" marB="36576" anchor="ctr">
                    <a:solidFill>
                      <a:srgbClr val="F6E2E6"/>
                    </a:solidFill>
                  </a:tcPr>
                </a:tc>
              </a:tr>
              <a:tr h="603504">
                <a:tc>
                  <a:txBody>
                    <a:bodyPr wrap="square"/>
                    <a:lstStyle/>
                    <a:p>
                      <a:r>
                        <a:rPr sz="1500" b="1">
                          <a:solidFill>
                            <a:schemeClr val="tx1"/>
                          </a:solidFill>
                        </a:rPr>
                        <a:t>Who checks the work</a:t>
                      </a:r>
                    </a:p>
                  </a:txBody>
                  <a:tcPr marL="91440" marR="91440" marT="36576" marB="36576" anchor="ctr">
                    <a:solidFill>
                      <a:srgbClr val="F6E2E6"/>
                    </a:solidFill>
                  </a:tcPr>
                </a:tc>
                <a:tc>
                  <a:txBody>
                    <a:bodyPr wrap="square"/>
                    <a:lstStyle/>
                    <a:p>
                      <a:r>
                        <a:rPr sz="1500" b="0">
                          <a:solidFill>
                            <a:schemeClr val="tx1"/>
                          </a:solidFill>
                        </a:rPr>
                        <a:t>You, by re-pasting</a:t>
                      </a:r>
                    </a:p>
                  </a:txBody>
                  <a:tcPr marL="91440" marR="91440" marT="36576" marB="36576" anchor="ctr">
                    <a:solidFill>
                      <a:srgbClr val="F6E2E6"/>
                    </a:solidFill>
                  </a:tcPr>
                </a:tc>
                <a:tc>
                  <a:txBody>
                    <a:bodyPr wrap="square"/>
                    <a:lstStyle/>
                    <a:p>
                      <a:r>
                        <a:rPr sz="1500" b="1">
                          <a:solidFill>
                            <a:schemeClr val="tx2"/>
                          </a:solidFill>
                        </a:rPr>
                        <a:t>You, by reading what it wrote and ran</a:t>
                      </a:r>
                    </a:p>
                  </a:txBody>
                  <a:tcPr marL="91440" marR="91440" marT="36576" marB="36576" anchor="ctr">
                    <a:solidFill>
                      <a:srgbClr val="F6E2E6"/>
                    </a:solidFill>
                  </a:tcPr>
                </a:tc>
              </a:tr>
            </a:tbl>
          </a:graphicData>
        </a:graphic>
      </p:graphicFrame>
      <p:pic>
        <p:nvPicPr>
          <p:cNvPr id="14" name="Picture 13" descr="FaCircleCheck_red.png"/>
          <p:cNvPicPr>
            <a:picLocks noChangeAspect="1"/>
          </p:cNvPicPr>
          <p:nvPr/>
        </p:nvPicPr>
        <p:blipFill>
          <a:blip r:embed="rId3"/>
          <a:stretch>
            <a:fillRect/>
          </a:stretch>
        </p:blipFill>
        <p:spPr>
          <a:xfrm>
            <a:off x="512064" y="5413248"/>
            <a:ext cx="384048" cy="384048"/>
          </a:xfrm>
          <a:prstGeom prst="rect">
            <a:avLst/>
          </a:prstGeom>
        </p:spPr>
      </p:pic>
      <p:sp>
        <p:nvSpPr>
          <p:cNvPr id="15" name="TextBox 14"/>
          <p:cNvSpPr txBox="1"/>
          <p:nvPr/>
        </p:nvSpPr>
        <p:spPr>
          <a:xfrm>
            <a:off x="1060704" y="5349240"/>
            <a:ext cx="10515600" cy="502920"/>
          </a:xfrm>
          <a:prstGeom prst="rect">
            <a:avLst/>
          </a:prstGeom>
          <a:noFill/>
        </p:spPr>
        <p:txBody>
          <a:bodyPr wrap="square" lIns="0" rIns="0" tIns="0" bIns="0" anchor="ctr">
            <a:spAutoFit/>
          </a:bodyPr>
          <a:lstStyle/>
          <a:p>
            <a:pPr algn="l"/>
            <a:r>
              <a:rPr sz="1600" b="0" i="0">
                <a:solidFill>
                  <a:schemeClr val="tx1"/>
                </a:solidFill>
              </a:rPr>
              <a:t>The agent changes what you check, not whether you check. CLAUDE.md, the project memory, is the subject of Part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 task, two ways</a:t>
            </a:r>
          </a:p>
        </p:txBody>
      </p:sp>
      <p:sp>
        <p:nvSpPr>
          <p:cNvPr id="3" name="Text Placeholder 2"/>
          <p:cNvSpPr>
            <a:spLocks noGrp="1"/>
          </p:cNvSpPr>
          <p:nvPr>
            <p:ph type="body" idx="12" sz="quarter"/>
          </p:nvPr>
        </p:nvSpPr>
        <p:spPr/>
        <p:txBody>
          <a:bodyPr/>
          <a:lstStyle/>
          <a:p>
            <a:r>
              <a:t>Task: “ZIP codes in my enrollment file are messy — fix them.”</a:t>
            </a:r>
          </a:p>
        </p:txBody>
      </p:sp>
      <p:sp>
        <p:nvSpPr>
          <p:cNvPr id="4" name="Text Placeholder 3"/>
          <p:cNvSpPr>
            <a:spLocks noGrp="1"/>
          </p:cNvSpPr>
          <p:nvPr>
            <p:ph type="body" idx="14" sz="quarter"/>
          </p:nvPr>
        </p:nvSpPr>
        <p:spPr/>
        <p:txBody>
          <a:bodyPr/>
          <a:lstStyle/>
          <a:p>
            <a:r>
              <a:t>A distinction: chat vs. agent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394960"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omments_circle"/>
          <p:cNvSpPr/>
          <p:nvPr/>
        </p:nvSpPr>
        <p:spPr>
          <a:xfrm>
            <a:off x="786384" y="2148840"/>
            <a:ext cx="548640" cy="54864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omments_dark.png"/>
          <p:cNvPicPr>
            <a:picLocks noChangeAspect="1"/>
          </p:cNvPicPr>
          <p:nvPr/>
        </p:nvPicPr>
        <p:blipFill>
          <a:blip r:embed="rId3"/>
          <a:stretch>
            <a:fillRect/>
          </a:stretch>
        </p:blipFill>
        <p:spPr>
          <a:xfrm>
            <a:off x="923544" y="2286000"/>
            <a:ext cx="274320" cy="274320"/>
          </a:xfrm>
          <a:prstGeom prst="rect">
            <a:avLst/>
          </a:prstGeom>
        </p:spPr>
      </p:pic>
      <p:sp>
        <p:nvSpPr>
          <p:cNvPr id="16" name="TextBox 15"/>
          <p:cNvSpPr txBox="1"/>
          <p:nvPr/>
        </p:nvSpPr>
        <p:spPr>
          <a:xfrm>
            <a:off x="1472184" y="2148840"/>
            <a:ext cx="2743200" cy="548640"/>
          </a:xfrm>
          <a:prstGeom prst="rect">
            <a:avLst/>
          </a:prstGeom>
          <a:noFill/>
        </p:spPr>
        <p:txBody>
          <a:bodyPr wrap="square" lIns="0" rIns="0" tIns="0" bIns="0" anchor="ctr">
            <a:spAutoFit/>
          </a:bodyPr>
          <a:lstStyle/>
          <a:p>
            <a:pPr algn="l"/>
            <a:r>
              <a:rPr sz="2200" b="1" i="0">
                <a:solidFill>
                  <a:schemeClr val="tx1"/>
                </a:solidFill>
              </a:rPr>
              <a:t>Chat</a:t>
            </a:r>
          </a:p>
        </p:txBody>
      </p:sp>
      <p:sp>
        <p:nvSpPr>
          <p:cNvPr id="17" name="TextBox 16"/>
          <p:cNvSpPr txBox="1"/>
          <p:nvPr/>
        </p:nvSpPr>
        <p:spPr>
          <a:xfrm>
            <a:off x="832104" y="2926080"/>
            <a:ext cx="4754880" cy="457200"/>
          </a:xfrm>
          <a:prstGeom prst="rect">
            <a:avLst/>
          </a:prstGeom>
          <a:noFill/>
        </p:spPr>
        <p:txBody>
          <a:bodyPr wrap="square" lIns="0" rIns="0" tIns="0" bIns="0" anchor="t">
            <a:spAutoFit/>
          </a:bodyPr>
          <a:lstStyle/>
          <a:p>
            <a:pPr algn="l"/>
            <a:r>
              <a:rPr sz="1600" b="1" i="0">
                <a:solidFill>
                  <a:srgbClr val="5F5F5F"/>
                </a:solidFill>
              </a:rPr>
              <a:t>1   </a:t>
            </a:r>
            <a:r>
              <a:rPr sz="1600" b="0" i="0">
                <a:solidFill>
                  <a:schemeClr val="tx1"/>
                </a:solidFill>
              </a:rPr>
              <a:t>Paste 20 rows into the browser</a:t>
            </a:r>
          </a:p>
        </p:txBody>
      </p:sp>
      <p:sp>
        <p:nvSpPr>
          <p:cNvPr id="18" name="TextBox 17"/>
          <p:cNvSpPr txBox="1"/>
          <p:nvPr/>
        </p:nvSpPr>
        <p:spPr>
          <a:xfrm>
            <a:off x="832104" y="3429000"/>
            <a:ext cx="4754880" cy="457200"/>
          </a:xfrm>
          <a:prstGeom prst="rect">
            <a:avLst/>
          </a:prstGeom>
          <a:noFill/>
        </p:spPr>
        <p:txBody>
          <a:bodyPr wrap="square" lIns="0" rIns="0" tIns="0" bIns="0" anchor="t">
            <a:spAutoFit/>
          </a:bodyPr>
          <a:lstStyle/>
          <a:p>
            <a:pPr algn="l"/>
            <a:r>
              <a:rPr sz="1600" b="1" i="0">
                <a:solidFill>
                  <a:srgbClr val="5F5F5F"/>
                </a:solidFill>
              </a:rPr>
              <a:t>2   </a:t>
            </a:r>
            <a:r>
              <a:rPr sz="1600" b="0" i="0">
                <a:solidFill>
                  <a:schemeClr val="tx1"/>
                </a:solidFill>
              </a:rPr>
              <a:t>Get a regex; paste it into R</a:t>
            </a:r>
          </a:p>
        </p:txBody>
      </p:sp>
      <p:sp>
        <p:nvSpPr>
          <p:cNvPr id="19" name="TextBox 18"/>
          <p:cNvSpPr txBox="1"/>
          <p:nvPr/>
        </p:nvSpPr>
        <p:spPr>
          <a:xfrm>
            <a:off x="832104" y="3931920"/>
            <a:ext cx="4754880" cy="457200"/>
          </a:xfrm>
          <a:prstGeom prst="rect">
            <a:avLst/>
          </a:prstGeom>
          <a:noFill/>
        </p:spPr>
        <p:txBody>
          <a:bodyPr wrap="square" lIns="0" rIns="0" tIns="0" bIns="0" anchor="t">
            <a:spAutoFit/>
          </a:bodyPr>
          <a:lstStyle/>
          <a:p>
            <a:pPr algn="l"/>
            <a:r>
              <a:rPr sz="1600" b="1" i="0">
                <a:solidFill>
                  <a:srgbClr val="5F5F5F"/>
                </a:solidFill>
              </a:rPr>
              <a:t>3   </a:t>
            </a:r>
            <a:r>
              <a:rPr sz="1600" b="0" i="0">
                <a:solidFill>
                  <a:schemeClr val="tx1"/>
                </a:solidFill>
              </a:rPr>
              <a:t>It breaks on blanks</a:t>
            </a:r>
          </a:p>
        </p:txBody>
      </p:sp>
      <p:sp>
        <p:nvSpPr>
          <p:cNvPr id="20" name="TextBox 19"/>
          <p:cNvSpPr txBox="1"/>
          <p:nvPr/>
        </p:nvSpPr>
        <p:spPr>
          <a:xfrm>
            <a:off x="832104" y="4434840"/>
            <a:ext cx="4754880" cy="457200"/>
          </a:xfrm>
          <a:prstGeom prst="rect">
            <a:avLst/>
          </a:prstGeom>
          <a:noFill/>
        </p:spPr>
        <p:txBody>
          <a:bodyPr wrap="square" lIns="0" rIns="0" tIns="0" bIns="0" anchor="t">
            <a:spAutoFit/>
          </a:bodyPr>
          <a:lstStyle/>
          <a:p>
            <a:pPr algn="l"/>
            <a:r>
              <a:rPr sz="1600" b="1" i="0">
                <a:solidFill>
                  <a:srgbClr val="5F5F5F"/>
                </a:solidFill>
              </a:rPr>
              <a:t>4   </a:t>
            </a:r>
            <a:r>
              <a:rPr sz="1600" b="0" i="0">
                <a:solidFill>
                  <a:schemeClr val="tx1"/>
                </a:solidFill>
              </a:rPr>
              <a:t>Paste the error back. Repeat.</a:t>
            </a:r>
          </a:p>
        </p:txBody>
      </p:sp>
      <p:pic>
        <p:nvPicPr>
          <p:cNvPr id="21" name="Picture 20" descr="FaTriangleExclamation_red.png"/>
          <p:cNvPicPr>
            <a:picLocks noChangeAspect="1"/>
          </p:cNvPicPr>
          <p:nvPr/>
        </p:nvPicPr>
        <p:blipFill>
          <a:blip r:embed="rId4"/>
          <a:stretch>
            <a:fillRect/>
          </a:stretch>
        </p:blipFill>
        <p:spPr>
          <a:xfrm>
            <a:off x="832104" y="5056632"/>
            <a:ext cx="329184" cy="329184"/>
          </a:xfrm>
          <a:prstGeom prst="rect">
            <a:avLst/>
          </a:prstGeom>
        </p:spPr>
      </p:pic>
      <p:sp>
        <p:nvSpPr>
          <p:cNvPr id="22" name="TextBox 21"/>
          <p:cNvSpPr txBox="1"/>
          <p:nvPr/>
        </p:nvSpPr>
        <p:spPr>
          <a:xfrm>
            <a:off x="1289304" y="5010912"/>
            <a:ext cx="4389120" cy="411480"/>
          </a:xfrm>
          <a:prstGeom prst="rect">
            <a:avLst/>
          </a:prstGeom>
          <a:noFill/>
        </p:spPr>
        <p:txBody>
          <a:bodyPr wrap="square" lIns="0" rIns="0" tIns="0" bIns="0" anchor="ctr">
            <a:spAutoFit/>
          </a:bodyPr>
          <a:lstStyle/>
          <a:p>
            <a:pPr algn="l"/>
            <a:r>
              <a:rPr sz="1600" b="1" i="0">
                <a:solidFill>
                  <a:schemeClr val="tx2"/>
                </a:solidFill>
              </a:rPr>
              <a:t>That's student data in a browser.</a:t>
            </a:r>
          </a:p>
        </p:txBody>
      </p:sp>
      <p:sp>
        <p:nvSpPr>
          <p:cNvPr id="23" name="Rounded Rectangle 22"/>
          <p:cNvSpPr/>
          <p:nvPr/>
        </p:nvSpPr>
        <p:spPr>
          <a:xfrm>
            <a:off x="6281928" y="1920240"/>
            <a:ext cx="5394960" cy="379476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FolderOpen_circle"/>
          <p:cNvSpPr/>
          <p:nvPr/>
        </p:nvSpPr>
        <p:spPr>
          <a:xfrm>
            <a:off x="6556248"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FolderOpen_white.png"/>
          <p:cNvPicPr>
            <a:picLocks noChangeAspect="1"/>
          </p:cNvPicPr>
          <p:nvPr/>
        </p:nvPicPr>
        <p:blipFill>
          <a:blip r:embed="rId5"/>
          <a:stretch>
            <a:fillRect/>
          </a:stretch>
        </p:blipFill>
        <p:spPr>
          <a:xfrm>
            <a:off x="6693408" y="2286000"/>
            <a:ext cx="274320" cy="274320"/>
          </a:xfrm>
          <a:prstGeom prst="rect">
            <a:avLst/>
          </a:prstGeom>
        </p:spPr>
      </p:pic>
      <p:sp>
        <p:nvSpPr>
          <p:cNvPr id="26" name="TextBox 25"/>
          <p:cNvSpPr txBox="1"/>
          <p:nvPr/>
        </p:nvSpPr>
        <p:spPr>
          <a:xfrm>
            <a:off x="7242048" y="2148840"/>
            <a:ext cx="2743200" cy="548640"/>
          </a:xfrm>
          <a:prstGeom prst="rect">
            <a:avLst/>
          </a:prstGeom>
          <a:noFill/>
        </p:spPr>
        <p:txBody>
          <a:bodyPr wrap="square" lIns="0" rIns="0" tIns="0" bIns="0" anchor="ctr">
            <a:spAutoFit/>
          </a:bodyPr>
          <a:lstStyle/>
          <a:p>
            <a:pPr algn="l"/>
            <a:r>
              <a:rPr sz="2200" b="1" i="0">
                <a:solidFill>
                  <a:schemeClr val="tx1"/>
                </a:solidFill>
              </a:rPr>
              <a:t>Agent</a:t>
            </a:r>
          </a:p>
        </p:txBody>
      </p:sp>
      <p:sp>
        <p:nvSpPr>
          <p:cNvPr id="27" name="TextBox 26"/>
          <p:cNvSpPr txBox="1"/>
          <p:nvPr/>
        </p:nvSpPr>
        <p:spPr>
          <a:xfrm>
            <a:off x="6601968" y="2880360"/>
            <a:ext cx="4754880" cy="365760"/>
          </a:xfrm>
          <a:prstGeom prst="rect">
            <a:avLst/>
          </a:prstGeom>
          <a:noFill/>
        </p:spPr>
        <p:txBody>
          <a:bodyPr wrap="square" lIns="0" rIns="0" tIns="0" bIns="0" anchor="t">
            <a:spAutoFit/>
          </a:bodyPr>
          <a:lstStyle/>
          <a:p>
            <a:pPr algn="l"/>
            <a:r>
              <a:rPr sz="1600" b="0" i="0">
                <a:solidFill>
                  <a:schemeClr val="tx1"/>
                </a:solidFill>
              </a:rPr>
              <a:t>Reads codebook.md, then counts the problem:</a:t>
            </a:r>
          </a:p>
        </p:txBody>
      </p:sp>
      <p:sp>
        <p:nvSpPr>
          <p:cNvPr id="28" name="TextBox 27"/>
          <p:cNvSpPr txBox="1"/>
          <p:nvPr/>
        </p:nvSpPr>
        <p:spPr>
          <a:xfrm>
            <a:off x="6601968" y="3246120"/>
            <a:ext cx="2194560" cy="685800"/>
          </a:xfrm>
          <a:prstGeom prst="rect">
            <a:avLst/>
          </a:prstGeom>
          <a:noFill/>
        </p:spPr>
        <p:txBody>
          <a:bodyPr wrap="square" lIns="0" rIns="0" tIns="0" bIns="0" anchor="t">
            <a:spAutoFit/>
          </a:bodyPr>
          <a:lstStyle/>
          <a:p>
            <a:pPr algn="l"/>
            <a:r>
              <a:rPr sz="4000" b="1" i="0">
                <a:solidFill>
                  <a:schemeClr val="tx2"/>
                </a:solidFill>
              </a:rPr>
              <a:t>450</a:t>
            </a:r>
          </a:p>
        </p:txBody>
      </p:sp>
      <p:sp>
        <p:nvSpPr>
          <p:cNvPr id="29" name="TextBox 28"/>
          <p:cNvSpPr txBox="1"/>
          <p:nvPr/>
        </p:nvSpPr>
        <p:spPr>
          <a:xfrm>
            <a:off x="6601968" y="3931920"/>
            <a:ext cx="2194560" cy="320040"/>
          </a:xfrm>
          <a:prstGeom prst="rect">
            <a:avLst/>
          </a:prstGeom>
          <a:noFill/>
        </p:spPr>
        <p:txBody>
          <a:bodyPr wrap="square" lIns="0" rIns="0" tIns="0" bIns="0" anchor="t">
            <a:spAutoFit/>
          </a:bodyPr>
          <a:lstStyle/>
          <a:p>
            <a:pPr algn="l"/>
            <a:r>
              <a:rPr sz="1400" b="0" i="0">
                <a:solidFill>
                  <a:srgbClr val="5F5F5F"/>
                </a:solidFill>
              </a:rPr>
              <a:t>blank ZIP codes</a:t>
            </a:r>
          </a:p>
        </p:txBody>
      </p:sp>
      <p:sp>
        <p:nvSpPr>
          <p:cNvPr id="30" name="TextBox 29"/>
          <p:cNvSpPr txBox="1"/>
          <p:nvPr/>
        </p:nvSpPr>
        <p:spPr>
          <a:xfrm>
            <a:off x="8979408" y="3246120"/>
            <a:ext cx="2194560" cy="685800"/>
          </a:xfrm>
          <a:prstGeom prst="rect">
            <a:avLst/>
          </a:prstGeom>
          <a:noFill/>
        </p:spPr>
        <p:txBody>
          <a:bodyPr wrap="square" lIns="0" rIns="0" tIns="0" bIns="0" anchor="t">
            <a:spAutoFit/>
          </a:bodyPr>
          <a:lstStyle/>
          <a:p>
            <a:pPr algn="l"/>
            <a:r>
              <a:rPr sz="4000" b="1" i="0">
                <a:solidFill>
                  <a:schemeClr val="tx2"/>
                </a:solidFill>
              </a:rPr>
              <a:t>3,468</a:t>
            </a:r>
          </a:p>
        </p:txBody>
      </p:sp>
      <p:sp>
        <p:nvSpPr>
          <p:cNvPr id="31" name="TextBox 30"/>
          <p:cNvSpPr txBox="1"/>
          <p:nvPr/>
        </p:nvSpPr>
        <p:spPr>
          <a:xfrm>
            <a:off x="8979408" y="3931920"/>
            <a:ext cx="2194560" cy="320040"/>
          </a:xfrm>
          <a:prstGeom prst="rect">
            <a:avLst/>
          </a:prstGeom>
          <a:noFill/>
        </p:spPr>
        <p:txBody>
          <a:bodyPr wrap="square" lIns="0" rIns="0" tIns="0" bIns="0" anchor="t">
            <a:spAutoFit/>
          </a:bodyPr>
          <a:lstStyle/>
          <a:p>
            <a:pPr algn="l"/>
            <a:r>
              <a:rPr sz="1400" b="0" i="0">
                <a:solidFill>
                  <a:srgbClr val="5F5F5F"/>
                </a:solidFill>
              </a:rPr>
              <a:t>ZIP+4 codes</a:t>
            </a:r>
          </a:p>
        </p:txBody>
      </p:sp>
      <p:sp>
        <p:nvSpPr>
          <p:cNvPr id="32" name="TextBox 31"/>
          <p:cNvSpPr txBox="1"/>
          <p:nvPr/>
        </p:nvSpPr>
        <p:spPr>
          <a:xfrm>
            <a:off x="6601968" y="4343400"/>
            <a:ext cx="4754880" cy="548640"/>
          </a:xfrm>
          <a:prstGeom prst="rect">
            <a:avLst/>
          </a:prstGeom>
          <a:noFill/>
        </p:spPr>
        <p:txBody>
          <a:bodyPr wrap="square" lIns="0" rIns="0" tIns="0" bIns="0" anchor="t">
            <a:spAutoFit/>
          </a:bodyPr>
          <a:lstStyle/>
          <a:p>
            <a:pPr algn="l"/>
            <a:r>
              <a:rPr sz="1600" b="0" i="0">
                <a:solidFill>
                  <a:schemeClr val="tx1"/>
                </a:solidFill>
              </a:rPr>
              <a:t>Proposes a fix → writes 1000_clean.Rmd → runs it → logs rows dropped</a:t>
            </a:r>
          </a:p>
        </p:txBody>
      </p:sp>
      <p:sp>
        <p:nvSpPr>
          <p:cNvPr id="33" name="TextBox 32"/>
          <p:cNvSpPr txBox="1"/>
          <p:nvPr/>
        </p:nvSpPr>
        <p:spPr>
          <a:xfrm>
            <a:off x="6601968" y="5010912"/>
            <a:ext cx="4754880" cy="411480"/>
          </a:xfrm>
          <a:prstGeom prst="rect">
            <a:avLst/>
          </a:prstGeom>
          <a:noFill/>
        </p:spPr>
        <p:txBody>
          <a:bodyPr wrap="square" lIns="0" rIns="0" tIns="0" bIns="0" anchor="ctr">
            <a:spAutoFit/>
          </a:bodyPr>
          <a:lstStyle/>
          <a:p>
            <a:pPr algn="l"/>
            <a:r>
              <a:rPr sz="1700" b="1" i="0">
                <a:solidFill>
                  <a:schemeClr val="tx2"/>
                </a:solidFill>
              </a:rPr>
              <a:t>…and stops for your approval.</a:t>
            </a:r>
          </a:p>
        </p:txBody>
      </p:sp>
      <p:sp>
        <p:nvSpPr>
          <p:cNvPr id="3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Counts from the synthetic dataset used in Part 3 (dese_student_core.csv). No real student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researchers use AI now</a:t>
            </a:r>
          </a:p>
        </p:txBody>
      </p:sp>
      <p:sp>
        <p:nvSpPr>
          <p:cNvPr id="3" name="Text Placeholder 2"/>
          <p:cNvSpPr>
            <a:spLocks noGrp="1"/>
          </p:cNvSpPr>
          <p:nvPr>
            <p:ph type="body" idx="12" sz="quarter"/>
          </p:nvPr>
        </p:nvSpPr>
        <p:spPr/>
        <p:txBody>
          <a:bodyPr/>
          <a:lstStyle/>
          <a:p>
            <a:r>
              <a:t>High use, low training, low trust, and a shift from chat to agents</a:t>
            </a:r>
          </a:p>
        </p:txBody>
      </p:sp>
      <p:sp>
        <p:nvSpPr>
          <p:cNvPr id="4" name="Text Placeholder 3"/>
          <p:cNvSpPr>
            <a:spLocks noGrp="1"/>
          </p:cNvSpPr>
          <p:nvPr>
            <p:ph type="body" idx="14" sz="quarter"/>
          </p:nvPr>
        </p:nvSpPr>
        <p:spPr/>
        <p:txBody>
          <a:bodyPr/>
          <a:lstStyle/>
          <a:p>
            <a:r>
              <a:t>The landscape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TextBox 12"/>
          <p:cNvSpPr txBox="1"/>
          <p:nvPr/>
        </p:nvSpPr>
        <p:spPr>
          <a:xfrm>
            <a:off x="512064" y="1920240"/>
            <a:ext cx="4754880" cy="365760"/>
          </a:xfrm>
          <a:prstGeom prst="rect">
            <a:avLst/>
          </a:prstGeom>
          <a:noFill/>
        </p:spPr>
        <p:txBody>
          <a:bodyPr wrap="square" lIns="0" rIns="0" tIns="0" bIns="0" anchor="t">
            <a:spAutoFit/>
          </a:bodyPr>
          <a:lstStyle/>
          <a:p>
            <a:pPr algn="l"/>
            <a:r>
              <a:rPr sz="1900" b="1" i="0">
                <a:solidFill>
                  <a:schemeClr val="tx2"/>
                </a:solidFill>
              </a:rPr>
              <a:t>Use is now the norm</a:t>
            </a:r>
          </a:p>
        </p:txBody>
      </p:sp>
      <p:sp>
        <p:nvSpPr>
          <p:cNvPr id="14" name="TextBox 13"/>
          <p:cNvSpPr txBox="1"/>
          <p:nvPr/>
        </p:nvSpPr>
        <p:spPr>
          <a:xfrm>
            <a:off x="512064" y="2377440"/>
            <a:ext cx="4754880" cy="685800"/>
          </a:xfrm>
          <a:prstGeom prst="rect">
            <a:avLst/>
          </a:prstGeom>
          <a:noFill/>
        </p:spPr>
        <p:txBody>
          <a:bodyPr wrap="square" lIns="0" rIns="0" tIns="0" bIns="0" anchor="t">
            <a:spAutoFit/>
          </a:bodyPr>
          <a:lstStyle/>
          <a:p>
            <a:pPr algn="l"/>
            <a:r>
              <a:rPr sz="4000" b="1" i="0">
                <a:solidFill>
                  <a:schemeClr val="tx1"/>
                </a:solidFill>
              </a:rPr>
              <a:t>57% → 84%</a:t>
            </a:r>
          </a:p>
        </p:txBody>
      </p:sp>
      <p:sp>
        <p:nvSpPr>
          <p:cNvPr id="15" name="TextBox 14"/>
          <p:cNvSpPr txBox="1"/>
          <p:nvPr/>
        </p:nvSpPr>
        <p:spPr>
          <a:xfrm>
            <a:off x="512064" y="3035808"/>
            <a:ext cx="4754880" cy="320040"/>
          </a:xfrm>
          <a:prstGeom prst="rect">
            <a:avLst/>
          </a:prstGeom>
          <a:noFill/>
        </p:spPr>
        <p:txBody>
          <a:bodyPr wrap="square" lIns="0" rIns="0" tIns="0" bIns="0" anchor="t">
            <a:spAutoFit/>
          </a:bodyPr>
          <a:lstStyle/>
          <a:p>
            <a:pPr algn="l"/>
            <a:r>
              <a:rPr sz="1500" b="0" i="0">
                <a:solidFill>
                  <a:srgbClr val="5F5F5F"/>
                </a:solidFill>
              </a:rPr>
              <a:t>of researchers use AI (2024 → 2025)</a:t>
            </a:r>
          </a:p>
        </p:txBody>
      </p:sp>
      <p:sp>
        <p:nvSpPr>
          <p:cNvPr id="16" name="TextBox 15"/>
          <p:cNvSpPr txBox="1"/>
          <p:nvPr/>
        </p:nvSpPr>
        <p:spPr>
          <a:xfrm>
            <a:off x="512064" y="3520440"/>
            <a:ext cx="4754880" cy="685800"/>
          </a:xfrm>
          <a:prstGeom prst="rect">
            <a:avLst/>
          </a:prstGeom>
          <a:noFill/>
        </p:spPr>
        <p:txBody>
          <a:bodyPr wrap="square" lIns="0" rIns="0" tIns="0" bIns="0" anchor="t">
            <a:spAutoFit/>
          </a:bodyPr>
          <a:lstStyle/>
          <a:p>
            <a:pPr algn="l"/>
            <a:r>
              <a:rPr sz="4000" b="1" i="0">
                <a:solidFill>
                  <a:schemeClr val="tx1"/>
                </a:solidFill>
              </a:rPr>
              <a:t>45% → 62%</a:t>
            </a:r>
          </a:p>
        </p:txBody>
      </p:sp>
      <p:sp>
        <p:nvSpPr>
          <p:cNvPr id="17" name="TextBox 16"/>
          <p:cNvSpPr txBox="1"/>
          <p:nvPr/>
        </p:nvSpPr>
        <p:spPr>
          <a:xfrm>
            <a:off x="512064" y="4178808"/>
            <a:ext cx="4754880" cy="320040"/>
          </a:xfrm>
          <a:prstGeom prst="rect">
            <a:avLst/>
          </a:prstGeom>
          <a:noFill/>
        </p:spPr>
        <p:txBody>
          <a:bodyPr wrap="square" lIns="0" rIns="0" tIns="0" bIns="0" anchor="t">
            <a:spAutoFit/>
          </a:bodyPr>
          <a:lstStyle/>
          <a:p>
            <a:pPr algn="l"/>
            <a:r>
              <a:rPr sz="1500" b="0" i="0">
                <a:solidFill>
                  <a:srgbClr val="5F5F5F"/>
                </a:solidFill>
              </a:rPr>
              <a:t>use it for research tasks specifically</a:t>
            </a:r>
          </a:p>
        </p:txBody>
      </p:sp>
      <p:sp>
        <p:nvSpPr>
          <p:cNvPr id="18" name="TextBox 17"/>
          <p:cNvSpPr txBox="1"/>
          <p:nvPr/>
        </p:nvSpPr>
        <p:spPr>
          <a:xfrm>
            <a:off x="5852160" y="1920240"/>
            <a:ext cx="5760720" cy="365760"/>
          </a:xfrm>
          <a:prstGeom prst="rect">
            <a:avLst/>
          </a:prstGeom>
          <a:noFill/>
        </p:spPr>
        <p:txBody>
          <a:bodyPr wrap="square" lIns="0" rIns="0" tIns="0" bIns="0" anchor="t">
            <a:spAutoFit/>
          </a:bodyPr>
          <a:lstStyle/>
          <a:p>
            <a:pPr algn="l"/>
            <a:r>
              <a:rPr sz="1900" b="1" i="0">
                <a:solidFill>
                  <a:schemeClr val="tx2"/>
                </a:solidFill>
              </a:rPr>
              <a:t>Trust and support lag</a:t>
            </a:r>
          </a:p>
        </p:txBody>
      </p:sp>
      <p:graphicFrame>
        <p:nvGraphicFramePr>
          <p:cNvPr id="19" name="Chart 18"/>
          <p:cNvGraphicFramePr>
            <a:graphicFrameLocks noGrp="1"/>
          </p:cNvGraphicFramePr>
          <p:nvPr/>
        </p:nvGraphicFramePr>
        <p:xfrm>
          <a:off x="5760720" y="2286000"/>
          <a:ext cx="5897880" cy="2057400"/>
        </p:xfrm>
        <a:graphic>
          <a:graphicData uri="http://schemas.openxmlformats.org/drawingml/2006/chart">
            <c:chart xmlns:c="http://schemas.openxmlformats.org/drawingml/2006/chart" r:id="rId3"/>
          </a:graphicData>
        </a:graphic>
      </p:graphicFrame>
      <p:sp>
        <p:nvSpPr>
          <p:cNvPr id="20" name="Rounded Rectangle 19"/>
          <p:cNvSpPr/>
          <p:nvPr/>
        </p:nvSpPr>
        <p:spPr>
          <a:xfrm>
            <a:off x="512064" y="4572000"/>
            <a:ext cx="11164824" cy="10515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4572000"/>
            <a:ext cx="3749039" cy="1051560"/>
          </a:xfrm>
          <a:prstGeom prst="rect">
            <a:avLst/>
          </a:prstGeom>
          <a:noFill/>
        </p:spPr>
        <p:txBody>
          <a:bodyPr wrap="square" lIns="0" rIns="0" tIns="0" bIns="0" anchor="ctr">
            <a:spAutoFit/>
          </a:bodyPr>
          <a:lstStyle/>
          <a:p>
            <a:pPr algn="l"/>
            <a:r>
              <a:rPr sz="1700" b="1" i="0">
                <a:solidFill>
                  <a:schemeClr val="tx2"/>
                </a:solidFill>
              </a:rPr>
              <a:t>2023 · </a:t>
            </a:r>
            <a:r>
              <a:rPr sz="1700" b="0" i="0">
                <a:solidFill>
                  <a:schemeClr val="tx1"/>
                </a:solidFill>
              </a:rPr>
              <a:t>chat help on “micro-tasks”</a:t>
            </a:r>
          </a:p>
        </p:txBody>
      </p:sp>
      <p:cxnSp>
        <p:nvCxnSpPr>
          <p:cNvPr id="22" name="Connector 21"/>
          <p:cNvCxnSpPr/>
          <p:nvPr/>
        </p:nvCxnSpPr>
        <p:spPr>
          <a:xfrm>
            <a:off x="4343400" y="5097780"/>
            <a:ext cx="109728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669280" y="4572000"/>
            <a:ext cx="5760720" cy="1051560"/>
          </a:xfrm>
          <a:prstGeom prst="rect">
            <a:avLst/>
          </a:prstGeom>
          <a:noFill/>
        </p:spPr>
        <p:txBody>
          <a:bodyPr wrap="square" lIns="0" rIns="0" tIns="0" bIns="0" anchor="ctr">
            <a:spAutoFit/>
          </a:bodyPr>
          <a:lstStyle/>
          <a:p>
            <a:pPr algn="l"/>
            <a:r>
              <a:rPr sz="1700" b="1" i="0">
                <a:solidFill>
                  <a:schemeClr val="tx2"/>
                </a:solidFill>
              </a:rPr>
              <a:t>2025 · </a:t>
            </a:r>
            <a:r>
              <a:rPr sz="1700" b="0" i="0">
                <a:solidFill>
                  <a:schemeClr val="tx1"/>
                </a:solidFill>
              </a:rPr>
              <a:t>agents that review literature, write and debug code, fetch data, and run multi-step workflows</a:t>
            </a:r>
          </a:p>
        </p:txBody>
      </p:sp>
      <p:sp>
        <p:nvSpPr>
          <p:cNvPr id="2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Wiley ExplanAItions 2025 (N = 2,430) · Elsevier, Researcher of the Future 2025 (N = 3,200+) · Korinek (2023, JEL; 2025, NBER WP 34202)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it helps, where it fails</a:t>
            </a:r>
          </a:p>
        </p:txBody>
      </p:sp>
      <p:sp>
        <p:nvSpPr>
          <p:cNvPr id="3" name="Text Placeholder 2"/>
          <p:cNvSpPr>
            <a:spLocks noGrp="1"/>
          </p:cNvSpPr>
          <p:nvPr>
            <p:ph type="body" idx="12" sz="quarter"/>
          </p:nvPr>
        </p:nvSpPr>
        <p:spPr/>
        <p:txBody>
          <a:bodyPr/>
          <a:lstStyle/>
          <a:p>
            <a:r>
              <a:t>Every failure here is a judgment problem, not a typing problem</a:t>
            </a:r>
          </a:p>
        </p:txBody>
      </p:sp>
      <p:sp>
        <p:nvSpPr>
          <p:cNvPr id="4" name="Text Placeholder 3"/>
          <p:cNvSpPr>
            <a:spLocks noGrp="1"/>
          </p:cNvSpPr>
          <p:nvPr>
            <p:ph type="body" idx="14" sz="quarter"/>
          </p:nvPr>
        </p:nvSpPr>
        <p:spPr/>
        <p:txBody>
          <a:bodyPr/>
          <a:lstStyle/>
          <a:p>
            <a:r>
              <a:t>The landscape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840480" cy="3794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86384" y="2103120"/>
            <a:ext cx="3383280" cy="365760"/>
          </a:xfrm>
          <a:prstGeom prst="rect">
            <a:avLst/>
          </a:prstGeom>
          <a:noFill/>
        </p:spPr>
        <p:txBody>
          <a:bodyPr wrap="square" lIns="0" rIns="0" tIns="0" bIns="0" anchor="t">
            <a:spAutoFit/>
          </a:bodyPr>
          <a:lstStyle/>
          <a:p>
            <a:pPr algn="l"/>
            <a:r>
              <a:rPr sz="1900" b="1" i="0">
                <a:solidFill>
                  <a:schemeClr val="accent3"/>
                </a:solidFill>
              </a:rPr>
              <a:t>Helps, with validation</a:t>
            </a:r>
          </a:p>
        </p:txBody>
      </p:sp>
      <p:pic>
        <p:nvPicPr>
          <p:cNvPr id="15" name="Picture 14" descr="FaCircleCheck_green.png"/>
          <p:cNvPicPr>
            <a:picLocks noChangeAspect="1"/>
          </p:cNvPicPr>
          <p:nvPr/>
        </p:nvPicPr>
        <p:blipFill>
          <a:blip r:embed="rId3"/>
          <a:stretch>
            <a:fillRect/>
          </a:stretch>
        </p:blipFill>
        <p:spPr>
          <a:xfrm>
            <a:off x="786384" y="2697480"/>
            <a:ext cx="310896" cy="310896"/>
          </a:xfrm>
          <a:prstGeom prst="rect">
            <a:avLst/>
          </a:prstGeom>
        </p:spPr>
      </p:pic>
      <p:sp>
        <p:nvSpPr>
          <p:cNvPr id="16" name="TextBox 15"/>
          <p:cNvSpPr txBox="1"/>
          <p:nvPr/>
        </p:nvSpPr>
        <p:spPr>
          <a:xfrm>
            <a:off x="1243584" y="2633472"/>
            <a:ext cx="2926080" cy="914400"/>
          </a:xfrm>
          <a:prstGeom prst="rect">
            <a:avLst/>
          </a:prstGeom>
          <a:noFill/>
        </p:spPr>
        <p:txBody>
          <a:bodyPr wrap="square" lIns="0" rIns="0" tIns="0" bIns="0" anchor="t">
            <a:spAutoFit/>
          </a:bodyPr>
          <a:lstStyle/>
          <a:p>
            <a:pPr algn="l"/>
            <a:r>
              <a:rPr sz="1600" b="0" i="0">
                <a:solidFill>
                  <a:schemeClr val="tx1"/>
                </a:solidFill>
              </a:rPr>
              <a:t>Annotating and classifying text at a fraction of crowd-worker cost</a:t>
            </a:r>
          </a:p>
        </p:txBody>
      </p:sp>
      <p:pic>
        <p:nvPicPr>
          <p:cNvPr id="17" name="Picture 16" descr="FaCircleCheck_green.png"/>
          <p:cNvPicPr>
            <a:picLocks noChangeAspect="1"/>
          </p:cNvPicPr>
          <p:nvPr/>
        </p:nvPicPr>
        <p:blipFill>
          <a:blip r:embed="rId3"/>
          <a:stretch>
            <a:fillRect/>
          </a:stretch>
        </p:blipFill>
        <p:spPr>
          <a:xfrm>
            <a:off x="786384" y="3685032"/>
            <a:ext cx="310896" cy="310896"/>
          </a:xfrm>
          <a:prstGeom prst="rect">
            <a:avLst/>
          </a:prstGeom>
        </p:spPr>
      </p:pic>
      <p:sp>
        <p:nvSpPr>
          <p:cNvPr id="18" name="TextBox 17"/>
          <p:cNvSpPr txBox="1"/>
          <p:nvPr/>
        </p:nvSpPr>
        <p:spPr>
          <a:xfrm>
            <a:off x="1243584" y="3621024"/>
            <a:ext cx="2926080" cy="914400"/>
          </a:xfrm>
          <a:prstGeom prst="rect">
            <a:avLst/>
          </a:prstGeom>
          <a:noFill/>
        </p:spPr>
        <p:txBody>
          <a:bodyPr wrap="square" lIns="0" rIns="0" tIns="0" bIns="0" anchor="t">
            <a:spAutoFit/>
          </a:bodyPr>
          <a:lstStyle/>
          <a:p>
            <a:pPr algn="l"/>
            <a:r>
              <a:rPr sz="1600" b="0" i="0">
                <a:solidFill>
                  <a:schemeClr val="tx1"/>
                </a:solidFill>
              </a:rPr>
              <a:t>First-pass codebooks with a human in the loop</a:t>
            </a:r>
          </a:p>
        </p:txBody>
      </p:sp>
      <p:pic>
        <p:nvPicPr>
          <p:cNvPr id="19" name="Picture 18" descr="FaCircleCheck_green.png"/>
          <p:cNvPicPr>
            <a:picLocks noChangeAspect="1"/>
          </p:cNvPicPr>
          <p:nvPr/>
        </p:nvPicPr>
        <p:blipFill>
          <a:blip r:embed="rId3"/>
          <a:stretch>
            <a:fillRect/>
          </a:stretch>
        </p:blipFill>
        <p:spPr>
          <a:xfrm>
            <a:off x="786384" y="4672584"/>
            <a:ext cx="310896" cy="310896"/>
          </a:xfrm>
          <a:prstGeom prst="rect">
            <a:avLst/>
          </a:prstGeom>
        </p:spPr>
      </p:pic>
      <p:sp>
        <p:nvSpPr>
          <p:cNvPr id="20" name="TextBox 19"/>
          <p:cNvSpPr txBox="1"/>
          <p:nvPr/>
        </p:nvSpPr>
        <p:spPr>
          <a:xfrm>
            <a:off x="1243584" y="4608576"/>
            <a:ext cx="2926080" cy="914400"/>
          </a:xfrm>
          <a:prstGeom prst="rect">
            <a:avLst/>
          </a:prstGeom>
          <a:noFill/>
        </p:spPr>
        <p:txBody>
          <a:bodyPr wrap="square" lIns="0" rIns="0" tIns="0" bIns="0" anchor="t">
            <a:spAutoFit/>
          </a:bodyPr>
          <a:lstStyle/>
          <a:p>
            <a:pPr algn="l"/>
            <a:r>
              <a:rPr sz="1600" b="0" i="0">
                <a:solidFill>
                  <a:schemeClr val="tx1"/>
                </a:solidFill>
              </a:rPr>
              <a:t>Writing and debugging analysis code</a:t>
            </a:r>
          </a:p>
        </p:txBody>
      </p:sp>
      <p:sp>
        <p:nvSpPr>
          <p:cNvPr id="21" name="TextBox 20"/>
          <p:cNvSpPr txBox="1"/>
          <p:nvPr/>
        </p:nvSpPr>
        <p:spPr>
          <a:xfrm>
            <a:off x="4663440" y="1920240"/>
            <a:ext cx="7013448" cy="365760"/>
          </a:xfrm>
          <a:prstGeom prst="rect">
            <a:avLst/>
          </a:prstGeom>
          <a:noFill/>
        </p:spPr>
        <p:txBody>
          <a:bodyPr wrap="square" lIns="0" rIns="0" tIns="0" bIns="0" anchor="t">
            <a:spAutoFit/>
          </a:bodyPr>
          <a:lstStyle/>
          <a:p>
            <a:pPr algn="l"/>
            <a:r>
              <a:rPr sz="1900" b="1" i="0">
                <a:solidFill>
                  <a:schemeClr val="tx2"/>
                </a:solidFill>
              </a:rPr>
              <a:t>Fails without a researcher in charge</a:t>
            </a:r>
          </a:p>
        </p:txBody>
      </p:sp>
      <p:sp>
        <p:nvSpPr>
          <p:cNvPr id="22" name="TextBox 21"/>
          <p:cNvSpPr txBox="1"/>
          <p:nvPr/>
        </p:nvSpPr>
        <p:spPr>
          <a:xfrm>
            <a:off x="4663440" y="2304288"/>
            <a:ext cx="7013448" cy="320040"/>
          </a:xfrm>
          <a:prstGeom prst="rect">
            <a:avLst/>
          </a:prstGeom>
          <a:noFill/>
        </p:spPr>
        <p:txBody>
          <a:bodyPr wrap="square" lIns="0" rIns="0" tIns="0" bIns="0" anchor="t">
            <a:spAutoFit/>
          </a:bodyPr>
          <a:lstStyle/>
          <a:p>
            <a:pPr algn="l"/>
            <a:r>
              <a:rPr sz="1400" b="0" i="0">
                <a:solidFill>
                  <a:srgbClr val="5F5F5F"/>
                </a:solidFill>
              </a:rPr>
              <a:t>Reproducing quantitative social science studies: success rate (randomized, 103 teams)</a:t>
            </a:r>
          </a:p>
        </p:txBody>
      </p:sp>
      <p:graphicFrame>
        <p:nvGraphicFramePr>
          <p:cNvPr id="23" name="Chart 22"/>
          <p:cNvGraphicFramePr>
            <a:graphicFrameLocks noGrp="1"/>
          </p:cNvGraphicFramePr>
          <p:nvPr/>
        </p:nvGraphicFramePr>
        <p:xfrm>
          <a:off x="4572000" y="2578608"/>
          <a:ext cx="7104888" cy="1417320"/>
        </p:xfrm>
        <a:graphic>
          <a:graphicData uri="http://schemas.openxmlformats.org/drawingml/2006/chart">
            <c:chart xmlns:c="http://schemas.openxmlformats.org/drawingml/2006/chart" r:id="rId4"/>
          </a:graphicData>
        </a:graphic>
      </p:graphicFrame>
      <p:pic>
        <p:nvPicPr>
          <p:cNvPr id="24" name="Picture 23" descr="FaCircleXmark_red.png"/>
          <p:cNvPicPr>
            <a:picLocks noChangeAspect="1"/>
          </p:cNvPicPr>
          <p:nvPr/>
        </p:nvPicPr>
        <p:blipFill>
          <a:blip r:embed="rId5"/>
          <a:stretch>
            <a:fillRect/>
          </a:stretch>
        </p:blipFill>
        <p:spPr>
          <a:xfrm>
            <a:off x="4663440" y="4133087"/>
            <a:ext cx="274320" cy="274320"/>
          </a:xfrm>
          <a:prstGeom prst="rect">
            <a:avLst/>
          </a:prstGeom>
        </p:spPr>
      </p:pic>
      <p:sp>
        <p:nvSpPr>
          <p:cNvPr id="25" name="TextBox 24"/>
          <p:cNvSpPr txBox="1"/>
          <p:nvPr/>
        </p:nvSpPr>
        <p:spPr>
          <a:xfrm>
            <a:off x="5074920" y="4087368"/>
            <a:ext cx="6601968" cy="411480"/>
          </a:xfrm>
          <a:prstGeom prst="rect">
            <a:avLst/>
          </a:prstGeom>
          <a:noFill/>
        </p:spPr>
        <p:txBody>
          <a:bodyPr wrap="square" lIns="0" rIns="0" tIns="0" bIns="0" anchor="t">
            <a:spAutoFit/>
          </a:bodyPr>
          <a:lstStyle/>
          <a:p>
            <a:pPr algn="l"/>
            <a:r>
              <a:rPr sz="1600" b="0" i="0">
                <a:solidFill>
                  <a:schemeClr val="tx1"/>
                </a:solidFill>
              </a:rPr>
              <a:t>Annotation choices alone flipped ~1 in 3 hypothesis tests</a:t>
            </a:r>
          </a:p>
        </p:txBody>
      </p:sp>
      <p:pic>
        <p:nvPicPr>
          <p:cNvPr id="26" name="Picture 25" descr="FaCircleXmark_red.png"/>
          <p:cNvPicPr>
            <a:picLocks noChangeAspect="1"/>
          </p:cNvPicPr>
          <p:nvPr/>
        </p:nvPicPr>
        <p:blipFill>
          <a:blip r:embed="rId5"/>
          <a:stretch>
            <a:fillRect/>
          </a:stretch>
        </p:blipFill>
        <p:spPr>
          <a:xfrm>
            <a:off x="4663440" y="4663440"/>
            <a:ext cx="274320" cy="274320"/>
          </a:xfrm>
          <a:prstGeom prst="rect">
            <a:avLst/>
          </a:prstGeom>
        </p:spPr>
      </p:pic>
      <p:sp>
        <p:nvSpPr>
          <p:cNvPr id="27" name="TextBox 26"/>
          <p:cNvSpPr txBox="1"/>
          <p:nvPr/>
        </p:nvSpPr>
        <p:spPr>
          <a:xfrm>
            <a:off x="5074920" y="4617720"/>
            <a:ext cx="6601968" cy="411480"/>
          </a:xfrm>
          <a:prstGeom prst="rect">
            <a:avLst/>
          </a:prstGeom>
          <a:noFill/>
        </p:spPr>
        <p:txBody>
          <a:bodyPr wrap="square" lIns="0" rIns="0" tIns="0" bIns="0" anchor="t">
            <a:spAutoFit/>
          </a:bodyPr>
          <a:lstStyle/>
          <a:p>
            <a:pPr algn="l"/>
            <a:r>
              <a:rPr sz="1600" b="0" i="0">
                <a:solidFill>
                  <a:schemeClr val="tx1"/>
                </a:solidFill>
              </a:rPr>
              <a:t>LLM “survey respondents” match averages but lack real variation, and drift</a:t>
            </a:r>
          </a:p>
        </p:txBody>
      </p:sp>
      <p:pic>
        <p:nvPicPr>
          <p:cNvPr id="28" name="Picture 27" descr="FaCircleXmark_red.png"/>
          <p:cNvPicPr>
            <a:picLocks noChangeAspect="1"/>
          </p:cNvPicPr>
          <p:nvPr/>
        </p:nvPicPr>
        <p:blipFill>
          <a:blip r:embed="rId5"/>
          <a:stretch>
            <a:fillRect/>
          </a:stretch>
        </p:blipFill>
        <p:spPr>
          <a:xfrm>
            <a:off x="4663440" y="5193792"/>
            <a:ext cx="274320" cy="274320"/>
          </a:xfrm>
          <a:prstGeom prst="rect">
            <a:avLst/>
          </a:prstGeom>
        </p:spPr>
      </p:pic>
      <p:sp>
        <p:nvSpPr>
          <p:cNvPr id="29" name="TextBox 28"/>
          <p:cNvSpPr txBox="1"/>
          <p:nvPr/>
        </p:nvSpPr>
        <p:spPr>
          <a:xfrm>
            <a:off x="5074920" y="5148072"/>
            <a:ext cx="6601968" cy="411480"/>
          </a:xfrm>
          <a:prstGeom prst="rect">
            <a:avLst/>
          </a:prstGeom>
          <a:noFill/>
        </p:spPr>
        <p:txBody>
          <a:bodyPr wrap="square" lIns="0" rIns="0" tIns="0" bIns="0" anchor="t">
            <a:spAutoFit/>
          </a:bodyPr>
          <a:lstStyle/>
          <a:p>
            <a:pPr algn="l"/>
            <a:r>
              <a:rPr sz="1600" b="0" i="0">
                <a:solidFill>
                  <a:schemeClr val="tx1"/>
                </a:solidFill>
              </a:rPr>
              <a:t>Fabricated or inaccurate citations remain common</a:t>
            </a:r>
          </a:p>
        </p:txBody>
      </p:sp>
      <p:sp>
        <p:nvSpPr>
          <p:cNvPr id="30"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Brodeur et al. (2026, PNAS) · Baumann et al. (2025, preprint) · Bisbee et al. (2024) · Gilardi et al. (2023) · Barany et al. (2024) · Lu et al.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layers: platform → model → surface</a:t>
            </a:r>
          </a:p>
        </p:txBody>
      </p:sp>
      <p:sp>
        <p:nvSpPr>
          <p:cNvPr id="3" name="Text Placeholder 2"/>
          <p:cNvSpPr>
            <a:spLocks noGrp="1"/>
          </p:cNvSpPr>
          <p:nvPr>
            <p:ph type="body" idx="12" sz="quarter"/>
          </p:nvPr>
        </p:nvSpPr>
        <p:spPr/>
        <p:txBody>
          <a:bodyPr/>
          <a:lstStyle/>
          <a:p>
            <a:r>
              <a:t>“I use ChatGPT” tells you only the first layer</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675120" cy="111556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uildingColumns_circle"/>
          <p:cNvSpPr/>
          <p:nvPr/>
        </p:nvSpPr>
        <p:spPr>
          <a:xfrm>
            <a:off x="768096" y="2176272"/>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uildingColumns_white.png"/>
          <p:cNvPicPr>
            <a:picLocks noChangeAspect="1"/>
          </p:cNvPicPr>
          <p:nvPr/>
        </p:nvPicPr>
        <p:blipFill>
          <a:blip r:embed="rId3"/>
          <a:stretch>
            <a:fillRect/>
          </a:stretch>
        </p:blipFill>
        <p:spPr>
          <a:xfrm>
            <a:off x="918972" y="2327148"/>
            <a:ext cx="301752" cy="301752"/>
          </a:xfrm>
          <a:prstGeom prst="rect">
            <a:avLst/>
          </a:prstGeom>
        </p:spPr>
      </p:pic>
      <p:sp>
        <p:nvSpPr>
          <p:cNvPr id="16" name="TextBox 15"/>
          <p:cNvSpPr txBox="1"/>
          <p:nvPr/>
        </p:nvSpPr>
        <p:spPr>
          <a:xfrm>
            <a:off x="1591056" y="2048256"/>
            <a:ext cx="5440679" cy="457200"/>
          </a:xfrm>
          <a:prstGeom prst="rect">
            <a:avLst/>
          </a:prstGeom>
          <a:noFill/>
        </p:spPr>
        <p:txBody>
          <a:bodyPr wrap="square" lIns="0" rIns="0" tIns="0" bIns="0" anchor="ctr">
            <a:spAutoFit/>
          </a:bodyPr>
          <a:lstStyle/>
          <a:p>
            <a:pPr algn="l"/>
            <a:r>
              <a:rPr sz="2200" b="1" i="0">
                <a:solidFill>
                  <a:schemeClr val="tx1"/>
                </a:solidFill>
              </a:rPr>
              <a:t>Platform</a:t>
            </a:r>
            <a:r>
              <a:rPr sz="1500" b="0" i="0">
                <a:solidFill>
                  <a:srgbClr val="5F5F5F"/>
                </a:solidFill>
              </a:rPr>
              <a:t>   whose service and account</a:t>
            </a:r>
          </a:p>
        </p:txBody>
      </p:sp>
      <p:sp>
        <p:nvSpPr>
          <p:cNvPr id="17" name="TextBox 16"/>
          <p:cNvSpPr txBox="1"/>
          <p:nvPr/>
        </p:nvSpPr>
        <p:spPr>
          <a:xfrm>
            <a:off x="1591056" y="2523744"/>
            <a:ext cx="5440679" cy="411480"/>
          </a:xfrm>
          <a:prstGeom prst="rect">
            <a:avLst/>
          </a:prstGeom>
          <a:noFill/>
        </p:spPr>
        <p:txBody>
          <a:bodyPr wrap="square" lIns="0" rIns="0" tIns="0" bIns="0" anchor="t">
            <a:spAutoFit/>
          </a:bodyPr>
          <a:lstStyle/>
          <a:p>
            <a:pPr algn="l"/>
            <a:r>
              <a:rPr sz="1600" b="0" i="0">
                <a:solidFill>
                  <a:schemeClr val="tx1"/>
                </a:solidFill>
              </a:rPr>
              <a:t>Claude · Gemini · ChatGPT · Copilot · Ask WashU</a:t>
            </a:r>
          </a:p>
        </p:txBody>
      </p:sp>
      <p:sp>
        <p:nvSpPr>
          <p:cNvPr id="18" name="Rounded Rectangle 17"/>
          <p:cNvSpPr/>
          <p:nvPr/>
        </p:nvSpPr>
        <p:spPr>
          <a:xfrm>
            <a:off x="832104" y="3218688"/>
            <a:ext cx="6355080" cy="111556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Microchip_circle"/>
          <p:cNvSpPr/>
          <p:nvPr/>
        </p:nvSpPr>
        <p:spPr>
          <a:xfrm>
            <a:off x="1088136" y="3474720"/>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Microchip_white.png"/>
          <p:cNvPicPr>
            <a:picLocks noChangeAspect="1"/>
          </p:cNvPicPr>
          <p:nvPr/>
        </p:nvPicPr>
        <p:blipFill>
          <a:blip r:embed="rId4"/>
          <a:stretch>
            <a:fillRect/>
          </a:stretch>
        </p:blipFill>
        <p:spPr>
          <a:xfrm>
            <a:off x="1239012" y="3625596"/>
            <a:ext cx="301752" cy="301752"/>
          </a:xfrm>
          <a:prstGeom prst="rect">
            <a:avLst/>
          </a:prstGeom>
        </p:spPr>
      </p:pic>
      <p:sp>
        <p:nvSpPr>
          <p:cNvPr id="21" name="TextBox 20"/>
          <p:cNvSpPr txBox="1"/>
          <p:nvPr/>
        </p:nvSpPr>
        <p:spPr>
          <a:xfrm>
            <a:off x="1911095" y="3346704"/>
            <a:ext cx="5120640" cy="457200"/>
          </a:xfrm>
          <a:prstGeom prst="rect">
            <a:avLst/>
          </a:prstGeom>
          <a:noFill/>
        </p:spPr>
        <p:txBody>
          <a:bodyPr wrap="square" lIns="0" rIns="0" tIns="0" bIns="0" anchor="ctr">
            <a:spAutoFit/>
          </a:bodyPr>
          <a:lstStyle/>
          <a:p>
            <a:pPr algn="l"/>
            <a:r>
              <a:rPr sz="2200" b="1" i="0">
                <a:solidFill>
                  <a:schemeClr val="tx1"/>
                </a:solidFill>
              </a:rPr>
              <a:t>Model</a:t>
            </a:r>
            <a:r>
              <a:rPr sz="1500" b="0" i="0">
                <a:solidFill>
                  <a:srgbClr val="5F5F5F"/>
                </a:solidFill>
              </a:rPr>
              <a:t>   which brain inside it</a:t>
            </a:r>
          </a:p>
        </p:txBody>
      </p:sp>
      <p:sp>
        <p:nvSpPr>
          <p:cNvPr id="22" name="TextBox 21"/>
          <p:cNvSpPr txBox="1"/>
          <p:nvPr/>
        </p:nvSpPr>
        <p:spPr>
          <a:xfrm>
            <a:off x="1911095" y="3822191"/>
            <a:ext cx="5120640" cy="411480"/>
          </a:xfrm>
          <a:prstGeom prst="rect">
            <a:avLst/>
          </a:prstGeom>
          <a:noFill/>
        </p:spPr>
        <p:txBody>
          <a:bodyPr wrap="square" lIns="0" rIns="0" tIns="0" bIns="0" anchor="t">
            <a:spAutoFit/>
          </a:bodyPr>
          <a:lstStyle/>
          <a:p>
            <a:pPr algn="l"/>
            <a:r>
              <a:rPr sz="1600" b="0" i="0">
                <a:solidFill>
                  <a:schemeClr val="tx1"/>
                </a:solidFill>
              </a:rPr>
              <a:t>e.g., Claude Fable / Opus / Sonnet / Haiku</a:t>
            </a:r>
          </a:p>
        </p:txBody>
      </p:sp>
      <p:sp>
        <p:nvSpPr>
          <p:cNvPr id="23" name="Rounded Rectangle 22"/>
          <p:cNvSpPr/>
          <p:nvPr/>
        </p:nvSpPr>
        <p:spPr>
          <a:xfrm>
            <a:off x="1152144" y="4517136"/>
            <a:ext cx="6035040" cy="1115568"/>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Display_circle"/>
          <p:cNvSpPr/>
          <p:nvPr/>
        </p:nvSpPr>
        <p:spPr>
          <a:xfrm>
            <a:off x="1408176" y="4773168"/>
            <a:ext cx="603504" cy="60350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Display_white.png"/>
          <p:cNvPicPr>
            <a:picLocks noChangeAspect="1"/>
          </p:cNvPicPr>
          <p:nvPr/>
        </p:nvPicPr>
        <p:blipFill>
          <a:blip r:embed="rId5"/>
          <a:stretch>
            <a:fillRect/>
          </a:stretch>
        </p:blipFill>
        <p:spPr>
          <a:xfrm>
            <a:off x="1559052" y="4924044"/>
            <a:ext cx="301752" cy="301752"/>
          </a:xfrm>
          <a:prstGeom prst="rect">
            <a:avLst/>
          </a:prstGeom>
        </p:spPr>
      </p:pic>
      <p:sp>
        <p:nvSpPr>
          <p:cNvPr id="26" name="TextBox 25"/>
          <p:cNvSpPr txBox="1"/>
          <p:nvPr/>
        </p:nvSpPr>
        <p:spPr>
          <a:xfrm>
            <a:off x="2231136" y="4645151"/>
            <a:ext cx="4800600" cy="457200"/>
          </a:xfrm>
          <a:prstGeom prst="rect">
            <a:avLst/>
          </a:prstGeom>
          <a:noFill/>
        </p:spPr>
        <p:txBody>
          <a:bodyPr wrap="square" lIns="0" rIns="0" tIns="0" bIns="0" anchor="ctr">
            <a:spAutoFit/>
          </a:bodyPr>
          <a:lstStyle/>
          <a:p>
            <a:pPr algn="l"/>
            <a:r>
              <a:rPr sz="2200" b="1" i="0">
                <a:solidFill>
                  <a:schemeClr val="tx1"/>
                </a:solidFill>
              </a:rPr>
              <a:t>Surface</a:t>
            </a:r>
            <a:r>
              <a:rPr sz="1500" b="0" i="0">
                <a:solidFill>
                  <a:srgbClr val="5F5F5F"/>
                </a:solidFill>
              </a:rPr>
              <a:t>   how you work with it</a:t>
            </a:r>
          </a:p>
        </p:txBody>
      </p:sp>
      <p:sp>
        <p:nvSpPr>
          <p:cNvPr id="27" name="TextBox 26"/>
          <p:cNvSpPr txBox="1"/>
          <p:nvPr/>
        </p:nvSpPr>
        <p:spPr>
          <a:xfrm>
            <a:off x="2231136" y="5120640"/>
            <a:ext cx="4800600" cy="411480"/>
          </a:xfrm>
          <a:prstGeom prst="rect">
            <a:avLst/>
          </a:prstGeom>
          <a:noFill/>
        </p:spPr>
        <p:txBody>
          <a:bodyPr wrap="square" lIns="0" rIns="0" tIns="0" bIns="0" anchor="t">
            <a:spAutoFit/>
          </a:bodyPr>
          <a:lstStyle/>
          <a:p>
            <a:pPr algn="l"/>
            <a:r>
              <a:rPr sz="1600" b="0" i="0">
                <a:solidFill>
                  <a:schemeClr val="tx1"/>
                </a:solidFill>
              </a:rPr>
              <a:t>chat in a browser · agent in the terminal · agent in a desktop app</a:t>
            </a:r>
          </a:p>
        </p:txBody>
      </p:sp>
      <p:sp>
        <p:nvSpPr>
          <p:cNvPr id="28" name="Rounded Rectangle 27"/>
          <p:cNvSpPr/>
          <p:nvPr/>
        </p:nvSpPr>
        <p:spPr>
          <a:xfrm>
            <a:off x="7955279" y="1920240"/>
            <a:ext cx="3721608" cy="178308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ShieldHalved_circle"/>
          <p:cNvSpPr/>
          <p:nvPr/>
        </p:nvSpPr>
        <p:spPr>
          <a:xfrm>
            <a:off x="8229600" y="214884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ShieldHalved_red.png"/>
          <p:cNvPicPr>
            <a:picLocks noChangeAspect="1"/>
          </p:cNvPicPr>
          <p:nvPr/>
        </p:nvPicPr>
        <p:blipFill>
          <a:blip r:embed="rId6"/>
          <a:stretch>
            <a:fillRect/>
          </a:stretch>
        </p:blipFill>
        <p:spPr>
          <a:xfrm>
            <a:off x="8366760" y="2286000"/>
            <a:ext cx="274320" cy="274320"/>
          </a:xfrm>
          <a:prstGeom prst="rect">
            <a:avLst/>
          </a:prstGeom>
        </p:spPr>
      </p:pic>
      <p:sp>
        <p:nvSpPr>
          <p:cNvPr id="31" name="TextBox 30"/>
          <p:cNvSpPr txBox="1"/>
          <p:nvPr/>
        </p:nvSpPr>
        <p:spPr>
          <a:xfrm>
            <a:off x="8229600" y="2788920"/>
            <a:ext cx="3172968" cy="777240"/>
          </a:xfrm>
          <a:prstGeom prst="rect">
            <a:avLst/>
          </a:prstGeom>
          <a:noFill/>
        </p:spPr>
        <p:txBody>
          <a:bodyPr wrap="square" lIns="0" rIns="0" tIns="0" bIns="0" anchor="t">
            <a:spAutoFit/>
          </a:bodyPr>
          <a:lstStyle/>
          <a:p>
            <a:pPr algn="l"/>
            <a:r>
              <a:rPr sz="1900" b="1" i="0">
                <a:solidFill>
                  <a:schemeClr val="bg1"/>
                </a:solidFill>
              </a:rPr>
              <a:t>Your data rules attach to the platform account.</a:t>
            </a:r>
          </a:p>
        </p:txBody>
      </p:sp>
      <p:sp>
        <p:nvSpPr>
          <p:cNvPr id="32" name="Rounded Rectangle 31"/>
          <p:cNvSpPr/>
          <p:nvPr/>
        </p:nvSpPr>
        <p:spPr>
          <a:xfrm>
            <a:off x="7955279" y="3931920"/>
            <a:ext cx="3721608" cy="178308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icon_FaRoute_circle"/>
          <p:cNvSpPr/>
          <p:nvPr/>
        </p:nvSpPr>
        <p:spPr>
          <a:xfrm>
            <a:off x="8229600" y="416052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FaRoute_red.png"/>
          <p:cNvPicPr>
            <a:picLocks noChangeAspect="1"/>
          </p:cNvPicPr>
          <p:nvPr/>
        </p:nvPicPr>
        <p:blipFill>
          <a:blip r:embed="rId7"/>
          <a:stretch>
            <a:fillRect/>
          </a:stretch>
        </p:blipFill>
        <p:spPr>
          <a:xfrm>
            <a:off x="8366760" y="4297680"/>
            <a:ext cx="274320" cy="274320"/>
          </a:xfrm>
          <a:prstGeom prst="rect">
            <a:avLst/>
          </a:prstGeom>
        </p:spPr>
      </p:pic>
      <p:sp>
        <p:nvSpPr>
          <p:cNvPr id="35" name="TextBox 34"/>
          <p:cNvSpPr txBox="1"/>
          <p:nvPr/>
        </p:nvSpPr>
        <p:spPr>
          <a:xfrm>
            <a:off x="8229600" y="4800600"/>
            <a:ext cx="3172968" cy="777240"/>
          </a:xfrm>
          <a:prstGeom prst="rect">
            <a:avLst/>
          </a:prstGeom>
          <a:noFill/>
        </p:spPr>
        <p:txBody>
          <a:bodyPr wrap="square" lIns="0" rIns="0" tIns="0" bIns="0" anchor="t">
            <a:spAutoFit/>
          </a:bodyPr>
          <a:lstStyle/>
          <a:p>
            <a:pPr algn="l"/>
            <a:r>
              <a:rPr sz="1900" b="1" i="0">
                <a:solidFill>
                  <a:schemeClr val="bg1"/>
                </a:solidFill>
              </a:rPr>
              <a:t>Your workflow depends on the surface.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WashU provides</a:t>
            </a:r>
          </a:p>
        </p:txBody>
      </p:sp>
      <p:sp>
        <p:nvSpPr>
          <p:cNvPr id="3" name="Text Placeholder 2"/>
          <p:cNvSpPr>
            <a:spLocks noGrp="1"/>
          </p:cNvSpPr>
          <p:nvPr>
            <p:ph type="body" idx="12" sz="quarter"/>
          </p:nvPr>
        </p:nvSpPr>
        <p:spPr/>
        <p:txBody>
          <a:bodyPr/>
          <a:lstStyle/>
          <a:p>
            <a:r>
              <a:t>Which data each platform is approved for</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783080"/>
          <a:ext cx="11164824" cy="3035808"/>
        </p:xfrm>
        <a:graphic>
          <a:graphicData uri="http://schemas.openxmlformats.org/drawingml/2006/table">
            <a:tbl>
              <a:tblPr firstRow="1">
                <a:tableStyleId>{5C22544A-7EE6-4342-B048-85BDC9FD1C3A}</a:tableStyleId>
              </a:tblPr>
              <a:tblGrid>
                <a:gridCol w="3154680"/>
                <a:gridCol w="3154680"/>
                <a:gridCol w="2194560"/>
                <a:gridCol w="2660904"/>
              </a:tblGrid>
              <a:tr h="365760">
                <a:tc>
                  <a:txBody>
                    <a:bodyPr wrap="square"/>
                    <a:lstStyle/>
                    <a:p>
                      <a:r>
                        <a:rPr sz="1400" b="1">
                          <a:solidFill>
                            <a:schemeClr val="bg1"/>
                          </a:solidFill>
                        </a:rPr>
                        <a:t>Platform</a:t>
                      </a:r>
                    </a:p>
                  </a:txBody>
                  <a:tcPr marL="91440" marR="91440" marT="36576" marB="36576" anchor="ctr">
                    <a:solidFill>
                      <a:schemeClr val="tx2"/>
                    </a:solidFill>
                  </a:tcPr>
                </a:tc>
                <a:tc>
                  <a:txBody>
                    <a:bodyPr wrap="square"/>
                    <a:lstStyle/>
                    <a:p>
                      <a:r>
                        <a:rPr sz="1400" b="1">
                          <a:solidFill>
                            <a:schemeClr val="bg1"/>
                          </a:solidFill>
                        </a:rPr>
                        <a:t>Who</a:t>
                      </a:r>
                    </a:p>
                  </a:txBody>
                  <a:tcPr marL="91440" marR="91440" marT="36576" marB="36576" anchor="ctr">
                    <a:solidFill>
                      <a:schemeClr val="tx2"/>
                    </a:solidFill>
                  </a:tcPr>
                </a:tc>
                <a:tc>
                  <a:txBody>
                    <a:bodyPr wrap="square"/>
                    <a:lstStyle/>
                    <a:p>
                      <a:r>
                        <a:rPr sz="1400" b="1">
                          <a:solidFill>
                            <a:schemeClr val="bg1"/>
                          </a:solidFill>
                        </a:rPr>
                        <a:t>Cost</a:t>
                      </a:r>
                    </a:p>
                  </a:txBody>
                  <a:tcPr marL="91440" marR="91440" marT="36576" marB="36576" anchor="ctr">
                    <a:solidFill>
                      <a:schemeClr val="tx2"/>
                    </a:solidFill>
                  </a:tcPr>
                </a:tc>
                <a:tc>
                  <a:txBody>
                    <a:bodyPr wrap="square"/>
                    <a:lstStyle/>
                    <a:p>
                      <a:r>
                        <a:rPr sz="1400" b="1">
                          <a:solidFill>
                            <a:schemeClr val="bg1"/>
                          </a:solidFill>
                        </a:rPr>
                        <a:t>Approved for</a:t>
                      </a:r>
                    </a:p>
                  </a:txBody>
                  <a:tcPr marL="91440" marR="91440" marT="36576" marB="36576" anchor="ctr">
                    <a:solidFill>
                      <a:schemeClr val="tx2"/>
                    </a:solidFill>
                  </a:tcPr>
                </a:tc>
              </a:tr>
              <a:tr h="384048">
                <a:tc>
                  <a:txBody>
                    <a:bodyPr wrap="square"/>
                    <a:lstStyle/>
                    <a:p>
                      <a:r>
                        <a:rPr sz="1400" b="1">
                          <a:solidFill>
                            <a:schemeClr val="tx1"/>
                          </a:solidFill>
                        </a:rPr>
                        <a:t>Gemini for Education</a:t>
                      </a:r>
                    </a:p>
                  </a:txBody>
                  <a:tcPr marL="91440" marR="91440" marT="36576" marB="36576" anchor="ctr">
                    <a:solidFill>
                      <a:schemeClr val="bg1"/>
                    </a:solidFill>
                  </a:tcPr>
                </a:tc>
                <a:tc>
                  <a:txBody>
                    <a:bodyPr wrap="square"/>
                    <a:lstStyle/>
                    <a:p>
                      <a:r>
                        <a:rPr sz="1400" b="0">
                          <a:solidFill>
                            <a:schemeClr val="tx1"/>
                          </a:solidFill>
                        </a:rPr>
                        <a:t>Students, faculty, staff</a:t>
                      </a:r>
                    </a:p>
                  </a:txBody>
                  <a:tcPr marL="91440" marR="91440" marT="36576" marB="36576" anchor="ctr">
                    <a:solidFill>
                      <a:schemeClr val="bg1"/>
                    </a:solidFill>
                  </a:tcPr>
                </a:tc>
                <a:tc>
                  <a:txBody>
                    <a:bodyPr wrap="square"/>
                    <a:lstStyle/>
                    <a:p>
                      <a:r>
                        <a:rPr sz="1400" b="0">
                          <a:solidFill>
                            <a:schemeClr val="tx1"/>
                          </a:solidFill>
                        </a:rPr>
                        <a:t>Free</a:t>
                      </a:r>
                    </a:p>
                  </a:txBody>
                  <a:tcPr marL="91440" marR="91440" marT="36576" marB="36576" anchor="ctr">
                    <a:solidFill>
                      <a:schemeClr val="bg1"/>
                    </a:solidFill>
                  </a:tcPr>
                </a:tc>
                <a:tc>
                  <a:txBody>
                    <a:bodyPr wrap="square"/>
                    <a:lstStyle/>
                    <a:p>
                      <a:r>
                        <a:rPr sz="1400" b="0">
                          <a:solidFill>
                            <a:schemeClr val="tx1"/>
                          </a:solidFill>
                        </a:rPr>
                        <a:t>FERPA. PHI: confirm with the HIPAA office</a:t>
                      </a:r>
                    </a:p>
                  </a:txBody>
                  <a:tcPr marL="91440" marR="91440" marT="36576" marB="36576" anchor="ctr">
                    <a:solidFill>
                      <a:schemeClr val="bg1"/>
                    </a:solidFill>
                  </a:tcPr>
                </a:tc>
              </a:tr>
              <a:tr h="384048">
                <a:tc>
                  <a:txBody>
                    <a:bodyPr wrap="square"/>
                    <a:lstStyle/>
                    <a:p>
                      <a:r>
                        <a:rPr sz="1400" b="1">
                          <a:solidFill>
                            <a:schemeClr val="tx1"/>
                          </a:solidFill>
                        </a:rPr>
                        <a:t>Copilot Chat</a:t>
                      </a:r>
                    </a:p>
                  </a:txBody>
                  <a:tcPr marL="91440" marR="91440" marT="36576" marB="36576" anchor="ctr">
                    <a:solidFill>
                      <a:schemeClr val="bg1"/>
                    </a:solidFill>
                  </a:tcPr>
                </a:tc>
                <a:tc>
                  <a:txBody>
                    <a:bodyPr wrap="square"/>
                    <a:lstStyle/>
                    <a:p>
                      <a:r>
                        <a:rPr sz="1400" b="0">
                          <a:solidFill>
                            <a:schemeClr val="tx1"/>
                          </a:solidFill>
                        </a:rPr>
                        <a:t>All with Microsoft 365</a:t>
                      </a:r>
                    </a:p>
                  </a:txBody>
                  <a:tcPr marL="91440" marR="91440" marT="36576" marB="36576" anchor="ctr">
                    <a:solidFill>
                      <a:schemeClr val="bg1"/>
                    </a:solidFill>
                  </a:tcPr>
                </a:tc>
                <a:tc>
                  <a:txBody>
                    <a:bodyPr wrap="square"/>
                    <a:lstStyle/>
                    <a:p>
                      <a:r>
                        <a:rPr sz="1400" b="0">
                          <a:solidFill>
                            <a:schemeClr val="tx1"/>
                          </a:solidFill>
                        </a:rPr>
                        <a:t>Free</a:t>
                      </a:r>
                    </a:p>
                  </a:txBody>
                  <a:tcPr marL="91440" marR="91440" marT="36576" marB="36576" anchor="ctr">
                    <a:solidFill>
                      <a:schemeClr val="bg1"/>
                    </a:solidFill>
                  </a:tcPr>
                </a:tc>
                <a:tc>
                  <a:txBody>
                    <a:bodyPr wrap="square"/>
                    <a:lstStyle/>
                    <a:p>
                      <a:r>
                        <a:rPr sz="1400" b="0">
                          <a:solidFill>
                            <a:schemeClr val="tx1"/>
                          </a:solidFill>
                        </a:rPr>
                        <a:t>FERPA. Not PHI</a:t>
                      </a:r>
                    </a:p>
                  </a:txBody>
                  <a:tcPr marL="91440" marR="91440" marT="36576" marB="36576" anchor="ctr">
                    <a:solidFill>
                      <a:schemeClr val="bg1"/>
                    </a:solidFill>
                  </a:tcPr>
                </a:tc>
              </a:tr>
              <a:tr h="384048">
                <a:tc>
                  <a:txBody>
                    <a:bodyPr wrap="square"/>
                    <a:lstStyle/>
                    <a:p>
                      <a:r>
                        <a:rPr sz="1400" b="1">
                          <a:solidFill>
                            <a:schemeClr val="tx1"/>
                          </a:solidFill>
                        </a:rPr>
                        <a:t>Ask WashU</a:t>
                      </a:r>
                    </a:p>
                  </a:txBody>
                  <a:tcPr marL="91440" marR="91440" marT="36576" marB="36576" anchor="ctr">
                    <a:solidFill>
                      <a:schemeClr val="bg1"/>
                    </a:solidFill>
                  </a:tcPr>
                </a:tc>
                <a:tc>
                  <a:txBody>
                    <a:bodyPr wrap="square"/>
                    <a:lstStyle/>
                    <a:p>
                      <a:r>
                        <a:rPr sz="1400" b="0">
                          <a:solidFill>
                            <a:schemeClr val="tx1"/>
                          </a:solidFill>
                        </a:rPr>
                        <a:t>Students, faculty, staff</a:t>
                      </a:r>
                    </a:p>
                  </a:txBody>
                  <a:tcPr marL="91440" marR="91440" marT="36576" marB="36576" anchor="ctr">
                    <a:solidFill>
                      <a:schemeClr val="bg1"/>
                    </a:solidFill>
                  </a:tcPr>
                </a:tc>
                <a:tc>
                  <a:txBody>
                    <a:bodyPr wrap="square"/>
                    <a:lstStyle/>
                    <a:p>
                      <a:r>
                        <a:rPr sz="1400" b="0">
                          <a:solidFill>
                            <a:schemeClr val="tx1"/>
                          </a:solidFill>
                        </a:rPr>
                        <a:t>Free</a:t>
                      </a:r>
                    </a:p>
                  </a:txBody>
                  <a:tcPr marL="91440" marR="91440" marT="36576" marB="36576" anchor="ctr">
                    <a:solidFill>
                      <a:schemeClr val="bg1"/>
                    </a:solidFill>
                  </a:tcPr>
                </a:tc>
                <a:tc>
                  <a:txBody>
                    <a:bodyPr wrap="square"/>
                    <a:lstStyle/>
                    <a:p>
                      <a:r>
                        <a:rPr sz="1400" b="0">
                          <a:solidFill>
                            <a:schemeClr val="tx1"/>
                          </a:solidFill>
                        </a:rPr>
                        <a:t>FERPA and PHI</a:t>
                      </a:r>
                    </a:p>
                  </a:txBody>
                  <a:tcPr marL="91440" marR="91440" marT="36576" marB="36576" anchor="ctr">
                    <a:solidFill>
                      <a:schemeClr val="bg1"/>
                    </a:solidFill>
                  </a:tcPr>
                </a:tc>
              </a:tr>
              <a:tr h="566928">
                <a:tc>
                  <a:txBody>
                    <a:bodyPr wrap="square"/>
                    <a:lstStyle/>
                    <a:p>
                      <a:r>
                        <a:rPr sz="1400" b="1">
                          <a:solidFill>
                            <a:schemeClr val="tx1"/>
                          </a:solidFill>
                        </a:rPr>
                        <a:t>Claude Edu (Chat, Cowork, Claude Code, Design)</a:t>
                      </a:r>
                    </a:p>
                  </a:txBody>
                  <a:tcPr marL="91440" marR="91440" marT="36576" marB="36576" anchor="ctr">
                    <a:solidFill>
                      <a:srgbClr val="F6E2E6"/>
                    </a:solidFill>
                  </a:tcPr>
                </a:tc>
                <a:tc>
                  <a:txBody>
                    <a:bodyPr wrap="square"/>
                    <a:lstStyle/>
                    <a:p>
                      <a:r>
                        <a:rPr sz="1400" b="0">
                          <a:solidFill>
                            <a:schemeClr val="tx1"/>
                          </a:solidFill>
                        </a:rPr>
                        <a:t>Faculty/staff; Danforth students free after the AI Literacy module</a:t>
                      </a:r>
                    </a:p>
                  </a:txBody>
                  <a:tcPr marL="91440" marR="91440" marT="36576" marB="36576" anchor="ctr">
                    <a:solidFill>
                      <a:srgbClr val="F6E2E6"/>
                    </a:solidFill>
                  </a:tcPr>
                </a:tc>
                <a:tc>
                  <a:txBody>
                    <a:bodyPr wrap="square"/>
                    <a:lstStyle/>
                    <a:p>
                      <a:r>
                        <a:rPr sz="1400" b="0">
                          <a:solidFill>
                            <a:schemeClr val="tx1"/>
                          </a:solidFill>
                        </a:rPr>
                        <a:t>$16 / $50 per month (faculty/staff)</a:t>
                      </a:r>
                    </a:p>
                  </a:txBody>
                  <a:tcPr marL="91440" marR="91440" marT="36576" marB="36576" anchor="ctr">
                    <a:solidFill>
                      <a:srgbClr val="F6E2E6"/>
                    </a:solidFill>
                  </a:tcPr>
                </a:tc>
                <a:tc>
                  <a:txBody>
                    <a:bodyPr wrap="square"/>
                    <a:lstStyle/>
                    <a:p>
                      <a:r>
                        <a:rPr sz="1400" b="1">
                          <a:solidFill>
                            <a:schemeClr val="tx2"/>
                          </a:solidFill>
                        </a:rPr>
                        <a:t>FERPA, institutional IP. Not PHI</a:t>
                      </a:r>
                    </a:p>
                  </a:txBody>
                  <a:tcPr marL="91440" marR="91440" marT="36576" marB="36576" anchor="ctr">
                    <a:solidFill>
                      <a:srgbClr val="F6E2E6"/>
                    </a:solidFill>
                  </a:tcPr>
                </a:tc>
              </a:tr>
              <a:tr h="384048">
                <a:tc>
                  <a:txBody>
                    <a:bodyPr wrap="square"/>
                    <a:lstStyle/>
                    <a:p>
                      <a:r>
                        <a:rPr sz="1400" b="1">
                          <a:solidFill>
                            <a:schemeClr val="tx1"/>
                          </a:solidFill>
                        </a:rPr>
                        <a:t>Claude Secure (no Claude Code)</a:t>
                      </a:r>
                    </a:p>
                  </a:txBody>
                  <a:tcPr marL="91440" marR="91440" marT="36576" marB="36576" anchor="ctr">
                    <a:solidFill>
                      <a:schemeClr val="bg1"/>
                    </a:solidFill>
                  </a:tcPr>
                </a:tc>
                <a:tc>
                  <a:txBody>
                    <a:bodyPr wrap="square"/>
                    <a:lstStyle/>
                    <a:p>
                      <a:r>
                        <a:rPr sz="1400" b="0">
                          <a:solidFill>
                            <a:schemeClr val="tx1"/>
                          </a:solidFill>
                        </a:rPr>
                        <a:t>Faculty/staff</a:t>
                      </a:r>
                    </a:p>
                  </a:txBody>
                  <a:tcPr marL="91440" marR="91440" marT="36576" marB="36576" anchor="ctr">
                    <a:solidFill>
                      <a:schemeClr val="bg1"/>
                    </a:solidFill>
                  </a:tcPr>
                </a:tc>
                <a:tc>
                  <a:txBody>
                    <a:bodyPr wrap="square"/>
                    <a:lstStyle/>
                    <a:p>
                      <a:r>
                        <a:rPr sz="1400" b="0">
                          <a:solidFill>
                            <a:schemeClr val="tx1"/>
                          </a:solidFill>
                        </a:rPr>
                        <a:t>$16 / $50 per month</a:t>
                      </a:r>
                    </a:p>
                  </a:txBody>
                  <a:tcPr marL="91440" marR="91440" marT="36576" marB="36576" anchor="ctr">
                    <a:solidFill>
                      <a:schemeClr val="bg1"/>
                    </a:solidFill>
                  </a:tcPr>
                </a:tc>
                <a:tc>
                  <a:txBody>
                    <a:bodyPr wrap="square"/>
                    <a:lstStyle/>
                    <a:p>
                      <a:r>
                        <a:rPr sz="1400" b="0">
                          <a:solidFill>
                            <a:schemeClr val="tx1"/>
                          </a:solidFill>
                        </a:rPr>
                        <a:t>PHI and FERPA</a:t>
                      </a:r>
                    </a:p>
                  </a:txBody>
                  <a:tcPr marL="91440" marR="91440" marT="36576" marB="36576" anchor="ctr">
                    <a:solidFill>
                      <a:schemeClr val="bg1"/>
                    </a:solidFill>
                  </a:tcPr>
                </a:tc>
              </a:tr>
              <a:tr h="566928">
                <a:tc>
                  <a:txBody>
                    <a:bodyPr wrap="square"/>
                    <a:lstStyle/>
                    <a:p>
                      <a:r>
                        <a:rPr sz="1400" b="1">
                          <a:solidFill>
                            <a:schemeClr val="tx1"/>
                          </a:solidFill>
                        </a:rPr>
                        <a:t>ChatGPT Edu (Codex: separate approval)</a:t>
                      </a:r>
                    </a:p>
                  </a:txBody>
                  <a:tcPr marL="91440" marR="91440" marT="36576" marB="36576" anchor="ctr">
                    <a:solidFill>
                      <a:schemeClr val="bg1"/>
                    </a:solidFill>
                  </a:tcPr>
                </a:tc>
                <a:tc>
                  <a:txBody>
                    <a:bodyPr wrap="square"/>
                    <a:lstStyle/>
                    <a:p>
                      <a:r>
                        <a:rPr sz="1400" b="0">
                          <a:solidFill>
                            <a:schemeClr val="tx1"/>
                          </a:solidFill>
                        </a:rPr>
                        <a:t>Faculty/staff</a:t>
                      </a:r>
                    </a:p>
                  </a:txBody>
                  <a:tcPr marL="91440" marR="91440" marT="36576" marB="36576" anchor="ctr">
                    <a:solidFill>
                      <a:schemeClr val="bg1"/>
                    </a:solidFill>
                  </a:tcPr>
                </a:tc>
                <a:tc>
                  <a:txBody>
                    <a:bodyPr wrap="square"/>
                    <a:lstStyle/>
                    <a:p>
                      <a:r>
                        <a:rPr sz="1400" b="0">
                          <a:solidFill>
                            <a:schemeClr val="tx1"/>
                          </a:solidFill>
                        </a:rPr>
                        <a:t>$10–$100 per month</a:t>
                      </a:r>
                    </a:p>
                  </a:txBody>
                  <a:tcPr marL="91440" marR="91440" marT="36576" marB="36576" anchor="ctr">
                    <a:solidFill>
                      <a:schemeClr val="bg1"/>
                    </a:solidFill>
                  </a:tcPr>
                </a:tc>
                <a:tc>
                  <a:txBody>
                    <a:bodyPr wrap="square"/>
                    <a:lstStyle/>
                    <a:p>
                      <a:r>
                        <a:rPr sz="1400" b="0">
                          <a:solidFill>
                            <a:schemeClr val="tx1"/>
                          </a:solidFill>
                        </a:rPr>
                        <a:t>PHI and FERPA. Codex: not HIPAA or FERPA</a:t>
                      </a:r>
                    </a:p>
                  </a:txBody>
                  <a:tcPr marL="91440" marR="91440" marT="36576" marB="36576" anchor="ctr">
                    <a:solidFill>
                      <a:schemeClr val="bg1"/>
                    </a:solidFill>
                  </a:tcPr>
                </a:tc>
              </a:tr>
            </a:tbl>
          </a:graphicData>
        </a:graphic>
      </p:graphicFrame>
      <p:sp>
        <p:nvSpPr>
          <p:cNvPr id="14" name="Rounded Rectangle 13"/>
          <p:cNvSpPr/>
          <p:nvPr/>
        </p:nvSpPr>
        <p:spPr>
          <a:xfrm>
            <a:off x="512064" y="5193792"/>
            <a:ext cx="11164824" cy="54864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Lock_white.png"/>
          <p:cNvPicPr>
            <a:picLocks noChangeAspect="1"/>
          </p:cNvPicPr>
          <p:nvPr/>
        </p:nvPicPr>
        <p:blipFill>
          <a:blip r:embed="rId3"/>
          <a:stretch>
            <a:fillRect/>
          </a:stretch>
        </p:blipFill>
        <p:spPr>
          <a:xfrm>
            <a:off x="768096" y="5303520"/>
            <a:ext cx="329184" cy="329184"/>
          </a:xfrm>
          <a:prstGeom prst="rect">
            <a:avLst/>
          </a:prstGeom>
        </p:spPr>
      </p:pic>
      <p:sp>
        <p:nvSpPr>
          <p:cNvPr id="16" name="TextBox 15"/>
          <p:cNvSpPr txBox="1"/>
          <p:nvPr/>
        </p:nvSpPr>
        <p:spPr>
          <a:xfrm>
            <a:off x="1289304" y="5193792"/>
            <a:ext cx="10058400" cy="548640"/>
          </a:xfrm>
          <a:prstGeom prst="rect">
            <a:avLst/>
          </a:prstGeom>
          <a:noFill/>
        </p:spPr>
        <p:txBody>
          <a:bodyPr wrap="square" lIns="0" rIns="0" tIns="0" bIns="0" anchor="ctr">
            <a:spAutoFit/>
          </a:bodyPr>
          <a:lstStyle/>
          <a:p>
            <a:pPr algn="l"/>
            <a:r>
              <a:rPr sz="2000" b="1" i="0">
                <a:solidFill>
                  <a:schemeClr val="bg1"/>
                </a:solidFill>
              </a:rPr>
              <a:t>No agentic coding tool at WashU is approved for PHI.</a:t>
            </a:r>
          </a:p>
        </p:txBody>
      </p:sp>
      <p:sp>
        <p:nvSpPr>
          <p:cNvPr id="17"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Details: ai.washu.edu/tools · it.washu.edu/claude-for-education (accessed 2026-10-12)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Models: tiers and cost</a:t>
            </a:r>
          </a:p>
        </p:txBody>
      </p:sp>
      <p:sp>
        <p:nvSpPr>
          <p:cNvPr id="3" name="Text Placeholder 2"/>
          <p:cNvSpPr>
            <a:spLocks noGrp="1"/>
          </p:cNvSpPr>
          <p:nvPr>
            <p:ph type="body" idx="12" sz="quarter"/>
          </p:nvPr>
        </p:nvSpPr>
        <p:spPr/>
        <p:txBody>
          <a:bodyPr/>
          <a:lstStyle/>
          <a:p>
            <a:r>
              <a:t>Names change every few months; the structure doesn't</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1947672"/>
        </p:xfrm>
        <a:graphic>
          <a:graphicData uri="http://schemas.openxmlformats.org/drawingml/2006/table">
            <a:tbl>
              <a:tblPr firstRow="1">
                <a:tableStyleId>{5C22544A-7EE6-4342-B048-85BDC9FD1C3A}</a:tableStyleId>
              </a:tblPr>
              <a:tblGrid>
                <a:gridCol w="1828800"/>
                <a:gridCol w="3291840"/>
                <a:gridCol w="3017520"/>
                <a:gridCol w="3026664"/>
              </a:tblGrid>
              <a:tr h="438912">
                <a:tc>
                  <a:txBody>
                    <a:bodyPr wrap="square"/>
                    <a:lstStyle/>
                    <a:p>
                      <a:r>
                        <a:rPr sz="1600" b="1">
                          <a:solidFill>
                            <a:schemeClr val="bg1"/>
                          </a:solidFill>
                        </a:rPr>
                        <a:t/>
                      </a:r>
                    </a:p>
                  </a:txBody>
                  <a:tcPr marL="91440" marR="91440" marT="36576" marB="36576" anchor="ctr">
                    <a:solidFill>
                      <a:schemeClr val="tx2"/>
                    </a:solidFill>
                  </a:tcPr>
                </a:tc>
                <a:tc>
                  <a:txBody>
                    <a:bodyPr wrap="square"/>
                    <a:lstStyle/>
                    <a:p>
                      <a:r>
                        <a:rPr sz="1600" b="1">
                          <a:solidFill>
                            <a:schemeClr val="bg1"/>
                          </a:solidFill>
                        </a:rPr>
                        <a:t>Most capable</a:t>
                      </a:r>
                    </a:p>
                  </a:txBody>
                  <a:tcPr marL="91440" marR="91440" marT="36576" marB="36576" anchor="ctr">
                    <a:solidFill>
                      <a:schemeClr val="tx2"/>
                    </a:solidFill>
                  </a:tcPr>
                </a:tc>
                <a:tc>
                  <a:txBody>
                    <a:bodyPr wrap="square"/>
                    <a:lstStyle/>
                    <a:p>
                      <a:r>
                        <a:rPr sz="1600" b="1">
                          <a:solidFill>
                            <a:schemeClr val="bg1"/>
                          </a:solidFill>
                        </a:rPr>
                        <a:t>Balanced</a:t>
                      </a:r>
                    </a:p>
                  </a:txBody>
                  <a:tcPr marL="91440" marR="91440" marT="36576" marB="36576" anchor="ctr">
                    <a:solidFill>
                      <a:schemeClr val="tx2"/>
                    </a:solidFill>
                  </a:tcPr>
                </a:tc>
                <a:tc>
                  <a:txBody>
                    <a:bodyPr wrap="square"/>
                    <a:lstStyle/>
                    <a:p>
                      <a:r>
                        <a:rPr sz="1600" b="1">
                          <a:solidFill>
                            <a:schemeClr val="bg1"/>
                          </a:solidFill>
                        </a:rPr>
                        <a:t>Fast and cheap</a:t>
                      </a:r>
                    </a:p>
                  </a:txBody>
                  <a:tcPr marL="91440" marR="91440" marT="36576" marB="36576" anchor="ctr">
                    <a:solidFill>
                      <a:schemeClr val="tx2"/>
                    </a:solidFill>
                  </a:tcPr>
                </a:tc>
              </a:tr>
              <a:tr h="502920">
                <a:tc>
                  <a:txBody>
                    <a:bodyPr wrap="square"/>
                    <a:lstStyle/>
                    <a:p>
                      <a:r>
                        <a:rPr sz="1600" b="1">
                          <a:solidFill>
                            <a:schemeClr val="tx1"/>
                          </a:solidFill>
                        </a:rPr>
                        <a:t>Claude</a:t>
                      </a:r>
                    </a:p>
                  </a:txBody>
                  <a:tcPr marL="91440" marR="91440" marT="36576" marB="36576" anchor="ctr">
                    <a:solidFill>
                      <a:schemeClr val="bg1"/>
                    </a:solidFill>
                  </a:tcPr>
                </a:tc>
                <a:tc>
                  <a:txBody>
                    <a:bodyPr wrap="square"/>
                    <a:lstStyle/>
                    <a:p>
                      <a:r>
                        <a:rPr sz="1600" b="0">
                          <a:solidFill>
                            <a:schemeClr val="tx1"/>
                          </a:solidFill>
                        </a:rPr>
                        <a:t>Fable 5.1 · Opus 5.5</a:t>
                      </a:r>
                    </a:p>
                  </a:txBody>
                  <a:tcPr marL="91440" marR="91440" marT="36576" marB="36576" anchor="ctr">
                    <a:solidFill>
                      <a:schemeClr val="bg1"/>
                    </a:solidFill>
                  </a:tcPr>
                </a:tc>
                <a:tc>
                  <a:txBody>
                    <a:bodyPr wrap="square"/>
                    <a:lstStyle/>
                    <a:p>
                      <a:r>
                        <a:rPr sz="1600" b="0">
                          <a:solidFill>
                            <a:schemeClr val="tx1"/>
                          </a:solidFill>
                        </a:rPr>
                        <a:t>Sonnet 5.5</a:t>
                      </a:r>
                    </a:p>
                  </a:txBody>
                  <a:tcPr marL="91440" marR="91440" marT="36576" marB="36576" anchor="ctr">
                    <a:solidFill>
                      <a:schemeClr val="bg1"/>
                    </a:solidFill>
                  </a:tcPr>
                </a:tc>
                <a:tc>
                  <a:txBody>
                    <a:bodyPr wrap="square"/>
                    <a:lstStyle/>
                    <a:p>
                      <a:r>
                        <a:rPr sz="1600" b="0">
                          <a:solidFill>
                            <a:schemeClr val="tx1"/>
                          </a:solidFill>
                        </a:rPr>
                        <a:t>Haiku 5.5</a:t>
                      </a:r>
                    </a:p>
                  </a:txBody>
                  <a:tcPr marL="91440" marR="91440" marT="36576" marB="36576" anchor="ctr">
                    <a:solidFill>
                      <a:schemeClr val="bg1"/>
                    </a:solidFill>
                  </a:tcPr>
                </a:tc>
              </a:tr>
              <a:tr h="502920">
                <a:tc>
                  <a:txBody>
                    <a:bodyPr wrap="square"/>
                    <a:lstStyle/>
                    <a:p>
                      <a:r>
                        <a:rPr sz="1600" b="1">
                          <a:solidFill>
                            <a:schemeClr val="tx1"/>
                          </a:solidFill>
                        </a:rPr>
                        <a:t>Gemini</a:t>
                      </a:r>
                    </a:p>
                  </a:txBody>
                  <a:tcPr marL="91440" marR="91440" marT="36576" marB="36576" anchor="ctr">
                    <a:solidFill>
                      <a:schemeClr val="bg1"/>
                    </a:solidFill>
                  </a:tcPr>
                </a:tc>
                <a:tc>
                  <a:txBody>
                    <a:bodyPr wrap="square"/>
                    <a:lstStyle/>
                    <a:p>
                      <a:r>
                        <a:rPr sz="1600" b="0">
                          <a:solidFill>
                            <a:schemeClr val="tx1"/>
                          </a:solidFill>
                        </a:rPr>
                        <a:t>3.1 Pro</a:t>
                      </a:r>
                    </a:p>
                  </a:txBody>
                  <a:tcPr marL="91440" marR="91440" marT="36576" marB="36576" anchor="ctr">
                    <a:solidFill>
                      <a:schemeClr val="bg1"/>
                    </a:solidFill>
                  </a:tcPr>
                </a:tc>
                <a:tc>
                  <a:txBody>
                    <a:bodyPr wrap="square"/>
                    <a:lstStyle/>
                    <a:p>
                      <a:r>
                        <a:rPr sz="1600" b="0">
                          <a:solidFill>
                            <a:schemeClr val="tx1"/>
                          </a:solidFill>
                        </a:rPr>
                        <a:t>3.8 Flash</a:t>
                      </a:r>
                    </a:p>
                  </a:txBody>
                  <a:tcPr marL="91440" marR="91440" marT="36576" marB="36576" anchor="ctr">
                    <a:solidFill>
                      <a:schemeClr val="bg1"/>
                    </a:solidFill>
                  </a:tcPr>
                </a:tc>
                <a:tc>
                  <a:txBody>
                    <a:bodyPr wrap="square"/>
                    <a:lstStyle/>
                    <a:p>
                      <a:r>
                        <a:rPr sz="1600" b="0">
                          <a:solidFill>
                            <a:schemeClr val="tx1"/>
                          </a:solidFill>
                        </a:rPr>
                        <a:t>Flash-Lite</a:t>
                      </a:r>
                    </a:p>
                  </a:txBody>
                  <a:tcPr marL="91440" marR="91440" marT="36576" marB="36576" anchor="ctr">
                    <a:solidFill>
                      <a:schemeClr val="bg1"/>
                    </a:solidFill>
                  </a:tcPr>
                </a:tc>
              </a:tr>
              <a:tr h="502920">
                <a:tc>
                  <a:txBody>
                    <a:bodyPr wrap="square"/>
                    <a:lstStyle/>
                    <a:p>
                      <a:r>
                        <a:rPr sz="1600" b="1">
                          <a:solidFill>
                            <a:schemeClr val="tx1"/>
                          </a:solidFill>
                        </a:rPr>
                        <a:t>OpenAI</a:t>
                      </a:r>
                    </a:p>
                  </a:txBody>
                  <a:tcPr marL="91440" marR="91440" marT="36576" marB="36576" anchor="ctr">
                    <a:solidFill>
                      <a:schemeClr val="bg1"/>
                    </a:solidFill>
                  </a:tcPr>
                </a:tc>
                <a:tc>
                  <a:txBody>
                    <a:bodyPr wrap="square"/>
                    <a:lstStyle/>
                    <a:p>
                      <a:r>
                        <a:rPr sz="1600" b="0">
                          <a:solidFill>
                            <a:schemeClr val="tx1"/>
                          </a:solidFill>
                        </a:rPr>
                        <a:t>GPT-6 Astra</a:t>
                      </a:r>
                    </a:p>
                  </a:txBody>
                  <a:tcPr marL="91440" marR="91440" marT="36576" marB="36576" anchor="ctr">
                    <a:solidFill>
                      <a:schemeClr val="bg1"/>
                    </a:solidFill>
                  </a:tcPr>
                </a:tc>
                <a:tc>
                  <a:txBody>
                    <a:bodyPr wrap="square"/>
                    <a:lstStyle/>
                    <a:p>
                      <a:r>
                        <a:rPr sz="1600" b="0">
                          <a:solidFill>
                            <a:schemeClr val="tx1"/>
                          </a:solidFill>
                        </a:rPr>
                        <a:t>GPT-6.1 Sol</a:t>
                      </a:r>
                    </a:p>
                  </a:txBody>
                  <a:tcPr marL="91440" marR="91440" marT="36576" marB="36576" anchor="ctr">
                    <a:solidFill>
                      <a:schemeClr val="bg1"/>
                    </a:solidFill>
                  </a:tcPr>
                </a:tc>
                <a:tc>
                  <a:txBody>
                    <a:bodyPr wrap="square"/>
                    <a:lstStyle/>
                    <a:p>
                      <a:r>
                        <a:rPr sz="1600" b="0">
                          <a:solidFill>
                            <a:schemeClr val="tx1"/>
                          </a:solidFill>
                        </a:rPr>
                        <a:t>GPT-6 Luna</a:t>
                      </a:r>
                    </a:p>
                  </a:txBody>
                  <a:tcPr marL="91440" marR="91440" marT="36576" marB="36576" anchor="ctr">
                    <a:solidFill>
                      <a:schemeClr val="bg1"/>
                    </a:solidFill>
                  </a:tcPr>
                </a:tc>
              </a:tr>
            </a:tbl>
          </a:graphicData>
        </a:graphic>
      </p:graphicFrame>
      <p:sp>
        <p:nvSpPr>
          <p:cNvPr id="14" name="Rounded Rectangle 13"/>
          <p:cNvSpPr/>
          <p:nvPr/>
        </p:nvSpPr>
        <p:spPr>
          <a:xfrm>
            <a:off x="512064" y="4160520"/>
            <a:ext cx="4206240" cy="150876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 y="4279392"/>
            <a:ext cx="3657600" cy="320040"/>
          </a:xfrm>
          <a:prstGeom prst="rect">
            <a:avLst/>
          </a:prstGeom>
          <a:noFill/>
        </p:spPr>
        <p:txBody>
          <a:bodyPr wrap="square" lIns="0" rIns="0" tIns="0" bIns="0" anchor="t">
            <a:spAutoFit/>
          </a:bodyPr>
          <a:lstStyle/>
          <a:p>
            <a:pPr algn="l"/>
            <a:r>
              <a:rPr sz="1600" b="1" i="0">
                <a:solidFill>
                  <a:schemeClr val="tx1"/>
                </a:solidFill>
              </a:rPr>
              <a:t>Fable 5.1</a:t>
            </a:r>
          </a:p>
        </p:txBody>
      </p:sp>
      <p:sp>
        <p:nvSpPr>
          <p:cNvPr id="16" name="TextBox 15"/>
          <p:cNvSpPr txBox="1"/>
          <p:nvPr/>
        </p:nvSpPr>
        <p:spPr>
          <a:xfrm>
            <a:off x="786384" y="4572000"/>
            <a:ext cx="3657600" cy="685800"/>
          </a:xfrm>
          <a:prstGeom prst="rect">
            <a:avLst/>
          </a:prstGeom>
          <a:noFill/>
        </p:spPr>
        <p:txBody>
          <a:bodyPr wrap="square" lIns="0" rIns="0" tIns="0" bIns="0" anchor="t">
            <a:spAutoFit/>
          </a:bodyPr>
          <a:lstStyle/>
          <a:p>
            <a:pPr algn="l"/>
            <a:r>
              <a:rPr sz="4000" b="1" i="0">
                <a:solidFill>
                  <a:schemeClr val="tx1"/>
                </a:solidFill>
              </a:rPr>
              <a:t>$10 / $50</a:t>
            </a:r>
          </a:p>
        </p:txBody>
      </p:sp>
      <p:sp>
        <p:nvSpPr>
          <p:cNvPr id="17" name="TextBox 16"/>
          <p:cNvSpPr txBox="1"/>
          <p:nvPr/>
        </p:nvSpPr>
        <p:spPr>
          <a:xfrm>
            <a:off x="786384" y="5257800"/>
            <a:ext cx="3657600" cy="320040"/>
          </a:xfrm>
          <a:prstGeom prst="rect">
            <a:avLst/>
          </a:prstGeom>
          <a:noFill/>
        </p:spPr>
        <p:txBody>
          <a:bodyPr wrap="square" lIns="0" rIns="0" tIns="0" bIns="0" anchor="t">
            <a:spAutoFit/>
          </a:bodyPr>
          <a:lstStyle/>
          <a:p>
            <a:pPr algn="l"/>
            <a:r>
              <a:rPr sz="1400" b="0" i="0">
                <a:solidFill>
                  <a:srgbClr val="5F5F5F"/>
                </a:solidFill>
              </a:rPr>
              <a:t>per million tokens, in / out</a:t>
            </a:r>
          </a:p>
        </p:txBody>
      </p:sp>
      <p:sp>
        <p:nvSpPr>
          <p:cNvPr id="18" name="TextBox 17"/>
          <p:cNvSpPr txBox="1"/>
          <p:nvPr/>
        </p:nvSpPr>
        <p:spPr>
          <a:xfrm>
            <a:off x="4937760" y="4160520"/>
            <a:ext cx="2331720" cy="1508760"/>
          </a:xfrm>
          <a:prstGeom prst="rect">
            <a:avLst/>
          </a:prstGeom>
          <a:noFill/>
        </p:spPr>
        <p:txBody>
          <a:bodyPr wrap="square" lIns="0" rIns="0" tIns="0" bIns="0" anchor="ctr">
            <a:spAutoFit/>
          </a:bodyPr>
          <a:lstStyle/>
          <a:p>
            <a:pPr algn="ctr"/>
            <a:r>
              <a:rPr sz="4400" b="1" i="0">
                <a:solidFill>
                  <a:schemeClr val="tx2"/>
                </a:solidFill>
              </a:rPr>
              <a:t>≈100×</a:t>
            </a:r>
          </a:p>
        </p:txBody>
      </p:sp>
      <p:sp>
        <p:nvSpPr>
          <p:cNvPr id="19" name="Rounded Rectangle 18"/>
          <p:cNvSpPr/>
          <p:nvPr/>
        </p:nvSpPr>
        <p:spPr>
          <a:xfrm>
            <a:off x="7470648" y="4160520"/>
            <a:ext cx="4206240" cy="150876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744968" y="4279392"/>
            <a:ext cx="3657600" cy="320040"/>
          </a:xfrm>
          <a:prstGeom prst="rect">
            <a:avLst/>
          </a:prstGeom>
          <a:noFill/>
        </p:spPr>
        <p:txBody>
          <a:bodyPr wrap="square" lIns="0" rIns="0" tIns="0" bIns="0" anchor="t">
            <a:spAutoFit/>
          </a:bodyPr>
          <a:lstStyle/>
          <a:p>
            <a:pPr algn="l"/>
            <a:r>
              <a:rPr sz="1600" b="1" i="0">
                <a:solidFill>
                  <a:schemeClr val="tx1"/>
                </a:solidFill>
              </a:rPr>
              <a:t>Haiku 5.5</a:t>
            </a:r>
          </a:p>
        </p:txBody>
      </p:sp>
      <p:sp>
        <p:nvSpPr>
          <p:cNvPr id="21" name="TextBox 20"/>
          <p:cNvSpPr txBox="1"/>
          <p:nvPr/>
        </p:nvSpPr>
        <p:spPr>
          <a:xfrm>
            <a:off x="7744968" y="4572000"/>
            <a:ext cx="3657600" cy="685800"/>
          </a:xfrm>
          <a:prstGeom prst="rect">
            <a:avLst/>
          </a:prstGeom>
          <a:noFill/>
        </p:spPr>
        <p:txBody>
          <a:bodyPr wrap="square" lIns="0" rIns="0" tIns="0" bIns="0" anchor="t">
            <a:spAutoFit/>
          </a:bodyPr>
          <a:lstStyle/>
          <a:p>
            <a:pPr algn="l"/>
            <a:r>
              <a:rPr sz="4000" b="1" i="0">
                <a:solidFill>
                  <a:schemeClr val="tx2"/>
                </a:solidFill>
              </a:rPr>
              <a:t>$0.10 / $0.50</a:t>
            </a:r>
          </a:p>
        </p:txBody>
      </p:sp>
      <p:sp>
        <p:nvSpPr>
          <p:cNvPr id="22" name="TextBox 21"/>
          <p:cNvSpPr txBox="1"/>
          <p:nvPr/>
        </p:nvSpPr>
        <p:spPr>
          <a:xfrm>
            <a:off x="7744968" y="5257800"/>
            <a:ext cx="3657600" cy="320040"/>
          </a:xfrm>
          <a:prstGeom prst="rect">
            <a:avLst/>
          </a:prstGeom>
          <a:noFill/>
        </p:spPr>
        <p:txBody>
          <a:bodyPr wrap="square" lIns="0" rIns="0" tIns="0" bIns="0" anchor="t">
            <a:spAutoFit/>
          </a:bodyPr>
          <a:lstStyle/>
          <a:p>
            <a:pPr algn="l"/>
            <a:r>
              <a:rPr sz="1400" b="0" i="0">
                <a:solidFill>
                  <a:srgbClr val="5F5F5F"/>
                </a:solidFill>
              </a:rPr>
              <a:t>from, per million tokens, in / out</a:t>
            </a:r>
          </a:p>
        </p:txBody>
      </p:sp>
      <p:sp>
        <p:nvSpPr>
          <p:cNvPr id="23"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Claude API prices and model names from vendor model pages, accessed 2026-10-12. Re-check the week of the workshop.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Surfaces: where the agent runs</a:t>
            </a:r>
          </a:p>
        </p:txBody>
      </p:sp>
      <p:sp>
        <p:nvSpPr>
          <p:cNvPr id="3" name="Text Placeholder 2"/>
          <p:cNvSpPr>
            <a:spLocks noGrp="1"/>
          </p:cNvSpPr>
          <p:nvPr>
            <p:ph type="body" idx="12" sz="quarter"/>
          </p:nvPr>
        </p:nvSpPr>
        <p:spPr/>
        <p:txBody>
          <a:bodyPr/>
          <a:lstStyle/>
          <a:p>
            <a:r>
              <a:t>Chat vs. agent is a choice of surface</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920240"/>
          <a:ext cx="11164824" cy="3054096"/>
        </p:xfrm>
        <a:graphic>
          <a:graphicData uri="http://schemas.openxmlformats.org/drawingml/2006/table">
            <a:tbl>
              <a:tblPr firstRow="1">
                <a:tableStyleId>{5C22544A-7EE6-4342-B048-85BDC9FD1C3A}</a:tableStyleId>
              </a:tblPr>
              <a:tblGrid>
                <a:gridCol w="2834640"/>
                <a:gridCol w="3017520"/>
                <a:gridCol w="2651760"/>
                <a:gridCol w="2660904"/>
              </a:tblGrid>
              <a:tr h="411480">
                <a:tc>
                  <a:txBody>
                    <a:bodyPr wrap="square"/>
                    <a:lstStyle/>
                    <a:p>
                      <a:r>
                        <a:rPr sz="1500" b="1">
                          <a:solidFill>
                            <a:schemeClr val="bg1"/>
                          </a:solidFill>
                        </a:rPr>
                        <a:t>Surface</a:t>
                      </a:r>
                    </a:p>
                  </a:txBody>
                  <a:tcPr marL="91440" marR="91440" marT="36576" marB="36576" anchor="ctr">
                    <a:solidFill>
                      <a:schemeClr val="tx2"/>
                    </a:solidFill>
                  </a:tcPr>
                </a:tc>
                <a:tc>
                  <a:txBody>
                    <a:bodyPr wrap="square"/>
                    <a:lstStyle/>
                    <a:p>
                      <a:r>
                        <a:rPr sz="1500" b="1">
                          <a:solidFill>
                            <a:schemeClr val="bg1"/>
                          </a:solidFill>
                        </a:rPr>
                        <a:t>Runs where</a:t>
                      </a:r>
                    </a:p>
                  </a:txBody>
                  <a:tcPr marL="91440" marR="91440" marT="36576" marB="36576" anchor="ctr">
                    <a:solidFill>
                      <a:schemeClr val="tx2"/>
                    </a:solidFill>
                  </a:tcPr>
                </a:tc>
                <a:tc>
                  <a:txBody>
                    <a:bodyPr wrap="square"/>
                    <a:lstStyle/>
                    <a:p>
                      <a:r>
                        <a:rPr sz="1500" b="1">
                          <a:solidFill>
                            <a:schemeClr val="bg1"/>
                          </a:solidFill>
                        </a:rPr>
                        <a:t>Can touch</a:t>
                      </a:r>
                    </a:p>
                  </a:txBody>
                  <a:tcPr marL="91440" marR="91440" marT="36576" marB="36576" anchor="ctr">
                    <a:solidFill>
                      <a:schemeClr val="tx2"/>
                    </a:solidFill>
                  </a:tcPr>
                </a:tc>
                <a:tc>
                  <a:txBody>
                    <a:bodyPr wrap="square"/>
                    <a:lstStyle/>
                    <a:p>
                      <a:r>
                        <a:rPr sz="1500" b="1">
                          <a:solidFill>
                            <a:schemeClr val="bg1"/>
                          </a:solidFill>
                        </a:rPr>
                        <a:t>Use it for</a:t>
                      </a:r>
                    </a:p>
                  </a:txBody>
                  <a:tcPr marL="91440" marR="91440" marT="36576" marB="36576" anchor="ctr">
                    <a:solidFill>
                      <a:schemeClr val="tx2"/>
                    </a:solidFill>
                  </a:tcPr>
                </a:tc>
              </a:tr>
              <a:tr h="502920">
                <a:tc>
                  <a:txBody>
                    <a:bodyPr wrap="square"/>
                    <a:lstStyle/>
                    <a:p>
                      <a:r>
                        <a:rPr sz="1500" b="1">
                          <a:solidFill>
                            <a:schemeClr val="tx1"/>
                          </a:solidFill>
                        </a:rPr>
                        <a:t>Chat (claude.ai)</a:t>
                      </a:r>
                    </a:p>
                  </a:txBody>
                  <a:tcPr marL="91440" marR="91440" marT="36576" marB="36576" anchor="ctr">
                    <a:solidFill>
                      <a:schemeClr val="bg1"/>
                    </a:solidFill>
                  </a:tcPr>
                </a:tc>
                <a:tc>
                  <a:txBody>
                    <a:bodyPr wrap="square"/>
                    <a:lstStyle/>
                    <a:p>
                      <a:r>
                        <a:rPr sz="1500" b="0">
                          <a:solidFill>
                            <a:schemeClr val="tx1"/>
                          </a:solidFill>
                        </a:rPr>
                        <a:t>Anthropic's cloud</a:t>
                      </a:r>
                    </a:p>
                  </a:txBody>
                  <a:tcPr marL="91440" marR="91440" marT="36576" marB="36576" anchor="ctr">
                    <a:solidFill>
                      <a:schemeClr val="bg1"/>
                    </a:solidFill>
                  </a:tcPr>
                </a:tc>
                <a:tc>
                  <a:txBody>
                    <a:bodyPr wrap="square"/>
                    <a:lstStyle/>
                    <a:p>
                      <a:r>
                        <a:rPr sz="1500" b="0">
                          <a:solidFill>
                            <a:schemeClr val="tx1"/>
                          </a:solidFill>
                        </a:rPr>
                        <a:t>Files you upload</a:t>
                      </a:r>
                    </a:p>
                  </a:txBody>
                  <a:tcPr marL="91440" marR="91440" marT="36576" marB="36576" anchor="ctr">
                    <a:solidFill>
                      <a:schemeClr val="bg1"/>
                    </a:solidFill>
                  </a:tcPr>
                </a:tc>
                <a:tc>
                  <a:txBody>
                    <a:bodyPr wrap="square"/>
                    <a:lstStyle/>
                    <a:p>
                      <a:r>
                        <a:rPr sz="1500" b="0">
                          <a:solidFill>
                            <a:schemeClr val="tx1"/>
                          </a:solidFill>
                        </a:rPr>
                        <a:t>Questions, drafts, reading</a:t>
                      </a:r>
                    </a:p>
                  </a:txBody>
                  <a:tcPr marL="91440" marR="91440" marT="36576" marB="36576" anchor="ctr">
                    <a:solidFill>
                      <a:schemeClr val="bg1"/>
                    </a:solidFill>
                  </a:tcPr>
                </a:tc>
              </a:tr>
              <a:tr h="566928">
                <a:tc>
                  <a:txBody>
                    <a:bodyPr wrap="square"/>
                    <a:lstStyle/>
                    <a:p>
                      <a:r>
                        <a:rPr sz="1500" b="1">
                          <a:solidFill>
                            <a:schemeClr val="tx1"/>
                          </a:solidFill>
                        </a:rPr>
                        <a:t>Claude CLI (terminal)</a:t>
                      </a:r>
                    </a:p>
                  </a:txBody>
                  <a:tcPr marL="91440" marR="91440" marT="36576" marB="36576" anchor="ctr">
                    <a:solidFill>
                      <a:srgbClr val="F6E2E6"/>
                    </a:solidFill>
                  </a:tcPr>
                </a:tc>
                <a:tc>
                  <a:txBody>
                    <a:bodyPr wrap="square"/>
                    <a:lstStyle/>
                    <a:p>
                      <a:r>
                        <a:rPr sz="1500" b="0">
                          <a:solidFill>
                            <a:schemeClr val="tx1"/>
                          </a:solidFill>
                        </a:rPr>
                        <a:t>Your machine, in your project folder</a:t>
                      </a:r>
                    </a:p>
                  </a:txBody>
                  <a:tcPr marL="91440" marR="91440" marT="36576" marB="36576" anchor="ctr">
                    <a:solidFill>
                      <a:srgbClr val="F6E2E6"/>
                    </a:solidFill>
                  </a:tcPr>
                </a:tc>
                <a:tc>
                  <a:txBody>
                    <a:bodyPr wrap="square"/>
                    <a:lstStyle/>
                    <a:p>
                      <a:r>
                        <a:rPr sz="1500" b="0">
                          <a:solidFill>
                            <a:schemeClr val="tx1"/>
                          </a:solidFill>
                        </a:rPr>
                        <a:t>Your project files and R</a:t>
                      </a:r>
                    </a:p>
                  </a:txBody>
                  <a:tcPr marL="91440" marR="91440" marT="36576" marB="36576" anchor="ctr">
                    <a:solidFill>
                      <a:srgbClr val="F6E2E6"/>
                    </a:solidFill>
                  </a:tcPr>
                </a:tc>
                <a:tc>
                  <a:txBody>
                    <a:bodyPr wrap="square"/>
                    <a:lstStyle/>
                    <a:p>
                      <a:r>
                        <a:rPr sz="1500" b="1">
                          <a:solidFill>
                            <a:schemeClr val="tx2"/>
                          </a:solidFill>
                        </a:rPr>
                        <a:t>Research pipelines: this workshop</a:t>
                      </a:r>
                    </a:p>
                  </a:txBody>
                  <a:tcPr marL="91440" marR="91440" marT="36576" marB="36576" anchor="ctr">
                    <a:solidFill>
                      <a:srgbClr val="F6E2E6"/>
                    </a:solidFill>
                  </a:tcPr>
                </a:tc>
              </a:tr>
              <a:tr h="502920">
                <a:tc>
                  <a:txBody>
                    <a:bodyPr wrap="square"/>
                    <a:lstStyle/>
                    <a:p>
                      <a:r>
                        <a:rPr sz="1500" b="1">
                          <a:solidFill>
                            <a:schemeClr val="tx1"/>
                          </a:solidFill>
                        </a:rPr>
                        <a:t>Claude Code in the desktop app</a:t>
                      </a:r>
                    </a:p>
                  </a:txBody>
                  <a:tcPr marL="91440" marR="91440" marT="36576" marB="36576" anchor="ctr">
                    <a:solidFill>
                      <a:schemeClr val="bg1"/>
                    </a:solidFill>
                  </a:tcPr>
                </a:tc>
                <a:tc>
                  <a:txBody>
                    <a:bodyPr wrap="square"/>
                    <a:lstStyle/>
                    <a:p>
                      <a:r>
                        <a:rPr sz="1500" b="0">
                          <a:solidFill>
                            <a:schemeClr val="tx1"/>
                          </a:solidFill>
                        </a:rPr>
                        <a:t>Your machine</a:t>
                      </a:r>
                    </a:p>
                  </a:txBody>
                  <a:tcPr marL="91440" marR="91440" marT="36576" marB="36576" anchor="ctr">
                    <a:solidFill>
                      <a:schemeClr val="bg1"/>
                    </a:solidFill>
                  </a:tcPr>
                </a:tc>
                <a:tc>
                  <a:txBody>
                    <a:bodyPr wrap="square"/>
                    <a:lstStyle/>
                    <a:p>
                      <a:r>
                        <a:rPr sz="1500" b="0">
                          <a:solidFill>
                            <a:schemeClr val="tx1"/>
                          </a:solidFill>
                        </a:rPr>
                        <a:t>Same as CLI, with visual diffs</a:t>
                      </a:r>
                    </a:p>
                  </a:txBody>
                  <a:tcPr marL="91440" marR="91440" marT="36576" marB="36576" anchor="ctr">
                    <a:solidFill>
                      <a:schemeClr val="bg1"/>
                    </a:solidFill>
                  </a:tcPr>
                </a:tc>
                <a:tc>
                  <a:txBody>
                    <a:bodyPr wrap="square"/>
                    <a:lstStyle/>
                    <a:p>
                      <a:r>
                        <a:rPr sz="1500" b="0">
                          <a:solidFill>
                            <a:schemeClr val="tx1"/>
                          </a:solidFill>
                        </a:rPr>
                        <a:t>The same work, if you prefer a window</a:t>
                      </a:r>
                    </a:p>
                  </a:txBody>
                  <a:tcPr marL="91440" marR="91440" marT="36576" marB="36576" anchor="ctr">
                    <a:solidFill>
                      <a:schemeClr val="bg1"/>
                    </a:solidFill>
                  </a:tcPr>
                </a:tc>
              </a:tr>
              <a:tr h="502920">
                <a:tc>
                  <a:txBody>
                    <a:bodyPr wrap="square"/>
                    <a:lstStyle/>
                    <a:p>
                      <a:r>
                        <a:rPr sz="1500" b="1">
                          <a:solidFill>
                            <a:schemeClr val="tx1"/>
                          </a:solidFill>
                        </a:rPr>
                        <a:t>Claude Code on the web</a:t>
                      </a:r>
                    </a:p>
                  </a:txBody>
                  <a:tcPr marL="91440" marR="91440" marT="36576" marB="36576" anchor="ctr">
                    <a:solidFill>
                      <a:schemeClr val="bg1"/>
                    </a:solidFill>
                  </a:tcPr>
                </a:tc>
                <a:tc>
                  <a:txBody>
                    <a:bodyPr wrap="square"/>
                    <a:lstStyle/>
                    <a:p>
                      <a:r>
                        <a:rPr sz="1500" b="0">
                          <a:solidFill>
                            <a:schemeClr val="tx1"/>
                          </a:solidFill>
                        </a:rPr>
                        <a:t>Anthropic's cloud</a:t>
                      </a:r>
                    </a:p>
                  </a:txBody>
                  <a:tcPr marL="91440" marR="91440" marT="36576" marB="36576" anchor="ctr">
                    <a:solidFill>
                      <a:schemeClr val="bg1"/>
                    </a:solidFill>
                  </a:tcPr>
                </a:tc>
                <a:tc>
                  <a:txBody>
                    <a:bodyPr wrap="square"/>
                    <a:lstStyle/>
                    <a:p>
                      <a:r>
                        <a:rPr sz="1500" b="0">
                          <a:solidFill>
                            <a:schemeClr val="tx1"/>
                          </a:solidFill>
                        </a:rPr>
                        <a:t>A GitHub repository</a:t>
                      </a:r>
                    </a:p>
                  </a:txBody>
                  <a:tcPr marL="91440" marR="91440" marT="36576" marB="36576" anchor="ctr">
                    <a:solidFill>
                      <a:schemeClr val="bg1"/>
                    </a:solidFill>
                  </a:tcPr>
                </a:tc>
                <a:tc>
                  <a:txBody>
                    <a:bodyPr wrap="square"/>
                    <a:lstStyle/>
                    <a:p>
                      <a:r>
                        <a:rPr sz="1500" b="0">
                          <a:solidFill>
                            <a:schemeClr val="tx1"/>
                          </a:solidFill>
                        </a:rPr>
                        <a:t>Code already on GitHub</a:t>
                      </a:r>
                    </a:p>
                  </a:txBody>
                  <a:tcPr marL="91440" marR="91440" marT="36576" marB="36576" anchor="ctr">
                    <a:solidFill>
                      <a:schemeClr val="bg1"/>
                    </a:solidFill>
                  </a:tcPr>
                </a:tc>
              </a:tr>
              <a:tr h="566928">
                <a:tc>
                  <a:txBody>
                    <a:bodyPr wrap="square"/>
                    <a:lstStyle/>
                    <a:p>
                      <a:r>
                        <a:rPr sz="1500" b="1">
                          <a:solidFill>
                            <a:schemeClr val="tx1"/>
                          </a:solidFill>
                        </a:rPr>
                        <a:t>Cowork</a:t>
                      </a:r>
                    </a:p>
                  </a:txBody>
                  <a:tcPr marL="91440" marR="91440" marT="36576" marB="36576" anchor="ctr">
                    <a:solidFill>
                      <a:schemeClr val="bg1"/>
                    </a:solidFill>
                  </a:tcPr>
                </a:tc>
                <a:tc>
                  <a:txBody>
                    <a:bodyPr wrap="square"/>
                    <a:lstStyle/>
                    <a:p>
                      <a:r>
                        <a:rPr sz="1500" b="0">
                          <a:solidFill>
                            <a:schemeClr val="tx1"/>
                          </a:solidFill>
                        </a:rPr>
                        <a:t>Desktop app (folders you choose) or cloud</a:t>
                      </a:r>
                    </a:p>
                  </a:txBody>
                  <a:tcPr marL="91440" marR="91440" marT="36576" marB="36576" anchor="ctr">
                    <a:solidFill>
                      <a:schemeClr val="bg1"/>
                    </a:solidFill>
                  </a:tcPr>
                </a:tc>
                <a:tc>
                  <a:txBody>
                    <a:bodyPr wrap="square"/>
                    <a:lstStyle/>
                    <a:p>
                      <a:r>
                        <a:rPr sz="1500" b="0">
                          <a:solidFill>
                            <a:schemeClr val="tx1"/>
                          </a:solidFill>
                        </a:rPr>
                        <a:t>The folders and tools you grant</a:t>
                      </a:r>
                    </a:p>
                  </a:txBody>
                  <a:tcPr marL="91440" marR="91440" marT="36576" marB="36576" anchor="ctr">
                    <a:solidFill>
                      <a:schemeClr val="bg1"/>
                    </a:solidFill>
                  </a:tcPr>
                </a:tc>
                <a:tc>
                  <a:txBody>
                    <a:bodyPr wrap="square"/>
                    <a:lstStyle/>
                    <a:p>
                      <a:r>
                        <a:rPr sz="1500" b="0">
                          <a:solidFill>
                            <a:schemeClr val="tx1"/>
                          </a:solidFill>
                        </a:rPr>
                        <a:t>Handing off a knowledge-work task</a:t>
                      </a:r>
                    </a:p>
                  </a:txBody>
                  <a:tcPr marL="91440" marR="91440" marT="36576" marB="36576" anchor="ctr">
                    <a:solidFill>
                      <a:schemeClr val="bg1"/>
                    </a:solidFill>
                  </a:tcPr>
                </a:tc>
              </a:tr>
            </a:tbl>
          </a:graphicData>
        </a:graphic>
      </p:graphicFrame>
      <p:sp>
        <p:nvSpPr>
          <p:cNvPr id="14" name="icon_FaTerminal_circle"/>
          <p:cNvSpPr/>
          <p:nvPr/>
        </p:nvSpPr>
        <p:spPr>
          <a:xfrm>
            <a:off x="512064" y="5193792"/>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Terminal_white.png"/>
          <p:cNvPicPr>
            <a:picLocks noChangeAspect="1"/>
          </p:cNvPicPr>
          <p:nvPr/>
        </p:nvPicPr>
        <p:blipFill>
          <a:blip r:embed="rId3"/>
          <a:stretch>
            <a:fillRect/>
          </a:stretch>
        </p:blipFill>
        <p:spPr>
          <a:xfrm>
            <a:off x="637794" y="5319522"/>
            <a:ext cx="251460" cy="251460"/>
          </a:xfrm>
          <a:prstGeom prst="rect">
            <a:avLst/>
          </a:prstGeom>
        </p:spPr>
      </p:pic>
      <p:sp>
        <p:nvSpPr>
          <p:cNvPr id="16" name="TextBox 15"/>
          <p:cNvSpPr txBox="1"/>
          <p:nvPr/>
        </p:nvSpPr>
        <p:spPr>
          <a:xfrm>
            <a:off x="1197864" y="5138928"/>
            <a:ext cx="10424160" cy="612648"/>
          </a:xfrm>
          <a:prstGeom prst="rect">
            <a:avLst/>
          </a:prstGeom>
          <a:noFill/>
        </p:spPr>
        <p:txBody>
          <a:bodyPr wrap="square" lIns="0" rIns="0" tIns="0" bIns="0" anchor="ctr">
            <a:spAutoFit/>
          </a:bodyPr>
          <a:lstStyle/>
          <a:p>
            <a:pPr algn="l"/>
            <a:r>
              <a:rPr sz="1600" b="0" i="0">
                <a:solidFill>
                  <a:schemeClr val="tx1"/>
                </a:solidFill>
              </a:rPr>
              <a:t>The CLI and the desktop app's Code tab are the same agent: same machine, same CLAUDE.md, same settings.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Division of labor</a:t>
            </a:r>
          </a:p>
        </p:txBody>
      </p:sp>
      <p:sp>
        <p:nvSpPr>
          <p:cNvPr id="3" name="Text Placeholder 2"/>
          <p:cNvSpPr>
            <a:spLocks noGrp="1"/>
          </p:cNvSpPr>
          <p:nvPr>
            <p:ph type="body" idx="12" sz="quarter"/>
          </p:nvPr>
        </p:nvSpPr>
        <p:spPr/>
        <p:txBody>
          <a:bodyPr/>
          <a:lstStyle/>
          <a:p>
            <a:r>
              <a:t>A cost argument and a fit argument</a:t>
            </a:r>
          </a:p>
        </p:txBody>
      </p:sp>
      <p:sp>
        <p:nvSpPr>
          <p:cNvPr id="4" name="Text Placeholder 3"/>
          <p:cNvSpPr>
            <a:spLocks noGrp="1"/>
          </p:cNvSpPr>
          <p:nvPr>
            <p:ph type="body" idx="14" sz="quarter"/>
          </p:nvPr>
        </p:nvSpPr>
        <p:spPr/>
        <p:txBody>
          <a:bodyPr/>
          <a:lstStyle/>
          <a:p>
            <a:r>
              <a:t>What WashU provides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572000" cy="34290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ookOpenReader_circle"/>
          <p:cNvSpPr/>
          <p:nvPr/>
        </p:nvSpPr>
        <p:spPr>
          <a:xfrm>
            <a:off x="832104" y="2194560"/>
            <a:ext cx="731520" cy="7315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ookOpenReader_dark.png"/>
          <p:cNvPicPr>
            <a:picLocks noChangeAspect="1"/>
          </p:cNvPicPr>
          <p:nvPr/>
        </p:nvPicPr>
        <p:blipFill>
          <a:blip r:embed="rId3"/>
          <a:stretch>
            <a:fillRect/>
          </a:stretch>
        </p:blipFill>
        <p:spPr>
          <a:xfrm>
            <a:off x="1014984" y="2377440"/>
            <a:ext cx="365760" cy="365760"/>
          </a:xfrm>
          <a:prstGeom prst="rect">
            <a:avLst/>
          </a:prstGeom>
        </p:spPr>
      </p:pic>
      <p:sp>
        <p:nvSpPr>
          <p:cNvPr id="16" name="TextBox 15"/>
          <p:cNvSpPr txBox="1"/>
          <p:nvPr/>
        </p:nvSpPr>
        <p:spPr>
          <a:xfrm>
            <a:off x="1746504" y="2194560"/>
            <a:ext cx="3108960" cy="411480"/>
          </a:xfrm>
          <a:prstGeom prst="rect">
            <a:avLst/>
          </a:prstGeom>
          <a:noFill/>
        </p:spPr>
        <p:txBody>
          <a:bodyPr wrap="square" lIns="0" rIns="0" tIns="0" bIns="0" anchor="t">
            <a:spAutoFit/>
          </a:bodyPr>
          <a:lstStyle/>
          <a:p>
            <a:pPr algn="l"/>
            <a:r>
              <a:rPr sz="2400" b="1" i="0">
                <a:solidFill>
                  <a:schemeClr val="tx1"/>
                </a:solidFill>
              </a:rPr>
              <a:t>Gemini</a:t>
            </a:r>
          </a:p>
        </p:txBody>
      </p:sp>
      <p:sp>
        <p:nvSpPr>
          <p:cNvPr id="17" name="TextBox 16"/>
          <p:cNvSpPr txBox="1"/>
          <p:nvPr/>
        </p:nvSpPr>
        <p:spPr>
          <a:xfrm>
            <a:off x="1746504" y="2606040"/>
            <a:ext cx="3108960" cy="320040"/>
          </a:xfrm>
          <a:prstGeom prst="rect">
            <a:avLst/>
          </a:prstGeom>
          <a:noFill/>
        </p:spPr>
        <p:txBody>
          <a:bodyPr wrap="square" lIns="0" rIns="0" tIns="0" bIns="0" anchor="t">
            <a:spAutoFit/>
          </a:bodyPr>
          <a:lstStyle/>
          <a:p>
            <a:pPr algn="l"/>
            <a:r>
              <a:rPr sz="1400" b="0" i="0">
                <a:solidFill>
                  <a:srgbClr val="5F5F5F"/>
                </a:solidFill>
              </a:rPr>
              <a:t>free through WashU</a:t>
            </a:r>
          </a:p>
        </p:txBody>
      </p:sp>
      <p:sp>
        <p:nvSpPr>
          <p:cNvPr id="18" name="TextBox 17"/>
          <p:cNvSpPr txBox="1"/>
          <p:nvPr/>
        </p:nvSpPr>
        <p:spPr>
          <a:xfrm>
            <a:off x="832104" y="3246120"/>
            <a:ext cx="3931920" cy="2011680"/>
          </a:xfrm>
          <a:prstGeom prst="rect">
            <a:avLst/>
          </a:prstGeom>
          <a:noFill/>
        </p:spPr>
        <p:txBody>
          <a:bodyPr wrap="square" lIns="0" rIns="0" tIns="0" bIns="0" anchor="t">
            <a:spAutoFit/>
          </a:bodyPr>
          <a:lstStyle/>
          <a:p>
            <a:pPr algn="l">
              <a:spcAft>
                <a:spcPts val="600"/>
              </a:spcAft>
            </a:pPr>
            <a:r>
              <a:rPr sz="1700" b="1" i="0">
                <a:solidFill>
                  <a:schemeClr val="tx1"/>
                </a:solidFill>
              </a:rPr>
              <a:t>Reading and literature work</a:t>
            </a:r>
          </a:p>
          <a:p>
            <a:pPr algn="l">
              <a:spcAft>
                <a:spcPts val="600"/>
              </a:spcAft>
            </a:pPr>
            <a:r>
              <a:rPr sz="1700" b="0" i="0">
                <a:solidFill>
                  <a:schemeClr val="tx1"/>
                </a:solidFill>
              </a:rPr>
              <a:t>Long PDFs, many sources, first-pass synthesis, drafting a spec or a CLAUDE.md before you spend Claude usage</a:t>
            </a:r>
          </a:p>
        </p:txBody>
      </p:sp>
      <p:sp>
        <p:nvSpPr>
          <p:cNvPr id="19" name="Rounded Rectangle 18"/>
          <p:cNvSpPr/>
          <p:nvPr/>
        </p:nvSpPr>
        <p:spPr>
          <a:xfrm>
            <a:off x="7104888" y="1920240"/>
            <a:ext cx="4572000" cy="34290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Terminal_circle"/>
          <p:cNvSpPr/>
          <p:nvPr/>
        </p:nvSpPr>
        <p:spPr>
          <a:xfrm>
            <a:off x="7424927" y="2194560"/>
            <a:ext cx="731520" cy="7315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Terminal_red.png"/>
          <p:cNvPicPr>
            <a:picLocks noChangeAspect="1"/>
          </p:cNvPicPr>
          <p:nvPr/>
        </p:nvPicPr>
        <p:blipFill>
          <a:blip r:embed="rId4"/>
          <a:stretch>
            <a:fillRect/>
          </a:stretch>
        </p:blipFill>
        <p:spPr>
          <a:xfrm>
            <a:off x="7607807" y="2377440"/>
            <a:ext cx="365760" cy="365760"/>
          </a:xfrm>
          <a:prstGeom prst="rect">
            <a:avLst/>
          </a:prstGeom>
        </p:spPr>
      </p:pic>
      <p:sp>
        <p:nvSpPr>
          <p:cNvPr id="22" name="TextBox 21"/>
          <p:cNvSpPr txBox="1"/>
          <p:nvPr/>
        </p:nvSpPr>
        <p:spPr>
          <a:xfrm>
            <a:off x="8339327" y="2194560"/>
            <a:ext cx="3108960" cy="411480"/>
          </a:xfrm>
          <a:prstGeom prst="rect">
            <a:avLst/>
          </a:prstGeom>
          <a:noFill/>
        </p:spPr>
        <p:txBody>
          <a:bodyPr wrap="square" lIns="0" rIns="0" tIns="0" bIns="0" anchor="t">
            <a:spAutoFit/>
          </a:bodyPr>
          <a:lstStyle/>
          <a:p>
            <a:pPr algn="l"/>
            <a:r>
              <a:rPr sz="2400" b="1" i="0">
                <a:solidFill>
                  <a:schemeClr val="bg1"/>
                </a:solidFill>
              </a:rPr>
              <a:t>Claude CLI</a:t>
            </a:r>
          </a:p>
        </p:txBody>
      </p:sp>
      <p:sp>
        <p:nvSpPr>
          <p:cNvPr id="23" name="TextBox 22"/>
          <p:cNvSpPr txBox="1"/>
          <p:nvPr/>
        </p:nvSpPr>
        <p:spPr>
          <a:xfrm>
            <a:off x="8339327" y="2606040"/>
            <a:ext cx="3108960" cy="320040"/>
          </a:xfrm>
          <a:prstGeom prst="rect">
            <a:avLst/>
          </a:prstGeom>
          <a:noFill/>
        </p:spPr>
        <p:txBody>
          <a:bodyPr wrap="square" lIns="0" rIns="0" tIns="0" bIns="0" anchor="t">
            <a:spAutoFit/>
          </a:bodyPr>
          <a:lstStyle/>
          <a:p>
            <a:pPr algn="l"/>
            <a:r>
              <a:rPr sz="1400" b="0" i="0">
                <a:solidFill>
                  <a:schemeClr val="bg1"/>
                </a:solidFill>
              </a:rPr>
              <a:t>in your project folder</a:t>
            </a:r>
          </a:p>
        </p:txBody>
      </p:sp>
      <p:sp>
        <p:nvSpPr>
          <p:cNvPr id="24" name="TextBox 23"/>
          <p:cNvSpPr txBox="1"/>
          <p:nvPr/>
        </p:nvSpPr>
        <p:spPr>
          <a:xfrm>
            <a:off x="7424927" y="3246120"/>
            <a:ext cx="3931920" cy="2011680"/>
          </a:xfrm>
          <a:prstGeom prst="rect">
            <a:avLst/>
          </a:prstGeom>
          <a:noFill/>
        </p:spPr>
        <p:txBody>
          <a:bodyPr wrap="square" lIns="0" rIns="0" tIns="0" bIns="0" anchor="t">
            <a:spAutoFit/>
          </a:bodyPr>
          <a:lstStyle/>
          <a:p>
            <a:pPr algn="l">
              <a:spcAft>
                <a:spcPts val="600"/>
              </a:spcAft>
            </a:pPr>
            <a:r>
              <a:rPr sz="1700" b="1" i="0">
                <a:solidFill>
                  <a:schemeClr val="bg1"/>
                </a:solidFill>
              </a:rPr>
              <a:t>Anything that touches your files</a:t>
            </a:r>
          </a:p>
          <a:p>
            <a:pPr algn="l">
              <a:spcAft>
                <a:spcPts val="600"/>
              </a:spcAft>
            </a:pPr>
            <a:r>
              <a:rPr sz="1700" b="0" i="0">
                <a:solidFill>
                  <a:schemeClr val="bg1"/>
                </a:solidFill>
              </a:rPr>
              <a:t>Scripts, data cleaning, analysis, reproducible pipelines, drafts that live in the project</a:t>
            </a:r>
          </a:p>
        </p:txBody>
      </p:sp>
      <p:pic>
        <p:nvPicPr>
          <p:cNvPr id="25" name="Picture 24" descr="FaFileLines_red.png"/>
          <p:cNvPicPr>
            <a:picLocks noChangeAspect="1"/>
          </p:cNvPicPr>
          <p:nvPr/>
        </p:nvPicPr>
        <p:blipFill>
          <a:blip r:embed="rId5"/>
          <a:stretch>
            <a:fillRect/>
          </a:stretch>
        </p:blipFill>
        <p:spPr>
          <a:xfrm>
            <a:off x="5815584" y="2788920"/>
            <a:ext cx="548640" cy="548640"/>
          </a:xfrm>
          <a:prstGeom prst="rect">
            <a:avLst/>
          </a:prstGeom>
        </p:spPr>
      </p:pic>
      <p:sp>
        <p:nvSpPr>
          <p:cNvPr id="26" name="TextBox 25"/>
          <p:cNvSpPr txBox="1"/>
          <p:nvPr/>
        </p:nvSpPr>
        <p:spPr>
          <a:xfrm>
            <a:off x="5230368" y="3429000"/>
            <a:ext cx="1719072" cy="320040"/>
          </a:xfrm>
          <a:prstGeom prst="rect">
            <a:avLst/>
          </a:prstGeom>
          <a:noFill/>
        </p:spPr>
        <p:txBody>
          <a:bodyPr wrap="square" lIns="0" rIns="0" tIns="0" bIns="0" anchor="t">
            <a:spAutoFit/>
          </a:bodyPr>
          <a:lstStyle/>
          <a:p>
            <a:pPr algn="ctr"/>
            <a:r>
              <a:rPr sz="1400" b="1" i="0">
                <a:solidFill>
                  <a:schemeClr val="tx1"/>
                </a:solidFill>
              </a:rPr>
              <a:t>writing/*.md</a:t>
            </a:r>
          </a:p>
        </p:txBody>
      </p:sp>
      <p:cxnSp>
        <p:nvCxnSpPr>
          <p:cNvPr id="27" name="Connector 26"/>
          <p:cNvCxnSpPr/>
          <p:nvPr/>
        </p:nvCxnSpPr>
        <p:spPr>
          <a:xfrm>
            <a:off x="5257800" y="3977639"/>
            <a:ext cx="169164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230368" y="4096512"/>
            <a:ext cx="1719072" cy="320040"/>
          </a:xfrm>
          <a:prstGeom prst="rect">
            <a:avLst/>
          </a:prstGeom>
          <a:noFill/>
        </p:spPr>
        <p:txBody>
          <a:bodyPr wrap="square" lIns="0" rIns="0" tIns="0" bIns="0" anchor="t">
            <a:spAutoFit/>
          </a:bodyPr>
          <a:lstStyle/>
          <a:p>
            <a:pPr algn="ctr"/>
            <a:r>
              <a:rPr sz="1400" b="0" i="0">
                <a:solidFill>
                  <a:srgbClr val="5F5F5F"/>
                </a:solidFill>
              </a:rPr>
              <a:t>handoff</a:t>
            </a:r>
          </a:p>
        </p:txBody>
      </p:sp>
      <p:sp>
        <p:nvSpPr>
          <p:cNvPr id="29" name="TextBox 28"/>
          <p:cNvSpPr txBox="1"/>
          <p:nvPr/>
        </p:nvSpPr>
        <p:spPr>
          <a:xfrm>
            <a:off x="512064" y="5486400"/>
            <a:ext cx="11164824" cy="411480"/>
          </a:xfrm>
          <a:prstGeom prst="rect">
            <a:avLst/>
          </a:prstGeom>
          <a:noFill/>
        </p:spPr>
        <p:txBody>
          <a:bodyPr wrap="square" lIns="0" rIns="0" tIns="0" bIns="0" anchor="t">
            <a:spAutoFit/>
          </a:bodyPr>
          <a:lstStyle/>
          <a:p>
            <a:pPr algn="ctr"/>
            <a:r>
              <a:rPr sz="1700" b="0" i="1">
                <a:solidFill>
                  <a:schemeClr val="accent1"/>
                </a:solidFill>
              </a:rPr>
              <a:t>Save Gemini's output as Markdown in writing/. The agent picks it up from there.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Don't drown in it</a:t>
            </a:r>
          </a:p>
        </p:txBody>
      </p:sp>
      <p:sp>
        <p:nvSpPr>
          <p:cNvPr id="3" name="Text Placeholder 2"/>
          <p:cNvSpPr>
            <a:spLocks noGrp="1"/>
          </p:cNvSpPr>
          <p:nvPr>
            <p:ph type="body" idx="13" sz="quarter"/>
          </p:nvPr>
        </p:nvSpPr>
        <p:spPr/>
        <p:txBody>
          <a:bodyPr/>
          <a:lstStyle/>
          <a:p>
            <a:r>
              <a:t>Learn the workflow, not the news cycle.</a:t>
            </a:r>
          </a:p>
        </p:txBody>
      </p:sp>
      <p:sp>
        <p:nvSpPr>
          <p:cNvPr id="4" name="icon_FaGraduationCap_circle"/>
          <p:cNvSpPr/>
          <p:nvPr/>
        </p:nvSpPr>
        <p:spPr>
          <a:xfrm>
            <a:off x="6172200" y="86868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aGraduationCap_red.png"/>
          <p:cNvPicPr>
            <a:picLocks noChangeAspect="1"/>
          </p:cNvPicPr>
          <p:nvPr/>
        </p:nvPicPr>
        <p:blipFill>
          <a:blip r:embed="rId3"/>
          <a:stretch>
            <a:fillRect/>
          </a:stretch>
        </p:blipFill>
        <p:spPr>
          <a:xfrm>
            <a:off x="6297930" y="994410"/>
            <a:ext cx="251460" cy="251460"/>
          </a:xfrm>
          <a:prstGeom prst="rect">
            <a:avLst/>
          </a:prstGeom>
        </p:spPr>
      </p:pic>
      <p:sp>
        <p:nvSpPr>
          <p:cNvPr id="6" name="TextBox 5"/>
          <p:cNvSpPr txBox="1"/>
          <p:nvPr/>
        </p:nvSpPr>
        <p:spPr>
          <a:xfrm>
            <a:off x="6903720" y="822960"/>
            <a:ext cx="4800600" cy="731520"/>
          </a:xfrm>
          <a:prstGeom prst="rect">
            <a:avLst/>
          </a:prstGeom>
          <a:noFill/>
        </p:spPr>
        <p:txBody>
          <a:bodyPr wrap="square" lIns="0" rIns="0" tIns="0" bIns="0" anchor="t">
            <a:spAutoFit/>
          </a:bodyPr>
          <a:lstStyle/>
          <a:p>
            <a:pPr algn="l"/>
            <a:r>
              <a:rPr sz="1700" b="0" i="0">
                <a:solidFill>
                  <a:schemeClr val="bg1"/>
                </a:solidFill>
              </a:rPr>
              <a:t>You are an education researcher, not an AI researcher.</a:t>
            </a:r>
          </a:p>
        </p:txBody>
      </p:sp>
      <p:sp>
        <p:nvSpPr>
          <p:cNvPr id="7" name="icon_FaCalendarXmark_circle"/>
          <p:cNvSpPr/>
          <p:nvPr/>
        </p:nvSpPr>
        <p:spPr>
          <a:xfrm>
            <a:off x="6172200" y="1874519"/>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aCalendarXmark_red.png"/>
          <p:cNvPicPr>
            <a:picLocks noChangeAspect="1"/>
          </p:cNvPicPr>
          <p:nvPr/>
        </p:nvPicPr>
        <p:blipFill>
          <a:blip r:embed="rId4"/>
          <a:stretch>
            <a:fillRect/>
          </a:stretch>
        </p:blipFill>
        <p:spPr>
          <a:xfrm>
            <a:off x="6297930" y="2000250"/>
            <a:ext cx="251460" cy="251460"/>
          </a:xfrm>
          <a:prstGeom prst="rect">
            <a:avLst/>
          </a:prstGeom>
        </p:spPr>
      </p:pic>
      <p:sp>
        <p:nvSpPr>
          <p:cNvPr id="9" name="TextBox 8"/>
          <p:cNvSpPr txBox="1"/>
          <p:nvPr/>
        </p:nvSpPr>
        <p:spPr>
          <a:xfrm>
            <a:off x="6903720" y="1828800"/>
            <a:ext cx="4800600" cy="731520"/>
          </a:xfrm>
          <a:prstGeom prst="rect">
            <a:avLst/>
          </a:prstGeom>
          <a:noFill/>
        </p:spPr>
        <p:txBody>
          <a:bodyPr wrap="square" lIns="0" rIns="0" tIns="0" bIns="0" anchor="t">
            <a:spAutoFit/>
          </a:bodyPr>
          <a:lstStyle/>
          <a:p>
            <a:pPr algn="l"/>
            <a:r>
              <a:rPr sz="1700" b="0" i="0">
                <a:solidFill>
                  <a:schemeClr val="bg1"/>
                </a:solidFill>
              </a:rPr>
              <a:t>A new model every month is not a reason to change your workflow every month.</a:t>
            </a:r>
          </a:p>
        </p:txBody>
      </p:sp>
      <p:sp>
        <p:nvSpPr>
          <p:cNvPr id="10" name="icon_FaScaleBalanced_circle"/>
          <p:cNvSpPr/>
          <p:nvPr/>
        </p:nvSpPr>
        <p:spPr>
          <a:xfrm>
            <a:off x="6172200" y="288036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FaScaleBalanced_red.png"/>
          <p:cNvPicPr>
            <a:picLocks noChangeAspect="1"/>
          </p:cNvPicPr>
          <p:nvPr/>
        </p:nvPicPr>
        <p:blipFill>
          <a:blip r:embed="rId5"/>
          <a:stretch>
            <a:fillRect/>
          </a:stretch>
        </p:blipFill>
        <p:spPr>
          <a:xfrm>
            <a:off x="6297930" y="3006090"/>
            <a:ext cx="251460" cy="251460"/>
          </a:xfrm>
          <a:prstGeom prst="rect">
            <a:avLst/>
          </a:prstGeom>
        </p:spPr>
      </p:pic>
      <p:sp>
        <p:nvSpPr>
          <p:cNvPr id="12" name="TextBox 11"/>
          <p:cNvSpPr txBox="1"/>
          <p:nvPr/>
        </p:nvSpPr>
        <p:spPr>
          <a:xfrm>
            <a:off x="6903720" y="2834640"/>
            <a:ext cx="4800600" cy="1463040"/>
          </a:xfrm>
          <a:prstGeom prst="rect">
            <a:avLst/>
          </a:prstGeom>
          <a:noFill/>
        </p:spPr>
        <p:txBody>
          <a:bodyPr wrap="square" lIns="0" rIns="0" tIns="0" bIns="0" anchor="t">
            <a:spAutoFit/>
          </a:bodyPr>
          <a:lstStyle/>
          <a:p>
            <a:pPr algn="l"/>
            <a:r>
              <a:rPr sz="1700" b="0" i="0">
                <a:solidFill>
                  <a:schemeClr val="bg1"/>
                </a:solidFill>
              </a:rPr>
              <a:t>Pick the model by the task: smaller models often suffice for classifying and extracting text; stronger models earn their cost on long, multi-step agent work.</a:t>
            </a:r>
          </a:p>
        </p:txBody>
      </p:sp>
      <p:sp>
        <p:nvSpPr>
          <p:cNvPr id="13" name="icon_FaHourglassHalf_circle"/>
          <p:cNvSpPr/>
          <p:nvPr/>
        </p:nvSpPr>
        <p:spPr>
          <a:xfrm>
            <a:off x="6172200" y="457200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FaHourglassHalf_red.png"/>
          <p:cNvPicPr>
            <a:picLocks noChangeAspect="1"/>
          </p:cNvPicPr>
          <p:nvPr/>
        </p:nvPicPr>
        <p:blipFill>
          <a:blip r:embed="rId6"/>
          <a:stretch>
            <a:fillRect/>
          </a:stretch>
        </p:blipFill>
        <p:spPr>
          <a:xfrm>
            <a:off x="6297930" y="4697730"/>
            <a:ext cx="251460" cy="251460"/>
          </a:xfrm>
          <a:prstGeom prst="rect">
            <a:avLst/>
          </a:prstGeom>
        </p:spPr>
      </p:pic>
      <p:sp>
        <p:nvSpPr>
          <p:cNvPr id="15" name="TextBox 14"/>
          <p:cNvSpPr txBox="1"/>
          <p:nvPr/>
        </p:nvSpPr>
        <p:spPr>
          <a:xfrm>
            <a:off x="6903720" y="4526280"/>
            <a:ext cx="4800600" cy="731520"/>
          </a:xfrm>
          <a:prstGeom prst="rect">
            <a:avLst/>
          </a:prstGeom>
          <a:noFill/>
        </p:spPr>
        <p:txBody>
          <a:bodyPr wrap="square" lIns="0" rIns="0" tIns="0" bIns="0" anchor="t">
            <a:spAutoFit/>
          </a:bodyPr>
          <a:lstStyle/>
          <a:p>
            <a:pPr algn="l"/>
            <a:r>
              <a:rPr sz="1700" b="0" i="0">
                <a:solidFill>
                  <a:schemeClr val="bg1"/>
                </a:solidFill>
              </a:rPr>
              <a:t>Time on research questions &gt; time on AI feeds.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A community, not a feed</a:t>
            </a:r>
          </a:p>
        </p:txBody>
      </p:sp>
      <p:sp>
        <p:nvSpPr>
          <p:cNvPr id="3" name="TextBox 2"/>
          <p:cNvSpPr txBox="1"/>
          <p:nvPr/>
        </p:nvSpPr>
        <p:spPr>
          <a:xfrm>
            <a:off x="6172200" y="868680"/>
            <a:ext cx="5486400" cy="822960"/>
          </a:xfrm>
          <a:prstGeom prst="rect">
            <a:avLst/>
          </a:prstGeom>
          <a:noFill/>
        </p:spPr>
        <p:txBody>
          <a:bodyPr wrap="square" lIns="0" rIns="0" tIns="0" bIns="0" anchor="t">
            <a:spAutoFit/>
          </a:bodyPr>
          <a:lstStyle/>
          <a:p>
            <a:pPr algn="l"/>
            <a:r>
              <a:rPr sz="2200" b="1" i="0">
                <a:solidFill>
                  <a:schemeClr val="bg1"/>
                </a:solidFill>
              </a:rPr>
              <a:t>Share what works with people doing similar research.</a:t>
            </a:r>
          </a:p>
        </p:txBody>
      </p:sp>
      <p:sp>
        <p:nvSpPr>
          <p:cNvPr id="4" name="icon_FaTerminal_circle"/>
          <p:cNvSpPr/>
          <p:nvPr/>
        </p:nvSpPr>
        <p:spPr>
          <a:xfrm>
            <a:off x="6172200" y="192024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aTerminal_red.png"/>
          <p:cNvPicPr>
            <a:picLocks noChangeAspect="1"/>
          </p:cNvPicPr>
          <p:nvPr/>
        </p:nvPicPr>
        <p:blipFill>
          <a:blip r:embed="rId3"/>
          <a:stretch>
            <a:fillRect/>
          </a:stretch>
        </p:blipFill>
        <p:spPr>
          <a:xfrm>
            <a:off x="6297930" y="2045970"/>
            <a:ext cx="251460" cy="251460"/>
          </a:xfrm>
          <a:prstGeom prst="rect">
            <a:avLst/>
          </a:prstGeom>
        </p:spPr>
      </p:pic>
      <p:sp>
        <p:nvSpPr>
          <p:cNvPr id="6" name="TextBox 5"/>
          <p:cNvSpPr txBox="1"/>
          <p:nvPr/>
        </p:nvSpPr>
        <p:spPr>
          <a:xfrm>
            <a:off x="6858000" y="1920240"/>
            <a:ext cx="4754880" cy="502920"/>
          </a:xfrm>
          <a:prstGeom prst="rect">
            <a:avLst/>
          </a:prstGeom>
          <a:noFill/>
        </p:spPr>
        <p:txBody>
          <a:bodyPr wrap="square" lIns="0" rIns="0" tIns="0" bIns="0" anchor="ctr">
            <a:spAutoFit/>
          </a:bodyPr>
          <a:lstStyle/>
          <a:p>
            <a:pPr algn="l"/>
            <a:r>
              <a:rPr sz="1700" b="0" i="0">
                <a:solidFill>
                  <a:schemeClr val="bg1"/>
                </a:solidFill>
              </a:rPr>
              <a:t>A prompt that worked</a:t>
            </a:r>
          </a:p>
        </p:txBody>
      </p:sp>
      <p:sp>
        <p:nvSpPr>
          <p:cNvPr id="7" name="icon_FaFileLines_circle"/>
          <p:cNvSpPr/>
          <p:nvPr/>
        </p:nvSpPr>
        <p:spPr>
          <a:xfrm>
            <a:off x="6172200" y="260604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aFileLines_red.png"/>
          <p:cNvPicPr>
            <a:picLocks noChangeAspect="1"/>
          </p:cNvPicPr>
          <p:nvPr/>
        </p:nvPicPr>
        <p:blipFill>
          <a:blip r:embed="rId4"/>
          <a:stretch>
            <a:fillRect/>
          </a:stretch>
        </p:blipFill>
        <p:spPr>
          <a:xfrm>
            <a:off x="6297930" y="2731770"/>
            <a:ext cx="251460" cy="251460"/>
          </a:xfrm>
          <a:prstGeom prst="rect">
            <a:avLst/>
          </a:prstGeom>
        </p:spPr>
      </p:pic>
      <p:sp>
        <p:nvSpPr>
          <p:cNvPr id="9" name="TextBox 8"/>
          <p:cNvSpPr txBox="1"/>
          <p:nvPr/>
        </p:nvSpPr>
        <p:spPr>
          <a:xfrm>
            <a:off x="6858000" y="2606040"/>
            <a:ext cx="4754880" cy="502920"/>
          </a:xfrm>
          <a:prstGeom prst="rect">
            <a:avLst/>
          </a:prstGeom>
          <a:noFill/>
        </p:spPr>
        <p:txBody>
          <a:bodyPr wrap="square" lIns="0" rIns="0" tIns="0" bIns="0" anchor="ctr">
            <a:spAutoFit/>
          </a:bodyPr>
          <a:lstStyle/>
          <a:p>
            <a:pPr algn="l"/>
            <a:r>
              <a:rPr sz="1700" b="0" i="0">
                <a:solidFill>
                  <a:schemeClr val="bg1"/>
                </a:solidFill>
              </a:rPr>
              <a:t>A CLAUDE.md rule that saved you time</a:t>
            </a:r>
          </a:p>
        </p:txBody>
      </p:sp>
      <p:sp>
        <p:nvSpPr>
          <p:cNvPr id="10" name="icon_FaBug_circle"/>
          <p:cNvSpPr/>
          <p:nvPr/>
        </p:nvSpPr>
        <p:spPr>
          <a:xfrm>
            <a:off x="6172200" y="329184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FaBug_red.png"/>
          <p:cNvPicPr>
            <a:picLocks noChangeAspect="1"/>
          </p:cNvPicPr>
          <p:nvPr/>
        </p:nvPicPr>
        <p:blipFill>
          <a:blip r:embed="rId5"/>
          <a:stretch>
            <a:fillRect/>
          </a:stretch>
        </p:blipFill>
        <p:spPr>
          <a:xfrm>
            <a:off x="6297930" y="3417570"/>
            <a:ext cx="251460" cy="251460"/>
          </a:xfrm>
          <a:prstGeom prst="rect">
            <a:avLst/>
          </a:prstGeom>
        </p:spPr>
      </p:pic>
      <p:sp>
        <p:nvSpPr>
          <p:cNvPr id="12" name="TextBox 11"/>
          <p:cNvSpPr txBox="1"/>
          <p:nvPr/>
        </p:nvSpPr>
        <p:spPr>
          <a:xfrm>
            <a:off x="6858000" y="3291840"/>
            <a:ext cx="4754880" cy="502920"/>
          </a:xfrm>
          <a:prstGeom prst="rect">
            <a:avLst/>
          </a:prstGeom>
          <a:noFill/>
        </p:spPr>
        <p:txBody>
          <a:bodyPr wrap="square" lIns="0" rIns="0" tIns="0" bIns="0" anchor="ctr">
            <a:spAutoFit/>
          </a:bodyPr>
          <a:lstStyle/>
          <a:p>
            <a:pPr algn="l"/>
            <a:r>
              <a:rPr sz="1700" b="0" i="0">
                <a:solidFill>
                  <a:schemeClr val="bg1"/>
                </a:solidFill>
              </a:rPr>
              <a:t>A mistake the agent made</a:t>
            </a:r>
          </a:p>
        </p:txBody>
      </p:sp>
      <p:sp>
        <p:nvSpPr>
          <p:cNvPr id="13" name="community_placeholder"/>
          <p:cNvSpPr/>
          <p:nvPr/>
        </p:nvSpPr>
        <p:spPr>
          <a:xfrm>
            <a:off x="6172200" y="4114800"/>
            <a:ext cx="5486400" cy="914400"/>
          </a:xfrm>
          <a:prstGeom prst="roundRect">
            <a:avLst>
              <a:gd name="adj" fmla="val 8000"/>
            </a:avLst>
          </a:prstGeom>
          <a:noFill/>
          <a:ln w="19050">
            <a:solidFill>
              <a:schemeClr val="bg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63640" y="4114800"/>
            <a:ext cx="5303520" cy="914400"/>
          </a:xfrm>
          <a:prstGeom prst="rect">
            <a:avLst/>
          </a:prstGeom>
          <a:noFill/>
        </p:spPr>
        <p:txBody>
          <a:bodyPr wrap="square" lIns="0" rIns="0" tIns="0" bIns="0" anchor="ctr">
            <a:spAutoFit/>
          </a:bodyPr>
          <a:lstStyle/>
          <a:p>
            <a:pPr algn="ctr"/>
            <a:r>
              <a:rPr sz="1600" b="1" i="0">
                <a:solidFill>
                  <a:schemeClr val="bg1"/>
                </a:solidFill>
              </a:rPr>
              <a:t>[COMMUNITY CHANNEL: name / format / how to join (author to supply)]</a:t>
            </a:r>
          </a:p>
        </p:txBody>
      </p:sp>
      <p:sp>
        <p:nvSpPr>
          <p:cNvPr id="15" name="TextBox 14"/>
          <p:cNvSpPr txBox="1"/>
          <p:nvPr/>
        </p:nvSpPr>
        <p:spPr>
          <a:xfrm>
            <a:off x="6172200" y="5349240"/>
            <a:ext cx="5486400" cy="640080"/>
          </a:xfrm>
          <a:prstGeom prst="rect">
            <a:avLst/>
          </a:prstGeom>
          <a:noFill/>
        </p:spPr>
        <p:txBody>
          <a:bodyPr wrap="square" lIns="0" rIns="0" tIns="0" bIns="0" anchor="t">
            <a:spAutoFit/>
          </a:bodyPr>
          <a:lstStyle/>
          <a:p>
            <a:pPr algn="l"/>
            <a:r>
              <a:rPr sz="1700" b="1" i="0">
                <a:solidFill>
                  <a:schemeClr val="bg1"/>
                </a:solidFill>
              </a:rPr>
              <a:t>Next: </a:t>
            </a:r>
            <a:r>
              <a:rPr sz="1700" b="0" i="0">
                <a:solidFill>
                  <a:schemeClr val="bg1"/>
                </a:solidFill>
              </a:rPr>
              <a:t>Part 2 — install the agent and give it a project to live in.</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