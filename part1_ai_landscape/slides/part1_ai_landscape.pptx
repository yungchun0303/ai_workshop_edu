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.svg" ContentType="image/svg+xml"/>
  <Override PartName="/ppt/media/image1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2" r:id="rId1"/>
  </p:sldMasterIdLst>
  <p:notesMasterIdLst>
    <p:notesMasterId r:id="rId17"/>
  </p:notes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4" r:id="rId25"/>
    <p:sldId id="273" r:id="rId24"/>
    <p:sldId id="267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240647-945F-4420-2BF3-6A3F96553581}" name="Meghan Doil" initials="MD" userId="S::Meghan@notionpartners.com::a8ec7eb1-6349-4529-b98e-40f78974ff70" providerId="AD"/>
  <p188:author id="{68575DE0-E424-2A10-766E-B786959A84E9}" name="Michelle Markee" initials="" userId="S::Michelle@notionpartners.com::55fc8d82-3871-406d-994c-c40c9b164ad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242A"/>
    <a:srgbClr val="5C646B"/>
    <a:srgbClr val="8C979A"/>
    <a:srgbClr val="8FD1C9"/>
    <a:srgbClr val="C41039"/>
    <a:srgbClr val="EBE8E5"/>
    <a:srgbClr val="009999"/>
    <a:srgbClr val="C08782"/>
    <a:srgbClr val="E7E7E7"/>
    <a:srgbClr val="F4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97" autoAdjust="0"/>
    <p:restoredTop sz="90223" autoAdjust="0"/>
  </p:normalViewPr>
  <p:slideViewPr>
    <p:cSldViewPr snapToGrid="0" snapToObjects="1">
      <p:cViewPr varScale="1">
        <p:scale>
          <a:sx n="123" d="100"/>
          <a:sy n="123" d="100"/>
        </p:scale>
        <p:origin x="1144" y="176"/>
      </p:cViewPr>
      <p:guideLst/>
    </p:cSldViewPr>
  </p:slideViewPr>
  <p:outlineViewPr>
    <p:cViewPr>
      <p:scale>
        <a:sx n="33" d="100"/>
        <a:sy n="33" d="100"/>
      </p:scale>
      <p:origin x="0" y="-8563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4" d="100"/>
        <a:sy n="5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13.xml"/><Relationship Id="rId25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un, Yung" userId="9901241370_tp_box_2" providerId="OAuth2" clId="{BCB4331A-CED4-5DDF-9079-A18519255F6F}"/>
    <pc:docChg chg="undo custSel addSld delSld modSld">
      <pc:chgData name="Chun, Yung" userId="9901241370_tp_box_2" providerId="OAuth2" clId="{BCB4331A-CED4-5DDF-9079-A18519255F6F}" dt="2026-10-15T15:06:59.311" v="98" actId="14100"/>
      <pc:docMkLst>
        <pc:docMk/>
      </pc:docMkLst>
      <pc:sldChg chg="modNotesTx">
        <pc:chgData name="Chun, Yung" userId="9901241370_tp_box_2" providerId="OAuth2" clId="{BCB4331A-CED4-5DDF-9079-A18519255F6F}" dt="2026-10-15T15:01:07.214" v="90" actId="20577"/>
        <pc:sldMkLst>
          <pc:docMk/>
          <pc:sldMk cId="0" sldId="256"/>
        </pc:sldMkLst>
      </pc:sldChg>
      <pc:sldChg chg="modSp mod">
        <pc:chgData name="Chun, Yung" userId="9901241370_tp_box_2" providerId="OAuth2" clId="{BCB4331A-CED4-5DDF-9079-A18519255F6F}" dt="2026-10-13T14:52:37.136" v="3" actId="1076"/>
        <pc:sldMkLst>
          <pc:docMk/>
          <pc:sldMk cId="0" sldId="259"/>
        </pc:sldMkLst>
        <pc:spChg chg="mod">
          <ac:chgData name="Chun, Yung" userId="9901241370_tp_box_2" providerId="OAuth2" clId="{BCB4331A-CED4-5DDF-9079-A18519255F6F}" dt="2026-10-13T14:52:37.136" v="3" actId="1076"/>
          <ac:spMkLst>
            <pc:docMk/>
            <pc:sldMk cId="0" sldId="259"/>
            <ac:spMk id="15" creationId="{00000000-0000-0000-0000-000000000000}"/>
          </ac:spMkLst>
        </pc:spChg>
        <pc:graphicFrameChg chg="modGraphic">
          <ac:chgData name="Chun, Yung" userId="9901241370_tp_box_2" providerId="OAuth2" clId="{BCB4331A-CED4-5DDF-9079-A18519255F6F}" dt="2026-10-13T14:52:29.326" v="1" actId="255"/>
          <ac:graphicFrameMkLst>
            <pc:docMk/>
            <pc:sldMk cId="0" sldId="259"/>
            <ac:graphicFrameMk id="13" creationId="{00000000-0000-0000-0000-000000000000}"/>
          </ac:graphicFrameMkLst>
        </pc:graphicFrameChg>
        <pc:picChg chg="mod">
          <ac:chgData name="Chun, Yung" userId="9901241370_tp_box_2" providerId="OAuth2" clId="{BCB4331A-CED4-5DDF-9079-A18519255F6F}" dt="2026-10-13T14:52:37.136" v="3" actId="1076"/>
          <ac:picMkLst>
            <pc:docMk/>
            <pc:sldMk cId="0" sldId="259"/>
            <ac:picMk id="14" creationId="{00000000-0000-0000-0000-000000000000}"/>
          </ac:picMkLst>
        </pc:picChg>
      </pc:sldChg>
      <pc:sldChg chg="modSp mod">
        <pc:chgData name="Chun, Yung" userId="9901241370_tp_box_2" providerId="OAuth2" clId="{BCB4331A-CED4-5DDF-9079-A18519255F6F}" dt="2026-10-13T14:52:58.969" v="5" actId="255"/>
        <pc:sldMkLst>
          <pc:docMk/>
          <pc:sldMk cId="0" sldId="260"/>
        </pc:sldMkLst>
        <pc:spChg chg="mod">
          <ac:chgData name="Chun, Yung" userId="9901241370_tp_box_2" providerId="OAuth2" clId="{BCB4331A-CED4-5DDF-9079-A18519255F6F}" dt="2026-10-13T14:52:52.970" v="4" actId="255"/>
          <ac:spMkLst>
            <pc:docMk/>
            <pc:sldMk cId="0" sldId="260"/>
            <ac:spMk id="17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2:52.970" v="4" actId="255"/>
          <ac:spMkLst>
            <pc:docMk/>
            <pc:sldMk cId="0" sldId="260"/>
            <ac:spMk id="18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2:52.970" v="4" actId="25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2:52.970" v="4" actId="255"/>
          <ac:spMkLst>
            <pc:docMk/>
            <pc:sldMk cId="0" sldId="260"/>
            <ac:spMk id="20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2:58.969" v="5" actId="255"/>
          <ac:spMkLst>
            <pc:docMk/>
            <pc:sldMk cId="0" sldId="260"/>
            <ac:spMk id="27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2:58.969" v="5" actId="255"/>
          <ac:spMkLst>
            <pc:docMk/>
            <pc:sldMk cId="0" sldId="260"/>
            <ac:spMk id="32" creationId="{00000000-0000-0000-0000-000000000000}"/>
          </ac:spMkLst>
        </pc:spChg>
      </pc:sldChg>
      <pc:sldChg chg="modSp mod">
        <pc:chgData name="Chun, Yung" userId="9901241370_tp_box_2" providerId="OAuth2" clId="{BCB4331A-CED4-5DDF-9079-A18519255F6F}" dt="2026-10-13T14:54:58.195" v="17" actId="1036"/>
        <pc:sldMkLst>
          <pc:docMk/>
          <pc:sldMk cId="0" sldId="268"/>
        </pc:sldMkLst>
        <pc:spChg chg="mod">
          <ac:chgData name="Chun, Yung" userId="9901241370_tp_box_2" providerId="OAuth2" clId="{BCB4331A-CED4-5DDF-9079-A18519255F6F}" dt="2026-10-13T14:54:58.195" v="17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4:58.195" v="17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4:58.195" v="17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4:07.574" v="8" actId="107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Chun, Yung" userId="9901241370_tp_box_2" providerId="OAuth2" clId="{BCB4331A-CED4-5DDF-9079-A18519255F6F}" dt="2026-10-13T14:54:58.195" v="17" actId="1036"/>
          <ac:spMkLst>
            <pc:docMk/>
            <pc:sldMk cId="0" sldId="268"/>
            <ac:spMk id="15" creationId="{00000000-0000-0000-0000-000000000000}"/>
          </ac:spMkLst>
        </pc:spChg>
        <pc:picChg chg="mod">
          <ac:chgData name="Chun, Yung" userId="9901241370_tp_box_2" providerId="OAuth2" clId="{BCB4331A-CED4-5DDF-9079-A18519255F6F}" dt="2026-10-13T14:54:07.574" v="8" actId="1076"/>
          <ac:picMkLst>
            <pc:docMk/>
            <pc:sldMk cId="0" sldId="268"/>
            <ac:picMk id="14" creationId="{00000000-0000-0000-0000-000000000000}"/>
          </ac:picMkLst>
        </pc:picChg>
      </pc:sldChg>
      <pc:sldChg chg="addSp delSp modSp add mod">
        <pc:chgData name="Chun, Yung" userId="9901241370_tp_box_2" providerId="OAuth2" clId="{BCB4331A-CED4-5DDF-9079-A18519255F6F}" dt="2026-10-13T14:55:33.732" v="21"/>
        <pc:sldMkLst>
          <pc:docMk/>
          <pc:sldMk cId="230866471" sldId="270"/>
        </pc:sldMkLst>
        <pc:spChg chg="mod">
          <ac:chgData name="Chun, Yung" userId="9901241370_tp_box_2" providerId="OAuth2" clId="{BCB4331A-CED4-5DDF-9079-A18519255F6F}" dt="2026-10-13T14:55:25.103" v="19"/>
          <ac:spMkLst>
            <pc:docMk/>
            <pc:sldMk cId="230866471" sldId="270"/>
            <ac:spMk id="3" creationId="{7F415EF8-5C86-D43C-87C6-625150BE7F93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16" creationId="{3894CC00-8F27-2A33-392A-C1E488AD3D48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17" creationId="{B3F6EA47-8E19-2495-C6AC-7953B3611AB6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19" creationId="{4114B75D-487C-4821-C26D-732AAEF39D14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20" creationId="{B35E3CCB-DD16-8964-0826-B5A548D1FE6C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22" creationId="{268F4988-29ED-070F-6811-62E4837C8BC9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23" creationId="{4B3B9BED-B620-7A9A-788C-CEC1AA62B343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25" creationId="{C1040EC7-C10E-7A29-429A-93BAA450E56E}"/>
          </ac:spMkLst>
        </pc:spChg>
        <pc:spChg chg="add mod">
          <ac:chgData name="Chun, Yung" userId="9901241370_tp_box_2" providerId="OAuth2" clId="{BCB4331A-CED4-5DDF-9079-A18519255F6F}" dt="2026-10-13T14:55:33.732" v="21"/>
          <ac:spMkLst>
            <pc:docMk/>
            <pc:sldMk cId="230866471" sldId="270"/>
            <ac:spMk id="26" creationId="{12BEBD8C-7AB9-C533-93A1-DA4111754DB3}"/>
          </ac:spMkLst>
        </pc:spChg>
        <pc:picChg chg="add mod">
          <ac:chgData name="Chun, Yung" userId="9901241370_tp_box_2" providerId="OAuth2" clId="{BCB4331A-CED4-5DDF-9079-A18519255F6F}" dt="2026-10-13T14:55:33.732" v="21"/>
          <ac:picMkLst>
            <pc:docMk/>
            <pc:sldMk cId="230866471" sldId="270"/>
            <ac:picMk id="21" creationId="{7D988373-4371-0BC7-6E7D-81E9861726F8}"/>
          </ac:picMkLst>
        </pc:picChg>
        <pc:picChg chg="add mod">
          <ac:chgData name="Chun, Yung" userId="9901241370_tp_box_2" providerId="OAuth2" clId="{BCB4331A-CED4-5DDF-9079-A18519255F6F}" dt="2026-10-13T14:55:33.732" v="21"/>
          <ac:picMkLst>
            <pc:docMk/>
            <pc:sldMk cId="230866471" sldId="270"/>
            <ac:picMk id="24" creationId="{908AA1A5-67DD-A244-6DB3-2E6C6994E234}"/>
          </ac:picMkLst>
        </pc:picChg>
      </pc:sldChg>
      <pc:sldChg chg="new del">
        <pc:chgData name="Chun, Yung" userId="9901241370_tp_box_2" providerId="OAuth2" clId="{BCB4331A-CED4-5DDF-9079-A18519255F6F}" dt="2026-10-15T15:06:24.274" v="93" actId="2696"/>
        <pc:sldMkLst>
          <pc:docMk/>
          <pc:sldMk cId="1524357472" sldId="271"/>
        </pc:sldMkLst>
      </pc:sldChg>
      <pc:sldChg chg="addSp modSp new mod modAnim">
        <pc:chgData name="Chun, Yung" userId="9901241370_tp_box_2" providerId="OAuth2" clId="{BCB4331A-CED4-5DDF-9079-A18519255F6F}" dt="2026-10-15T15:06:59.311" v="98" actId="14100"/>
        <pc:sldMkLst>
          <pc:docMk/>
          <pc:sldMk cId="535994957" sldId="272"/>
        </pc:sldMkLst>
        <pc:picChg chg="add mod">
          <ac:chgData name="Chun, Yung" userId="9901241370_tp_box_2" providerId="OAuth2" clId="{BCB4331A-CED4-5DDF-9079-A18519255F6F}" dt="2026-10-15T15:06:59.311" v="98" actId="14100"/>
          <ac:picMkLst>
            <pc:docMk/>
            <pc:sldMk cId="535994957" sldId="272"/>
            <ac:picMk id="4" creationId="{63B206FB-8C4B-2815-5CDC-E9AE3F2302F2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BA0C2F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Find the tools trustworthy</c:v>
                </c:pt>
                <c:pt idx="1">
                  <c:v>Feel adequately trained</c:v>
                </c:pt>
                <c:pt idx="2">
                  <c:v>Institution governs AI well</c:v>
                </c:pt>
                <c:pt idx="3">
                  <c:v>Use AI at 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27</c:v>
                </c:pt>
                <c:pt idx="2">
                  <c:v>32</c:v>
                </c:pt>
                <c:pt idx="3">
                  <c:v>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A4E-6844-AF5C-2ACAE54ECB0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2"/>
          <c:min val="0"/>
        </c:scaling>
        <c:delete val="1"/>
        <c:axPos val="b"/>
        <c:numFmt formatCode="General" sourceLinked="1"/>
        <c:majorTickMark val="out"/>
        <c:minorTickMark val="none"/>
        <c:tickLblPos val="none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BA0C2F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AI-led</c:v>
                </c:pt>
                <c:pt idx="1">
                  <c:v>AI-assisted</c:v>
                </c:pt>
                <c:pt idx="2">
                  <c:v>Human-only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91</c:v>
                </c:pt>
                <c:pt idx="2">
                  <c:v>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C93-B546-B968-C349040C4B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2"/>
          <c:min val="0"/>
        </c:scaling>
        <c:delete val="1"/>
        <c:axPos val="b"/>
        <c:numFmt formatCode="General" sourceLinked="1"/>
        <c:majorTickMark val="out"/>
        <c:minorTickMark val="none"/>
        <c:tickLblPos val="none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4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3AD09-9720-9047-BB14-484CD98DBB2F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80D64-6F43-4C4D-BE6A-3F3482AA5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9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3528A-544D-1AEE-F15C-31724DF4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A43E9-25BB-22B6-4ECE-0DE28907AB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B41925-8230-1B95-B548-6B8DD82C7A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2D6F5-6270-73CD-B0B2-27009F4224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8439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2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4.emf"/><Relationship Id="rId4" Type="http://schemas.openxmlformats.org/officeDocument/2006/relationships/image" Target="../media/image1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gif"/><Relationship Id="rId3" Type="http://schemas.openxmlformats.org/officeDocument/2006/relationships/image" Target="../media/image16.png"/><Relationship Id="rId4" Type="http://schemas.openxmlformats.org/officeDocument/2006/relationships/image" Target="../media/image12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6.png"/><Relationship Id="rId4" Type="http://schemas.openxmlformats.org/officeDocument/2006/relationships/image" Target="../media/image12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4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22548E1-D411-DEF1-E24E-40436650157F}"/>
              </a:ext>
            </a:extLst>
          </p:cNvPr>
          <p:cNvSpPr/>
          <p:nvPr userDrawn="1"/>
        </p:nvSpPr>
        <p:spPr>
          <a:xfrm>
            <a:off x="393539" y="6134100"/>
            <a:ext cx="4130040" cy="59753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2CF4B-9F6B-E5CF-44C0-5E3A7B34A6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>
            <a:off x="0" y="0"/>
            <a:ext cx="299824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0864918-E79B-7A8B-4C60-23558A97CF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021"/>
          <a:stretch>
            <a:fillRect/>
          </a:stretch>
        </p:blipFill>
        <p:spPr>
          <a:xfrm>
            <a:off x="3660140" y="1720629"/>
            <a:ext cx="2435860" cy="56238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F7FAA7F-60A9-60B1-A86E-8747601130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140" y="2642024"/>
            <a:ext cx="8145780" cy="1797262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6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FA57CF-6C6E-168E-2F7F-1158C0BEE878}"/>
              </a:ext>
            </a:extLst>
          </p:cNvPr>
          <p:cNvCxnSpPr>
            <a:cxnSpLocks/>
          </p:cNvCxnSpPr>
          <p:nvPr userDrawn="1"/>
        </p:nvCxnSpPr>
        <p:spPr>
          <a:xfrm>
            <a:off x="3660140" y="3462220"/>
            <a:ext cx="203454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BFF417B7-BA1B-C990-93ED-20D10BD352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955F34C6-03B5-47CC-EAC6-3F5653F8C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9CDA-75A6-0E73-DBA8-3993E947D9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60140" y="443928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406599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6F10-6790-8294-12D4-3833019EFB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 flipH="1">
            <a:off x="9193760" y="0"/>
            <a:ext cx="2998240" cy="6858000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CBC87B14-0FFC-6198-5CA7-BB9431393B7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6238754"/>
            <a:ext cx="12192000" cy="61924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4EC3F75-69F9-2C08-F055-BD90C356C0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140"/>
          <a:stretch>
            <a:fillRect/>
          </a:stretch>
        </p:blipFill>
        <p:spPr>
          <a:xfrm>
            <a:off x="802079" y="1041717"/>
            <a:ext cx="2408954" cy="56692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551975D7-9DC4-036D-19B5-9387903187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2079" y="2079636"/>
            <a:ext cx="8145780" cy="1455410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3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6552A6-AC76-4702-722D-4879A234F34C}"/>
              </a:ext>
            </a:extLst>
          </p:cNvPr>
          <p:cNvSpPr txBox="1"/>
          <p:nvPr userDrawn="1"/>
        </p:nvSpPr>
        <p:spPr>
          <a:xfrm>
            <a:off x="802079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8" name="Footer Placeholder 5">
            <a:extLst>
              <a:ext uri="{FF2B5EF4-FFF2-40B4-BE49-F238E27FC236}">
                <a16:creationId xmlns:a16="http://schemas.microsoft.com/office/drawing/2014/main" id="{09E0364A-5ACD-50B5-E100-9276E5A18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C65694F4-5083-6131-E4C6-96AFFC17B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066CD63-C27E-9D94-BFC5-3C2B52146A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079" y="353504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88306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D4370C0-4089-AEA2-CC5A-49F16AA4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1950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437444"/>
            <a:ext cx="11167811" cy="614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Impact header slide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placeholder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46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6C9FE06-64EE-C25B-F18C-630C89E5E5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876FF27-5FCA-80F6-A141-CE82FE49E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38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59531D-1141-BBE9-8A89-93DE69D5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175" y="1996440"/>
            <a:ext cx="11171238" cy="40005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Footer Placeholder 5">
            <a:extLst>
              <a:ext uri="{FF2B5EF4-FFF2-40B4-BE49-F238E27FC236}">
                <a16:creationId xmlns:a16="http://schemas.microsoft.com/office/drawing/2014/main" id="{C91AEADF-3622-2AB3-401A-88D3A20DDC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A20AAE59-81C0-3F77-5EFF-205232CD6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0E89BBD-2DB3-5F60-B4AC-F04E8A8E8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03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1F54-83F2-F09A-0540-B4F2FD1B5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1F7FA2B-4B6F-717B-2654-D8A994BCA1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899807B-0AFF-AB51-FFC9-AA3708B60E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1175" y="1714500"/>
            <a:ext cx="11168063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CCB6A1-D661-D876-C30B-640D3FF67D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BBA0A6B3-6359-0588-6505-D6ACADE4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353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199-15AC-D14D-0AA6-CBE1203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38F124-4CF3-FF0E-022F-8601D0A20F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5399560" cy="44196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D0020D2-7B92-3072-B9F5-1D6B5C920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9678" y="1714500"/>
            <a:ext cx="539956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19B4353-EEBD-5EA1-93A8-2494728D2F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FA790335-AB91-2292-A583-68F8ED88A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D1373D57-1AFC-40C1-C22B-486A74BFB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73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4C5A-8BA0-81C6-0A5B-801985C8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0526CDC-D763-BB32-5B81-7D599455B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3503645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B60661A-EDC7-0966-9BFE-A0BC07258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5898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66A65CEC-5869-5D52-EAAE-4CE2E8B83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79034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F947AB0C-C375-6941-8123-42C74C4D44D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469125A-AA88-702A-7398-FB0D80AE4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447CDAC8-C02C-3859-3C4F-64D38BF4F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24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1438" y="0"/>
            <a:ext cx="4500562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71800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71786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22DF9E99-5AA7-9ED8-F61D-1D5954C3C2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26809" y="3962400"/>
            <a:ext cx="464312" cy="181864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1438" y="3962400"/>
            <a:ext cx="4500562" cy="1819275"/>
          </a:xfrm>
          <a:solidFill>
            <a:schemeClr val="bg1"/>
          </a:solidFill>
        </p:spPr>
        <p:txBody>
          <a:bodyPr lIns="365760"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665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0E2021-1BFC-E013-D60B-D3C38949C163}"/>
              </a:ext>
            </a:extLst>
          </p:cNvPr>
          <p:cNvSpPr/>
          <p:nvPr userDrawn="1"/>
        </p:nvSpPr>
        <p:spPr>
          <a:xfrm>
            <a:off x="7691121" y="0"/>
            <a:ext cx="4500879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8" y="437444"/>
            <a:ext cx="6715382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71404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26809" y="437444"/>
            <a:ext cx="4965191" cy="1819275"/>
          </a:xfrm>
          <a:blipFill dpi="0" rotWithShape="1">
            <a:blip r:embed="rId2"/>
            <a:srcRect/>
            <a:stretch>
              <a:fillRect/>
            </a:stretch>
          </a:blipFill>
        </p:spPr>
        <p:txBody>
          <a:bodyPr lIns="365760" anchor="ctr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88AAD13-4032-E181-7A51-74A7C8DCE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CDA17C2-87F8-D622-C9C6-0DA48C2C31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9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058822" y="0"/>
            <a:ext cx="4623857" cy="577222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6547395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54617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1C759DE5-C518-1864-07A2-605A29BED7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58820" y="5772223"/>
            <a:ext cx="4622583" cy="361877"/>
          </a:xfrm>
          <a:prstGeom prst="rect">
            <a:avLst/>
          </a:prstGeom>
        </p:spPr>
      </p:pic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5C587A4E-B51B-38B5-EABB-058A87A03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71DED4E-8776-2AD9-D89C-89D43DA7B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79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3398-F58C-AA7E-2DE2-6E5364D5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8695FB8-5358-59F4-420C-D9E81C03C9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93C24-4E3E-2A02-65ED-8191B45462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1175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21240A8-93CA-CA86-87C8-2B6B05DCD8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08134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C626A78-D122-9B29-0498-A377DB541C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9357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19666AC-2D6E-A5A6-AFF6-FBCDB9C604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12763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5ECC9D67-89DD-AD94-3BE8-8AB77F93F3A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08134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11DEFB8-BA80-BB3D-C458-66465402BFD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19357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F0E166F0-F95F-1D05-A287-251A139C6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3497BD9B-3994-7C1E-50C9-AB457C7F0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C396A-37C3-88E2-4F5B-E5AA818428C1}"/>
              </a:ext>
            </a:extLst>
          </p:cNvPr>
          <p:cNvSpPr/>
          <p:nvPr userDrawn="1"/>
        </p:nvSpPr>
        <p:spPr>
          <a:xfrm>
            <a:off x="512763" y="3378197"/>
            <a:ext cx="3218192" cy="1828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72BCF2-879C-41F5-074F-3C352C123100}"/>
              </a:ext>
            </a:extLst>
          </p:cNvPr>
          <p:cNvSpPr/>
          <p:nvPr userDrawn="1"/>
        </p:nvSpPr>
        <p:spPr>
          <a:xfrm>
            <a:off x="4308134" y="3378197"/>
            <a:ext cx="3218192" cy="1828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EA6AB-2EF1-6F7D-4247-F7254496D6EE}"/>
              </a:ext>
            </a:extLst>
          </p:cNvPr>
          <p:cNvSpPr/>
          <p:nvPr userDrawn="1"/>
        </p:nvSpPr>
        <p:spPr>
          <a:xfrm>
            <a:off x="8119357" y="3378197"/>
            <a:ext cx="3218192" cy="18288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9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25C47B-E583-4956-949C-9708AC0FABD9}"/>
              </a:ext>
            </a:extLst>
          </p:cNvPr>
          <p:cNvSpPr/>
          <p:nvPr userDrawn="1"/>
        </p:nvSpPr>
        <p:spPr>
          <a:xfrm>
            <a:off x="7095281" y="0"/>
            <a:ext cx="5096719" cy="58216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69282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572A1C8-8552-05CD-8DEF-01C2B53523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53"/>
          <a:stretch/>
        </p:blipFill>
        <p:spPr>
          <a:xfrm>
            <a:off x="7095280" y="0"/>
            <a:ext cx="5096719" cy="582168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1309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o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5185-B6F2-DA27-97F5-A26100824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E45AE-8CD3-04FD-8145-5F22A12DA9AD}"/>
              </a:ext>
            </a:extLst>
          </p:cNvPr>
          <p:cNvSpPr/>
          <p:nvPr userDrawn="1"/>
        </p:nvSpPr>
        <p:spPr>
          <a:xfrm>
            <a:off x="0" y="4220063"/>
            <a:ext cx="12192000" cy="1914037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D3821-B7C2-E329-9CF4-E787569C31B2}"/>
              </a:ext>
            </a:extLst>
          </p:cNvPr>
          <p:cNvSpPr/>
          <p:nvPr userDrawn="1"/>
        </p:nvSpPr>
        <p:spPr>
          <a:xfrm>
            <a:off x="1233708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B13CA-8DC4-867F-D557-D69CBB8B67DA}"/>
              </a:ext>
            </a:extLst>
          </p:cNvPr>
          <p:cNvSpPr/>
          <p:nvPr userDrawn="1"/>
        </p:nvSpPr>
        <p:spPr>
          <a:xfrm>
            <a:off x="4896883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47C2C-8AD5-4E0E-B86F-FB610E2E8D77}"/>
              </a:ext>
            </a:extLst>
          </p:cNvPr>
          <p:cNvSpPr/>
          <p:nvPr userDrawn="1"/>
        </p:nvSpPr>
        <p:spPr>
          <a:xfrm>
            <a:off x="8508434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152127-24A4-5B38-2225-CFB9E1AC963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488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B1E2DD4-B1C2-7FB1-C1EA-A46F91A95F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96883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B101D83-A82D-5B8E-7FA6-80AB668E994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08434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2A3F5B9-E2E5-EC83-A97F-CE3D399986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2803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E3CD09CE-CBA6-D7B7-229E-1DC0D3426C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10882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0936DEA-0015-2C53-7764-81D237AA57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3080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35EEC88B-64D7-58A8-A6A3-BAE15852F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9DA960EC-7047-D992-6A0D-B2B2BF704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73B05B23-359F-5932-B1A5-F905633023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420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27E08-94CF-6FA6-259A-D4B0215436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2357290"/>
            <a:ext cx="3593213" cy="980194"/>
          </a:xfrm>
        </p:spPr>
        <p:txBody>
          <a:bodyPr/>
          <a:lstStyle>
            <a:lvl1pPr>
              <a:defRPr sz="5400"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AF18C4-8E88-BC25-A282-A9E543495953}"/>
              </a:ext>
            </a:extLst>
          </p:cNvPr>
          <p:cNvSpPr/>
          <p:nvPr userDrawn="1"/>
        </p:nvSpPr>
        <p:spPr>
          <a:xfrm>
            <a:off x="4104640" y="619760"/>
            <a:ext cx="8087360" cy="51409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8F1CF70-BAC4-4070-0CC3-53C7E9D385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4641" y="5509548"/>
            <a:ext cx="8085245" cy="25117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604BCD-BC3A-DE84-90AD-BB35133C98FF}"/>
              </a:ext>
            </a:extLst>
          </p:cNvPr>
          <p:cNvCxnSpPr>
            <a:cxnSpLocks/>
          </p:cNvCxnSpPr>
          <p:nvPr userDrawn="1"/>
        </p:nvCxnSpPr>
        <p:spPr>
          <a:xfrm>
            <a:off x="512763" y="1696519"/>
            <a:ext cx="1424596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7FF7787-EC31-5F16-15F3-D99D80060DC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217639"/>
            <a:ext cx="2977197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C4E4B447-5E78-26D1-11D4-9F10C5ADB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DE2CBB75-E971-3468-55D8-59660AE2D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923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9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_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37" y="6134100"/>
            <a:ext cx="12189463" cy="723901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06A606-B049-1036-FB09-50B455B5BA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1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gradien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6134099"/>
            <a:ext cx="12190732" cy="723901"/>
          </a:xfrm>
          <a:prstGeom prst="rect">
            <a:avLst/>
          </a:prstGeom>
        </p:spPr>
      </p:pic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0BD3B1-489B-2447-0D11-E1BF10A2A1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47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re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03525CB-3575-15ED-8355-4B7991B1D33D}"/>
              </a:ext>
            </a:extLst>
          </p:cNvPr>
          <p:cNvSpPr/>
          <p:nvPr userDrawn="1"/>
        </p:nvSpPr>
        <p:spPr>
          <a:xfrm>
            <a:off x="0" y="6134099"/>
            <a:ext cx="12192000" cy="72920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132C04-CB78-14F0-5958-754E3BF58D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800"/>
          <a:stretch>
            <a:fillRect/>
          </a:stretch>
        </p:blipFill>
        <p:spPr>
          <a:xfrm>
            <a:off x="511426" y="6353070"/>
            <a:ext cx="1359904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2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275B372-8BD2-273A-2BEE-315CE5994D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466"/>
          <a:stretch>
            <a:fillRect/>
          </a:stretch>
        </p:blipFill>
        <p:spPr>
          <a:xfrm>
            <a:off x="512763" y="1500396"/>
            <a:ext cx="2377921" cy="562806"/>
          </a:xfrm>
          <a:prstGeom prst="rect">
            <a:avLst/>
          </a:prstGeom>
        </p:spPr>
      </p:pic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1298D4D4-817F-775A-F0A7-805017E61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2451633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51F79-C1BF-23EE-E735-4465B3DB39B0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381766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hD in Social Work - Brown School at Washington University in St. Louis">
            <a:extLst>
              <a:ext uri="{FF2B5EF4-FFF2-40B4-BE49-F238E27FC236}">
                <a16:creationId xmlns:a16="http://schemas.microsoft.com/office/drawing/2014/main" id="{4F9A68E1-9E2A-544D-6695-F11E6951FED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4"/>
          <a:stretch>
            <a:fillRect/>
          </a:stretch>
        </p:blipFill>
        <p:spPr bwMode="auto">
          <a:xfrm>
            <a:off x="0" y="-1"/>
            <a:ext cx="513588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317"/>
          <a:stretch>
            <a:fillRect/>
          </a:stretch>
        </p:blipFill>
        <p:spPr>
          <a:xfrm>
            <a:off x="6979921" y="755694"/>
            <a:ext cx="1493519" cy="3465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2A41D4-AB3D-151D-66DD-4962AAC7904A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66E0752-FF39-E98C-C771-E737A49D9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344416E3-AC56-3F3E-611F-87B839A4B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3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ster of Social Work - Brown School at Washington University in St. Louis">
            <a:extLst>
              <a:ext uri="{FF2B5EF4-FFF2-40B4-BE49-F238E27FC236}">
                <a16:creationId xmlns:a16="http://schemas.microsoft.com/office/drawing/2014/main" id="{397DCBF1-43F9-4AFE-21A3-1A39F7F9B8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2" b="3202"/>
          <a:stretch>
            <a:fillRect/>
          </a:stretch>
        </p:blipFill>
        <p:spPr bwMode="auto">
          <a:xfrm>
            <a:off x="0" y="1"/>
            <a:ext cx="51358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189"/>
          <a:stretch>
            <a:fillRect/>
          </a:stretch>
        </p:blipFill>
        <p:spPr>
          <a:xfrm>
            <a:off x="6979922" y="755694"/>
            <a:ext cx="1471352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CCE03-8C2C-223C-A359-11D05E7AE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8CEF6-7196-D2B3-7D3B-ADF792888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07E073C-A36B-F166-AFE6-5A5B30179E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267450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1856"/>
          <a:stretch>
            <a:fillRect/>
          </a:stretch>
        </p:blipFill>
        <p:spPr>
          <a:xfrm>
            <a:off x="6979921" y="755694"/>
            <a:ext cx="1479793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234E558C-D3AB-836C-0C04-164B11135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46EC1455-E1D2-32ED-96F9-1FB01D1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06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D28EA1-5C18-4BC9-D6AE-63A3D89C12B3}"/>
              </a:ext>
            </a:extLst>
          </p:cNvPr>
          <p:cNvCxnSpPr>
            <a:cxnSpLocks/>
          </p:cNvCxnSpPr>
          <p:nvPr userDrawn="1"/>
        </p:nvCxnSpPr>
        <p:spPr>
          <a:xfrm>
            <a:off x="512764" y="1159727"/>
            <a:ext cx="142459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21CCD9-6C33-1B29-15B6-F3FF2BB661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4" y="680847"/>
            <a:ext cx="4886555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56F3DC-9167-0BC6-E0AD-B6B4E6BDBD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487665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EF91C-6E18-2231-3C63-8D5E788FA7F9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254984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9A7C88-DE74-6283-B4A4-1DD45AE677E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" b="4206"/>
          <a:stretch>
            <a:fillRect/>
          </a:stretch>
        </p:blipFill>
        <p:spPr bwMode="auto">
          <a:xfrm>
            <a:off x="-6893" y="1"/>
            <a:ext cx="121988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672B93-86ED-2C39-6490-F7DF186BF3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03720" y="0"/>
            <a:ext cx="4634970" cy="54864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578ACD-6DBC-F910-C01D-E10BC66954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04038" y="549275"/>
            <a:ext cx="4635500" cy="3849688"/>
          </a:xfrm>
          <a:solidFill>
            <a:schemeClr val="bg1"/>
          </a:solidFill>
        </p:spPr>
        <p:txBody>
          <a:bodyPr lIns="548640" anchor="ctr"/>
          <a:lstStyle>
            <a:lvl1pPr>
              <a:defRPr sz="3200"/>
            </a:lvl1pPr>
            <a:lvl2pPr>
              <a:spcBef>
                <a:spcPts val="2500"/>
              </a:spcBef>
              <a:defRPr sz="16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847C79-CC1A-B80C-4F37-51F734C13046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1285567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7C4EBF34-8EB4-A4D6-7E35-2C97CE8F0B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3C86DE6-86C2-5AB7-06B8-F8A11E1456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2316"/>
          <a:stretch>
            <a:fillRect/>
          </a:stretch>
        </p:blipFill>
        <p:spPr>
          <a:xfrm>
            <a:off x="4398335" y="3028244"/>
            <a:ext cx="3395329" cy="80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7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Relationship Id="rId3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98019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426" y="1710372"/>
            <a:ext cx="11167811" cy="4423728"/>
          </a:xfrm>
          <a:prstGeom prst="rect">
            <a:avLst/>
          </a:prstGeom>
          <a:ln>
            <a:noFill/>
          </a:ln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011EB-C8DD-A0FA-332D-2345BA992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15D9D-4496-53BC-5543-A7CD7127C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A093176-96C9-BEE1-C4CD-B5CEAF9D77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 r="42790"/>
          <a:stretch>
            <a:fillRect/>
          </a:stretch>
        </p:blipFill>
        <p:spPr>
          <a:xfrm>
            <a:off x="509322" y="6326908"/>
            <a:ext cx="1360118" cy="32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11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1" r:id="rId3"/>
    <p:sldLayoutId id="2147483675" r:id="rId4"/>
    <p:sldLayoutId id="2147483670" r:id="rId5"/>
    <p:sldLayoutId id="2147483653" r:id="rId6"/>
    <p:sldLayoutId id="2147483654" r:id="rId7"/>
    <p:sldLayoutId id="2147483648" r:id="rId8"/>
    <p:sldLayoutId id="2147483652" r:id="rId9"/>
    <p:sldLayoutId id="2147483649" r:id="rId10"/>
    <p:sldLayoutId id="2147483659" r:id="rId11"/>
    <p:sldLayoutId id="2147483668" r:id="rId12"/>
    <p:sldLayoutId id="2147483660" r:id="rId13"/>
    <p:sldLayoutId id="2147483666" r:id="rId14"/>
    <p:sldLayoutId id="2147483672" r:id="rId15"/>
    <p:sldLayoutId id="2147483673" r:id="rId16"/>
    <p:sldLayoutId id="2147483663" r:id="rId17"/>
    <p:sldLayoutId id="2147483658" r:id="rId18"/>
    <p:sldLayoutId id="2147483669" r:id="rId19"/>
    <p:sldLayoutId id="2147483674" r:id="rId20"/>
    <p:sldLayoutId id="2147483676" r:id="rId21"/>
    <p:sldLayoutId id="2147483734" r:id="rId22"/>
    <p:sldLayoutId id="2147483655" r:id="rId23"/>
    <p:sldLayoutId id="2147483661" r:id="rId24"/>
    <p:sldLayoutId id="2147483662" r:id="rId25"/>
    <p:sldLayoutId id="2147483671" r:id="rId26"/>
    <p:sldLayoutId id="2147483656" r:id="rId27"/>
    <p:sldLayoutId id="2147483667" r:id="rId28"/>
    <p:sldLayoutId id="2147483657" r:id="rId2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457200" rtl="0" eaLnBrk="1" latinLnBrk="0" hangingPunct="1">
        <a:lnSpc>
          <a:spcPct val="85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Georgia" panose="02040502050405020303" pitchFamily="18" charset="0"/>
          <a:cs typeface="Times New Roman" charset="0"/>
        </a:defRPr>
      </a:lvl1pPr>
    </p:titleStyle>
    <p:bodyStyle>
      <a:lvl1pPr marL="0" indent="0" algn="l" defTabSz="457200" rtl="0" eaLnBrk="1" latinLnBrk="0" hangingPunct="1">
        <a:lnSpc>
          <a:spcPct val="90000"/>
        </a:lnSpc>
        <a:spcBef>
          <a:spcPct val="20000"/>
        </a:spcBef>
        <a:buFont typeface="Arial"/>
        <a:buNone/>
        <a:tabLst/>
        <a:defRPr sz="2200" b="1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0" indent="0" algn="l" defTabSz="457200" rtl="0" eaLnBrk="1" latinLnBrk="0" hangingPunct="1">
        <a:spcBef>
          <a:spcPts val="800"/>
        </a:spcBef>
        <a:buFont typeface="Arial" panose="020B0604020202020204" pitchFamily="34" charset="0"/>
        <a:buNone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39700" indent="-139700" algn="l" defTabSz="457200" rtl="0" eaLnBrk="1" latinLnBrk="0" hangingPunct="1">
        <a:spcBef>
          <a:spcPts val="1200"/>
        </a:spcBef>
        <a:buClr>
          <a:schemeClr val="accent3"/>
        </a:buClr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482600" indent="-1397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974725" indent="-1143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57" userDrawn="1">
          <p15:clr>
            <a:srgbClr val="F26B43"/>
          </p15:clr>
        </p15:guide>
        <p15:guide id="2" pos="323" userDrawn="1">
          <p15:clr>
            <a:srgbClr val="F26B43"/>
          </p15:clr>
        </p15:guide>
        <p15:guide id="3" orient="horz" pos="1080" userDrawn="1">
          <p15:clr>
            <a:srgbClr val="F26B43"/>
          </p15:clr>
        </p15:guide>
        <p15:guide id="4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1pW3mnS3H0g?feature=oembed" TargetMode="Externa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5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5.png"/><Relationship Id="rId4" Type="http://schemas.openxmlformats.org/officeDocument/2006/relationships/chart" Target="../charts/chart2.xml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5.png"/><Relationship Id="rId4" Type="http://schemas.openxmlformats.org/officeDocument/2006/relationships/image" Target="../media/image45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AI-Empowered Research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3657600" y="4434840"/>
            <a:ext cx="8138160" cy="457200"/>
          </a:xfrm>
        </p:spPr>
        <p:txBody>
          <a:bodyPr/>
          <a:lstStyle/>
          <a:p>
            <a:r>
              <a:rPr sz="2400"/>
              <a:t>Part 1 · The AI Research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5074920"/>
            <a:ext cx="8138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5F5F"/>
                </a:solidFill>
              </a:rPr>
              <a:t>Yung Chun · CERP³ · Hillman Hall 130 · 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7945D36-E159-3CA0-B433-DBFA57189D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9AF0CD-1C7E-4DEE-406F-039D54B26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4" name="Online Media 3" descr="Nintendo power line employee helping for the legend of zelda #thelegendofzelda #nintendo #sword">
            <a:hlinkClick r:id="" action="ppaction://media"/>
            <a:extLst>
              <a:ext uri="{FF2B5EF4-FFF2-40B4-BE49-F238E27FC236}">
                <a16:creationId xmlns:a16="http://schemas.microsoft.com/office/drawing/2014/main" id="{63B206FB-8C4B-2815-5CDC-E9AE3F2302F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6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94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browser-tab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How most of us use AI for analysis right now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distinction: chat vs. agent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3</a:t>
            </a:fld>
            <a:endParaRPr lang="en-US" dirty="0"/>
          </a:p>
        </p:txBody>
      </p:sp>
      <p:cxnSp>
        <p:nvCxnSpPr>
          <p:cNvPr id="13" name="Connector 12"/>
          <p:cNvCxnSpPr/>
          <p:nvPr/>
        </p:nvCxnSpPr>
        <p:spPr>
          <a:xfrm>
            <a:off x="3853130" y="2603296"/>
            <a:ext cx="543239" cy="211227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94819" y="3629253"/>
            <a:ext cx="0" cy="422453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853130" y="4866436"/>
            <a:ext cx="543239" cy="211227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912990" y="4866436"/>
            <a:ext cx="543239" cy="211227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14540" y="3629253"/>
            <a:ext cx="0" cy="422453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912990" y="2603296"/>
            <a:ext cx="543239" cy="211227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op_0"/>
          <p:cNvSpPr/>
          <p:nvPr/>
        </p:nvSpPr>
        <p:spPr>
          <a:xfrm>
            <a:off x="2103120" y="205740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103120" y="2057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</a:rPr>
              <a:t>Copy code</a:t>
            </a:r>
          </a:p>
        </p:txBody>
      </p:sp>
      <p:sp>
        <p:nvSpPr>
          <p:cNvPr id="21" name="loop_1"/>
          <p:cNvSpPr/>
          <p:nvPr/>
        </p:nvSpPr>
        <p:spPr>
          <a:xfrm>
            <a:off x="4043259" y="281178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43259" y="281178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</a:rPr>
              <a:t>Paste into a chat</a:t>
            </a:r>
          </a:p>
        </p:txBody>
      </p:sp>
      <p:sp>
        <p:nvSpPr>
          <p:cNvPr id="23" name="loop_2"/>
          <p:cNvSpPr/>
          <p:nvPr/>
        </p:nvSpPr>
        <p:spPr>
          <a:xfrm>
            <a:off x="4043259" y="432054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3259" y="432054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</a:rPr>
              <a:t>Read a plausible answer</a:t>
            </a:r>
          </a:p>
        </p:txBody>
      </p:sp>
      <p:sp>
        <p:nvSpPr>
          <p:cNvPr id="25" name="loop_3"/>
          <p:cNvSpPr/>
          <p:nvPr/>
        </p:nvSpPr>
        <p:spPr>
          <a:xfrm>
            <a:off x="2103120" y="507492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03120" y="507492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</a:rPr>
              <a:t>Paste it back into R</a:t>
            </a:r>
          </a:p>
        </p:txBody>
      </p:sp>
      <p:sp>
        <p:nvSpPr>
          <p:cNvPr id="27" name="loop_4"/>
          <p:cNvSpPr/>
          <p:nvPr/>
        </p:nvSpPr>
        <p:spPr>
          <a:xfrm>
            <a:off x="162980" y="432054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2980" y="432054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chemeClr val="bg1"/>
                </a:solidFill>
              </a:rPr>
              <a:t>Error</a:t>
            </a:r>
          </a:p>
        </p:txBody>
      </p:sp>
      <p:sp>
        <p:nvSpPr>
          <p:cNvPr id="29" name="loop_5"/>
          <p:cNvSpPr/>
          <p:nvPr/>
        </p:nvSpPr>
        <p:spPr>
          <a:xfrm>
            <a:off x="162980" y="2811780"/>
            <a:ext cx="2103120" cy="5486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62980" y="281178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>
                <a:solidFill>
                  <a:schemeClr val="tx1"/>
                </a:solidFill>
              </a:rPr>
              <a:t>Paste the error back</a:t>
            </a:r>
          </a:p>
        </p:txBody>
      </p:sp>
      <p:sp>
        <p:nvSpPr>
          <p:cNvPr id="31" name="icon_FaRotate_circle"/>
          <p:cNvSpPr/>
          <p:nvPr/>
        </p:nvSpPr>
        <p:spPr>
          <a:xfrm>
            <a:off x="2770632" y="3456432"/>
            <a:ext cx="768096" cy="76809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FaRota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3648456"/>
            <a:ext cx="384048" cy="38404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83680" y="2011680"/>
            <a:ext cx="5093208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icon_FaBookOpen_circle"/>
          <p:cNvSpPr/>
          <p:nvPr/>
        </p:nvSpPr>
        <p:spPr>
          <a:xfrm>
            <a:off x="6812280" y="2240280"/>
            <a:ext cx="594360" cy="59436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FaBookOpe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870" y="2388870"/>
            <a:ext cx="297180" cy="2971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35240" y="2011680"/>
            <a:ext cx="38404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The model never saw your data dictionary.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273552"/>
            <a:ext cx="5093208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icon_FaMagnifyingGlass_circle"/>
          <p:cNvSpPr/>
          <p:nvPr/>
        </p:nvSpPr>
        <p:spPr>
          <a:xfrm>
            <a:off x="6812280" y="3502152"/>
            <a:ext cx="594360" cy="59436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FaMagnifyingGlas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870" y="3650742"/>
            <a:ext cx="297180" cy="2971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635240" y="3273552"/>
            <a:ext cx="38404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The fix lives in a chat window you will never find again.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4535424"/>
            <a:ext cx="5093208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icon_FaClockRotateLeft_circle"/>
          <p:cNvSpPr/>
          <p:nvPr/>
        </p:nvSpPr>
        <p:spPr>
          <a:xfrm>
            <a:off x="6812280" y="4764024"/>
            <a:ext cx="594360" cy="59436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FaClockRotateLef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0870" y="4912614"/>
            <a:ext cx="297180" cy="29718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35240" y="4535424"/>
            <a:ext cx="38404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Six months later, nobody can say what was done to the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Chat-based vs. agent-based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The difference is not the model; it's where the model sits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distinction: chat vs. agent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394960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Comments_circle"/>
          <p:cNvSpPr/>
          <p:nvPr/>
        </p:nvSpPr>
        <p:spPr>
          <a:xfrm>
            <a:off x="832104" y="2423160"/>
            <a:ext cx="777240" cy="77724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Comment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414" y="261747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83664" y="1920240"/>
            <a:ext cx="384048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chemeClr val="tx1"/>
                </a:solidFill>
              </a:rPr>
              <a:t>A chatbot answers in a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920240"/>
            <a:ext cx="5394960" cy="18288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icon_FaFolderOpen_circle"/>
          <p:cNvSpPr/>
          <p:nvPr/>
        </p:nvSpPr>
        <p:spPr>
          <a:xfrm>
            <a:off x="6601968" y="2423160"/>
            <a:ext cx="777240" cy="777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FaFolderOpe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278" y="2617470"/>
            <a:ext cx="388620" cy="3886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53527" y="1920240"/>
            <a:ext cx="384048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chemeClr val="bg1"/>
                </a:solidFill>
              </a:rPr>
              <a:t>An agent works inside your project.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chemeClr val="tx2"/>
                </a:solidFill>
              </a:rPr>
              <a:t>An agent can…</a:t>
            </a:r>
          </a:p>
        </p:txBody>
      </p:sp>
      <p:sp>
        <p:nvSpPr>
          <p:cNvPr id="22" name="icon_FaFileLines_circle"/>
          <p:cNvSpPr/>
          <p:nvPr/>
        </p:nvSpPr>
        <p:spPr>
          <a:xfrm>
            <a:off x="1124712" y="4434840"/>
            <a:ext cx="603504" cy="60350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FaFileLine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588" y="4585716"/>
            <a:ext cx="301752" cy="3017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2064" y="5120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tx1"/>
                </a:solidFill>
              </a:rPr>
              <a:t>Read your files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65376" y="4736592"/>
            <a:ext cx="1456182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con_FaFileCode_circle"/>
          <p:cNvSpPr/>
          <p:nvPr/>
        </p:nvSpPr>
        <p:spPr>
          <a:xfrm>
            <a:off x="3458718" y="4434840"/>
            <a:ext cx="603504" cy="60350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7" name="Picture 26" descr="FaFileCo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9594" y="4585716"/>
            <a:ext cx="301752" cy="30175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846070" y="5120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tx1"/>
                </a:solidFill>
              </a:rPr>
              <a:t>Write a script to disk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99382" y="4736592"/>
            <a:ext cx="1456182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con_FaPlay_circle"/>
          <p:cNvSpPr/>
          <p:nvPr/>
        </p:nvSpPr>
        <p:spPr>
          <a:xfrm>
            <a:off x="5792724" y="4434840"/>
            <a:ext cx="603504" cy="60350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FaPla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4585716"/>
            <a:ext cx="301752" cy="30175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180076" y="5120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tx1"/>
                </a:solidFill>
              </a:rPr>
              <a:t>Run 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3388" y="4736592"/>
            <a:ext cx="1456182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con_FaBug_circle"/>
          <p:cNvSpPr/>
          <p:nvPr/>
        </p:nvSpPr>
        <p:spPr>
          <a:xfrm>
            <a:off x="8126730" y="4434840"/>
            <a:ext cx="603504" cy="60350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FaBu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7606" y="4585716"/>
            <a:ext cx="301752" cy="30175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514082" y="5120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tx1"/>
                </a:solidFill>
              </a:rPr>
              <a:t>Read the error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867394" y="4736592"/>
            <a:ext cx="1456182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con_FaWrench_circle"/>
          <p:cNvSpPr/>
          <p:nvPr/>
        </p:nvSpPr>
        <p:spPr>
          <a:xfrm>
            <a:off x="10460736" y="4434840"/>
            <a:ext cx="603504" cy="60350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FaWrench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11612" y="4585716"/>
            <a:ext cx="301752" cy="30175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48088" y="5120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chemeClr val="tx1"/>
                </a:solidFill>
              </a:rPr>
              <a:t>Fix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" y="5532120"/>
            <a:ext cx="11164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1">
                <a:solidFill>
                  <a:schemeClr val="tx2"/>
                </a:solidFill>
              </a:rPr>
              <a:t>…and leave every step in your folder.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Same model, different place: what that does to your 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distinction: chat vs. agent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05215"/>
              </p:ext>
            </p:extLst>
          </p:nvPr>
        </p:nvGraphicFramePr>
        <p:xfrm>
          <a:off x="512064" y="1920240"/>
          <a:ext cx="11164824" cy="3493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>
                          <a:solidFill>
                            <a:schemeClr val="bg1"/>
                          </a:solidFill>
                        </a:rPr>
                        <a:t>Chat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>
                          <a:solidFill>
                            <a:schemeClr val="bg1"/>
                          </a:solidFill>
                        </a:rPr>
                        <a:t>Agent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Where the context lives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</a:rPr>
                        <a:t>What you paste, this session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</a:rPr>
                        <a:t>Your project folder + a CLAUDE.md file it reads every time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Where the code runs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chemeClr val="tx1"/>
                          </a:solidFill>
                        </a:rPr>
                        <a:t>Nowhere — you copy it out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</a:rPr>
                        <a:t>On your machine, in your R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chemeClr val="tx1"/>
                          </a:solidFill>
                        </a:rPr>
                        <a:t>Where the data sits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chemeClr val="tx1"/>
                          </a:solidFill>
                        </a:rPr>
                        <a:t>Wherever you pasted it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</a:rPr>
                        <a:t>Files stay in your folder; what it reads is sent to the model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chemeClr val="tx1"/>
                          </a:solidFill>
                        </a:rPr>
                        <a:t>What record is left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chemeClr val="tx1"/>
                          </a:solidFill>
                        </a:rPr>
                        <a:t>A chat transcript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2"/>
                          </a:solidFill>
                        </a:rPr>
                        <a:t>Scripts, logs, outputs, and drafts in your project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chemeClr val="tx1"/>
                          </a:solidFill>
                        </a:rPr>
                        <a:t>Who checks the work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</a:rPr>
                        <a:t>You, by re-pasting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2"/>
                          </a:solidFill>
                        </a:rPr>
                        <a:t>You, by reading what it wrote and ran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27" y="5597402"/>
            <a:ext cx="384685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262" y="5661743"/>
            <a:ext cx="10533042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chemeClr val="tx1"/>
                </a:solidFill>
              </a:rPr>
              <a:t>The agent changes what you check, not whether you check. </a:t>
            </a:r>
            <a:r>
              <a:rPr sz="1600" b="0" i="0" dirty="0" err="1">
                <a:solidFill>
                  <a:schemeClr val="tx1"/>
                </a:solidFill>
              </a:rPr>
              <a:t>CLAUDE.md</a:t>
            </a:r>
            <a:r>
              <a:rPr sz="1600" b="0" i="0" dirty="0">
                <a:solidFill>
                  <a:schemeClr val="tx1"/>
                </a:solidFill>
              </a:rPr>
              <a:t>, the project memory, is the subject of Part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task, two 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Task: “ZIP codes in my enrollment file are messy — fix them.”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A distinction: chat vs. agent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394960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Comments_circle"/>
          <p:cNvSpPr/>
          <p:nvPr/>
        </p:nvSpPr>
        <p:spPr>
          <a:xfrm>
            <a:off x="786384" y="21488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Comment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22860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72184" y="21488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chemeClr val="tx1"/>
                </a:solidFill>
              </a:rPr>
              <a:t>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2926080"/>
            <a:ext cx="4754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5F5F5F"/>
                </a:solidFill>
              </a:rPr>
              <a:t>1   </a:t>
            </a:r>
            <a:r>
              <a:rPr b="0" i="0">
                <a:solidFill>
                  <a:schemeClr val="tx1"/>
                </a:solidFill>
              </a:rPr>
              <a:t>Paste 20 rows into the browser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429000"/>
            <a:ext cx="4754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5F5F5F"/>
                </a:solidFill>
              </a:rPr>
              <a:t>2   </a:t>
            </a:r>
            <a:r>
              <a:rPr b="0" i="0">
                <a:solidFill>
                  <a:schemeClr val="tx1"/>
                </a:solidFill>
              </a:rPr>
              <a:t>Get a regex; paste it into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3931920"/>
            <a:ext cx="4754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5F5F5F"/>
                </a:solidFill>
              </a:rPr>
              <a:t>3   </a:t>
            </a:r>
            <a:r>
              <a:rPr b="0" i="0">
                <a:solidFill>
                  <a:schemeClr val="tx1"/>
                </a:solidFill>
              </a:rPr>
              <a:t>It breaks on blanks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4434840"/>
            <a:ext cx="4754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5F5F5F"/>
                </a:solidFill>
              </a:rPr>
              <a:t>4   </a:t>
            </a:r>
            <a:r>
              <a:rPr b="0" i="0">
                <a:solidFill>
                  <a:schemeClr val="tx1"/>
                </a:solidFill>
              </a:rPr>
              <a:t>Paste the error back. Repeat.</a:t>
            </a:r>
          </a:p>
        </p:txBody>
      </p:sp>
      <p:pic>
        <p:nvPicPr>
          <p:cNvPr id="21" name="Picture 20" descr="FaTriangleExclamatio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505663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9304" y="501091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That's student data in a browser.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1920240"/>
            <a:ext cx="5394960" cy="379476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FolderOpen_circle"/>
          <p:cNvSpPr/>
          <p:nvPr/>
        </p:nvSpPr>
        <p:spPr>
          <a:xfrm>
            <a:off x="6556248" y="214884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FolderOpe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2286000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42048" y="21488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880360"/>
            <a:ext cx="4754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tx1"/>
                </a:solidFill>
              </a:rPr>
              <a:t>Reads </a:t>
            </a:r>
            <a:r>
              <a:rPr b="0" i="0" dirty="0" err="1">
                <a:solidFill>
                  <a:schemeClr val="tx1"/>
                </a:solidFill>
              </a:rPr>
              <a:t>codebook.md</a:t>
            </a:r>
            <a:r>
              <a:rPr b="0" i="0" dirty="0">
                <a:solidFill>
                  <a:schemeClr val="tx1"/>
                </a:solidFill>
              </a:rPr>
              <a:t>, then counts the problem: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3246120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2"/>
                </a:solidFill>
              </a:rPr>
              <a:t>450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93192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blank ZIP codes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246120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2"/>
                </a:solidFill>
              </a:rPr>
              <a:t>3,468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9408" y="393192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ZIP+4 codes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434340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chemeClr val="tx1"/>
                </a:solidFill>
              </a:rPr>
              <a:t>Proposes a fix → writes 1000_clean.Rmd → runs it → logs rows dropped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5010912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…and stops for your approval.</a:t>
            </a:r>
          </a:p>
        </p:txBody>
      </p:sp>
      <p:sp>
        <p:nvSpPr>
          <p:cNvPr id="34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Counts from the synthetic dataset used in Part 3 (dese_student_core.csv). No real student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researchers use AI 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High use, low training, low trust, and a shift from chat to agents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 landscape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Use is now the norm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377440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1"/>
                </a:solidFill>
              </a:rPr>
              <a:t>57% → 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35808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5F5F"/>
                </a:solidFill>
              </a:rPr>
              <a:t>of researchers use AI (2024 →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1"/>
                </a:solidFill>
              </a:rPr>
              <a:t>45% → 62%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178808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5F5F"/>
                </a:solidFill>
              </a:rPr>
              <a:t>use it for research tasks specifically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92024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Trust and support lag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760720" y="2286000"/>
          <a:ext cx="589788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12064" y="4572000"/>
            <a:ext cx="11164824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" y="4572000"/>
            <a:ext cx="374903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2023 · </a:t>
            </a:r>
            <a:r>
              <a:rPr sz="1700" b="0" i="0">
                <a:solidFill>
                  <a:schemeClr val="tx1"/>
                </a:solidFill>
              </a:rPr>
              <a:t>chat help on “micro-tasks”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343400" y="5097780"/>
            <a:ext cx="109728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0" y="4572000"/>
            <a:ext cx="57607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2025 · </a:t>
            </a:r>
            <a:r>
              <a:rPr sz="1700" b="0" i="0">
                <a:solidFill>
                  <a:schemeClr val="tx1"/>
                </a:solidFill>
              </a:rPr>
              <a:t>agents that review literature, write and debug code, fetch data, and run multi-step workflows</a:t>
            </a:r>
          </a:p>
        </p:txBody>
      </p:sp>
      <p:sp>
        <p:nvSpPr>
          <p:cNvPr id="24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Wiley ExplanAItions 2025 (N = 2,430) · Elsevier, Researcher of the Future 2025 (N = 3,200+) · Korinek (2023, JEL; 2025, NBER WP 34202)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it helps, where it fails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Every failure here is a judgment problem, not a typing problem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 landscape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840480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1031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accent3"/>
                </a:solidFill>
              </a:rPr>
              <a:t>Helps, with validation</a:t>
            </a:r>
          </a:p>
        </p:txBody>
      </p:sp>
      <p:pic>
        <p:nvPicPr>
          <p:cNvPr id="15" name="Picture 14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69748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584" y="2633472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Annotating and classifying text at a fraction of crowd-worker cost</a:t>
            </a:r>
          </a:p>
        </p:txBody>
      </p:sp>
      <p:pic>
        <p:nvPicPr>
          <p:cNvPr id="17" name="Picture 16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85032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43584" y="3621024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chemeClr val="tx1"/>
                </a:solidFill>
              </a:rPr>
              <a:t>First-pass codebooks with a human in the loop</a:t>
            </a:r>
          </a:p>
        </p:txBody>
      </p:sp>
      <p:pic>
        <p:nvPicPr>
          <p:cNvPr id="19" name="Picture 18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672584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43584" y="4608576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Writing and debugging analysis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920240"/>
            <a:ext cx="7013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Fails without a researcher in charge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304288"/>
            <a:ext cx="70134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5F5F5F"/>
                </a:solidFill>
              </a:rPr>
              <a:t>Reproducing quantitative social science studies: success rate (randomized, 103 teams)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0" y="2578608"/>
          <a:ext cx="7104888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Picture 23" descr="FaCircleXmark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133087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074920" y="4087368"/>
            <a:ext cx="66019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Annotation choices alone flipped ~1 in 3 hypothesis tests</a:t>
            </a:r>
          </a:p>
        </p:txBody>
      </p:sp>
      <p:pic>
        <p:nvPicPr>
          <p:cNvPr id="26" name="Picture 25" descr="FaCircleXmark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66344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4617720"/>
            <a:ext cx="66019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LLM “survey respondents” match averages but lack real variation, and drift</a:t>
            </a:r>
          </a:p>
        </p:txBody>
      </p:sp>
      <p:pic>
        <p:nvPicPr>
          <p:cNvPr id="28" name="Picture 27" descr="FaCircleXmark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519379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74920" y="5148072"/>
            <a:ext cx="66019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Fabricated or inaccurate citations remain common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Brodeur et al. (2026, PNAS) · Baumann et al. (2025, preprint) · Bisbee et al. (2024) · Gilardi et al. (2023) · Barany et al. (2024) · Lu et al.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layers: platform → model → surface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“I use ChatGPT” tells you only the first layer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6675120" cy="1115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BuildingColumns_circle"/>
          <p:cNvSpPr/>
          <p:nvPr/>
        </p:nvSpPr>
        <p:spPr>
          <a:xfrm>
            <a:off x="768096" y="2176272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BuildingColumn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2327148"/>
            <a:ext cx="3017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91056" y="2048256"/>
            <a:ext cx="544067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chemeClr val="tx1"/>
                </a:solidFill>
              </a:rPr>
              <a:t>Platform</a:t>
            </a:r>
            <a:r>
              <a:rPr sz="1500" b="0" i="0">
                <a:solidFill>
                  <a:srgbClr val="5F5F5F"/>
                </a:solidFill>
              </a:rPr>
              <a:t>   whose service and account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6" y="2523744"/>
            <a:ext cx="54406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Claude · Gemini · ChatGPT · Copilot · Ask WashU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" y="3218688"/>
            <a:ext cx="6355080" cy="1115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icon_FaMicrochip_circle"/>
          <p:cNvSpPr/>
          <p:nvPr/>
        </p:nvSpPr>
        <p:spPr>
          <a:xfrm>
            <a:off x="1088136" y="3474720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FaMicrochi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9012" y="362559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911095" y="3346704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chemeClr val="tx1"/>
                </a:solidFill>
              </a:rPr>
              <a:t>Model</a:t>
            </a:r>
            <a:r>
              <a:rPr sz="1500" b="0" i="0">
                <a:solidFill>
                  <a:srgbClr val="5F5F5F"/>
                </a:solidFill>
              </a:rPr>
              <a:t>   which brain inside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1095" y="3822191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e.g., Claude Fable / Opus / Sonnet / Haiku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2144" y="4517136"/>
            <a:ext cx="6035040" cy="1115568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icon_FaDisplay_circle"/>
          <p:cNvSpPr/>
          <p:nvPr/>
        </p:nvSpPr>
        <p:spPr>
          <a:xfrm>
            <a:off x="1408176" y="477316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FaDispla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9052" y="4924044"/>
            <a:ext cx="301752" cy="3017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231136" y="4645151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chemeClr val="tx1"/>
                </a:solidFill>
              </a:rPr>
              <a:t>Surface</a:t>
            </a:r>
            <a:r>
              <a:rPr sz="1500" b="0" i="0">
                <a:solidFill>
                  <a:srgbClr val="5F5F5F"/>
                </a:solidFill>
              </a:rPr>
              <a:t>   how you work with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31136" y="5120640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chemeClr val="tx1"/>
                </a:solidFill>
              </a:rPr>
              <a:t>chat in a browser · agent in the terminal · agent in a desktop 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1920240"/>
            <a:ext cx="3721608" cy="17830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icon_FaShieldHalved_circle"/>
          <p:cNvSpPr/>
          <p:nvPr/>
        </p:nvSpPr>
        <p:spPr>
          <a:xfrm>
            <a:off x="8229600" y="2148840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Picture 29" descr="FaShieldHalved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22860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229600" y="2788920"/>
            <a:ext cx="31729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Your data rules attach to the platform account.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931920"/>
            <a:ext cx="3721608" cy="178308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icon_FaRoute_circle"/>
          <p:cNvSpPr/>
          <p:nvPr/>
        </p:nvSpPr>
        <p:spPr>
          <a:xfrm>
            <a:off x="8229600" y="4160520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FaRoute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4297680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4800600"/>
            <a:ext cx="317296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Your workflow depends on the surface.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Which data each platform is approved for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783080"/>
          <a:ext cx="11164824" cy="31516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0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Platform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Who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Cost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Approved for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Gemini for Education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Students, faculty, staff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Free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FERPA. PHI: confirm with the HIPAA office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Copilot Chat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All with Microsoft 365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Free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FERPA. Not PHI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Ask WashU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Students, faculty, staff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Free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FERPA and PHI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Claude Edu (Chat, Cowork, Claude Code, Design)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Faculty/staff; Danforth students free after the AI Literacy module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$16 / $50 per month (faculty/staff)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2"/>
                          </a:solidFill>
                        </a:rPr>
                        <a:t>FERPA, institutional IP. Not PHI</a:t>
                      </a:r>
                    </a:p>
                  </a:txBody>
                  <a:tcPr marT="36576" marB="36576" anchor="ctr">
                    <a:solidFill>
                      <a:srgbClr val="F6E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Claude Secure (no Claude Code)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Faculty/staff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$16 / $50 per month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PHI and FERPA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ChatGPT Edu (Codex: separate approval)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Faculty/staff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$10–$100 per month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PHI and FERPA. Codex: not HIPAA or FERPA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12064" y="5193792"/>
            <a:ext cx="11164824" cy="5486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Lo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303520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9304" y="5193792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</a:rPr>
              <a:t>No agentic coding tool at WashU is approved for PHI.</a:t>
            </a:r>
          </a:p>
        </p:txBody>
      </p:sp>
      <p:sp>
        <p:nvSpPr>
          <p:cNvPr id="17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Details: ai.washu.edu/tools · it.washu.edu/claude-for-education (accessed 2026-10-12)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Models: tiers and cost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Names change every few months; the structure doesn't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11164824" cy="19476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/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Most capable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Balanced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Fast and cheap</a:t>
                      </a:r>
                    </a:p>
                  </a:txBody>
                  <a:tcPr marT="36576" marB="36576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Fable 5.1 · Opus 5.5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Sonnet 5.5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Haiku 5.5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Gemini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3.1 Pro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3.8 Flash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Flash-Lite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OpenAI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GPT-6 Astra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GPT-6.1 Sol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GPT-6 Luna</a:t>
                      </a:r>
                    </a:p>
                  </a:txBody>
                  <a:tcPr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12064" y="4160520"/>
            <a:ext cx="4206240" cy="1508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427939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Fable 5.1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572000"/>
            <a:ext cx="3657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1"/>
                </a:solidFill>
              </a:rPr>
              <a:t>$10 / $50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2578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per million tokens, in /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160520"/>
            <a:ext cx="2331720" cy="1508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chemeClr val="tx2"/>
                </a:solidFill>
              </a:rPr>
              <a:t>≈100×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4160520"/>
            <a:ext cx="4206240" cy="150876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44968" y="427939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Haiku 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8" y="4572000"/>
            <a:ext cx="3657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chemeClr val="tx2"/>
                </a:solidFill>
              </a:rPr>
              <a:t>$0.10 / $0.50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52578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from, per million tokens, in / out</a:t>
            </a:r>
          </a:p>
        </p:txBody>
      </p:sp>
      <p:sp>
        <p:nvSpPr>
          <p:cNvPr id="23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Claude API prices and model names from vendor model pages, accessed 2026-10-12. Re-check the week of the workshop.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 vs. Claude Code vs. Cowork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Same Claude, three ways to 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28346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F5F5F"/>
                </a:solidFill>
              </a:rPr>
              <a:t>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31012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F5F5F"/>
                </a:solidFill>
              </a:rPr>
              <a:t>Can touch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785616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F5F5F"/>
                </a:solidFill>
              </a:rPr>
              <a:t>How you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4261104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F5F5F"/>
                </a:solidFill>
              </a:rPr>
              <a:t>Leaves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736592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F5F5F"/>
                </a:solidFill>
              </a:rPr>
              <a:t>Best for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9384" y="1920240"/>
            <a:ext cx="3157728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Comments_circle"/>
          <p:cNvSpPr/>
          <p:nvPr/>
        </p:nvSpPr>
        <p:spPr>
          <a:xfrm>
            <a:off x="2112264" y="2084832"/>
            <a:ext cx="502920" cy="50292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994" y="2210562"/>
            <a:ext cx="251460" cy="2514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34056" y="2029968"/>
            <a:ext cx="2243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2395728"/>
            <a:ext cx="2243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5F5F"/>
                </a:solidFill>
              </a:rPr>
              <a:t>Ask · claude.ai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2264" y="2834640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Anthropic's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12264" y="3310128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What you paste or upload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12264" y="3785616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One question at a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12264" y="4261104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A chat transcript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264" y="4736592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Questions, drafts, editing a paragraph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24272" y="1920240"/>
            <a:ext cx="3157728" cy="340156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_FaTerminal_circle"/>
          <p:cNvSpPr/>
          <p:nvPr/>
        </p:nvSpPr>
        <p:spPr>
          <a:xfrm>
            <a:off x="5407152" y="2084832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882" y="2210562"/>
            <a:ext cx="251460" cy="2514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28944" y="2029968"/>
            <a:ext cx="2243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</a:rPr>
              <a:t>Claude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28944" y="2395728"/>
            <a:ext cx="2243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chemeClr val="bg1"/>
                </a:solidFill>
              </a:rPr>
              <a:t>Work together · terminal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7152" y="2834640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Your machine, in your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7152" y="3310128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Your files, your R, your tools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7152" y="3785616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Step by step, with checkpoints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7152" y="4261104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chemeClr val="bg1"/>
                </a:solidFill>
              </a:rPr>
              <a:t>Scripts, logs, outputs: re-runnable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7152" y="4736592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chemeClr val="bg1"/>
                </a:solidFill>
              </a:rPr>
              <a:t>Reproducible data analysis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9160" y="1920240"/>
            <a:ext cx="3157728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icon_FaFolderOpen_circle"/>
          <p:cNvSpPr/>
          <p:nvPr/>
        </p:nvSpPr>
        <p:spPr>
          <a:xfrm>
            <a:off x="8702040" y="2084832"/>
            <a:ext cx="502920" cy="50292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FaFolderOpen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7769" y="2210562"/>
            <a:ext cx="251460" cy="2514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323832" y="2029968"/>
            <a:ext cx="22433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Cowork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3832" y="2395728"/>
            <a:ext cx="2243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5F5F"/>
                </a:solidFill>
              </a:rPr>
              <a:t>Delegate · desktop app or cloud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2040" y="2834640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Your machine or the cloud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02040" y="3310128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Only the folders and tools you grant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02040" y="3785616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Hand off a task, get the result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02040" y="4261104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Finished files (reports, tables)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2040" y="4736592"/>
            <a:ext cx="28376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Knowledge work: PDFs, reports, files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5486400"/>
            <a:ext cx="11164824" cy="566928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FaCircle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5605272"/>
            <a:ext cx="329184" cy="32918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243584" y="5486400"/>
            <a:ext cx="102504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bg1"/>
                </a:solidFill>
              </a:rPr>
              <a:t>For research with data, Claude Code is the best fit: </a:t>
            </a:r>
            <a:r>
              <a:rPr sz="1600" b="0" i="0">
                <a:solidFill>
                  <a:schemeClr val="bg1"/>
                </a:solidFill>
              </a:rPr>
              <a:t>your files, your R, a reproducible record, and you decide at every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Claude CLI, and what transfers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Learn the workflow, not the tool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Why Claude CLI at WashU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377440"/>
            <a:ext cx="5257800" cy="82296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6060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584" y="2423160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Claude Code</a:t>
            </a:r>
            <a:r>
              <a:rPr sz="1300" b="0" i="0">
                <a:solidFill>
                  <a:srgbClr val="5F5F5F"/>
                </a:solidFill>
              </a:rPr>
              <a:t>   via Claude Edu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280720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</a:rPr>
              <a:t>FERPA approved · not PHI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" y="3310128"/>
            <a:ext cx="5257800" cy="822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5387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43584" y="335584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Codex CLI</a:t>
            </a:r>
            <a:r>
              <a:rPr sz="1300" b="0" i="0">
                <a:solidFill>
                  <a:srgbClr val="5F5F5F"/>
                </a:solidFill>
              </a:rPr>
              <a:t>   ChatGPT Edu add-on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3584" y="3739896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Not approved for HIPAA or FERPA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4242816"/>
            <a:ext cx="5257800" cy="822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CircleQuestion_gr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471416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43584" y="4288536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Gemini CLI</a:t>
            </a:r>
            <a:r>
              <a:rPr sz="1300" b="0" i="0">
                <a:solidFill>
                  <a:srgbClr val="5F5F5F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4672584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Not covered by WashU; personal sign-in ended in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920240"/>
            <a:ext cx="5596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What transfers to other terminal agents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080760" y="2377440"/>
          <a:ext cx="5596128" cy="2487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83080"/>
                <a:gridCol w="1280160"/>
                <a:gridCol w="1243584"/>
                <a:gridCol w="1289304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Claude Code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Codex CLI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bg1"/>
                          </a:solidFill>
                        </a:rPr>
                        <a:t>Gemini CLI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Rules file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CLAUDE.md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AGENTS.md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GEMINI.md*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Tool connections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MCP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MCP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MCP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Read-only planning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Plan mode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Read-only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Plan mode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</a:rPr>
                        <a:t>Folders, prompts, checkpoints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Same files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Same files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</a:rPr>
                        <a:t>Same files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080760" y="4956048"/>
            <a:ext cx="55961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F5F5F"/>
                </a:solidFill>
              </a:rPr>
              <a:t>* configurable to read AGENTS.md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064" y="5212080"/>
            <a:ext cx="11164824" cy="566928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Lightbulb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5330952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3584" y="5212080"/>
            <a:ext cx="102504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bg1"/>
                </a:solidFill>
              </a:rPr>
              <a:t>One rules file for every agent: </a:t>
            </a:r>
            <a:r>
              <a:rPr sz="1600" b="0" i="0">
                <a:solidFill>
                  <a:schemeClr val="bg1"/>
                </a:solidFill>
              </a:rPr>
              <a:t>keep it in </a:t>
            </a:r>
            <a:r>
              <a:rPr sz="1600" b="1" i="0">
                <a:solidFill>
                  <a:schemeClr val="bg1"/>
                </a:solidFill>
                <a:latin typeface="Courier New"/>
              </a:rPr>
              <a:t>AGENTS.md</a:t>
            </a:r>
            <a:r>
              <a:rPr sz="1600" b="0" i="0">
                <a:solidFill>
                  <a:schemeClr val="bg1"/>
                </a:solidFill>
              </a:rPr>
              <a:t> and put </a:t>
            </a:r>
            <a:r>
              <a:rPr sz="1600" b="1" i="0">
                <a:solidFill>
                  <a:schemeClr val="bg1"/>
                </a:solidFill>
                <a:latin typeface="Courier New"/>
              </a:rPr>
              <a:t>@AGENTS.md</a:t>
            </a:r>
            <a:r>
              <a:rPr sz="1600" b="0" i="0">
                <a:solidFill>
                  <a:schemeClr val="bg1"/>
                </a:solidFill>
              </a:rPr>
              <a:t> in CLAUDE.md.</a:t>
            </a:r>
          </a:p>
        </p:txBody>
      </p:sp>
      <p:sp>
        <p:nvSpPr>
          <p:cNvPr id="32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WashU IT (it.washu.edu) and vendor docs, accessed 2026-10-15. Approvals change: re-check before relying on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Division of labor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 cost argument and a fit argument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What WashU provides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4572000" cy="3429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icon_FaBookOpenReader_circle"/>
          <p:cNvSpPr/>
          <p:nvPr/>
        </p:nvSpPr>
        <p:spPr>
          <a:xfrm>
            <a:off x="832104" y="2194560"/>
            <a:ext cx="731520" cy="73152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FaBookOpenReader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774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46504" y="219456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Gemini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26060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free through WashU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246120"/>
            <a:ext cx="39319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chemeClr val="tx1"/>
                </a:solidFill>
              </a:rPr>
              <a:t>Reading and literature work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chemeClr val="tx1"/>
                </a:solidFill>
              </a:rPr>
              <a:t>Long PDFs, many sources, first-pass synthesis, drafting a spec or a CLAUDE.md before you spend Claude usage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888" y="1920240"/>
            <a:ext cx="4572000" cy="3429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icon_FaTerminal_circle"/>
          <p:cNvSpPr/>
          <p:nvPr/>
        </p:nvSpPr>
        <p:spPr>
          <a:xfrm>
            <a:off x="7424927" y="2194560"/>
            <a:ext cx="731520" cy="7315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Terminal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7" y="237744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39327" y="219456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chemeClr val="bg1"/>
                </a:solidFill>
              </a:rPr>
              <a:t>Claude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26060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in your project folder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3246120"/>
            <a:ext cx="39319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chemeClr val="bg1"/>
                </a:solidFill>
              </a:rPr>
              <a:t>Anything that touches your files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chemeClr val="bg1"/>
                </a:solidFill>
              </a:rPr>
              <a:t>Scripts, data cleaning, analysis, reproducible pipelines, drafts that live in the project</a:t>
            </a:r>
          </a:p>
        </p:txBody>
      </p:sp>
      <p:pic>
        <p:nvPicPr>
          <p:cNvPr id="25" name="Picture 24" descr="FaFileLines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584" y="2788920"/>
            <a:ext cx="548640" cy="548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30368" y="342900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writing/*.md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7800" y="3977639"/>
            <a:ext cx="169164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30368" y="4096512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F5F5F"/>
                </a:solidFill>
              </a:rPr>
              <a:t>handoff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5486400"/>
            <a:ext cx="1116482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1">
                <a:solidFill>
                  <a:schemeClr val="accent1"/>
                </a:solidFill>
              </a:rPr>
              <a:t>Save Gemini's output as Markdown in writing/. The agent picks it up from there.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Don't drown in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Learn the workflow, not the news cycle.</a:t>
            </a:r>
          </a:p>
        </p:txBody>
      </p:sp>
      <p:sp>
        <p:nvSpPr>
          <p:cNvPr id="4" name="icon_FaGraduationCap_circle"/>
          <p:cNvSpPr/>
          <p:nvPr/>
        </p:nvSpPr>
        <p:spPr>
          <a:xfrm>
            <a:off x="6172200" y="86868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FaGraduationCap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994410"/>
            <a:ext cx="251460" cy="251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907183"/>
            <a:ext cx="480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You are an education researcher, not an AI researcher.</a:t>
            </a:r>
          </a:p>
        </p:txBody>
      </p:sp>
      <p:sp>
        <p:nvSpPr>
          <p:cNvPr id="7" name="icon_FaCalendarXmark_circle"/>
          <p:cNvSpPr/>
          <p:nvPr/>
        </p:nvSpPr>
        <p:spPr>
          <a:xfrm>
            <a:off x="6172200" y="1874519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FaCalendar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2000250"/>
            <a:ext cx="251460" cy="2514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1913023"/>
            <a:ext cx="480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A new model every month is not a reason to change your workflow every month.</a:t>
            </a:r>
          </a:p>
        </p:txBody>
      </p:sp>
      <p:sp>
        <p:nvSpPr>
          <p:cNvPr id="10" name="icon_FaScaleBalanced_circle"/>
          <p:cNvSpPr/>
          <p:nvPr/>
        </p:nvSpPr>
        <p:spPr>
          <a:xfrm>
            <a:off x="6172200" y="288036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FaScaleBalanced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300609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2918863"/>
            <a:ext cx="4800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Pick the model by the task: smaller models often suffice for classifying and extracting text; stronger models earn their cost on long, multi-step agent work.</a:t>
            </a:r>
          </a:p>
        </p:txBody>
      </p:sp>
      <p:sp>
        <p:nvSpPr>
          <p:cNvPr id="13" name="icon_FaHourglassHalf_circle"/>
          <p:cNvSpPr/>
          <p:nvPr/>
        </p:nvSpPr>
        <p:spPr>
          <a:xfrm>
            <a:off x="6172200" y="410337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FaHourglassHalf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930" y="4229100"/>
            <a:ext cx="251460" cy="2514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4141873"/>
            <a:ext cx="480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>
                <a:solidFill>
                  <a:schemeClr val="bg1"/>
                </a:solidFill>
              </a:rPr>
              <a:t>Time on research questions &gt; time on AI feeds.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0BE7-5C3F-D266-79F7-3F8652D69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543B30-8F07-121D-2AAC-13F970C128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Don't drown in 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EF8-5C86-D43C-87C6-625150BE7F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 community, </a:t>
            </a:r>
            <a:br>
              <a:rPr lang="en-US" dirty="0"/>
            </a:br>
            <a:r>
              <a:rPr lang="en-US" dirty="0"/>
              <a:t>not a feed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4CC00-8F27-2A33-392A-C1E488AD3D48}"/>
              </a:ext>
            </a:extLst>
          </p:cNvPr>
          <p:cNvSpPr txBox="1"/>
          <p:nvPr/>
        </p:nvSpPr>
        <p:spPr>
          <a:xfrm>
            <a:off x="6172200" y="86868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chemeClr val="bg1"/>
                </a:solidFill>
              </a:rPr>
              <a:t>Share what works with people doing similar research.</a:t>
            </a:r>
          </a:p>
        </p:txBody>
      </p:sp>
      <p:sp>
        <p:nvSpPr>
          <p:cNvPr id="17" name="icon_FaTerminal_circle">
            <a:extLst>
              <a:ext uri="{FF2B5EF4-FFF2-40B4-BE49-F238E27FC236}">
                <a16:creationId xmlns:a16="http://schemas.microsoft.com/office/drawing/2014/main" id="{B3F6EA47-8E19-2495-C6AC-7953B3611AB6}"/>
              </a:ext>
            </a:extLst>
          </p:cNvPr>
          <p:cNvSpPr/>
          <p:nvPr/>
        </p:nvSpPr>
        <p:spPr>
          <a:xfrm>
            <a:off x="6172200" y="192024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FaTerminal_red.png">
            <a:extLst>
              <a:ext uri="{FF2B5EF4-FFF2-40B4-BE49-F238E27FC236}">
                <a16:creationId xmlns:a16="http://schemas.microsoft.com/office/drawing/2014/main" id="{580E49E8-E44A-45BD-AA7D-6977C3346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2045970"/>
            <a:ext cx="251460" cy="2514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114B75D-487C-4821-C26D-732AAEF39D14}"/>
              </a:ext>
            </a:extLst>
          </p:cNvPr>
          <p:cNvSpPr txBox="1"/>
          <p:nvPr/>
        </p:nvSpPr>
        <p:spPr>
          <a:xfrm>
            <a:off x="6858000" y="19202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A prompt that worked</a:t>
            </a:r>
          </a:p>
        </p:txBody>
      </p:sp>
      <p:sp>
        <p:nvSpPr>
          <p:cNvPr id="20" name="icon_FaFileLines_circle">
            <a:extLst>
              <a:ext uri="{FF2B5EF4-FFF2-40B4-BE49-F238E27FC236}">
                <a16:creationId xmlns:a16="http://schemas.microsoft.com/office/drawing/2014/main" id="{B35E3CCB-DD16-8964-0826-B5A548D1FE6C}"/>
              </a:ext>
            </a:extLst>
          </p:cNvPr>
          <p:cNvSpPr/>
          <p:nvPr/>
        </p:nvSpPr>
        <p:spPr>
          <a:xfrm>
            <a:off x="6172200" y="260604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aFileLines_red.png">
            <a:extLst>
              <a:ext uri="{FF2B5EF4-FFF2-40B4-BE49-F238E27FC236}">
                <a16:creationId xmlns:a16="http://schemas.microsoft.com/office/drawing/2014/main" id="{7D988373-4371-0BC7-6E7D-81E986172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2731770"/>
            <a:ext cx="251460" cy="25146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68F4988-29ED-070F-6811-62E4837C8BC9}"/>
              </a:ext>
            </a:extLst>
          </p:cNvPr>
          <p:cNvSpPr txBox="1"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A CLAUDE.md rule that saved you time</a:t>
            </a:r>
          </a:p>
        </p:txBody>
      </p:sp>
      <p:sp>
        <p:nvSpPr>
          <p:cNvPr id="23" name="icon_FaBug_circle">
            <a:extLst>
              <a:ext uri="{FF2B5EF4-FFF2-40B4-BE49-F238E27FC236}">
                <a16:creationId xmlns:a16="http://schemas.microsoft.com/office/drawing/2014/main" id="{4B3B9BED-B620-7A9A-788C-CEC1AA62B343}"/>
              </a:ext>
            </a:extLst>
          </p:cNvPr>
          <p:cNvSpPr/>
          <p:nvPr/>
        </p:nvSpPr>
        <p:spPr>
          <a:xfrm>
            <a:off x="6172200" y="329184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FaBug_red.png">
            <a:extLst>
              <a:ext uri="{FF2B5EF4-FFF2-40B4-BE49-F238E27FC236}">
                <a16:creationId xmlns:a16="http://schemas.microsoft.com/office/drawing/2014/main" id="{908AA1A5-67DD-A244-6DB3-2E6C6994E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3417570"/>
            <a:ext cx="251460" cy="251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1040EC7-C10E-7A29-429A-93BAA450E56E}"/>
              </a:ext>
            </a:extLst>
          </p:cNvPr>
          <p:cNvSpPr txBox="1"/>
          <p:nvPr/>
        </p:nvSpPr>
        <p:spPr>
          <a:xfrm>
            <a:off x="6858000" y="32918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chemeClr val="bg1"/>
                </a:solidFill>
              </a:rPr>
              <a:t>A mistake the agent made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BEBD8C-7AB9-C533-93A1-DA4111754DB3}"/>
              </a:ext>
            </a:extLst>
          </p:cNvPr>
          <p:cNvSpPr txBox="1"/>
          <p:nvPr/>
        </p:nvSpPr>
        <p:spPr>
          <a:xfrm>
            <a:off x="6172200" y="534924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Next: </a:t>
            </a:r>
            <a:r>
              <a:rPr sz="1700" b="0" i="0">
                <a:solidFill>
                  <a:schemeClr val="bg1"/>
                </a:solidFill>
              </a:rPr>
              <a:t>Part 2 — install the agent and give it a project to live in.</a:t>
            </a:r>
          </a:p>
        </p:txBody>
      </p:sp>
    </p:spTree>
    <p:extLst>
      <p:ext uri="{BB962C8B-B14F-4D97-AF65-F5344CB8AC3E}">
        <p14:creationId xmlns:p14="http://schemas.microsoft.com/office/powerpoint/2010/main" val="230866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ashU Medicine">
      <a:dk1>
        <a:srgbClr val="000000"/>
      </a:dk1>
      <a:lt1>
        <a:srgbClr val="FFFFFF"/>
      </a:lt1>
      <a:dk2>
        <a:srgbClr val="BA0C2F"/>
      </a:dk2>
      <a:lt2>
        <a:srgbClr val="F5F2EE"/>
      </a:lt2>
      <a:accent1>
        <a:srgbClr val="971B2F"/>
      </a:accent1>
      <a:accent2>
        <a:srgbClr val="D9D9D6"/>
      </a:accent2>
      <a:accent3>
        <a:srgbClr val="215732"/>
      </a:accent3>
      <a:accent4>
        <a:srgbClr val="B5E3D8"/>
      </a:accent4>
      <a:accent5>
        <a:srgbClr val="13322B"/>
      </a:accent5>
      <a:accent6>
        <a:srgbClr val="007D8A"/>
      </a:accent6>
      <a:hlink>
        <a:srgbClr val="BA0C2F"/>
      </a:hlink>
      <a:folHlink>
        <a:srgbClr val="BA0C2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6"/>
        </a:lnRef>
        <a:fillRef idx="0">
          <a:schemeClr val="accent6"/>
        </a:fillRef>
        <a:effectRef idx="0">
          <a:schemeClr val="accent6"/>
        </a:effectRef>
        <a:fontRef idx="minor">
          <a:schemeClr val="tx1"/>
        </a:fontRef>
      </a:style>
    </a:lnDef>
  </a:objectDefaults>
  <a:extraClrSchemeLst/>
  <a:custClrLst>
    <a:custClr name="WashU Green">
      <a:srgbClr val="215732"/>
    </a:custClr>
    <a:custClr name="Dark Green">
      <a:srgbClr val="13322B"/>
    </a:custClr>
    <a:custClr name="Coral">
      <a:srgbClr val="FF6D6A"/>
    </a:custClr>
    <a:custClr name="Custom Color 4">
      <a:srgbClr val="F1B434"/>
    </a:custClr>
    <a:custClr name="Teal">
      <a:srgbClr val="007D8A"/>
    </a:custClr>
    <a:custClr name="Mint">
      <a:srgbClr val="B5E3D8"/>
    </a:custClr>
    <a:custClr name="Gray">
      <a:srgbClr val="D9D9D6"/>
    </a:custClr>
  </a:custClrLst>
  <a:extLst>
    <a:ext uri="{05A4C25C-085E-4340-85A3-A5531E510DB2}">
      <thm15:themeFamily xmlns:thm15="http://schemas.microsoft.com/office/thememl/2012/main" name="Office Theme" id="{67E72386-5798-4EAD-80CA-990DB467CECF}" vid="{42220F3D-D07F-48BC-873E-53EDB36425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14369</TotalTime>
  <Words>4209</Words>
  <Application>Microsoft Macintosh PowerPoint</Application>
  <PresentationFormat>Widescreen</PresentationFormat>
  <Paragraphs>309</Paragraphs>
  <Slides>15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The browser-tab loop</vt:lpstr>
      <vt:lpstr>Chat-based vs. agent-based AI</vt:lpstr>
      <vt:lpstr>What changes</vt:lpstr>
      <vt:lpstr>Same task, two ways</vt:lpstr>
      <vt:lpstr>How researchers use AI now</vt:lpstr>
      <vt:lpstr>Where it helps, where it fails</vt:lpstr>
      <vt:lpstr>Three layers: platform → model → surface</vt:lpstr>
      <vt:lpstr>What WashU provides</vt:lpstr>
      <vt:lpstr>Models: tiers and cost</vt:lpstr>
      <vt:lpstr>Surfaces: where the agent runs</vt:lpstr>
      <vt:lpstr>Division of labor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default</dc:creator>
  <cp:lastModifiedBy>Chun, Yung</cp:lastModifiedBy>
  <cp:revision>679</cp:revision>
  <dcterms:created xsi:type="dcterms:W3CDTF">2013-07-09T17:46:55Z</dcterms:created>
  <dcterms:modified xsi:type="dcterms:W3CDTF">2026-10-15T15:07:02Z</dcterms:modified>
</cp:coreProperties>
</file>