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media/image1.svg" ContentType="image/svg+xml"/>
  <Override PartName="/ppt/media/image12.svg" ContentType="image/svg+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2" r:id="rId1"/>
  </p:sldMasterIdLst>
  <p:notesMasterIdLst>
    <p:notesMasterId r:id="rId17"/>
  </p:notesMasterIdLst>
  <p:sldIdLst>
    <p:sldId id="256" r:id="rId2"/>
    <p:sldId id="272" r:id="rId3"/>
    <p:sldId id="257" r:id="rId4"/>
    <p:sldId id="258" r:id="rId5"/>
    <p:sldId id="259" r:id="rId6"/>
    <p:sldId id="260" r:id="rId7"/>
    <p:sldId id="261" r:id="rId8"/>
    <p:sldId id="262" r:id="rId9"/>
    <p:sldId id="263" r:id="rId10"/>
    <p:sldId id="264" r:id="rId11"/>
    <p:sldId id="265" r:id="rId12"/>
    <p:sldId id="274" r:id="rId25"/>
    <p:sldId id="273" r:id="rId24"/>
    <p:sldId id="267" r:id="rId14"/>
    <p:sldId id="268"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240647-945F-4420-2BF3-6A3F96553581}" name="Meghan Doil" initials="MD" userId="S::Meghan@notionpartners.com::a8ec7eb1-6349-4529-b98e-40f78974ff70" providerId="AD"/>
  <p188:author id="{68575DE0-E424-2A10-766E-B786959A84E9}" name="Michelle Markee" initials="" userId="S::Michelle@notionpartners.com::55fc8d82-3871-406d-994c-c40c9b164ad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242A"/>
    <a:srgbClr val="5C646B"/>
    <a:srgbClr val="8C979A"/>
    <a:srgbClr val="8FD1C9"/>
    <a:srgbClr val="C41039"/>
    <a:srgbClr val="EBE8E5"/>
    <a:srgbClr val="009999"/>
    <a:srgbClr val="C08782"/>
    <a:srgbClr val="E7E7E7"/>
    <a:srgbClr val="F4EEE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897" autoAdjust="0"/>
    <p:restoredTop sz="90223" autoAdjust="0"/>
  </p:normalViewPr>
  <p:slideViewPr>
    <p:cSldViewPr snapToGrid="0" snapToObjects="1">
      <p:cViewPr varScale="1">
        <p:scale>
          <a:sx n="123" d="100"/>
          <a:sy n="123" d="100"/>
        </p:scale>
        <p:origin x="1144" y="176"/>
      </p:cViewPr>
      <p:guideLst/>
    </p:cSldViewPr>
  </p:slideViewPr>
  <p:outlineViewPr>
    <p:cViewPr>
      <p:scale>
        <a:sx n="33" d="100"/>
        <a:sy n="33" d="100"/>
      </p:scale>
      <p:origin x="0" y="-8563"/>
    </p:cViewPr>
  </p:outlineViewPr>
  <p:notesTextViewPr>
    <p:cViewPr>
      <p:scale>
        <a:sx n="100" d="100"/>
        <a:sy n="100" d="100"/>
      </p:scale>
      <p:origin x="0" y="0"/>
    </p:cViewPr>
  </p:notesTextViewPr>
  <p:sorterViewPr>
    <p:cViewPr>
      <p:scale>
        <a:sx n="54" d="100"/>
        <a:sy n="54"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6/11/relationships/changesInfo" Target="changesInfos/changesInfo1.xml"/><Relationship Id="rId23" Type="http://schemas.microsoft.com/office/2018/10/relationships/authors" Target="authors.xml"/><Relationship Id="rId24" Type="http://schemas.openxmlformats.org/officeDocument/2006/relationships/slide" Target="slides/slide13.xml"/><Relationship Id="rId25"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un, Yung" userId="9901241370_tp_box_2" providerId="OAuth2" clId="{BCB4331A-CED4-5DDF-9079-A18519255F6F}"/>
    <pc:docChg chg="undo custSel addSld delSld modSld">
      <pc:chgData name="Chun, Yung" userId="9901241370_tp_box_2" providerId="OAuth2" clId="{BCB4331A-CED4-5DDF-9079-A18519255F6F}" dt="2026-10-15T15:06:59.311" v="98" actId="14100"/>
      <pc:docMkLst>
        <pc:docMk/>
      </pc:docMkLst>
      <pc:sldChg chg="modNotesTx">
        <pc:chgData name="Chun, Yung" userId="9901241370_tp_box_2" providerId="OAuth2" clId="{BCB4331A-CED4-5DDF-9079-A18519255F6F}" dt="2026-10-15T15:01:07.214" v="90" actId="20577"/>
        <pc:sldMkLst>
          <pc:docMk/>
          <pc:sldMk cId="0" sldId="256"/>
        </pc:sldMkLst>
      </pc:sldChg>
      <pc:sldChg chg="modSp mod">
        <pc:chgData name="Chun, Yung" userId="9901241370_tp_box_2" providerId="OAuth2" clId="{BCB4331A-CED4-5DDF-9079-A18519255F6F}" dt="2026-10-13T14:52:37.136" v="3" actId="1076"/>
        <pc:sldMkLst>
          <pc:docMk/>
          <pc:sldMk cId="0" sldId="259"/>
        </pc:sldMkLst>
        <pc:spChg chg="mod">
          <ac:chgData name="Chun, Yung" userId="9901241370_tp_box_2" providerId="OAuth2" clId="{BCB4331A-CED4-5DDF-9079-A18519255F6F}" dt="2026-10-13T14:52:37.136" v="3" actId="1076"/>
          <ac:spMkLst>
            <pc:docMk/>
            <pc:sldMk cId="0" sldId="259"/>
            <ac:spMk id="15" creationId="{00000000-0000-0000-0000-000000000000}"/>
          </ac:spMkLst>
        </pc:spChg>
        <pc:graphicFrameChg chg="modGraphic">
          <ac:chgData name="Chun, Yung" userId="9901241370_tp_box_2" providerId="OAuth2" clId="{BCB4331A-CED4-5DDF-9079-A18519255F6F}" dt="2026-10-13T14:52:29.326" v="1" actId="255"/>
          <ac:graphicFrameMkLst>
            <pc:docMk/>
            <pc:sldMk cId="0" sldId="259"/>
            <ac:graphicFrameMk id="13" creationId="{00000000-0000-0000-0000-000000000000}"/>
          </ac:graphicFrameMkLst>
        </pc:graphicFrameChg>
        <pc:picChg chg="mod">
          <ac:chgData name="Chun, Yung" userId="9901241370_tp_box_2" providerId="OAuth2" clId="{BCB4331A-CED4-5DDF-9079-A18519255F6F}" dt="2026-10-13T14:52:37.136" v="3" actId="1076"/>
          <ac:picMkLst>
            <pc:docMk/>
            <pc:sldMk cId="0" sldId="259"/>
            <ac:picMk id="14" creationId="{00000000-0000-0000-0000-000000000000}"/>
          </ac:picMkLst>
        </pc:picChg>
      </pc:sldChg>
      <pc:sldChg chg="modSp mod">
        <pc:chgData name="Chun, Yung" userId="9901241370_tp_box_2" providerId="OAuth2" clId="{BCB4331A-CED4-5DDF-9079-A18519255F6F}" dt="2026-10-13T14:52:58.969" v="5" actId="255"/>
        <pc:sldMkLst>
          <pc:docMk/>
          <pc:sldMk cId="0" sldId="260"/>
        </pc:sldMkLst>
        <pc:spChg chg="mod">
          <ac:chgData name="Chun, Yung" userId="9901241370_tp_box_2" providerId="OAuth2" clId="{BCB4331A-CED4-5DDF-9079-A18519255F6F}" dt="2026-10-13T14:52:52.970" v="4" actId="255"/>
          <ac:spMkLst>
            <pc:docMk/>
            <pc:sldMk cId="0" sldId="260"/>
            <ac:spMk id="17" creationId="{00000000-0000-0000-0000-000000000000}"/>
          </ac:spMkLst>
        </pc:spChg>
        <pc:spChg chg="mod">
          <ac:chgData name="Chun, Yung" userId="9901241370_tp_box_2" providerId="OAuth2" clId="{BCB4331A-CED4-5DDF-9079-A18519255F6F}" dt="2026-10-13T14:52:52.970" v="4" actId="255"/>
          <ac:spMkLst>
            <pc:docMk/>
            <pc:sldMk cId="0" sldId="260"/>
            <ac:spMk id="18" creationId="{00000000-0000-0000-0000-000000000000}"/>
          </ac:spMkLst>
        </pc:spChg>
        <pc:spChg chg="mod">
          <ac:chgData name="Chun, Yung" userId="9901241370_tp_box_2" providerId="OAuth2" clId="{BCB4331A-CED4-5DDF-9079-A18519255F6F}" dt="2026-10-13T14:52:52.970" v="4" actId="255"/>
          <ac:spMkLst>
            <pc:docMk/>
            <pc:sldMk cId="0" sldId="260"/>
            <ac:spMk id="19" creationId="{00000000-0000-0000-0000-000000000000}"/>
          </ac:spMkLst>
        </pc:spChg>
        <pc:spChg chg="mod">
          <ac:chgData name="Chun, Yung" userId="9901241370_tp_box_2" providerId="OAuth2" clId="{BCB4331A-CED4-5DDF-9079-A18519255F6F}" dt="2026-10-13T14:52:52.970" v="4" actId="255"/>
          <ac:spMkLst>
            <pc:docMk/>
            <pc:sldMk cId="0" sldId="260"/>
            <ac:spMk id="20" creationId="{00000000-0000-0000-0000-000000000000}"/>
          </ac:spMkLst>
        </pc:spChg>
        <pc:spChg chg="mod">
          <ac:chgData name="Chun, Yung" userId="9901241370_tp_box_2" providerId="OAuth2" clId="{BCB4331A-CED4-5DDF-9079-A18519255F6F}" dt="2026-10-13T14:52:58.969" v="5" actId="255"/>
          <ac:spMkLst>
            <pc:docMk/>
            <pc:sldMk cId="0" sldId="260"/>
            <ac:spMk id="27" creationId="{00000000-0000-0000-0000-000000000000}"/>
          </ac:spMkLst>
        </pc:spChg>
        <pc:spChg chg="mod">
          <ac:chgData name="Chun, Yung" userId="9901241370_tp_box_2" providerId="OAuth2" clId="{BCB4331A-CED4-5DDF-9079-A18519255F6F}" dt="2026-10-13T14:52:58.969" v="5" actId="255"/>
          <ac:spMkLst>
            <pc:docMk/>
            <pc:sldMk cId="0" sldId="260"/>
            <ac:spMk id="32" creationId="{00000000-0000-0000-0000-000000000000}"/>
          </ac:spMkLst>
        </pc:spChg>
      </pc:sldChg>
      <pc:sldChg chg="modSp mod">
        <pc:chgData name="Chun, Yung" userId="9901241370_tp_box_2" providerId="OAuth2" clId="{BCB4331A-CED4-5DDF-9079-A18519255F6F}" dt="2026-10-13T14:54:58.195" v="17" actId="1036"/>
        <pc:sldMkLst>
          <pc:docMk/>
          <pc:sldMk cId="0" sldId="268"/>
        </pc:sldMkLst>
        <pc:spChg chg="mod">
          <ac:chgData name="Chun, Yung" userId="9901241370_tp_box_2" providerId="OAuth2" clId="{BCB4331A-CED4-5DDF-9079-A18519255F6F}" dt="2026-10-13T14:54:58.195" v="17" actId="1036"/>
          <ac:spMkLst>
            <pc:docMk/>
            <pc:sldMk cId="0" sldId="268"/>
            <ac:spMk id="6" creationId="{00000000-0000-0000-0000-000000000000}"/>
          </ac:spMkLst>
        </pc:spChg>
        <pc:spChg chg="mod">
          <ac:chgData name="Chun, Yung" userId="9901241370_tp_box_2" providerId="OAuth2" clId="{BCB4331A-CED4-5DDF-9079-A18519255F6F}" dt="2026-10-13T14:54:58.195" v="17" actId="1036"/>
          <ac:spMkLst>
            <pc:docMk/>
            <pc:sldMk cId="0" sldId="268"/>
            <ac:spMk id="9" creationId="{00000000-0000-0000-0000-000000000000}"/>
          </ac:spMkLst>
        </pc:spChg>
        <pc:spChg chg="mod">
          <ac:chgData name="Chun, Yung" userId="9901241370_tp_box_2" providerId="OAuth2" clId="{BCB4331A-CED4-5DDF-9079-A18519255F6F}" dt="2026-10-13T14:54:58.195" v="17" actId="1036"/>
          <ac:spMkLst>
            <pc:docMk/>
            <pc:sldMk cId="0" sldId="268"/>
            <ac:spMk id="12" creationId="{00000000-0000-0000-0000-000000000000}"/>
          </ac:spMkLst>
        </pc:spChg>
        <pc:spChg chg="mod">
          <ac:chgData name="Chun, Yung" userId="9901241370_tp_box_2" providerId="OAuth2" clId="{BCB4331A-CED4-5DDF-9079-A18519255F6F}" dt="2026-10-13T14:54:07.574" v="8" actId="1076"/>
          <ac:spMkLst>
            <pc:docMk/>
            <pc:sldMk cId="0" sldId="268"/>
            <ac:spMk id="13" creationId="{00000000-0000-0000-0000-000000000000}"/>
          </ac:spMkLst>
        </pc:spChg>
        <pc:spChg chg="mod">
          <ac:chgData name="Chun, Yung" userId="9901241370_tp_box_2" providerId="OAuth2" clId="{BCB4331A-CED4-5DDF-9079-A18519255F6F}" dt="2026-10-13T14:54:58.195" v="17" actId="1036"/>
          <ac:spMkLst>
            <pc:docMk/>
            <pc:sldMk cId="0" sldId="268"/>
            <ac:spMk id="15" creationId="{00000000-0000-0000-0000-000000000000}"/>
          </ac:spMkLst>
        </pc:spChg>
        <pc:picChg chg="mod">
          <ac:chgData name="Chun, Yung" userId="9901241370_tp_box_2" providerId="OAuth2" clId="{BCB4331A-CED4-5DDF-9079-A18519255F6F}" dt="2026-10-13T14:54:07.574" v="8" actId="1076"/>
          <ac:picMkLst>
            <pc:docMk/>
            <pc:sldMk cId="0" sldId="268"/>
            <ac:picMk id="14" creationId="{00000000-0000-0000-0000-000000000000}"/>
          </ac:picMkLst>
        </pc:picChg>
      </pc:sldChg>
      <pc:sldChg chg="addSp delSp modSp add mod">
        <pc:chgData name="Chun, Yung" userId="9901241370_tp_box_2" providerId="OAuth2" clId="{BCB4331A-CED4-5DDF-9079-A18519255F6F}" dt="2026-10-13T14:55:33.732" v="21"/>
        <pc:sldMkLst>
          <pc:docMk/>
          <pc:sldMk cId="230866471" sldId="270"/>
        </pc:sldMkLst>
        <pc:spChg chg="mod">
          <ac:chgData name="Chun, Yung" userId="9901241370_tp_box_2" providerId="OAuth2" clId="{BCB4331A-CED4-5DDF-9079-A18519255F6F}" dt="2026-10-13T14:55:25.103" v="19"/>
          <ac:spMkLst>
            <pc:docMk/>
            <pc:sldMk cId="230866471" sldId="270"/>
            <ac:spMk id="3" creationId="{7F415EF8-5C86-D43C-87C6-625150BE7F93}"/>
          </ac:spMkLst>
        </pc:spChg>
        <pc:spChg chg="add mod">
          <ac:chgData name="Chun, Yung" userId="9901241370_tp_box_2" providerId="OAuth2" clId="{BCB4331A-CED4-5DDF-9079-A18519255F6F}" dt="2026-10-13T14:55:33.732" v="21"/>
          <ac:spMkLst>
            <pc:docMk/>
            <pc:sldMk cId="230866471" sldId="270"/>
            <ac:spMk id="16" creationId="{3894CC00-8F27-2A33-392A-C1E488AD3D48}"/>
          </ac:spMkLst>
        </pc:spChg>
        <pc:spChg chg="add mod">
          <ac:chgData name="Chun, Yung" userId="9901241370_tp_box_2" providerId="OAuth2" clId="{BCB4331A-CED4-5DDF-9079-A18519255F6F}" dt="2026-10-13T14:55:33.732" v="21"/>
          <ac:spMkLst>
            <pc:docMk/>
            <pc:sldMk cId="230866471" sldId="270"/>
            <ac:spMk id="17" creationId="{B3F6EA47-8E19-2495-C6AC-7953B3611AB6}"/>
          </ac:spMkLst>
        </pc:spChg>
        <pc:spChg chg="add mod">
          <ac:chgData name="Chun, Yung" userId="9901241370_tp_box_2" providerId="OAuth2" clId="{BCB4331A-CED4-5DDF-9079-A18519255F6F}" dt="2026-10-13T14:55:33.732" v="21"/>
          <ac:spMkLst>
            <pc:docMk/>
            <pc:sldMk cId="230866471" sldId="270"/>
            <ac:spMk id="19" creationId="{4114B75D-487C-4821-C26D-732AAEF39D14}"/>
          </ac:spMkLst>
        </pc:spChg>
        <pc:spChg chg="add mod">
          <ac:chgData name="Chun, Yung" userId="9901241370_tp_box_2" providerId="OAuth2" clId="{BCB4331A-CED4-5DDF-9079-A18519255F6F}" dt="2026-10-13T14:55:33.732" v="21"/>
          <ac:spMkLst>
            <pc:docMk/>
            <pc:sldMk cId="230866471" sldId="270"/>
            <ac:spMk id="20" creationId="{B35E3CCB-DD16-8964-0826-B5A548D1FE6C}"/>
          </ac:spMkLst>
        </pc:spChg>
        <pc:spChg chg="add mod">
          <ac:chgData name="Chun, Yung" userId="9901241370_tp_box_2" providerId="OAuth2" clId="{BCB4331A-CED4-5DDF-9079-A18519255F6F}" dt="2026-10-13T14:55:33.732" v="21"/>
          <ac:spMkLst>
            <pc:docMk/>
            <pc:sldMk cId="230866471" sldId="270"/>
            <ac:spMk id="22" creationId="{268F4988-29ED-070F-6811-62E4837C8BC9}"/>
          </ac:spMkLst>
        </pc:spChg>
        <pc:spChg chg="add mod">
          <ac:chgData name="Chun, Yung" userId="9901241370_tp_box_2" providerId="OAuth2" clId="{BCB4331A-CED4-5DDF-9079-A18519255F6F}" dt="2026-10-13T14:55:33.732" v="21"/>
          <ac:spMkLst>
            <pc:docMk/>
            <pc:sldMk cId="230866471" sldId="270"/>
            <ac:spMk id="23" creationId="{4B3B9BED-B620-7A9A-788C-CEC1AA62B343}"/>
          </ac:spMkLst>
        </pc:spChg>
        <pc:spChg chg="add mod">
          <ac:chgData name="Chun, Yung" userId="9901241370_tp_box_2" providerId="OAuth2" clId="{BCB4331A-CED4-5DDF-9079-A18519255F6F}" dt="2026-10-13T14:55:33.732" v="21"/>
          <ac:spMkLst>
            <pc:docMk/>
            <pc:sldMk cId="230866471" sldId="270"/>
            <ac:spMk id="25" creationId="{C1040EC7-C10E-7A29-429A-93BAA450E56E}"/>
          </ac:spMkLst>
        </pc:spChg>
        <pc:spChg chg="add mod">
          <ac:chgData name="Chun, Yung" userId="9901241370_tp_box_2" providerId="OAuth2" clId="{BCB4331A-CED4-5DDF-9079-A18519255F6F}" dt="2026-10-13T14:55:33.732" v="21"/>
          <ac:spMkLst>
            <pc:docMk/>
            <pc:sldMk cId="230866471" sldId="270"/>
            <ac:spMk id="26" creationId="{12BEBD8C-7AB9-C533-93A1-DA4111754DB3}"/>
          </ac:spMkLst>
        </pc:spChg>
        <pc:picChg chg="add mod">
          <ac:chgData name="Chun, Yung" userId="9901241370_tp_box_2" providerId="OAuth2" clId="{BCB4331A-CED4-5DDF-9079-A18519255F6F}" dt="2026-10-13T14:55:33.732" v="21"/>
          <ac:picMkLst>
            <pc:docMk/>
            <pc:sldMk cId="230866471" sldId="270"/>
            <ac:picMk id="21" creationId="{7D988373-4371-0BC7-6E7D-81E9861726F8}"/>
          </ac:picMkLst>
        </pc:picChg>
        <pc:picChg chg="add mod">
          <ac:chgData name="Chun, Yung" userId="9901241370_tp_box_2" providerId="OAuth2" clId="{BCB4331A-CED4-5DDF-9079-A18519255F6F}" dt="2026-10-13T14:55:33.732" v="21"/>
          <ac:picMkLst>
            <pc:docMk/>
            <pc:sldMk cId="230866471" sldId="270"/>
            <ac:picMk id="24" creationId="{908AA1A5-67DD-A244-6DB3-2E6C6994E234}"/>
          </ac:picMkLst>
        </pc:picChg>
      </pc:sldChg>
      <pc:sldChg chg="new del">
        <pc:chgData name="Chun, Yung" userId="9901241370_tp_box_2" providerId="OAuth2" clId="{BCB4331A-CED4-5DDF-9079-A18519255F6F}" dt="2026-10-15T15:06:24.274" v="93" actId="2696"/>
        <pc:sldMkLst>
          <pc:docMk/>
          <pc:sldMk cId="1524357472" sldId="271"/>
        </pc:sldMkLst>
      </pc:sldChg>
      <pc:sldChg chg="addSp modSp new mod modAnim">
        <pc:chgData name="Chun, Yung" userId="9901241370_tp_box_2" providerId="OAuth2" clId="{BCB4331A-CED4-5DDF-9079-A18519255F6F}" dt="2026-10-15T15:06:59.311" v="98" actId="14100"/>
        <pc:sldMkLst>
          <pc:docMk/>
          <pc:sldMk cId="535994957" sldId="272"/>
        </pc:sldMkLst>
        <pc:picChg chg="add mod">
          <ac:chgData name="Chun, Yung" userId="9901241370_tp_box_2" providerId="OAuth2" clId="{BCB4331A-CED4-5DDF-9079-A18519255F6F}" dt="2026-10-15T15:06:59.311" v="98" actId="14100"/>
          <ac:picMkLst>
            <pc:docMk/>
            <pc:sldMk cId="535994957" sldId="272"/>
            <ac:picMk id="4" creationId="{63B206FB-8C4B-2815-5CDC-E9AE3F2302F2}"/>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Share</c:v>
                </c:pt>
              </c:strCache>
            </c:strRef>
          </c:tx>
          <c:spPr>
            <a:solidFill>
              <a:srgbClr val="BA0C2F"/>
            </a:solidFill>
          </c:spPr>
          <c:invertIfNegative val="1"/>
          <c:dLbls>
            <c:numFmt formatCode="0&quot;%&quot;" sourceLinked="0"/>
            <c:spPr>
              <a:noFill/>
              <a:ln>
                <a:noFill/>
              </a:ln>
              <a:effectLst/>
            </c:spPr>
            <c:txPr>
              <a:bodyPr/>
              <a:lstStyle/>
              <a:p>
                <a:pPr>
                  <a:defRPr sz="14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Find the tools trustworthy</c:v>
                </c:pt>
                <c:pt idx="1">
                  <c:v>Feel adequately trained</c:v>
                </c:pt>
                <c:pt idx="2">
                  <c:v>Institution governs AI well</c:v>
                </c:pt>
                <c:pt idx="3">
                  <c:v>Use AI at work</c:v>
                </c:pt>
              </c:strCache>
            </c:strRef>
          </c:cat>
          <c:val>
            <c:numRef>
              <c:f>Sheet1!$B$2:$B$5</c:f>
              <c:numCache>
                <c:formatCode>General</c:formatCode>
                <c:ptCount val="4"/>
                <c:pt idx="0">
                  <c:v>22</c:v>
                </c:pt>
                <c:pt idx="1">
                  <c:v>27</c:v>
                </c:pt>
                <c:pt idx="2">
                  <c:v>32</c:v>
                </c:pt>
                <c:pt idx="3">
                  <c:v>58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A4E-6844-AF5C-2ACAE54ECB0E}"/>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out"/>
        <c:minorTickMark val="none"/>
        <c:tickLblPos val="nextTo"/>
        <c:spPr>
          <a:ln>
            <a:noFill/>
          </a:ln>
        </c:spPr>
        <c:txPr>
          <a:bodyPr/>
          <a:lstStyle/>
          <a:p>
            <a:pPr>
              <a:defRPr sz="1400"/>
            </a:pPr>
            <a:endParaRPr lang="en-US"/>
          </a:p>
        </c:txPr>
        <c:crossAx val="-2113994440"/>
        <c:crosses val="autoZero"/>
        <c:auto val="1"/>
        <c:lblAlgn val="ctr"/>
        <c:lblOffset val="100"/>
        <c:noMultiLvlLbl val="0"/>
      </c:catAx>
      <c:valAx>
        <c:axId val="-2113994440"/>
        <c:scaling>
          <c:orientation val="minMax"/>
          <c:max val="72"/>
          <c:min val="0"/>
        </c:scaling>
        <c:delete val="1"/>
        <c:axPos val="b"/>
        <c:numFmt formatCode="General" sourceLinked="1"/>
        <c:majorTickMark val="out"/>
        <c:minorTickMark val="none"/>
        <c:tickLblPos val="none"/>
        <c:crossAx val="-2068027336"/>
        <c:crosses val="autoZero"/>
        <c:crossBetween val="between"/>
      </c:valAx>
    </c:plotArea>
    <c:plotVisOnly val="1"/>
    <c:dispBlanksAs val="gap"/>
    <c:showDLblsOverMax val="1"/>
  </c:chart>
  <c:txPr>
    <a:bodyPr/>
    <a:lstStyle/>
    <a:p>
      <a:pPr>
        <a:defRPr sz="14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Share</c:v>
                </c:pt>
              </c:strCache>
            </c:strRef>
          </c:tx>
          <c:spPr>
            <a:solidFill>
              <a:srgbClr val="BA0C2F"/>
            </a:solidFill>
          </c:spPr>
          <c:invertIfNegative val="1"/>
          <c:dLbls>
            <c:numFmt formatCode="0&quot;%&quot;" sourceLinked="0"/>
            <c:spPr>
              <a:noFill/>
              <a:ln>
                <a:noFill/>
              </a:ln>
              <a:effectLst/>
            </c:spPr>
            <c:txPr>
              <a:bodyPr/>
              <a:lstStyle/>
              <a:p>
                <a:pPr>
                  <a:defRPr sz="14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AI-led</c:v>
                </c:pt>
                <c:pt idx="1">
                  <c:v>AI-assisted</c:v>
                </c:pt>
                <c:pt idx="2">
                  <c:v>Human-only</c:v>
                </c:pt>
              </c:strCache>
            </c:strRef>
          </c:cat>
          <c:val>
            <c:numRef>
              <c:f>Sheet1!$B$2:$B$4</c:f>
              <c:numCache>
                <c:formatCode>General</c:formatCode>
                <c:ptCount val="3"/>
                <c:pt idx="0">
                  <c:v>37</c:v>
                </c:pt>
                <c:pt idx="1">
                  <c:v>91</c:v>
                </c:pt>
                <c:pt idx="2">
                  <c:v>94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C93-B546-B968-C349040C4BE0}"/>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out"/>
        <c:minorTickMark val="none"/>
        <c:tickLblPos val="nextTo"/>
        <c:spPr>
          <a:ln>
            <a:noFill/>
          </a:ln>
        </c:spPr>
        <c:txPr>
          <a:bodyPr/>
          <a:lstStyle/>
          <a:p>
            <a:pPr>
              <a:defRPr sz="1400"/>
            </a:pPr>
            <a:endParaRPr lang="en-US"/>
          </a:p>
        </c:txPr>
        <c:crossAx val="-2113994440"/>
        <c:crosses val="autoZero"/>
        <c:auto val="1"/>
        <c:lblAlgn val="ctr"/>
        <c:lblOffset val="100"/>
        <c:noMultiLvlLbl val="0"/>
      </c:catAx>
      <c:valAx>
        <c:axId val="-2113994440"/>
        <c:scaling>
          <c:orientation val="minMax"/>
          <c:max val="112"/>
          <c:min val="0"/>
        </c:scaling>
        <c:delete val="1"/>
        <c:axPos val="b"/>
        <c:numFmt formatCode="General" sourceLinked="1"/>
        <c:majorTickMark val="out"/>
        <c:minorTickMark val="none"/>
        <c:tickLblPos val="none"/>
        <c:crossAx val="-2068027336"/>
        <c:crosses val="autoZero"/>
        <c:crossBetween val="between"/>
      </c:valAx>
    </c:plotArea>
    <c:plotVisOnly val="1"/>
    <c:dispBlanksAs val="gap"/>
    <c:showDLblsOverMax val="1"/>
  </c:chart>
  <c:txPr>
    <a:bodyPr/>
    <a:lstStyle/>
    <a:p>
      <a:pPr>
        <a:defRPr sz="14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E3AD09-9720-9047-BB14-484CD98DBB2F}" type="datetimeFigureOut">
              <a:rPr lang="en-US" smtClean="0"/>
              <a:t>10/15/26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380D64-6F43-4C4D-BE6A-3F3482AA5165}" type="slidenum">
              <a:rPr lang="en-US" smtClean="0"/>
              <a:t>‹#›</a:t>
            </a:fld>
            <a:endParaRPr lang="en-US"/>
          </a:p>
        </p:txBody>
      </p:sp>
    </p:spTree>
    <p:extLst>
      <p:ext uri="{BB962C8B-B14F-4D97-AF65-F5344CB8AC3E}">
        <p14:creationId xmlns:p14="http://schemas.microsoft.com/office/powerpoint/2010/main" val="425239001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[Title (0.5 min)]</a:t>
            </a:r>
          </a:p>
          <a:p>
            <a:endParaRPr dirty="0"/>
          </a:p>
          <a:p>
            <a:r>
              <a:rPr dirty="0"/>
              <a:t>Welcome. In the next 25 minutes I want to give you three things: a distinction (chat vs. agent), a map (what exists, and what WashU already pays for), and a warning (how not to let this take over your research life). Everything after the break builds on these.</a:t>
            </a:r>
            <a:endParaRPr lang="en-US" dirty="0"/>
          </a:p>
          <a:p>
            <a:endParaRPr lang="en-US" dirty="0"/>
          </a:p>
          <a:p>
            <a:r>
              <a:rPr lang="en-US" dirty="0"/>
              <a:t>CLI: Command Line Interface &lt;-&gt; GUI Graphical User Interface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Browser-Tab Loop (1 min)]</a:t>
            </a:r>
          </a:p>
          <a:p>
            <a:endParaRPr dirty="0"/>
          </a:p>
          <a:p>
            <a:r>
              <a:rPr dirty="0"/>
              <a:t>Raise your hand if this is how you use AI for your analysis right now. (Most hands go up — that's fine; it was mine too.) This loop is fast for a single question. For a research project it is quietly corrosive: the context is lost every time, the record of what changed is gone, and the temptation is to paste data somewhere it shouldn't go. Part 1 is about a different way of working.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[Chat-Based vs. Agent-Based AI (2 min)]</a:t>
            </a:r>
          </a:p>
          <a:p>
            <a:endParaRPr dirty="0"/>
          </a:p>
          <a:p>
            <a:r>
              <a:rPr dirty="0"/>
              <a:t>The difference is not the model; it's where the model sits. In a chat, the model sees only what you paste and can only hand text back. An agent is given tools: it can list your folders, open the codebook, write 1000_clean.Rmd, run it in R, see that it failed, and fix it. The same model can be used either way. Claude Code — I'll mostly call it Claude CLI today, because we'll run it in the terminal — is an agent. </a:t>
            </a:r>
            <a:r>
              <a:rPr dirty="0" err="1"/>
              <a:t>claude.ai</a:t>
            </a:r>
            <a:r>
              <a:rPr dirty="0"/>
              <a:t> in the browser is a chat.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Changes (2 min)]</a:t>
            </a:r>
          </a:p>
          <a:p/>
          <a:p>
            <a:r>
              <a:t>Walk the rows. Two to emphasize. First, the record: an agent's work ends up as files — scripts you can re-run, logs you can read — which is what reproducibility and, later, disclosure require. Second, the last row: the agent does not remove your responsibility to check. It changes what you check — you review scripts and outputs instead of re-pasting snippets. CLAUDE.md, the project memory file, is the subject of Part 2.</a:t>
            </a:r>
          </a:p>
          <a:p/>
          <a:p>
            <a:r>
              <a:t>Data nuance (added 2026-10-15): the files stay on your machine, but whatever the agent reads (a file, a command's output) is sent to the model as context. So the data-use rules still apply, and the habit of having R read the data while the agent sees only counts and summaries matters (CLAUDE.md §5).</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Task, Two Ways (2 min)]</a:t>
            </a:r>
          </a:p>
          <a:p>
            <a:endParaRPr/>
          </a:p>
          <a:p>
            <a:r>
              <a:t>The counts come from the synthetic dataset we'll use in Part 3. Notice two things in the agent version. It never needed to show you individual records — it worked from counts. And it stopped and asked before deciding what to do with blank ZIPs, because that's a research decision, not a coding one. That's the working style we'll practice after the break.</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Landscape: How Researchers Use AI Now (2 min)]</a:t>
            </a:r>
          </a:p>
          <a:p>
            <a:endParaRPr/>
          </a:p>
          <a:p>
            <a:r>
              <a:t>Sources (verified 2026-10-12):</a:t>
            </a:r>
          </a:p>
          <a:p>
            <a:r>
              <a:t>- Wiley ExplanAItions 2025, press release, October 2025: https://newsroom.wiley.com/press-releases/press-release-details/2025/AI-Adoption-Jumps-to-84-Among-Researchers-as-Expectations-Undergo-Significant-Reality-Check/default.aspx — concern about hallucinations also rose, 51% → 64%; about privacy and security, 47% → 58%.</a:t>
            </a:r>
          </a:p>
          <a:p>
            <a:r>
              <a:t>- Elsevier, Researcher of the Future, November 2025: https://www.elsevier.com/about/press-releases/elseviers-global-survey-of-3-000-researchers-reveals-less-than-half-have</a:t>
            </a:r>
          </a:p>
          <a:p>
            <a:r>
              <a:t>- Korinek, A. (2023). Generative AI for economic research: Use cases and implications for economists. Journal of Economic Literature, 61(4), 1281–1317. https://doi.org/10.1257/jel.20231736</a:t>
            </a:r>
          </a:p>
          <a:p>
            <a:r>
              <a:t>- Korinek, A. (2025). AI agents for economic research (NBER Working Paper 34202). https://doi.org/10.3386/w34202</a:t>
            </a:r>
          </a:p>
          <a:p>
            <a:r>
              <a:t>- For the social science agenda: Grossmann et al. (2023), Science, 380(6650), 1108–1109, https://doi.org/10.1126/science.adi1778 ; Bail (2024), PNAS, 121(21), e2314021121, https://doi.org/10.1073/pnas.2314021121 ; Davidson &amp; Karell (2025), Sociological Methods &amp; Research, 54(3), 775–793, https://doi.org/10.1177/00491241251339184 (introduction to a special issue organized around measurement, prompting, and simulation).</a:t>
            </a:r>
          </a:p>
          <a:p>
            <a:endParaRPr/>
          </a:p>
          <a:p>
            <a:r>
              <a:t>Talking points: almost everyone in this room already uses AI; very few were trained to, and most don't fully trust it. That gap — high use, low training, low trust — is exactly what a workflow fixes. And the field is moving from chat toward agents; Korinek's two papers, two years apart, capture that shift in one discipline next door to ours.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It Helps, Where It Fails (2 min)]</a:t>
            </a:r>
          </a:p>
          <a:p>
            <a:endParaRPr/>
          </a:p>
          <a:p>
            <a:r>
              <a:t>Sources (verified 2026-10-12):</a:t>
            </a:r>
          </a:p>
          <a:p>
            <a:r>
              <a:t>- Gilardi, F., Alizadeh, M., &amp; Kubli, M. (2023). ChatGPT outperforms crowd workers for text-annotation tasks. PNAS, 120(30), e2305016120. https://doi.org/10.1073/pnas.2305016120</a:t>
            </a:r>
          </a:p>
          <a:p>
            <a:r>
              <a:t>- Barany, A., et al. (2024). ChatGPT for education research: Exploring the potential of large language models for qualitative codebook development. AIED 2024, LNCS 14830, 134–149. https://doi.org/10.1007/978-3-031-64299-9_10 — hybrid human + GPT codebooks beat fully automated ones.</a:t>
            </a:r>
          </a:p>
          <a:p>
            <a:r>
              <a:t>- Brodeur, A., Valenta, D., Marcoci, A., et al. (2026). AI-assisted teams outperform AI-led teams but not human-only teams in assessing research reproducibility in quantitative social science. PNAS, 123(22), e2524747123. https://doi.org/10.1073/pnas.2524747123 — 288 researchers in 103 randomly assigned teams; human-only teams also found more major coding errors.</a:t>
            </a:r>
          </a:p>
          <a:p>
            <a:r>
              <a:t>- Baumann, J., Röttger, P., Urman, A., et al. (2025). Large language model hacking: Quantifying the hidden risks of using LLMs for text annotation (arXiv 2509.08825). https://arxiv.org/abs/2509.08825 — about 31% of hypotheses reached incorrect conclusions with state-of-the-art models, about half with smaller ones (13 million labels, 18 models). Preprint.</a:t>
            </a:r>
          </a:p>
          <a:p>
            <a:r>
              <a:t>- Bisbee, J., Clinton, J. D., Dorff, C., Kenkel, B., &amp; Larson, J. M. (2024). Synthetic replacements for human survey data? The perils of large language models. Political Analysis, 32(4), 401–416. https://doi.org/10.1017/pan.2024.5</a:t>
            </a:r>
          </a:p>
          <a:p>
            <a:r>
              <a:t>- Lu, C., et al. (2026). Towards end-to-end automation of AI research. Nature, 651(8107), 914–919. https://doi.org/10.1038/s41586-026-10265-5 — a fully AI-generated paper passed workshop peer review, but the authors themselves report weak rigor and inaccurate citations.</a:t>
            </a:r>
          </a:p>
          <a:p>
            <a:r>
              <a:t>- Practice guidance for annotation: Törnberg, P. (2024). Best practices for text annotation with large language models. Sociologica, 18(2), 67–85. https://doi.org/10.6092/issn.1971-8853/19461</a:t>
            </a:r>
          </a:p>
          <a:p>
            <a:endParaRPr/>
          </a:p>
          <a:p>
            <a:r>
              <a:t>Talking points: the Brodeur study is the one to remember. With a researcher in charge and AI assisting, teams did almost as well as humans alone; when the AI led, reproduction collapsed. That is the design principle behind Part 3: the agent does the connective work, and the researcher decides at every checkpoint. Every "fails" item here is a judgment problem, not a typing problem.</a:t>
            </a:r>
          </a:p>
          <a:p>
            <a:endParaRPr/>
          </a:p>
          <a:p>
            <a:r>
              <a:t>Optional mention (preprint; check figures before quoting): Alizadeh, Mosleh, Gilardi, Kasirzadeh, &amp; Tucker (2026), AI coding agents can reproduce social science findings (arXiv 2606.11447), https://arxiv.org/abs/2606.11447 — coding agents reproduced many published findings, but subtle prompt framing could nudge them toward confirmatory specification search.</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Layers: Platform → Model → Surface (2 min)]</a:t>
            </a:r>
          </a:p>
          <a:p>
            <a:endParaRPr/>
          </a:p>
          <a:p>
            <a:r>
              <a:t>People mix these up constantly: "I use ChatGPT" says nothing about which model or whether it touched any files. Keep the three layers separate. The platform account decides what data you may put in it — that's a WashU contract question. The model decides how capable it is and how much it costs. The surface decides whether you're chatting or working with an agent in your project. Today's workshop is mostly about the surface.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WashU Provides (2.5 min)]</a:t>
            </a:r>
          </a:p>
          <a:p>
            <a:endParaRPr/>
          </a:p>
          <a:p>
            <a:r>
              <a:t>Sources (accessed 2026-10-12): https://ai.washu.edu/tools ; https://it.washu.edu/claude-for-education/ ; https://it.washu.edu/openai ; https://it.washu.edu/copilot-m365/ ; https://it.washu.edu/secure-ask-washu/ ; https://it.washu.edu/items/google-gemini/ .</a:t>
            </a:r>
          </a:p>
          <a:p>
            <a:endParaRPr/>
          </a:p>
          <a:p>
            <a:r>
              <a:t>The line at the bottom is the one to remember: Claude Code comes only with Claude Edu, which is not approved for PHI; OpenAI's Codex is not approved for HIPAA or FERPA data; GitHub Copilot is not approved for PHI. So PHI never goes into an agentic workflow — we'll come back to this in Part 4.</a:t>
            </a:r>
          </a:p>
          <a:p>
            <a:endParaRPr/>
          </a:p>
          <a:p>
            <a:r>
              <a:t>Two things to check yourself: (1) WashU's pages are inconsistent on Gemini and PHI — don't assume it's approved until the HIPAA Privacy Office (hipaa@wustl.edu) confirms; (2) for students, the Claude Edu page describes Claude Code for faculty and staff — if you're a student, confirm with WashU IT that your free seat includes it. Also worth knowing: WashU offers secure AI API endpoints for researchers on request, and NotebookLM is now called Gemini Notebook.</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[Models: Tiers and Cost (1.5 min)]</a:t>
            </a:r>
          </a:p>
          <a:p>
            <a:endParaRPr/>
          </a:p>
          <a:p>
            <a:r>
              <a:t>Sources (accessed 2026-10-12): https://platform.claude.com/docs/en/about-claude/models/overview ; https://ai.google.dev/gemini-api/docs/models ; https://developers.openai.com/api/docs/models .</a:t>
            </a:r>
          </a:p>
          <a:p>
            <a:endParaRPr/>
          </a:p>
          <a:p>
            <a:r>
              <a:t>Every platform has the same structure: a flagship, a balanced middle, and a small fast model. Names change every few months; the structure doesn't. Anthropic describes its smallest model as built "for high-volume, latency-sensitive tasks such as classification, extraction, and routing" — which describes a lot of social science text work. Hold that thought for slide 13.</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[Division of Labor (2 min)]</a:t>
            </a:r>
          </a:p>
          <a:p>
            <a:endParaRPr/>
          </a:p>
          <a:p>
            <a:r>
              <a:t>This is a cost argument and a fit argument. Gemini is free to you and good at reading a lot; use it for the high-volume exploratory work. Claude CLI is where the work touches your project. The handoff is just a file: a literature map from Gemini saved into writing/ becomes context the agent can read. We'll see that in Part 3.</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[Don't Drown in It (2 min)]</a:t>
            </a:r>
          </a:p>
          <a:p>
            <a:endParaRPr/>
          </a:p>
          <a:p>
            <a:r>
              <a:t>This is the most important slide in Part 1, so let me say it plainly. Knowing how to work with an agent like Claude CLI is genuinely valuable — it's why we're here. But don't let it take over. You are education researchers, not AI researchers. Tracking the AI field is my job; let me do that for you, and I'll pass on what actually matters.</a:t>
            </a:r>
          </a:p>
          <a:p>
            <a:endParaRPr/>
          </a:p>
          <a:p>
            <a:r>
              <a:t>Scrolling AI news on Threads or X every day will not make your research better. Most of it is announcements, and most announcements won't change how you clean data or estimate a model.</a:t>
            </a:r>
          </a:p>
          <a:p>
            <a:endParaRPr/>
          </a:p>
          <a:p>
            <a:r>
              <a:t>On models: I'm honestly not sure most social science work needs the newest frontier model — Opus 5.5 or Fable. Look at the price gap on slide 10. For classifying open-ended responses or extracting fields from documents, a smaller model, validated against a hand-coded sample, is often enough. Where a stronger model does pay off is long, multi-step agent work — like the pipeline in Part 3 — where small mistakes compound. So choose by task, and validate either way. The evidence points the same way: fine-tuned smaller models are competitive with the largest ones on text classification at much lower cost (Chae &amp; Davidson, 2025, Sociological Methods &amp; Research, 55(2), 501–567, https://doi.org/10.1177/00491241251325243), and open models come close to ChatGPT on typical annotation tasks (Alizadeh et al., 2025, Journal of Computational Social Science, 8(1), 17, https://doi.org/10.1007/s42001-024-00345-9). But Baumann et al. (2025) show that annotation choices can flip conclusions with any model — so validation against human coding matters more than model size.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3528A-544D-1AEE-F15C-31724DF43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DA43E9-25BB-22B6-4ECE-0DE28907AB2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0B41925-8230-1B95-B548-6B8DD82C7A5D}"/>
              </a:ext>
            </a:extLst>
          </p:cNvPr>
          <p:cNvSpPr>
            <a:spLocks noGrp="1"/>
          </p:cNvSpPr>
          <p:nvPr>
            <p:ph type="body" sz="quarter" idx="3"/>
          </p:nvPr>
        </p:nvSpPr>
        <p:spPr/>
        <p:txBody>
          <a:bodyPr/>
          <a:lstStyle/>
          <a:p>
            <a:r>
              <a:t>[Don't Drown in It (2 min)]</a:t>
            </a:r>
          </a:p>
          <a:p>
            <a:endParaRPr/>
          </a:p>
          <a:p>
            <a:r>
              <a:t>This is the most important slide in Part 1, so let me say it plainly. Knowing how to work with an agent like Claude CLI is genuinely valuable — it's why we're here. But don't let it take over. You are education researchers, not AI researchers. Tracking the AI field is my job; let me do that for you, and I'll pass on what actually matters.</a:t>
            </a:r>
          </a:p>
          <a:p>
            <a:endParaRPr/>
          </a:p>
          <a:p>
            <a:r>
              <a:t>Scrolling AI news on Threads or X every day will not make your research better. Most of it is announcements, and most announcements won't change how you clean data or estimate a model.</a:t>
            </a:r>
          </a:p>
          <a:p>
            <a:endParaRPr/>
          </a:p>
          <a:p>
            <a:r>
              <a:t>On models: I'm honestly not sure most social science work needs the newest frontier model — Opus 5.5 or Fable. Look at the price gap on slide 10. For classifying open-ended responses or extracting fields from documents, a smaller model, validated against a hand-coded sample, is often enough. Where a stronger model does pay off is long, multi-step agent work — like the pipeline in Part 3 — where small mistakes compound. So choose by task, and validate either way. The evidence points the same way: fine-tuned smaller models are competitive with the largest ones on text classification at much lower cost (Chae &amp; Davidson, 2025, Sociological Methods &amp; Research, 55(2), 501–567, https://doi.org/10.1177/00491241251325243), and open models come close to ChatGPT on typical annotation tasks (Alizadeh et al., 2025, Journal of Computational Social Science, 8(1), 17, https://doi.org/10.1007/s42001-024-00345-9). But Baumann et al. (2025) show that annotation choices can flip conclusions with any model — so validation against human coding matters more than model size.</a:t>
            </a:r>
          </a:p>
        </p:txBody>
      </p:sp>
      <p:sp>
        <p:nvSpPr>
          <p:cNvPr id="4" name="Slide Number Placeholder 3">
            <a:extLst>
              <a:ext uri="{FF2B5EF4-FFF2-40B4-BE49-F238E27FC236}">
                <a16:creationId xmlns:a16="http://schemas.microsoft.com/office/drawing/2014/main" id="{6DA2D6F5-6270-73CD-B0B2-27009F422401}"/>
              </a:ext>
            </a:extLst>
          </p:cNvPr>
          <p:cNvSpPr>
            <a:spLocks noGrp="1"/>
          </p:cNvSpPr>
          <p:nvPr>
            <p:ph type="sldNum" sz="quarter" idx="5"/>
          </p:nvPr>
        </p:nvSpPr>
        <p:spPr/>
      </p:sp>
    </p:spTree>
    <p:extLst>
      <p:ext uri="{BB962C8B-B14F-4D97-AF65-F5344CB8AC3E}">
        <p14:creationId xmlns:p14="http://schemas.microsoft.com/office/powerpoint/2010/main" val="268439954"/>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Claude CLI, and What Transfers (1.5 min)]</a:t>
            </a:r>
          </a:p>
          <a:p/>
          <a:p>
            <a:r>
              <a:t>Sources (accessed 2026-10-15):</a:t>
            </a:r>
          </a:p>
          <a:p>
            <a:r>
              <a:t>- WashU: https://it.washu.edu/claude-for-education/ (Claude Edu includes Claude Code; "Approved for use with FERPA-protected data"; "Not approved for use with WashU PHI"). https://it.washu.edu/openai/ ("Codex is not approved for use with data protected by HIPAA or FERPA"; separate responsible-use addendum). Gemini CLI, Gemini Code Assist, and Antigravity are not mentioned on ai.washu.edu/tools or it.washu.edu.</a:t>
            </a:r>
          </a:p>
          <a:p>
            <a:r>
              <a:t>- Google: Gemini CLI's "Login with Google" option for individuals, Google AI Pro, and Ultra stopped June 18, 2026 (developers.google.com/gemini-code-assist/resources/privacy-notice-gemini-code-assist-individuals); new Code Assist Standard/Enterprise subscriptions ended October 9, 2026 (docs.cloud.google.com/gemini/docs/codeassist/sunset).</a:t>
            </a:r>
          </a:p>
          <a:p>
            <a:r>
              <a:t>- Rules files: Codex reads AGENTS.md (learn.chatgpt.com/docs/agent-configuration/agents-md); Gemini CLI reads GEMINI.md, and context.fileName accepts a list such as ["AGENTS.md","GEMINI.md"] (geminicli.com/docs/reference/configuration/); Claude Code reads AGENTS.md when no CLAUDE.md exists (v2.1.277+) and can import it with @AGENTS.md (code.claude.com/docs/en/memory).</a:t>
            </a:r>
          </a:p>
          <a:p>
            <a:r>
              <a:t>- MCP: "an open-source standard for connecting AI applications to external systems" (modelcontextprotocol.io). Codex: codex mcp add; Gemini CLI: gemini mcp add; Claude Code: claude mcp add.</a:t>
            </a:r>
          </a:p>
          <a:p>
            <a:r>
              <a:t>- Read-only / plan modes: Codex read-only preset (/permissions); Gemini CLI defaultApprovalMode "plan" (read-only); Claude Code plan mode.</a:t>
            </a:r>
          </a:p>
          <a:p/>
          <a:p>
            <a:r>
              <a:t>Talking points: we teach Claude CLI for two reasons, and neither is "it's the best model." First, fit: at WashU it's the agentic coding tool with a published FERPA approval (via Claude Edu). Codex is explicitly not approved for HIPAA or FERPA data, and Gemini CLI isn't mentioned by WashU (and Google has ended personal sign-in). Second, portability: the rules file, the folder, the prompts, MCP connections, and plan-mode checkpoints work the same way in the other terminal agents. Tip: keep your rules in AGENTS.md and put @AGENTS.md in CLAUDE.md, so every agent reads one file. Don't compare model quality; that changes monthly (Slide 14). Re-check WashU approvals before the workshop.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 vs. Claude Code vs. Cowork (2 min)]</a:t>
            </a:r>
          </a:p>
          <a:p/>
          <a:p>
            <a:r>
              <a:t>Sources (accessed 2026-10-12 and 2026-10-15): https://code.claude.com/docs/en/overview ; https://code.claude.com/docs/en/desktop ; https://claude.com/product/cowork ("You choose the folders and tools. Claude can't reach anything else.") ; https://it.washu.edu/claude-for-education/ (Claude Edu includes Chat, Cowork, Claude Code, and Design; approved for FERPA data, not PHI; Claude Secure does not include Cowork, Claude Code, or Design).</a:t>
            </a:r>
          </a:p>
          <a:p/>
          <a:p>
            <a:r>
              <a:t>Talking points: three ways to work with the same Claude models.</a:t>
            </a:r>
          </a:p>
          <a:p>
            <a:r>
              <a:t>- Chat is where you ask: it sees only what you paste or upload, and leaves a transcript.</a:t>
            </a:r>
          </a:p>
          <a:p>
            <a:r>
              <a:t>- Cowork is where you delegate: you grant folders and tools, hand off a task ("turn these 30 PDFs into an annotated table"), and come back to the result. Built for knowledge work, not analysis pipelines.</a:t>
            </a:r>
          </a:p>
          <a:p>
            <a:r>
              <a:t>- Claude Code is where you work together: it runs on your machine in your project folder, reads your files, runs your R, and stops at checkpoints for your decisions. It leaves scripts, logs, and outputs, so the work can be re-run and audited.</a:t>
            </a:r>
          </a:p>
          <a:p>
            <a:r>
              <a:t>- Claude Code also runs in the desktop app's Code tab and in VS Code. Same agent, same CLAUDE.md, same settings. We use the terminal because it works the same everywhere and is where R lives.</a:t>
            </a:r>
          </a:p>
          <a:p>
            <a:r>
              <a:t>- Data: all three come with Claude Edu (FERPA, not PHI). Claude Secure (PHI) includes only Chat. Whatever the agent reads is sent to the model, so the data use agreement still governs.</a:t>
            </a:r>
          </a:p>
          <a:p>
            <a:r>
              <a:t>- Conclusion: for research with data, Claude Code is the best fit: your files, your R, a reproducible record, and the researcher decides at every step.</a:t>
            </a:r>
          </a:p>
          <a:p>
            <a:r>
              <a:t>Same per-token cost on every surface; agent work uses more tokens because it reads, runs, and iterates.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 Id="rId3" Type="http://schemas.openxmlformats.org/officeDocument/2006/relationships/image" Target="../media/image4.jpe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12.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12.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4.emf"/><Relationship Id="rId4" Type="http://schemas.openxmlformats.org/officeDocument/2006/relationships/image" Target="../media/image12.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gif"/><Relationship Id="rId3" Type="http://schemas.openxmlformats.org/officeDocument/2006/relationships/image" Target="../media/image16.png"/><Relationship Id="rId4" Type="http://schemas.openxmlformats.org/officeDocument/2006/relationships/image" Target="../media/image12.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eg"/><Relationship Id="rId3" Type="http://schemas.openxmlformats.org/officeDocument/2006/relationships/image" Target="../media/image16.png"/><Relationship Id="rId4" Type="http://schemas.openxmlformats.org/officeDocument/2006/relationships/image" Target="../media/image12.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2.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4.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eg"/><Relationship Id="rId3" Type="http://schemas.openxmlformats.org/officeDocument/2006/relationships/image" Target="../media/image19.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22548E1-D411-DEF1-E24E-40436650157F}"/>
              </a:ext>
            </a:extLst>
          </p:cNvPr>
          <p:cNvSpPr/>
          <p:nvPr userDrawn="1"/>
        </p:nvSpPr>
        <p:spPr>
          <a:xfrm>
            <a:off x="393539" y="6134100"/>
            <a:ext cx="4130040" cy="597535"/>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422CF4B-9F6B-E5CF-44C0-5E3A7B34A6F4}"/>
              </a:ext>
            </a:extLst>
          </p:cNvPr>
          <p:cNvPicPr>
            <a:picLocks noChangeAspect="1"/>
          </p:cNvPicPr>
          <p:nvPr userDrawn="1"/>
        </p:nvPicPr>
        <p:blipFill>
          <a:blip r:embed="rId2"/>
          <a:srcRect l="50000"/>
          <a:stretch/>
        </p:blipFill>
        <p:spPr>
          <a:xfrm>
            <a:off x="0" y="0"/>
            <a:ext cx="2998240" cy="6858000"/>
          </a:xfrm>
          <a:prstGeom prst="rect">
            <a:avLst/>
          </a:prstGeom>
        </p:spPr>
      </p:pic>
      <p:pic>
        <p:nvPicPr>
          <p:cNvPr id="6" name="Graphic 5">
            <a:extLst>
              <a:ext uri="{FF2B5EF4-FFF2-40B4-BE49-F238E27FC236}">
                <a16:creationId xmlns:a16="http://schemas.microsoft.com/office/drawing/2014/main" id="{90864918-E79B-7A8B-4C60-23558A97CF83}"/>
              </a:ext>
            </a:extLst>
          </p:cNvPr>
          <p:cNvPicPr>
            <a:picLocks noChangeAspect="1"/>
          </p:cNvPicPr>
          <p:nvPr userDrawn="1"/>
        </p:nvPicPr>
        <p:blipFill>
          <a:blip>
            <a:extLst>
              <a:ext uri="{96DAC541-7B7A-43D3-8B79-37D633B846F1}">
                <asvg:svgBlip xmlns:asvg="http://schemas.microsoft.com/office/drawing/2016/SVG/main" r:embed="rId3"/>
              </a:ext>
            </a:extLst>
          </a:blip>
          <a:srcRect r="41021"/>
          <a:stretch>
            <a:fillRect/>
          </a:stretch>
        </p:blipFill>
        <p:spPr>
          <a:xfrm>
            <a:off x="3660140" y="1720629"/>
            <a:ext cx="2435860" cy="562388"/>
          </a:xfrm>
          <a:prstGeom prst="rect">
            <a:avLst/>
          </a:prstGeom>
        </p:spPr>
      </p:pic>
      <p:sp>
        <p:nvSpPr>
          <p:cNvPr id="8" name="Text Placeholder 15">
            <a:extLst>
              <a:ext uri="{FF2B5EF4-FFF2-40B4-BE49-F238E27FC236}">
                <a16:creationId xmlns:a16="http://schemas.microsoft.com/office/drawing/2014/main" id="{CF7FAA7F-60A9-60B1-A86E-874760113022}"/>
              </a:ext>
            </a:extLst>
          </p:cNvPr>
          <p:cNvSpPr>
            <a:spLocks noGrp="1"/>
          </p:cNvSpPr>
          <p:nvPr>
            <p:ph type="body" sz="quarter" idx="13"/>
          </p:nvPr>
        </p:nvSpPr>
        <p:spPr>
          <a:xfrm>
            <a:off x="3660140" y="2642024"/>
            <a:ext cx="8145780" cy="1797262"/>
          </a:xfrm>
        </p:spPr>
        <p:txBody>
          <a:bodyPr/>
          <a:lstStyle>
            <a:lvl1pPr>
              <a:defRPr sz="4400">
                <a:solidFill>
                  <a:schemeClr val="tx1"/>
                </a:solidFill>
              </a:defRPr>
            </a:lvl1pPr>
            <a:lvl2pPr>
              <a:spcBef>
                <a:spcPts val="6000"/>
              </a:spcBef>
              <a:defRPr sz="1800" b="1">
                <a:solidFill>
                  <a:schemeClr val="tx1">
                    <a:lumMod val="65000"/>
                    <a:lumOff val="35000"/>
                  </a:schemeClr>
                </a:solidFill>
              </a:defRPr>
            </a:lvl2pPr>
          </a:lstStyle>
          <a:p>
            <a:pPr lvl="0"/>
            <a:r>
              <a:rPr lang="en-US" dirty="0"/>
              <a:t>Click to edit Master text styles</a:t>
            </a:r>
          </a:p>
          <a:p>
            <a:pPr lvl="1"/>
            <a:r>
              <a:rPr lang="en-US" dirty="0"/>
              <a:t>Second level</a:t>
            </a:r>
          </a:p>
        </p:txBody>
      </p:sp>
      <p:cxnSp>
        <p:nvCxnSpPr>
          <p:cNvPr id="10" name="Straight Connector 9">
            <a:extLst>
              <a:ext uri="{FF2B5EF4-FFF2-40B4-BE49-F238E27FC236}">
                <a16:creationId xmlns:a16="http://schemas.microsoft.com/office/drawing/2014/main" id="{94FA57CF-6C6E-168E-2F7F-1158C0BEE878}"/>
              </a:ext>
            </a:extLst>
          </p:cNvPr>
          <p:cNvCxnSpPr>
            <a:cxnSpLocks/>
          </p:cNvCxnSpPr>
          <p:nvPr userDrawn="1"/>
        </p:nvCxnSpPr>
        <p:spPr>
          <a:xfrm>
            <a:off x="3660140" y="3462220"/>
            <a:ext cx="2034540" cy="0"/>
          </a:xfrm>
          <a:prstGeom prst="line">
            <a:avLst/>
          </a:prstGeom>
          <a:ln w="57150">
            <a:solidFill>
              <a:schemeClr val="tx2"/>
            </a:solidFill>
          </a:ln>
        </p:spPr>
        <p:style>
          <a:lnRef idx="1">
            <a:schemeClr val="accent6"/>
          </a:lnRef>
          <a:fillRef idx="0">
            <a:schemeClr val="accent6"/>
          </a:fillRef>
          <a:effectRef idx="0">
            <a:schemeClr val="accent6"/>
          </a:effectRef>
          <a:fontRef idx="minor">
            <a:schemeClr val="tx1"/>
          </a:fontRef>
        </p:style>
      </p:cxnSp>
      <p:sp>
        <p:nvSpPr>
          <p:cNvPr id="17" name="Footer Placeholder 5">
            <a:extLst>
              <a:ext uri="{FF2B5EF4-FFF2-40B4-BE49-F238E27FC236}">
                <a16:creationId xmlns:a16="http://schemas.microsoft.com/office/drawing/2014/main" id="{BFF417B7-BA1B-C990-93ED-20D10BD3523F}"/>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8" name="Slide Number Placeholder 6">
            <a:extLst>
              <a:ext uri="{FF2B5EF4-FFF2-40B4-BE49-F238E27FC236}">
                <a16:creationId xmlns:a16="http://schemas.microsoft.com/office/drawing/2014/main" id="{955F34C6-03B5-47CC-EAC6-3F5653F8CFB8}"/>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3" name="Text Placeholder 2">
            <a:extLst>
              <a:ext uri="{FF2B5EF4-FFF2-40B4-BE49-F238E27FC236}">
                <a16:creationId xmlns:a16="http://schemas.microsoft.com/office/drawing/2014/main" id="{CC049CDA-75A6-0E73-DBA8-3993E947D961}"/>
              </a:ext>
            </a:extLst>
          </p:cNvPr>
          <p:cNvSpPr>
            <a:spLocks noGrp="1"/>
          </p:cNvSpPr>
          <p:nvPr>
            <p:ph type="body" sz="quarter" idx="14" hasCustomPrompt="1"/>
          </p:nvPr>
        </p:nvSpPr>
        <p:spPr>
          <a:xfrm>
            <a:off x="3660140" y="4439285"/>
            <a:ext cx="3197225" cy="419100"/>
          </a:xfrm>
        </p:spPr>
        <p:txBody>
          <a:bodyPr/>
          <a:lstStyle>
            <a:lvl1pPr marL="0" indent="0" algn="l" defTabSz="457200" rtl="0" eaLnBrk="1" latinLnBrk="0" hangingPunct="1">
              <a:lnSpc>
                <a:spcPct val="90000"/>
              </a:lnSpc>
              <a:spcBef>
                <a:spcPct val="20000"/>
              </a:spcBef>
              <a:buFont typeface="Arial"/>
              <a:buNone/>
              <a:tabLst/>
              <a:defRPr lang="en-US" sz="1400" b="0" i="0" kern="1200" dirty="0">
                <a:solidFill>
                  <a:schemeClr val="accent5"/>
                </a:solidFill>
                <a:latin typeface="+mn-lt"/>
                <a:ea typeface="+mn-ea"/>
                <a:cs typeface="+mn-cs"/>
              </a:defRPr>
            </a:lvl1pPr>
          </a:lstStyle>
          <a:p>
            <a:pPr lvl="0"/>
            <a:r>
              <a:rPr lang="en-US" dirty="0"/>
              <a:t>Date goes here</a:t>
            </a:r>
          </a:p>
        </p:txBody>
      </p:sp>
    </p:spTree>
    <p:extLst>
      <p:ext uri="{BB962C8B-B14F-4D97-AF65-F5344CB8AC3E}">
        <p14:creationId xmlns:p14="http://schemas.microsoft.com/office/powerpoint/2010/main" val="2406599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716F10-6790-8294-12D4-3833019EFBFB}"/>
              </a:ext>
            </a:extLst>
          </p:cNvPr>
          <p:cNvPicPr>
            <a:picLocks noChangeAspect="1"/>
          </p:cNvPicPr>
          <p:nvPr userDrawn="1"/>
        </p:nvPicPr>
        <p:blipFill>
          <a:blip r:embed="rId2"/>
          <a:srcRect l="50000"/>
          <a:stretch/>
        </p:blipFill>
        <p:spPr>
          <a:xfrm flipH="1">
            <a:off x="9193760" y="0"/>
            <a:ext cx="2998240" cy="6858000"/>
          </a:xfrm>
          <a:prstGeom prst="rect">
            <a:avLst/>
          </a:prstGeom>
        </p:spPr>
      </p:pic>
      <p:pic>
        <p:nvPicPr>
          <p:cNvPr id="15" name="Content Placeholder 4">
            <a:extLst>
              <a:ext uri="{FF2B5EF4-FFF2-40B4-BE49-F238E27FC236}">
                <a16:creationId xmlns:a16="http://schemas.microsoft.com/office/drawing/2014/main" id="{CBC87B14-0FFC-6198-5CA7-BB9431393B7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 y="6238754"/>
            <a:ext cx="12192000" cy="619246"/>
          </a:xfrm>
          <a:prstGeom prst="rect">
            <a:avLst/>
          </a:prstGeom>
        </p:spPr>
      </p:pic>
      <p:pic>
        <p:nvPicPr>
          <p:cNvPr id="7" name="Graphic 6">
            <a:extLst>
              <a:ext uri="{FF2B5EF4-FFF2-40B4-BE49-F238E27FC236}">
                <a16:creationId xmlns:a16="http://schemas.microsoft.com/office/drawing/2014/main" id="{E4EC3F75-69F9-2C08-F055-BD90C356C06E}"/>
              </a:ext>
            </a:extLst>
          </p:cNvPr>
          <p:cNvPicPr>
            <a:picLocks noChangeAspect="1"/>
          </p:cNvPicPr>
          <p:nvPr userDrawn="1"/>
        </p:nvPicPr>
        <p:blipFill>
          <a:blip>
            <a:extLst>
              <a:ext uri="{96DAC541-7B7A-43D3-8B79-37D633B846F1}">
                <asvg:svgBlip xmlns:asvg="http://schemas.microsoft.com/office/drawing/2016/SVG/main" r:embed="rId4"/>
              </a:ext>
            </a:extLst>
          </a:blip>
          <a:srcRect r="42140"/>
          <a:stretch>
            <a:fillRect/>
          </a:stretch>
        </p:blipFill>
        <p:spPr>
          <a:xfrm>
            <a:off x="802079" y="1041717"/>
            <a:ext cx="2408954" cy="566928"/>
          </a:xfrm>
          <a:prstGeom prst="rect">
            <a:avLst/>
          </a:prstGeom>
        </p:spPr>
      </p:pic>
      <p:sp>
        <p:nvSpPr>
          <p:cNvPr id="8" name="Text Placeholder 15">
            <a:extLst>
              <a:ext uri="{FF2B5EF4-FFF2-40B4-BE49-F238E27FC236}">
                <a16:creationId xmlns:a16="http://schemas.microsoft.com/office/drawing/2014/main" id="{551975D7-9DC4-036D-19B5-938790318739}"/>
              </a:ext>
            </a:extLst>
          </p:cNvPr>
          <p:cNvSpPr>
            <a:spLocks noGrp="1"/>
          </p:cNvSpPr>
          <p:nvPr>
            <p:ph type="body" sz="quarter" idx="13"/>
          </p:nvPr>
        </p:nvSpPr>
        <p:spPr>
          <a:xfrm>
            <a:off x="802079" y="2079636"/>
            <a:ext cx="8145780" cy="1455410"/>
          </a:xfrm>
        </p:spPr>
        <p:txBody>
          <a:bodyPr/>
          <a:lstStyle>
            <a:lvl1pPr>
              <a:defRPr sz="4400">
                <a:solidFill>
                  <a:schemeClr val="tx1"/>
                </a:solidFill>
              </a:defRPr>
            </a:lvl1pPr>
            <a:lvl2pPr>
              <a:spcBef>
                <a:spcPts val="3000"/>
              </a:spcBef>
              <a:defRPr sz="1800" b="1">
                <a:solidFill>
                  <a:schemeClr val="tx1">
                    <a:lumMod val="65000"/>
                    <a:lumOff val="35000"/>
                  </a:schemeClr>
                </a:solidFill>
              </a:defRPr>
            </a:lvl2pPr>
          </a:lstStyle>
          <a:p>
            <a:pPr lvl="0"/>
            <a:r>
              <a:rPr lang="en-US" dirty="0"/>
              <a:t>Click to edit Master text styles</a:t>
            </a:r>
          </a:p>
          <a:p>
            <a:pPr lvl="1"/>
            <a:r>
              <a:rPr lang="en-US" dirty="0"/>
              <a:t>Second level</a:t>
            </a:r>
          </a:p>
        </p:txBody>
      </p:sp>
      <p:sp>
        <p:nvSpPr>
          <p:cNvPr id="13" name="TextBox 12">
            <a:extLst>
              <a:ext uri="{FF2B5EF4-FFF2-40B4-BE49-F238E27FC236}">
                <a16:creationId xmlns:a16="http://schemas.microsoft.com/office/drawing/2014/main" id="{806552A6-AC76-4702-722D-4879A234F34C}"/>
              </a:ext>
            </a:extLst>
          </p:cNvPr>
          <p:cNvSpPr txBox="1"/>
          <p:nvPr userDrawn="1"/>
        </p:nvSpPr>
        <p:spPr>
          <a:xfrm>
            <a:off x="802079"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
        <p:nvSpPr>
          <p:cNvPr id="18" name="Footer Placeholder 5">
            <a:extLst>
              <a:ext uri="{FF2B5EF4-FFF2-40B4-BE49-F238E27FC236}">
                <a16:creationId xmlns:a16="http://schemas.microsoft.com/office/drawing/2014/main" id="{09E0364A-5ACD-50B5-E100-9276E5A18762}"/>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9" name="Slide Number Placeholder 6">
            <a:extLst>
              <a:ext uri="{FF2B5EF4-FFF2-40B4-BE49-F238E27FC236}">
                <a16:creationId xmlns:a16="http://schemas.microsoft.com/office/drawing/2014/main" id="{C65694F4-5083-6131-E4C6-96AFFC17BED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
        <p:nvSpPr>
          <p:cNvPr id="2" name="Text Placeholder 2">
            <a:extLst>
              <a:ext uri="{FF2B5EF4-FFF2-40B4-BE49-F238E27FC236}">
                <a16:creationId xmlns:a16="http://schemas.microsoft.com/office/drawing/2014/main" id="{A066CD63-C27E-9D94-BFC5-3C2B52146AA2}"/>
              </a:ext>
            </a:extLst>
          </p:cNvPr>
          <p:cNvSpPr>
            <a:spLocks noGrp="1"/>
          </p:cNvSpPr>
          <p:nvPr>
            <p:ph type="body" sz="quarter" idx="14" hasCustomPrompt="1"/>
          </p:nvPr>
        </p:nvSpPr>
        <p:spPr>
          <a:xfrm>
            <a:off x="802079" y="3535045"/>
            <a:ext cx="3197225" cy="419100"/>
          </a:xfrm>
        </p:spPr>
        <p:txBody>
          <a:bodyPr/>
          <a:lstStyle>
            <a:lvl1pPr marL="0" indent="0" algn="l" defTabSz="457200" rtl="0" eaLnBrk="1" latinLnBrk="0" hangingPunct="1">
              <a:lnSpc>
                <a:spcPct val="90000"/>
              </a:lnSpc>
              <a:spcBef>
                <a:spcPct val="20000"/>
              </a:spcBef>
              <a:buFont typeface="Arial"/>
              <a:buNone/>
              <a:tabLst/>
              <a:defRPr lang="en-US" sz="1400" b="0" i="0" kern="1200" dirty="0">
                <a:solidFill>
                  <a:schemeClr val="accent5"/>
                </a:solidFill>
                <a:latin typeface="+mn-lt"/>
                <a:ea typeface="+mn-ea"/>
                <a:cs typeface="+mn-cs"/>
              </a:defRPr>
            </a:lvl1pPr>
          </a:lstStyle>
          <a:p>
            <a:pPr lvl="0"/>
            <a:r>
              <a:rPr lang="en-US" dirty="0"/>
              <a:t>Date goes here</a:t>
            </a:r>
          </a:p>
        </p:txBody>
      </p:sp>
    </p:spTree>
    <p:extLst>
      <p:ext uri="{BB962C8B-B14F-4D97-AF65-F5344CB8AC3E}">
        <p14:creationId xmlns:p14="http://schemas.microsoft.com/office/powerpoint/2010/main" val="288306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Header and Subhead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9A143-75D6-42B0-B93D-4D5487BFCDF2}"/>
              </a:ext>
            </a:extLst>
          </p:cNvPr>
          <p:cNvSpPr>
            <a:spLocks noGrp="1"/>
          </p:cNvSpPr>
          <p:nvPr>
            <p:ph type="title"/>
          </p:nvPr>
        </p:nvSpPr>
        <p:spPr>
          <a:xfrm>
            <a:off x="511427" y="437444"/>
            <a:ext cx="11167811" cy="614116"/>
          </a:xfrm>
        </p:spPr>
        <p:txBody>
          <a:bodyPr/>
          <a:lstStyle/>
          <a:p>
            <a:r>
              <a:rPr lang="en-US" dirty="0"/>
              <a:t>Click to edit Master title style</a:t>
            </a:r>
          </a:p>
        </p:txBody>
      </p:sp>
      <p:sp>
        <p:nvSpPr>
          <p:cNvPr id="6" name="Text Placeholder 5">
            <a:extLst>
              <a:ext uri="{FF2B5EF4-FFF2-40B4-BE49-F238E27FC236}">
                <a16:creationId xmlns:a16="http://schemas.microsoft.com/office/drawing/2014/main" id="{6671AC95-8698-5680-BA64-86571A8FF86B}"/>
              </a:ext>
            </a:extLst>
          </p:cNvPr>
          <p:cNvSpPr>
            <a:spLocks noGrp="1"/>
          </p:cNvSpPr>
          <p:nvPr>
            <p:ph type="body" sz="quarter" idx="12"/>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2" name="Footer Placeholder 5">
            <a:extLst>
              <a:ext uri="{FF2B5EF4-FFF2-40B4-BE49-F238E27FC236}">
                <a16:creationId xmlns:a16="http://schemas.microsoft.com/office/drawing/2014/main" id="{497D5A6A-7B14-D48F-CB02-107E7739309D}"/>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3" name="Slide Number Placeholder 6">
            <a:extLst>
              <a:ext uri="{FF2B5EF4-FFF2-40B4-BE49-F238E27FC236}">
                <a16:creationId xmlns:a16="http://schemas.microsoft.com/office/drawing/2014/main" id="{AAADD1CB-035A-F372-B750-3C92D6A1FB2A}"/>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324751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Header and Subhead Only">
    <p:spTree>
      <p:nvGrpSpPr>
        <p:cNvPr id="1" name=""/>
        <p:cNvGrpSpPr/>
        <p:nvPr/>
      </p:nvGrpSpPr>
      <p:grpSpPr>
        <a:xfrm>
          <a:off x="0" y="0"/>
          <a:ext cx="0" cy="0"/>
          <a:chOff x="0" y="0"/>
          <a:chExt cx="0" cy="0"/>
        </a:xfrm>
      </p:grpSpPr>
      <p:pic>
        <p:nvPicPr>
          <p:cNvPr id="3" name="Content Placeholder 4" descr="A red and green background&#10;&#10;AI-generated content may be incorrect.">
            <a:extLst>
              <a:ext uri="{FF2B5EF4-FFF2-40B4-BE49-F238E27FC236}">
                <a16:creationId xmlns:a16="http://schemas.microsoft.com/office/drawing/2014/main" id="{FD4370C0-4089-AEA2-CC5A-49F16AA4731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1950720"/>
          </a:xfrm>
          <a:prstGeom prst="rect">
            <a:avLst/>
          </a:prstGeom>
        </p:spPr>
      </p:pic>
      <p:sp>
        <p:nvSpPr>
          <p:cNvPr id="2" name="Title 1">
            <a:extLst>
              <a:ext uri="{FF2B5EF4-FFF2-40B4-BE49-F238E27FC236}">
                <a16:creationId xmlns:a16="http://schemas.microsoft.com/office/drawing/2014/main" id="{EB99A143-75D6-42B0-B93D-4D5487BFCDF2}"/>
              </a:ext>
            </a:extLst>
          </p:cNvPr>
          <p:cNvSpPr>
            <a:spLocks noGrp="1"/>
          </p:cNvSpPr>
          <p:nvPr>
            <p:ph type="title" hasCustomPrompt="1"/>
          </p:nvPr>
        </p:nvSpPr>
        <p:spPr>
          <a:xfrm>
            <a:off x="511427" y="437444"/>
            <a:ext cx="11167811" cy="614116"/>
          </a:xfrm>
        </p:spPr>
        <p:txBody>
          <a:bodyPr/>
          <a:lstStyle>
            <a:lvl1pPr>
              <a:defRPr>
                <a:solidFill>
                  <a:schemeClr val="bg1"/>
                </a:solidFill>
              </a:defRPr>
            </a:lvl1pPr>
          </a:lstStyle>
          <a:p>
            <a:r>
              <a:rPr lang="en-US" dirty="0"/>
              <a:t>Impact header slide</a:t>
            </a:r>
          </a:p>
        </p:txBody>
      </p:sp>
      <p:sp>
        <p:nvSpPr>
          <p:cNvPr id="6" name="Text Placeholder 5">
            <a:extLst>
              <a:ext uri="{FF2B5EF4-FFF2-40B4-BE49-F238E27FC236}">
                <a16:creationId xmlns:a16="http://schemas.microsoft.com/office/drawing/2014/main" id="{6671AC95-8698-5680-BA64-86571A8FF86B}"/>
              </a:ext>
            </a:extLst>
          </p:cNvPr>
          <p:cNvSpPr>
            <a:spLocks noGrp="1"/>
          </p:cNvSpPr>
          <p:nvPr>
            <p:ph type="body" sz="quarter" idx="12" hasCustomPrompt="1"/>
          </p:nvPr>
        </p:nvSpPr>
        <p:spPr>
          <a:xfrm>
            <a:off x="512763" y="1051561"/>
            <a:ext cx="11169916" cy="413346"/>
          </a:xfrm>
        </p:spPr>
        <p:txBody>
          <a:bodyPr>
            <a:normAutofit/>
          </a:bodyPr>
          <a:lstStyle>
            <a:lvl1pPr>
              <a:defRPr sz="1800">
                <a:solidFill>
                  <a:schemeClr val="bg1"/>
                </a:solidFill>
              </a:defRPr>
            </a:lvl1pPr>
          </a:lstStyle>
          <a:p>
            <a:pPr lvl="0"/>
            <a:r>
              <a:rPr lang="en-US" dirty="0"/>
              <a:t>Subhead placeholder</a:t>
            </a:r>
          </a:p>
        </p:txBody>
      </p:sp>
      <p:sp>
        <p:nvSpPr>
          <p:cNvPr id="12" name="Footer Placeholder 5">
            <a:extLst>
              <a:ext uri="{FF2B5EF4-FFF2-40B4-BE49-F238E27FC236}">
                <a16:creationId xmlns:a16="http://schemas.microsoft.com/office/drawing/2014/main" id="{497D5A6A-7B14-D48F-CB02-107E7739309D}"/>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3" name="Slide Number Placeholder 6">
            <a:extLst>
              <a:ext uri="{FF2B5EF4-FFF2-40B4-BE49-F238E27FC236}">
                <a16:creationId xmlns:a16="http://schemas.microsoft.com/office/drawing/2014/main" id="{AAADD1CB-035A-F372-B750-3C92D6A1FB2A}"/>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1649461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8" name="Footer Placeholder 5">
            <a:extLst>
              <a:ext uri="{FF2B5EF4-FFF2-40B4-BE49-F238E27FC236}">
                <a16:creationId xmlns:a16="http://schemas.microsoft.com/office/drawing/2014/main" id="{56C9FE06-64EE-C25B-F18C-630C89E5E5A4}"/>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9" name="Slide Number Placeholder 6">
            <a:extLst>
              <a:ext uri="{FF2B5EF4-FFF2-40B4-BE49-F238E27FC236}">
                <a16:creationId xmlns:a16="http://schemas.microsoft.com/office/drawing/2014/main" id="{0876FF27-5FCA-80F6-A141-CE82FE49E4DB}"/>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2724386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yebrow, Header, Subhead and Bo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9C16F-506C-1F4E-84FA-6B66623EDF47}"/>
              </a:ext>
            </a:extLst>
          </p:cNvPr>
          <p:cNvSpPr>
            <a:spLocks noGrp="1"/>
          </p:cNvSpPr>
          <p:nvPr>
            <p:ph type="title"/>
          </p:nvPr>
        </p:nvSpPr>
        <p:spPr>
          <a:xfrm>
            <a:off x="511427" y="708623"/>
            <a:ext cx="11167811" cy="614117"/>
          </a:xfrm>
        </p:spPr>
        <p:txBody>
          <a:bodyPr/>
          <a:lstStyle/>
          <a:p>
            <a:r>
              <a:rPr lang="en-US" dirty="0"/>
              <a:t>Click to edit Master title style</a:t>
            </a:r>
          </a:p>
        </p:txBody>
      </p:sp>
      <p:sp>
        <p:nvSpPr>
          <p:cNvPr id="5" name="Text Placeholder 5">
            <a:extLst>
              <a:ext uri="{FF2B5EF4-FFF2-40B4-BE49-F238E27FC236}">
                <a16:creationId xmlns:a16="http://schemas.microsoft.com/office/drawing/2014/main" id="{073B4726-A8F4-08FF-6507-4524E7544D20}"/>
              </a:ext>
            </a:extLst>
          </p:cNvPr>
          <p:cNvSpPr>
            <a:spLocks noGrp="1"/>
          </p:cNvSpPr>
          <p:nvPr>
            <p:ph type="body" sz="quarter" idx="12"/>
          </p:nvPr>
        </p:nvSpPr>
        <p:spPr>
          <a:xfrm>
            <a:off x="512763" y="1322740"/>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1DADE456-2FEC-6E8C-8BDC-0EB32B7352C0}"/>
              </a:ext>
            </a:extLst>
          </p:cNvPr>
          <p:cNvCxnSpPr>
            <a:cxnSpLocks/>
          </p:cNvCxnSpPr>
          <p:nvPr userDrawn="1"/>
        </p:nvCxnSpPr>
        <p:spPr>
          <a:xfrm>
            <a:off x="512763" y="619831"/>
            <a:ext cx="869901" cy="0"/>
          </a:xfrm>
          <a:prstGeom prst="line">
            <a:avLst/>
          </a:prstGeom>
          <a:ln w="57150">
            <a:solidFill>
              <a:schemeClr val="tx2"/>
            </a:solidFill>
          </a:ln>
        </p:spPr>
        <p:style>
          <a:lnRef idx="1">
            <a:schemeClr val="accent6"/>
          </a:lnRef>
          <a:fillRef idx="0">
            <a:schemeClr val="accent6"/>
          </a:fillRef>
          <a:effectRef idx="0">
            <a:schemeClr val="accent6"/>
          </a:effectRef>
          <a:fontRef idx="minor">
            <a:schemeClr val="tx1"/>
          </a:fontRef>
        </p:style>
      </p:cxnSp>
      <p:sp>
        <p:nvSpPr>
          <p:cNvPr id="14" name="Text Placeholder 13">
            <a:extLst>
              <a:ext uri="{FF2B5EF4-FFF2-40B4-BE49-F238E27FC236}">
                <a16:creationId xmlns:a16="http://schemas.microsoft.com/office/drawing/2014/main" id="{FC59531D-1141-BBE9-8A89-93DE69D59CE5}"/>
              </a:ext>
            </a:extLst>
          </p:cNvPr>
          <p:cNvSpPr>
            <a:spLocks noGrp="1"/>
          </p:cNvSpPr>
          <p:nvPr>
            <p:ph type="body" sz="quarter" idx="13"/>
          </p:nvPr>
        </p:nvSpPr>
        <p:spPr>
          <a:xfrm>
            <a:off x="511175" y="1996440"/>
            <a:ext cx="11171238" cy="40005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Footer Placeholder 5">
            <a:extLst>
              <a:ext uri="{FF2B5EF4-FFF2-40B4-BE49-F238E27FC236}">
                <a16:creationId xmlns:a16="http://schemas.microsoft.com/office/drawing/2014/main" id="{C91AEADF-3622-2AB3-401A-88D3A20DDC80}"/>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26" name="Slide Number Placeholder 6">
            <a:extLst>
              <a:ext uri="{FF2B5EF4-FFF2-40B4-BE49-F238E27FC236}">
                <a16:creationId xmlns:a16="http://schemas.microsoft.com/office/drawing/2014/main" id="{A20AAE59-81C0-3F77-5EFF-205232CD68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8" name="Text Placeholder 16">
            <a:extLst>
              <a:ext uri="{FF2B5EF4-FFF2-40B4-BE49-F238E27FC236}">
                <a16:creationId xmlns:a16="http://schemas.microsoft.com/office/drawing/2014/main" id="{F7879DE5-46F4-5F51-D7AD-1FF2100F4FEC}"/>
              </a:ext>
            </a:extLst>
          </p:cNvPr>
          <p:cNvSpPr>
            <a:spLocks noGrp="1"/>
          </p:cNvSpPr>
          <p:nvPr>
            <p:ph type="body" sz="quarter" idx="14"/>
          </p:nvPr>
        </p:nvSpPr>
        <p:spPr>
          <a:xfrm>
            <a:off x="512763" y="305188"/>
            <a:ext cx="8631237" cy="314643"/>
          </a:xfrm>
        </p:spPr>
        <p:txBody>
          <a:bodyPr>
            <a:normAutofit/>
          </a:bodyPr>
          <a:lstStyle>
            <a:lvl1pPr>
              <a:defRPr sz="1400" i="0">
                <a:solidFill>
                  <a:schemeClr val="tx2"/>
                </a:solidFill>
              </a:defRPr>
            </a:lvl1pPr>
          </a:lstStyle>
          <a:p>
            <a:pPr lvl="0"/>
            <a:r>
              <a:rPr lang="en-US" dirty="0"/>
              <a:t>Click to edit Master text styles</a:t>
            </a:r>
          </a:p>
        </p:txBody>
      </p:sp>
    </p:spTree>
    <p:extLst>
      <p:ext uri="{BB962C8B-B14F-4D97-AF65-F5344CB8AC3E}">
        <p14:creationId xmlns:p14="http://schemas.microsoft.com/office/powerpoint/2010/main" val="141962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yebrow, Header, Subhead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9C16F-506C-1F4E-84FA-6B66623EDF47}"/>
              </a:ext>
            </a:extLst>
          </p:cNvPr>
          <p:cNvSpPr>
            <a:spLocks noGrp="1"/>
          </p:cNvSpPr>
          <p:nvPr>
            <p:ph type="title"/>
          </p:nvPr>
        </p:nvSpPr>
        <p:spPr>
          <a:xfrm>
            <a:off x="511427" y="708623"/>
            <a:ext cx="11167811" cy="614117"/>
          </a:xfrm>
        </p:spPr>
        <p:txBody>
          <a:bodyPr/>
          <a:lstStyle/>
          <a:p>
            <a:r>
              <a:rPr lang="en-US" dirty="0"/>
              <a:t>Click to edit Master title style</a:t>
            </a:r>
          </a:p>
        </p:txBody>
      </p:sp>
      <p:sp>
        <p:nvSpPr>
          <p:cNvPr id="5" name="Text Placeholder 5">
            <a:extLst>
              <a:ext uri="{FF2B5EF4-FFF2-40B4-BE49-F238E27FC236}">
                <a16:creationId xmlns:a16="http://schemas.microsoft.com/office/drawing/2014/main" id="{073B4726-A8F4-08FF-6507-4524E7544D20}"/>
              </a:ext>
            </a:extLst>
          </p:cNvPr>
          <p:cNvSpPr>
            <a:spLocks noGrp="1"/>
          </p:cNvSpPr>
          <p:nvPr>
            <p:ph type="body" sz="quarter" idx="12"/>
          </p:nvPr>
        </p:nvSpPr>
        <p:spPr>
          <a:xfrm>
            <a:off x="512763" y="1322740"/>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1DADE456-2FEC-6E8C-8BDC-0EB32B7352C0}"/>
              </a:ext>
            </a:extLst>
          </p:cNvPr>
          <p:cNvCxnSpPr>
            <a:cxnSpLocks/>
          </p:cNvCxnSpPr>
          <p:nvPr userDrawn="1"/>
        </p:nvCxnSpPr>
        <p:spPr>
          <a:xfrm>
            <a:off x="512763" y="619831"/>
            <a:ext cx="869901" cy="0"/>
          </a:xfrm>
          <a:prstGeom prst="line">
            <a:avLst/>
          </a:prstGeom>
          <a:ln w="57150">
            <a:solidFill>
              <a:schemeClr val="tx2"/>
            </a:solidFill>
          </a:ln>
        </p:spPr>
        <p:style>
          <a:lnRef idx="1">
            <a:schemeClr val="accent6"/>
          </a:lnRef>
          <a:fillRef idx="0">
            <a:schemeClr val="accent6"/>
          </a:fillRef>
          <a:effectRef idx="0">
            <a:schemeClr val="accent6"/>
          </a:effectRef>
          <a:fontRef idx="minor">
            <a:schemeClr val="tx1"/>
          </a:fontRef>
        </p:style>
      </p:cxnSp>
      <p:sp>
        <p:nvSpPr>
          <p:cNvPr id="18" name="Text Placeholder 16">
            <a:extLst>
              <a:ext uri="{FF2B5EF4-FFF2-40B4-BE49-F238E27FC236}">
                <a16:creationId xmlns:a16="http://schemas.microsoft.com/office/drawing/2014/main" id="{F7879DE5-46F4-5F51-D7AD-1FF2100F4FEC}"/>
              </a:ext>
            </a:extLst>
          </p:cNvPr>
          <p:cNvSpPr>
            <a:spLocks noGrp="1"/>
          </p:cNvSpPr>
          <p:nvPr>
            <p:ph type="body" sz="quarter" idx="14"/>
          </p:nvPr>
        </p:nvSpPr>
        <p:spPr>
          <a:xfrm>
            <a:off x="512763" y="305188"/>
            <a:ext cx="8631237" cy="314643"/>
          </a:xfrm>
        </p:spPr>
        <p:txBody>
          <a:bodyPr>
            <a:normAutofit/>
          </a:bodyPr>
          <a:lstStyle>
            <a:lvl1pPr>
              <a:defRPr sz="1400" i="0">
                <a:solidFill>
                  <a:schemeClr val="tx2"/>
                </a:solidFill>
              </a:defRPr>
            </a:lvl1pPr>
          </a:lstStyle>
          <a:p>
            <a:pPr lvl="0"/>
            <a:r>
              <a:rPr lang="en-US" dirty="0"/>
              <a:t>Click to edit Master text styles</a:t>
            </a:r>
          </a:p>
        </p:txBody>
      </p:sp>
      <p:sp>
        <p:nvSpPr>
          <p:cNvPr id="10" name="Footer Placeholder 5">
            <a:extLst>
              <a:ext uri="{FF2B5EF4-FFF2-40B4-BE49-F238E27FC236}">
                <a16:creationId xmlns:a16="http://schemas.microsoft.com/office/drawing/2014/main" id="{40E89BBD-2DB3-5F60-B4AC-F04E8A8E897B}"/>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3973030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E1F54-83F2-F09A-0540-B4F2FD1B513A}"/>
              </a:ext>
            </a:extLst>
          </p:cNvPr>
          <p:cNvSpPr>
            <a:spLocks noGrp="1"/>
          </p:cNvSpPr>
          <p:nvPr>
            <p:ph type="title"/>
          </p:nvPr>
        </p:nvSpPr>
        <p:spPr>
          <a:xfrm>
            <a:off x="511427" y="437444"/>
            <a:ext cx="11167811" cy="614117"/>
          </a:xfrm>
        </p:spPr>
        <p:txBody>
          <a:bodyPr/>
          <a:lstStyle/>
          <a:p>
            <a:r>
              <a:rPr lang="en-US" dirty="0"/>
              <a:t>Click to edit Master title style</a:t>
            </a:r>
          </a:p>
        </p:txBody>
      </p:sp>
      <p:sp>
        <p:nvSpPr>
          <p:cNvPr id="10" name="Text Placeholder 5">
            <a:extLst>
              <a:ext uri="{FF2B5EF4-FFF2-40B4-BE49-F238E27FC236}">
                <a16:creationId xmlns:a16="http://schemas.microsoft.com/office/drawing/2014/main" id="{31F7FA2B-4B6F-717B-2654-D8A994BCA176}"/>
              </a:ext>
            </a:extLst>
          </p:cNvPr>
          <p:cNvSpPr>
            <a:spLocks noGrp="1"/>
          </p:cNvSpPr>
          <p:nvPr>
            <p:ph type="body" sz="quarter" idx="13"/>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4" name="Text Placeholder 13">
            <a:extLst>
              <a:ext uri="{FF2B5EF4-FFF2-40B4-BE49-F238E27FC236}">
                <a16:creationId xmlns:a16="http://schemas.microsoft.com/office/drawing/2014/main" id="{6899807B-0AFF-AB51-FFC9-AA3708B60EC7}"/>
              </a:ext>
            </a:extLst>
          </p:cNvPr>
          <p:cNvSpPr>
            <a:spLocks noGrp="1"/>
          </p:cNvSpPr>
          <p:nvPr>
            <p:ph type="body" sz="quarter" idx="14"/>
          </p:nvPr>
        </p:nvSpPr>
        <p:spPr>
          <a:xfrm>
            <a:off x="511175" y="1714500"/>
            <a:ext cx="11168063"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Footer Placeholder 5">
            <a:extLst>
              <a:ext uri="{FF2B5EF4-FFF2-40B4-BE49-F238E27FC236}">
                <a16:creationId xmlns:a16="http://schemas.microsoft.com/office/drawing/2014/main" id="{56CCB6A1-D661-D876-C30B-640D3FF67D63}"/>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21" name="Slide Number Placeholder 6">
            <a:extLst>
              <a:ext uri="{FF2B5EF4-FFF2-40B4-BE49-F238E27FC236}">
                <a16:creationId xmlns:a16="http://schemas.microsoft.com/office/drawing/2014/main" id="{BBA0A6B3-6359-0588-6505-D6ACADE4B648}"/>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3220353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1C199-15AC-D14D-0AA6-CBE1203062E3}"/>
              </a:ext>
            </a:extLst>
          </p:cNvPr>
          <p:cNvSpPr>
            <a:spLocks noGrp="1"/>
          </p:cNvSpPr>
          <p:nvPr>
            <p:ph type="title"/>
          </p:nvPr>
        </p:nvSpPr>
        <p:spPr>
          <a:xfrm>
            <a:off x="511427" y="437444"/>
            <a:ext cx="11167811" cy="614117"/>
          </a:xfrm>
        </p:spPr>
        <p:txBody>
          <a:bodyPr/>
          <a:lstStyle/>
          <a:p>
            <a:r>
              <a:rPr lang="en-US" dirty="0"/>
              <a:t>Click to edit Master title style</a:t>
            </a:r>
          </a:p>
        </p:txBody>
      </p:sp>
      <p:sp>
        <p:nvSpPr>
          <p:cNvPr id="6" name="Text Placeholder 5">
            <a:extLst>
              <a:ext uri="{FF2B5EF4-FFF2-40B4-BE49-F238E27FC236}">
                <a16:creationId xmlns:a16="http://schemas.microsoft.com/office/drawing/2014/main" id="{8E38F124-4CF3-FF0E-022F-8601D0A20F45}"/>
              </a:ext>
            </a:extLst>
          </p:cNvPr>
          <p:cNvSpPr>
            <a:spLocks noGrp="1"/>
          </p:cNvSpPr>
          <p:nvPr>
            <p:ph type="body" sz="quarter" idx="12"/>
          </p:nvPr>
        </p:nvSpPr>
        <p:spPr>
          <a:xfrm>
            <a:off x="512763" y="1714500"/>
            <a:ext cx="5399560" cy="4419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5">
            <a:extLst>
              <a:ext uri="{FF2B5EF4-FFF2-40B4-BE49-F238E27FC236}">
                <a16:creationId xmlns:a16="http://schemas.microsoft.com/office/drawing/2014/main" id="{0D0020D2-7B92-3072-B9F5-1D6B5C920B52}"/>
              </a:ext>
            </a:extLst>
          </p:cNvPr>
          <p:cNvSpPr>
            <a:spLocks noGrp="1"/>
          </p:cNvSpPr>
          <p:nvPr>
            <p:ph type="body" sz="quarter" idx="13"/>
          </p:nvPr>
        </p:nvSpPr>
        <p:spPr>
          <a:xfrm>
            <a:off x="6279678" y="1714500"/>
            <a:ext cx="539956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5">
            <a:extLst>
              <a:ext uri="{FF2B5EF4-FFF2-40B4-BE49-F238E27FC236}">
                <a16:creationId xmlns:a16="http://schemas.microsoft.com/office/drawing/2014/main" id="{D19B4353-EEBD-5EA1-93A8-2494728D2F2D}"/>
              </a:ext>
            </a:extLst>
          </p:cNvPr>
          <p:cNvSpPr>
            <a:spLocks noGrp="1"/>
          </p:cNvSpPr>
          <p:nvPr>
            <p:ph type="body" sz="quarter" idx="14"/>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4" name="Footer Placeholder 5">
            <a:extLst>
              <a:ext uri="{FF2B5EF4-FFF2-40B4-BE49-F238E27FC236}">
                <a16:creationId xmlns:a16="http://schemas.microsoft.com/office/drawing/2014/main" id="{FA790335-AB91-2292-A583-68F8ED88AE61}"/>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5" name="Slide Number Placeholder 6">
            <a:extLst>
              <a:ext uri="{FF2B5EF4-FFF2-40B4-BE49-F238E27FC236}">
                <a16:creationId xmlns:a16="http://schemas.microsoft.com/office/drawing/2014/main" id="{D1373D57-1AFC-40C1-C22B-486A74BFB23E}"/>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4209739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14C5A-8BA0-81C6-0A5B-801985C85265}"/>
              </a:ext>
            </a:extLst>
          </p:cNvPr>
          <p:cNvSpPr>
            <a:spLocks noGrp="1"/>
          </p:cNvSpPr>
          <p:nvPr>
            <p:ph type="title"/>
          </p:nvPr>
        </p:nvSpPr>
        <p:spPr>
          <a:xfrm>
            <a:off x="511427" y="437444"/>
            <a:ext cx="11167811" cy="614117"/>
          </a:xfrm>
        </p:spPr>
        <p:txBody>
          <a:bodyPr/>
          <a:lstStyle/>
          <a:p>
            <a:r>
              <a:rPr lang="en-US" dirty="0"/>
              <a:t>Click to edit Master title style</a:t>
            </a:r>
          </a:p>
        </p:txBody>
      </p:sp>
      <p:sp>
        <p:nvSpPr>
          <p:cNvPr id="6" name="Text Placeholder 5">
            <a:extLst>
              <a:ext uri="{FF2B5EF4-FFF2-40B4-BE49-F238E27FC236}">
                <a16:creationId xmlns:a16="http://schemas.microsoft.com/office/drawing/2014/main" id="{60526CDC-D763-BB32-5B81-7D599455BF38}"/>
              </a:ext>
            </a:extLst>
          </p:cNvPr>
          <p:cNvSpPr>
            <a:spLocks noGrp="1"/>
          </p:cNvSpPr>
          <p:nvPr>
            <p:ph type="body" sz="quarter" idx="12"/>
          </p:nvPr>
        </p:nvSpPr>
        <p:spPr>
          <a:xfrm>
            <a:off x="512763" y="1714500"/>
            <a:ext cx="3503645" cy="35941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5">
            <a:extLst>
              <a:ext uri="{FF2B5EF4-FFF2-40B4-BE49-F238E27FC236}">
                <a16:creationId xmlns:a16="http://schemas.microsoft.com/office/drawing/2014/main" id="{1B60661A-EDC7-0966-9BFE-A0BC07258B87}"/>
              </a:ext>
            </a:extLst>
          </p:cNvPr>
          <p:cNvSpPr>
            <a:spLocks noGrp="1"/>
          </p:cNvSpPr>
          <p:nvPr>
            <p:ph type="body" sz="quarter" idx="13"/>
          </p:nvPr>
        </p:nvSpPr>
        <p:spPr>
          <a:xfrm>
            <a:off x="4345898" y="1714500"/>
            <a:ext cx="3503645" cy="3594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5">
            <a:extLst>
              <a:ext uri="{FF2B5EF4-FFF2-40B4-BE49-F238E27FC236}">
                <a16:creationId xmlns:a16="http://schemas.microsoft.com/office/drawing/2014/main" id="{66A65CEC-5869-5D52-EAAE-4CE2E8B83312}"/>
              </a:ext>
            </a:extLst>
          </p:cNvPr>
          <p:cNvSpPr>
            <a:spLocks noGrp="1"/>
          </p:cNvSpPr>
          <p:nvPr>
            <p:ph type="body" sz="quarter" idx="14"/>
          </p:nvPr>
        </p:nvSpPr>
        <p:spPr>
          <a:xfrm>
            <a:off x="8179034" y="1714500"/>
            <a:ext cx="3503645" cy="3594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F947AB0C-C375-6941-8123-42C74C4D44D6}"/>
              </a:ext>
            </a:extLst>
          </p:cNvPr>
          <p:cNvSpPr>
            <a:spLocks noGrp="1"/>
          </p:cNvSpPr>
          <p:nvPr>
            <p:ph type="body" sz="quarter" idx="15"/>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4" name="Footer Placeholder 5">
            <a:extLst>
              <a:ext uri="{FF2B5EF4-FFF2-40B4-BE49-F238E27FC236}">
                <a16:creationId xmlns:a16="http://schemas.microsoft.com/office/drawing/2014/main" id="{C469125A-AA88-702A-7398-FB0D80AE4870}"/>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5" name="Slide Number Placeholder 6">
            <a:extLst>
              <a:ext uri="{FF2B5EF4-FFF2-40B4-BE49-F238E27FC236}">
                <a16:creationId xmlns:a16="http://schemas.microsoft.com/office/drawing/2014/main" id="{447CDAC8-C02C-3859-3C4F-64D38BF4F482}"/>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422424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with Call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DE30A47-262F-DB0A-10B8-D0B96680B8E6}"/>
              </a:ext>
            </a:extLst>
          </p:cNvPr>
          <p:cNvSpPr>
            <a:spLocks noGrp="1"/>
          </p:cNvSpPr>
          <p:nvPr>
            <p:ph type="pic" sz="quarter" idx="12"/>
          </p:nvPr>
        </p:nvSpPr>
        <p:spPr>
          <a:xfrm>
            <a:off x="7691438" y="0"/>
            <a:ext cx="4500562" cy="6858000"/>
          </a:xfrm>
          <a:solidFill>
            <a:schemeClr val="accent2"/>
          </a:solidFill>
        </p:spPr>
        <p:txBody>
          <a:bodyPr anchor="ctr"/>
          <a:lstStyle>
            <a:lvl1pPr algn="ctr">
              <a:defRPr/>
            </a:lvl1pPr>
          </a:lstStyle>
          <a:p>
            <a:endParaRPr lang="en-US"/>
          </a:p>
        </p:txBody>
      </p:sp>
      <p:sp>
        <p:nvSpPr>
          <p:cNvPr id="2" name="Title 1">
            <a:extLst>
              <a:ext uri="{FF2B5EF4-FFF2-40B4-BE49-F238E27FC236}">
                <a16:creationId xmlns:a16="http://schemas.microsoft.com/office/drawing/2014/main" id="{3E7FE8F8-1FA2-6E20-363F-519BE59B64B6}"/>
              </a:ext>
            </a:extLst>
          </p:cNvPr>
          <p:cNvSpPr>
            <a:spLocks noGrp="1"/>
          </p:cNvSpPr>
          <p:nvPr>
            <p:ph type="title"/>
          </p:nvPr>
        </p:nvSpPr>
        <p:spPr>
          <a:xfrm>
            <a:off x="511427" y="437444"/>
            <a:ext cx="7180011" cy="614117"/>
          </a:xfrm>
        </p:spPr>
        <p:txBody>
          <a:bodyPr/>
          <a:lstStyle/>
          <a:p>
            <a:r>
              <a:rPr lang="en-US" dirty="0"/>
              <a:t>Click to edit Master title style</a:t>
            </a:r>
          </a:p>
        </p:txBody>
      </p:sp>
      <p:sp>
        <p:nvSpPr>
          <p:cNvPr id="8" name="Text Placeholder 5">
            <a:extLst>
              <a:ext uri="{FF2B5EF4-FFF2-40B4-BE49-F238E27FC236}">
                <a16:creationId xmlns:a16="http://schemas.microsoft.com/office/drawing/2014/main" id="{E20B35FB-3664-0B4D-6249-F782CED7DAB2}"/>
              </a:ext>
            </a:extLst>
          </p:cNvPr>
          <p:cNvSpPr>
            <a:spLocks noGrp="1"/>
          </p:cNvSpPr>
          <p:nvPr>
            <p:ph type="body" sz="quarter" idx="15"/>
          </p:nvPr>
        </p:nvSpPr>
        <p:spPr>
          <a:xfrm>
            <a:off x="512763" y="1051561"/>
            <a:ext cx="7178675"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pic>
        <p:nvPicPr>
          <p:cNvPr id="9" name="Content Placeholder 4" descr="A red and green background&#10;&#10;AI-generated content may be incorrect.">
            <a:extLst>
              <a:ext uri="{FF2B5EF4-FFF2-40B4-BE49-F238E27FC236}">
                <a16:creationId xmlns:a16="http://schemas.microsoft.com/office/drawing/2014/main" id="{22DF9E99-5AA7-9ED8-F61D-1D5954C3C293}"/>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7226809" y="3962400"/>
            <a:ext cx="464312" cy="1818640"/>
          </a:xfrm>
          <a:prstGeom prst="rect">
            <a:avLst/>
          </a:prstGeom>
        </p:spPr>
      </p:pic>
      <p:sp>
        <p:nvSpPr>
          <p:cNvPr id="11" name="Text Placeholder 10">
            <a:extLst>
              <a:ext uri="{FF2B5EF4-FFF2-40B4-BE49-F238E27FC236}">
                <a16:creationId xmlns:a16="http://schemas.microsoft.com/office/drawing/2014/main" id="{2EA7ADC5-3522-3180-74FA-1FD3E52E293E}"/>
              </a:ext>
            </a:extLst>
          </p:cNvPr>
          <p:cNvSpPr>
            <a:spLocks noGrp="1"/>
          </p:cNvSpPr>
          <p:nvPr>
            <p:ph type="body" sz="quarter" idx="16"/>
          </p:nvPr>
        </p:nvSpPr>
        <p:spPr>
          <a:xfrm>
            <a:off x="7691438" y="3962400"/>
            <a:ext cx="4500562" cy="1819275"/>
          </a:xfrm>
          <a:solidFill>
            <a:schemeClr val="bg1"/>
          </a:solidFill>
        </p:spPr>
        <p:txBody>
          <a:bodyPr lIns="365760" anchor="ctr"/>
          <a:lstStyle/>
          <a:p>
            <a:pPr lvl="0"/>
            <a:r>
              <a:rPr lang="en-US" dirty="0"/>
              <a:t>Click to edit Master text styles</a:t>
            </a:r>
          </a:p>
          <a:p>
            <a:pPr lvl="1"/>
            <a:r>
              <a:rPr lang="en-US" dirty="0"/>
              <a:t>Second level</a:t>
            </a:r>
          </a:p>
        </p:txBody>
      </p:sp>
      <p:sp>
        <p:nvSpPr>
          <p:cNvPr id="12" name="Text Placeholder 5">
            <a:extLst>
              <a:ext uri="{FF2B5EF4-FFF2-40B4-BE49-F238E27FC236}">
                <a16:creationId xmlns:a16="http://schemas.microsoft.com/office/drawing/2014/main" id="{02D98FAF-0F57-636C-D186-EDD6EA7CA7FC}"/>
              </a:ext>
            </a:extLst>
          </p:cNvPr>
          <p:cNvSpPr>
            <a:spLocks noGrp="1"/>
          </p:cNvSpPr>
          <p:nvPr>
            <p:ph type="body" sz="quarter" idx="17"/>
          </p:nvPr>
        </p:nvSpPr>
        <p:spPr>
          <a:xfrm>
            <a:off x="512763" y="1714500"/>
            <a:ext cx="6025197" cy="35941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4665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debar with 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F0E2021-1BFC-E013-D60B-D3C38949C163}"/>
              </a:ext>
            </a:extLst>
          </p:cNvPr>
          <p:cNvSpPr/>
          <p:nvPr userDrawn="1"/>
        </p:nvSpPr>
        <p:spPr>
          <a:xfrm>
            <a:off x="7691121" y="0"/>
            <a:ext cx="4500879"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7FE8F8-1FA2-6E20-363F-519BE59B64B6}"/>
              </a:ext>
            </a:extLst>
          </p:cNvPr>
          <p:cNvSpPr>
            <a:spLocks noGrp="1"/>
          </p:cNvSpPr>
          <p:nvPr>
            <p:ph type="title"/>
          </p:nvPr>
        </p:nvSpPr>
        <p:spPr>
          <a:xfrm>
            <a:off x="511428" y="437444"/>
            <a:ext cx="6715382" cy="614117"/>
          </a:xfrm>
        </p:spPr>
        <p:txBody>
          <a:bodyPr/>
          <a:lstStyle/>
          <a:p>
            <a:r>
              <a:rPr lang="en-US" dirty="0"/>
              <a:t>Click to edit Master title style</a:t>
            </a:r>
          </a:p>
        </p:txBody>
      </p:sp>
      <p:sp>
        <p:nvSpPr>
          <p:cNvPr id="8" name="Text Placeholder 5">
            <a:extLst>
              <a:ext uri="{FF2B5EF4-FFF2-40B4-BE49-F238E27FC236}">
                <a16:creationId xmlns:a16="http://schemas.microsoft.com/office/drawing/2014/main" id="{E20B35FB-3664-0B4D-6249-F782CED7DAB2}"/>
              </a:ext>
            </a:extLst>
          </p:cNvPr>
          <p:cNvSpPr>
            <a:spLocks noGrp="1"/>
          </p:cNvSpPr>
          <p:nvPr>
            <p:ph type="body" sz="quarter" idx="15"/>
          </p:nvPr>
        </p:nvSpPr>
        <p:spPr>
          <a:xfrm>
            <a:off x="512763" y="1051561"/>
            <a:ext cx="6714047"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1" name="Text Placeholder 10">
            <a:extLst>
              <a:ext uri="{FF2B5EF4-FFF2-40B4-BE49-F238E27FC236}">
                <a16:creationId xmlns:a16="http://schemas.microsoft.com/office/drawing/2014/main" id="{2EA7ADC5-3522-3180-74FA-1FD3E52E293E}"/>
              </a:ext>
            </a:extLst>
          </p:cNvPr>
          <p:cNvSpPr>
            <a:spLocks noGrp="1"/>
          </p:cNvSpPr>
          <p:nvPr>
            <p:ph type="body" sz="quarter" idx="16"/>
          </p:nvPr>
        </p:nvSpPr>
        <p:spPr>
          <a:xfrm>
            <a:off x="7226809" y="437444"/>
            <a:ext cx="4965191" cy="1819275"/>
          </a:xfrm>
          <a:blipFill dpi="0" rotWithShape="1">
            <a:blip r:embed="rId2"/>
            <a:srcRect/>
            <a:stretch>
              <a:fillRect/>
            </a:stretch>
          </a:blipFill>
        </p:spPr>
        <p:txBody>
          <a:bodyPr lIns="365760" anchor="ctr"/>
          <a:lstStyle>
            <a:lvl1pPr>
              <a:defRPr>
                <a:solidFill>
                  <a:schemeClr val="bg1"/>
                </a:solidFill>
              </a:defRPr>
            </a:lvl1pPr>
            <a:lvl2pPr>
              <a:defRPr>
                <a:solidFill>
                  <a:schemeClr val="bg1"/>
                </a:solidFill>
              </a:defRPr>
            </a:lvl2pPr>
          </a:lstStyle>
          <a:p>
            <a:pPr lvl="0"/>
            <a:r>
              <a:rPr lang="en-US" dirty="0"/>
              <a:t>Click to edit Master text styles</a:t>
            </a:r>
          </a:p>
          <a:p>
            <a:pPr lvl="1"/>
            <a:r>
              <a:rPr lang="en-US" dirty="0"/>
              <a:t>Second level</a:t>
            </a:r>
          </a:p>
        </p:txBody>
      </p:sp>
      <p:sp>
        <p:nvSpPr>
          <p:cNvPr id="12" name="Text Placeholder 5">
            <a:extLst>
              <a:ext uri="{FF2B5EF4-FFF2-40B4-BE49-F238E27FC236}">
                <a16:creationId xmlns:a16="http://schemas.microsoft.com/office/drawing/2014/main" id="{02D98FAF-0F57-636C-D186-EDD6EA7CA7FC}"/>
              </a:ext>
            </a:extLst>
          </p:cNvPr>
          <p:cNvSpPr>
            <a:spLocks noGrp="1"/>
          </p:cNvSpPr>
          <p:nvPr>
            <p:ph type="body" sz="quarter" idx="17"/>
          </p:nvPr>
        </p:nvSpPr>
        <p:spPr>
          <a:xfrm>
            <a:off x="512763" y="1714500"/>
            <a:ext cx="6025197" cy="35941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5">
            <a:extLst>
              <a:ext uri="{FF2B5EF4-FFF2-40B4-BE49-F238E27FC236}">
                <a16:creationId xmlns:a16="http://schemas.microsoft.com/office/drawing/2014/main" id="{C88AAD13-4032-E181-7A51-74A7C8DCE327}"/>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5" name="Slide Number Placeholder 6">
            <a:extLst>
              <a:ext uri="{FF2B5EF4-FFF2-40B4-BE49-F238E27FC236}">
                <a16:creationId xmlns:a16="http://schemas.microsoft.com/office/drawing/2014/main" id="{2CDA17C2-87F8-D622-C9C6-0DA48C2C31F7}"/>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156119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yout with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DE30A47-262F-DB0A-10B8-D0B96680B8E6}"/>
              </a:ext>
            </a:extLst>
          </p:cNvPr>
          <p:cNvSpPr>
            <a:spLocks noGrp="1"/>
          </p:cNvSpPr>
          <p:nvPr>
            <p:ph type="pic" sz="quarter" idx="12"/>
          </p:nvPr>
        </p:nvSpPr>
        <p:spPr>
          <a:xfrm>
            <a:off x="7058822" y="0"/>
            <a:ext cx="4623857" cy="5772223"/>
          </a:xfrm>
          <a:solidFill>
            <a:schemeClr val="accent2"/>
          </a:solidFill>
        </p:spPr>
        <p:txBody>
          <a:bodyPr anchor="ctr"/>
          <a:lstStyle>
            <a:lvl1pPr algn="ctr">
              <a:defRPr/>
            </a:lvl1pPr>
          </a:lstStyle>
          <a:p>
            <a:endParaRPr lang="en-US"/>
          </a:p>
        </p:txBody>
      </p:sp>
      <p:sp>
        <p:nvSpPr>
          <p:cNvPr id="2" name="Title 1">
            <a:extLst>
              <a:ext uri="{FF2B5EF4-FFF2-40B4-BE49-F238E27FC236}">
                <a16:creationId xmlns:a16="http://schemas.microsoft.com/office/drawing/2014/main" id="{3E7FE8F8-1FA2-6E20-363F-519BE59B64B6}"/>
              </a:ext>
            </a:extLst>
          </p:cNvPr>
          <p:cNvSpPr>
            <a:spLocks noGrp="1"/>
          </p:cNvSpPr>
          <p:nvPr>
            <p:ph type="title"/>
          </p:nvPr>
        </p:nvSpPr>
        <p:spPr>
          <a:xfrm>
            <a:off x="511427" y="437444"/>
            <a:ext cx="6547395" cy="614117"/>
          </a:xfrm>
        </p:spPr>
        <p:txBody>
          <a:bodyPr/>
          <a:lstStyle/>
          <a:p>
            <a:r>
              <a:rPr lang="en-US" dirty="0"/>
              <a:t>Click to edit Master title style</a:t>
            </a:r>
          </a:p>
        </p:txBody>
      </p:sp>
      <p:sp>
        <p:nvSpPr>
          <p:cNvPr id="8" name="Text Placeholder 5">
            <a:extLst>
              <a:ext uri="{FF2B5EF4-FFF2-40B4-BE49-F238E27FC236}">
                <a16:creationId xmlns:a16="http://schemas.microsoft.com/office/drawing/2014/main" id="{E20B35FB-3664-0B4D-6249-F782CED7DAB2}"/>
              </a:ext>
            </a:extLst>
          </p:cNvPr>
          <p:cNvSpPr>
            <a:spLocks noGrp="1"/>
          </p:cNvSpPr>
          <p:nvPr>
            <p:ph type="body" sz="quarter" idx="15"/>
          </p:nvPr>
        </p:nvSpPr>
        <p:spPr>
          <a:xfrm>
            <a:off x="512763" y="1051561"/>
            <a:ext cx="6546177"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2" name="Text Placeholder 5">
            <a:extLst>
              <a:ext uri="{FF2B5EF4-FFF2-40B4-BE49-F238E27FC236}">
                <a16:creationId xmlns:a16="http://schemas.microsoft.com/office/drawing/2014/main" id="{02D98FAF-0F57-636C-D186-EDD6EA7CA7FC}"/>
              </a:ext>
            </a:extLst>
          </p:cNvPr>
          <p:cNvSpPr>
            <a:spLocks noGrp="1"/>
          </p:cNvSpPr>
          <p:nvPr>
            <p:ph type="body" sz="quarter" idx="17"/>
          </p:nvPr>
        </p:nvSpPr>
        <p:spPr>
          <a:xfrm>
            <a:off x="512763" y="1714500"/>
            <a:ext cx="6025197" cy="35941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Content Placeholder 4">
            <a:extLst>
              <a:ext uri="{FF2B5EF4-FFF2-40B4-BE49-F238E27FC236}">
                <a16:creationId xmlns:a16="http://schemas.microsoft.com/office/drawing/2014/main" id="{1C759DE5-C518-1864-07A2-605A29BED7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058820" y="5772223"/>
            <a:ext cx="4622583" cy="361877"/>
          </a:xfrm>
          <a:prstGeom prst="rect">
            <a:avLst/>
          </a:prstGeom>
        </p:spPr>
      </p:pic>
      <p:sp>
        <p:nvSpPr>
          <p:cNvPr id="15" name="Footer Placeholder 5">
            <a:extLst>
              <a:ext uri="{FF2B5EF4-FFF2-40B4-BE49-F238E27FC236}">
                <a16:creationId xmlns:a16="http://schemas.microsoft.com/office/drawing/2014/main" id="{5C587A4E-B51B-38B5-EABB-058A87A0394A}"/>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6" name="Slide Number Placeholder 6">
            <a:extLst>
              <a:ext uri="{FF2B5EF4-FFF2-40B4-BE49-F238E27FC236}">
                <a16:creationId xmlns:a16="http://schemas.microsoft.com/office/drawing/2014/main" id="{371DED4E-8776-2AD9-D89C-89D43DA7BC5A}"/>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1691879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 with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93398-F58C-AA7E-2DE2-6E5364D58DBF}"/>
              </a:ext>
            </a:extLst>
          </p:cNvPr>
          <p:cNvSpPr>
            <a:spLocks noGrp="1"/>
          </p:cNvSpPr>
          <p:nvPr>
            <p:ph type="title"/>
          </p:nvPr>
        </p:nvSpPr>
        <p:spPr>
          <a:xfrm>
            <a:off x="511427" y="437444"/>
            <a:ext cx="11167811" cy="614117"/>
          </a:xfrm>
        </p:spPr>
        <p:txBody>
          <a:bodyPr/>
          <a:lstStyle/>
          <a:p>
            <a:r>
              <a:rPr lang="en-US"/>
              <a:t>Click to edit Master title style</a:t>
            </a:r>
          </a:p>
        </p:txBody>
      </p:sp>
      <p:sp>
        <p:nvSpPr>
          <p:cNvPr id="8" name="Text Placeholder 5">
            <a:extLst>
              <a:ext uri="{FF2B5EF4-FFF2-40B4-BE49-F238E27FC236}">
                <a16:creationId xmlns:a16="http://schemas.microsoft.com/office/drawing/2014/main" id="{B8695FB8-5358-59F4-420C-D9E81C03C922}"/>
              </a:ext>
            </a:extLst>
          </p:cNvPr>
          <p:cNvSpPr>
            <a:spLocks noGrp="1"/>
          </p:cNvSpPr>
          <p:nvPr>
            <p:ph type="body" sz="quarter" idx="15"/>
          </p:nvPr>
        </p:nvSpPr>
        <p:spPr>
          <a:xfrm>
            <a:off x="512763" y="1051561"/>
            <a:ext cx="11166475"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0" name="Text Placeholder 9">
            <a:extLst>
              <a:ext uri="{FF2B5EF4-FFF2-40B4-BE49-F238E27FC236}">
                <a16:creationId xmlns:a16="http://schemas.microsoft.com/office/drawing/2014/main" id="{0D493C24-4E3E-2A02-65ED-8191B4546237}"/>
              </a:ext>
            </a:extLst>
          </p:cNvPr>
          <p:cNvSpPr>
            <a:spLocks noGrp="1"/>
          </p:cNvSpPr>
          <p:nvPr>
            <p:ph type="body" sz="quarter" idx="16"/>
          </p:nvPr>
        </p:nvSpPr>
        <p:spPr>
          <a:xfrm>
            <a:off x="511175" y="3708400"/>
            <a:ext cx="3217863" cy="1219200"/>
          </a:xfrm>
        </p:spPr>
        <p:txBody>
          <a:bodyPr/>
          <a:lstStyle>
            <a:lvl1pPr>
              <a:defRPr sz="1800"/>
            </a:lvl1pPr>
            <a:lvl2pPr>
              <a:defRPr sz="1600"/>
            </a:lvl2pPr>
            <a:lvl3pPr>
              <a:defRPr sz="1400"/>
            </a:lvl3pPr>
          </a:lstStyle>
          <a:p>
            <a:pPr lvl="0"/>
            <a:r>
              <a:rPr lang="en-US" dirty="0"/>
              <a:t>Click to edit Master text styles</a:t>
            </a:r>
          </a:p>
          <a:p>
            <a:pPr lvl="1"/>
            <a:r>
              <a:rPr lang="en-US" dirty="0"/>
              <a:t>Second level</a:t>
            </a:r>
          </a:p>
          <a:p>
            <a:pPr lvl="2"/>
            <a:r>
              <a:rPr lang="en-US" dirty="0"/>
              <a:t>Third level</a:t>
            </a:r>
          </a:p>
        </p:txBody>
      </p:sp>
      <p:sp>
        <p:nvSpPr>
          <p:cNvPr id="11" name="Text Placeholder 9">
            <a:extLst>
              <a:ext uri="{FF2B5EF4-FFF2-40B4-BE49-F238E27FC236}">
                <a16:creationId xmlns:a16="http://schemas.microsoft.com/office/drawing/2014/main" id="{C21240A8-93CA-CA86-87C8-2B6B05DCD856}"/>
              </a:ext>
            </a:extLst>
          </p:cNvPr>
          <p:cNvSpPr>
            <a:spLocks noGrp="1"/>
          </p:cNvSpPr>
          <p:nvPr>
            <p:ph type="body" sz="quarter" idx="17"/>
          </p:nvPr>
        </p:nvSpPr>
        <p:spPr>
          <a:xfrm>
            <a:off x="4308134" y="3708400"/>
            <a:ext cx="3217863" cy="1219200"/>
          </a:xfrm>
        </p:spPr>
        <p:txBody>
          <a:bodyPr/>
          <a:lstStyle>
            <a:lvl1pPr>
              <a:defRPr sz="1800"/>
            </a:lvl1pPr>
            <a:lvl2pPr>
              <a:defRPr sz="1600"/>
            </a:lvl2pPr>
            <a:lvl3pPr>
              <a:defRPr sz="1400"/>
            </a:lvl3pPr>
          </a:lstStyle>
          <a:p>
            <a:pPr lvl="0"/>
            <a:r>
              <a:rPr lang="en-US" dirty="0"/>
              <a:t>Click to edit Master text styles</a:t>
            </a:r>
          </a:p>
          <a:p>
            <a:pPr lvl="1"/>
            <a:r>
              <a:rPr lang="en-US" dirty="0"/>
              <a:t>Second level</a:t>
            </a:r>
          </a:p>
          <a:p>
            <a:pPr lvl="2"/>
            <a:r>
              <a:rPr lang="en-US" dirty="0"/>
              <a:t>Third level</a:t>
            </a:r>
          </a:p>
        </p:txBody>
      </p:sp>
      <p:sp>
        <p:nvSpPr>
          <p:cNvPr id="12" name="Text Placeholder 9">
            <a:extLst>
              <a:ext uri="{FF2B5EF4-FFF2-40B4-BE49-F238E27FC236}">
                <a16:creationId xmlns:a16="http://schemas.microsoft.com/office/drawing/2014/main" id="{4C626A78-D122-9B29-0498-A377DB541C30}"/>
              </a:ext>
            </a:extLst>
          </p:cNvPr>
          <p:cNvSpPr>
            <a:spLocks noGrp="1"/>
          </p:cNvSpPr>
          <p:nvPr>
            <p:ph type="body" sz="quarter" idx="18"/>
          </p:nvPr>
        </p:nvSpPr>
        <p:spPr>
          <a:xfrm>
            <a:off x="8119357" y="3708400"/>
            <a:ext cx="3217863" cy="1219200"/>
          </a:xfrm>
        </p:spPr>
        <p:txBody>
          <a:bodyPr/>
          <a:lstStyle>
            <a:lvl1pPr>
              <a:defRPr sz="1800"/>
            </a:lvl1pPr>
            <a:lvl2pPr>
              <a:defRPr sz="1600"/>
            </a:lvl2pPr>
            <a:lvl3pPr>
              <a:defRPr sz="1400"/>
            </a:lvl3pPr>
          </a:lstStyle>
          <a:p>
            <a:pPr lvl="0"/>
            <a:r>
              <a:rPr lang="en-US" dirty="0"/>
              <a:t>Click to edit Master text styles</a:t>
            </a:r>
          </a:p>
          <a:p>
            <a:pPr lvl="1"/>
            <a:r>
              <a:rPr lang="en-US" dirty="0"/>
              <a:t>Second level</a:t>
            </a:r>
          </a:p>
          <a:p>
            <a:pPr lvl="2"/>
            <a:r>
              <a:rPr lang="en-US" dirty="0"/>
              <a:t>Third level</a:t>
            </a:r>
          </a:p>
        </p:txBody>
      </p:sp>
      <p:sp>
        <p:nvSpPr>
          <p:cNvPr id="14" name="Picture Placeholder 13">
            <a:extLst>
              <a:ext uri="{FF2B5EF4-FFF2-40B4-BE49-F238E27FC236}">
                <a16:creationId xmlns:a16="http://schemas.microsoft.com/office/drawing/2014/main" id="{F19666AC-2D6E-A5A6-AFF6-FBCDB9C60461}"/>
              </a:ext>
            </a:extLst>
          </p:cNvPr>
          <p:cNvSpPr>
            <a:spLocks noGrp="1"/>
          </p:cNvSpPr>
          <p:nvPr>
            <p:ph type="pic" sz="quarter" idx="19"/>
          </p:nvPr>
        </p:nvSpPr>
        <p:spPr>
          <a:xfrm>
            <a:off x="512763" y="1714500"/>
            <a:ext cx="3218192" cy="1663700"/>
          </a:xfrm>
          <a:solidFill>
            <a:schemeClr val="accent2"/>
          </a:solidFill>
        </p:spPr>
        <p:txBody>
          <a:bodyPr anchor="ctr"/>
          <a:lstStyle>
            <a:lvl1pPr algn="ctr">
              <a:defRPr/>
            </a:lvl1pPr>
          </a:lstStyle>
          <a:p>
            <a:endParaRPr lang="en-US"/>
          </a:p>
        </p:txBody>
      </p:sp>
      <p:sp>
        <p:nvSpPr>
          <p:cNvPr id="15" name="Picture Placeholder 13">
            <a:extLst>
              <a:ext uri="{FF2B5EF4-FFF2-40B4-BE49-F238E27FC236}">
                <a16:creationId xmlns:a16="http://schemas.microsoft.com/office/drawing/2014/main" id="{5ECC9D67-89DD-AD94-3BE8-8AB77F93F3AC}"/>
              </a:ext>
            </a:extLst>
          </p:cNvPr>
          <p:cNvSpPr>
            <a:spLocks noGrp="1"/>
          </p:cNvSpPr>
          <p:nvPr>
            <p:ph type="pic" sz="quarter" idx="20"/>
          </p:nvPr>
        </p:nvSpPr>
        <p:spPr>
          <a:xfrm>
            <a:off x="4308134" y="1714500"/>
            <a:ext cx="3218192" cy="1663700"/>
          </a:xfrm>
          <a:solidFill>
            <a:schemeClr val="accent2"/>
          </a:solidFill>
        </p:spPr>
        <p:txBody>
          <a:bodyPr anchor="ctr"/>
          <a:lstStyle>
            <a:lvl1pPr algn="ctr">
              <a:defRPr/>
            </a:lvl1pPr>
          </a:lstStyle>
          <a:p>
            <a:endParaRPr lang="en-US"/>
          </a:p>
        </p:txBody>
      </p:sp>
      <p:sp>
        <p:nvSpPr>
          <p:cNvPr id="16" name="Picture Placeholder 13">
            <a:extLst>
              <a:ext uri="{FF2B5EF4-FFF2-40B4-BE49-F238E27FC236}">
                <a16:creationId xmlns:a16="http://schemas.microsoft.com/office/drawing/2014/main" id="{F11DEFB8-BA80-BB3D-C458-66465402BFDC}"/>
              </a:ext>
            </a:extLst>
          </p:cNvPr>
          <p:cNvSpPr>
            <a:spLocks noGrp="1"/>
          </p:cNvSpPr>
          <p:nvPr>
            <p:ph type="pic" sz="quarter" idx="21"/>
          </p:nvPr>
        </p:nvSpPr>
        <p:spPr>
          <a:xfrm>
            <a:off x="8119357" y="1714500"/>
            <a:ext cx="3218192" cy="1663700"/>
          </a:xfrm>
          <a:solidFill>
            <a:schemeClr val="accent2"/>
          </a:solidFill>
        </p:spPr>
        <p:txBody>
          <a:bodyPr anchor="ctr"/>
          <a:lstStyle>
            <a:lvl1pPr algn="ctr">
              <a:defRPr/>
            </a:lvl1pPr>
          </a:lstStyle>
          <a:p>
            <a:endParaRPr lang="en-US"/>
          </a:p>
        </p:txBody>
      </p:sp>
      <p:sp>
        <p:nvSpPr>
          <p:cNvPr id="20" name="Footer Placeholder 5">
            <a:extLst>
              <a:ext uri="{FF2B5EF4-FFF2-40B4-BE49-F238E27FC236}">
                <a16:creationId xmlns:a16="http://schemas.microsoft.com/office/drawing/2014/main" id="{F0E166F0-F95F-1D05-A287-251A139C6CA2}"/>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21" name="Slide Number Placeholder 6">
            <a:extLst>
              <a:ext uri="{FF2B5EF4-FFF2-40B4-BE49-F238E27FC236}">
                <a16:creationId xmlns:a16="http://schemas.microsoft.com/office/drawing/2014/main" id="{3497BD9B-3994-7C1E-50C9-AB457C7F02BD}"/>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3" name="Rectangle 2">
            <a:extLst>
              <a:ext uri="{FF2B5EF4-FFF2-40B4-BE49-F238E27FC236}">
                <a16:creationId xmlns:a16="http://schemas.microsoft.com/office/drawing/2014/main" id="{20DC396A-37C3-88E2-4F5B-E5AA818428C1}"/>
              </a:ext>
            </a:extLst>
          </p:cNvPr>
          <p:cNvSpPr/>
          <p:nvPr userDrawn="1"/>
        </p:nvSpPr>
        <p:spPr>
          <a:xfrm>
            <a:off x="512763" y="3378197"/>
            <a:ext cx="3218192" cy="1828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F72BCF2-879C-41F5-074F-3C352C123100}"/>
              </a:ext>
            </a:extLst>
          </p:cNvPr>
          <p:cNvSpPr/>
          <p:nvPr userDrawn="1"/>
        </p:nvSpPr>
        <p:spPr>
          <a:xfrm>
            <a:off x="4308134" y="3378197"/>
            <a:ext cx="3218192"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96EA6AB-2EF1-6F7D-4247-F7254496D6EE}"/>
              </a:ext>
            </a:extLst>
          </p:cNvPr>
          <p:cNvSpPr/>
          <p:nvPr userDrawn="1"/>
        </p:nvSpPr>
        <p:spPr>
          <a:xfrm>
            <a:off x="8119357" y="3378197"/>
            <a:ext cx="3218192" cy="1828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3091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rge Callout with Image_RE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225C47B-E583-4956-949C-9708AC0FABD9}"/>
              </a:ext>
            </a:extLst>
          </p:cNvPr>
          <p:cNvSpPr/>
          <p:nvPr userDrawn="1"/>
        </p:nvSpPr>
        <p:spPr>
          <a:xfrm>
            <a:off x="7095281" y="0"/>
            <a:ext cx="5096719" cy="5821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9772C01F-DC33-1CEB-8BA5-A45DDDF93E90}"/>
              </a:ext>
            </a:extLst>
          </p:cNvPr>
          <p:cNvSpPr>
            <a:spLocks noGrp="1"/>
          </p:cNvSpPr>
          <p:nvPr>
            <p:ph type="ftr" sz="quarter" idx="10"/>
          </p:nvPr>
        </p:nvSpPr>
        <p:spPr/>
        <p:txBody>
          <a:bodyPr/>
          <a:lstStyle/>
          <a:p>
            <a:pPr>
              <a:lnSpc>
                <a:spcPct val="85000"/>
              </a:lnSpc>
              <a:spcBef>
                <a:spcPct val="20000"/>
              </a:spcBef>
            </a:pPr>
            <a:r>
              <a:rPr lang="en-US"/>
              <a:t>DEPARTMENT PLACEHOLDER</a:t>
            </a:r>
            <a:endParaRPr lang="en-US" dirty="0"/>
          </a:p>
        </p:txBody>
      </p:sp>
      <p:sp>
        <p:nvSpPr>
          <p:cNvPr id="4" name="Slide Number Placeholder 3">
            <a:extLst>
              <a:ext uri="{FF2B5EF4-FFF2-40B4-BE49-F238E27FC236}">
                <a16:creationId xmlns:a16="http://schemas.microsoft.com/office/drawing/2014/main" id="{5EAF7BBA-E6A9-3998-5CD9-E9BCC6833413}"/>
              </a:ext>
            </a:extLst>
          </p:cNvPr>
          <p:cNvSpPr>
            <a:spLocks noGrp="1"/>
          </p:cNvSpPr>
          <p:nvPr>
            <p:ph type="sldNum" sz="quarter" idx="11"/>
          </p:nvPr>
        </p:nvSpPr>
        <p:spPr/>
        <p:txBody>
          <a:bodyPr/>
          <a:lstStyle/>
          <a:p>
            <a:fld id="{E2C19600-1FA6-49A4-BAD8-DAC77A900071}" type="slidenum">
              <a:rPr lang="en-US" smtClean="0"/>
              <a:pPr/>
              <a:t>‹#›</a:t>
            </a:fld>
            <a:endParaRPr lang="en-US" dirty="0"/>
          </a:p>
        </p:txBody>
      </p:sp>
      <p:sp>
        <p:nvSpPr>
          <p:cNvPr id="7" name="Picture Placeholder 6">
            <a:extLst>
              <a:ext uri="{FF2B5EF4-FFF2-40B4-BE49-F238E27FC236}">
                <a16:creationId xmlns:a16="http://schemas.microsoft.com/office/drawing/2014/main" id="{AD9C8231-0F06-C130-3B01-3C74B722BA27}"/>
              </a:ext>
            </a:extLst>
          </p:cNvPr>
          <p:cNvSpPr>
            <a:spLocks noGrp="1"/>
          </p:cNvSpPr>
          <p:nvPr>
            <p:ph type="pic" sz="quarter" idx="12"/>
          </p:nvPr>
        </p:nvSpPr>
        <p:spPr>
          <a:xfrm>
            <a:off x="0" y="0"/>
            <a:ext cx="7094538" cy="5821363"/>
          </a:xfrm>
          <a:solidFill>
            <a:schemeClr val="accent2"/>
          </a:solidFill>
        </p:spPr>
        <p:txBody>
          <a:bodyPr anchor="ctr"/>
          <a:lstStyle>
            <a:lvl1pPr algn="ctr">
              <a:defRPr/>
            </a:lvl1pPr>
          </a:lstStyle>
          <a:p>
            <a:endParaRPr lang="en-US"/>
          </a:p>
        </p:txBody>
      </p:sp>
      <p:sp>
        <p:nvSpPr>
          <p:cNvPr id="9" name="Text Placeholder 8">
            <a:extLst>
              <a:ext uri="{FF2B5EF4-FFF2-40B4-BE49-F238E27FC236}">
                <a16:creationId xmlns:a16="http://schemas.microsoft.com/office/drawing/2014/main" id="{119F8F94-168E-A76F-2A9F-1D254041F57B}"/>
              </a:ext>
            </a:extLst>
          </p:cNvPr>
          <p:cNvSpPr>
            <a:spLocks noGrp="1"/>
          </p:cNvSpPr>
          <p:nvPr>
            <p:ph type="body" sz="quarter" idx="13"/>
          </p:nvPr>
        </p:nvSpPr>
        <p:spPr>
          <a:xfrm>
            <a:off x="7866042" y="903288"/>
            <a:ext cx="3714750" cy="3957637"/>
          </a:xfrm>
        </p:spPr>
        <p:txBody>
          <a:bodyPr/>
          <a:lstStyle>
            <a:lvl1pPr>
              <a:defRPr sz="2400">
                <a:solidFill>
                  <a:schemeClr val="bg1"/>
                </a:solidFill>
              </a:defRPr>
            </a:lvl1pPr>
            <a:lvl2pPr>
              <a:spcBef>
                <a:spcPts val="1800"/>
              </a:spcBef>
              <a:defRPr sz="1600">
                <a:solidFill>
                  <a:schemeClr val="bg1"/>
                </a:solidFill>
              </a:defRPr>
            </a:lvl2pPr>
            <a:lvl3pPr marL="0" indent="0">
              <a:buNone/>
              <a:defRPr sz="1400">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692821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rge Callout with Image_ GRADIENT">
    <p:spTree>
      <p:nvGrpSpPr>
        <p:cNvPr id="1" name=""/>
        <p:cNvGrpSpPr/>
        <p:nvPr/>
      </p:nvGrpSpPr>
      <p:grpSpPr>
        <a:xfrm>
          <a:off x="0" y="0"/>
          <a:ext cx="0" cy="0"/>
          <a:chOff x="0" y="0"/>
          <a:chExt cx="0" cy="0"/>
        </a:xfrm>
      </p:grpSpPr>
      <p:pic>
        <p:nvPicPr>
          <p:cNvPr id="2" name="Content Placeholder 4" descr="A red and green background&#10;&#10;AI-generated content may be incorrect.">
            <a:extLst>
              <a:ext uri="{FF2B5EF4-FFF2-40B4-BE49-F238E27FC236}">
                <a16:creationId xmlns:a16="http://schemas.microsoft.com/office/drawing/2014/main" id="{F572A1C8-8552-05CD-8DEF-01C2B53523B7}"/>
              </a:ext>
            </a:extLst>
          </p:cNvPr>
          <p:cNvPicPr>
            <a:picLocks noChangeAspect="1"/>
          </p:cNvPicPr>
          <p:nvPr userDrawn="1"/>
        </p:nvPicPr>
        <p:blipFill>
          <a:blip r:embed="rId2" cstate="email">
            <a:extLst>
              <a:ext uri="{28A0092B-C50C-407E-A947-70E740481C1C}">
                <a14:useLocalDpi xmlns:a14="http://schemas.microsoft.com/office/drawing/2010/main"/>
              </a:ext>
            </a:extLst>
          </a:blip>
          <a:srcRect l="50753"/>
          <a:stretch/>
        </p:blipFill>
        <p:spPr>
          <a:xfrm>
            <a:off x="7095280" y="0"/>
            <a:ext cx="5096719" cy="5821680"/>
          </a:xfrm>
          <a:prstGeom prst="rect">
            <a:avLst/>
          </a:prstGeom>
        </p:spPr>
      </p:pic>
      <p:sp>
        <p:nvSpPr>
          <p:cNvPr id="3" name="Footer Placeholder 2">
            <a:extLst>
              <a:ext uri="{FF2B5EF4-FFF2-40B4-BE49-F238E27FC236}">
                <a16:creationId xmlns:a16="http://schemas.microsoft.com/office/drawing/2014/main" id="{9772C01F-DC33-1CEB-8BA5-A45DDDF93E90}"/>
              </a:ext>
            </a:extLst>
          </p:cNvPr>
          <p:cNvSpPr>
            <a:spLocks noGrp="1"/>
          </p:cNvSpPr>
          <p:nvPr>
            <p:ph type="ftr" sz="quarter" idx="10"/>
          </p:nvPr>
        </p:nvSpPr>
        <p:spPr/>
        <p:txBody>
          <a:bodyPr/>
          <a:lstStyle/>
          <a:p>
            <a:pPr>
              <a:lnSpc>
                <a:spcPct val="85000"/>
              </a:lnSpc>
              <a:spcBef>
                <a:spcPct val="20000"/>
              </a:spcBef>
            </a:pPr>
            <a:r>
              <a:rPr lang="en-US"/>
              <a:t>DEPARTMENT PLACEHOLDER</a:t>
            </a:r>
            <a:endParaRPr lang="en-US" dirty="0"/>
          </a:p>
        </p:txBody>
      </p:sp>
      <p:sp>
        <p:nvSpPr>
          <p:cNvPr id="4" name="Slide Number Placeholder 3">
            <a:extLst>
              <a:ext uri="{FF2B5EF4-FFF2-40B4-BE49-F238E27FC236}">
                <a16:creationId xmlns:a16="http://schemas.microsoft.com/office/drawing/2014/main" id="{5EAF7BBA-E6A9-3998-5CD9-E9BCC6833413}"/>
              </a:ext>
            </a:extLst>
          </p:cNvPr>
          <p:cNvSpPr>
            <a:spLocks noGrp="1"/>
          </p:cNvSpPr>
          <p:nvPr>
            <p:ph type="sldNum" sz="quarter" idx="11"/>
          </p:nvPr>
        </p:nvSpPr>
        <p:spPr/>
        <p:txBody>
          <a:bodyPr/>
          <a:lstStyle/>
          <a:p>
            <a:fld id="{E2C19600-1FA6-49A4-BAD8-DAC77A900071}" type="slidenum">
              <a:rPr lang="en-US" smtClean="0"/>
              <a:pPr/>
              <a:t>‹#›</a:t>
            </a:fld>
            <a:endParaRPr lang="en-US" dirty="0"/>
          </a:p>
        </p:txBody>
      </p:sp>
      <p:sp>
        <p:nvSpPr>
          <p:cNvPr id="7" name="Picture Placeholder 6">
            <a:extLst>
              <a:ext uri="{FF2B5EF4-FFF2-40B4-BE49-F238E27FC236}">
                <a16:creationId xmlns:a16="http://schemas.microsoft.com/office/drawing/2014/main" id="{AD9C8231-0F06-C130-3B01-3C74B722BA27}"/>
              </a:ext>
            </a:extLst>
          </p:cNvPr>
          <p:cNvSpPr>
            <a:spLocks noGrp="1"/>
          </p:cNvSpPr>
          <p:nvPr>
            <p:ph type="pic" sz="quarter" idx="12"/>
          </p:nvPr>
        </p:nvSpPr>
        <p:spPr>
          <a:xfrm>
            <a:off x="0" y="0"/>
            <a:ext cx="7094538" cy="5821363"/>
          </a:xfrm>
          <a:solidFill>
            <a:schemeClr val="accent2"/>
          </a:solidFill>
        </p:spPr>
        <p:txBody>
          <a:bodyPr anchor="ctr"/>
          <a:lstStyle>
            <a:lvl1pPr algn="ctr">
              <a:defRPr/>
            </a:lvl1pPr>
          </a:lstStyle>
          <a:p>
            <a:endParaRPr lang="en-US"/>
          </a:p>
        </p:txBody>
      </p:sp>
      <p:sp>
        <p:nvSpPr>
          <p:cNvPr id="9" name="Text Placeholder 8">
            <a:extLst>
              <a:ext uri="{FF2B5EF4-FFF2-40B4-BE49-F238E27FC236}">
                <a16:creationId xmlns:a16="http://schemas.microsoft.com/office/drawing/2014/main" id="{119F8F94-168E-A76F-2A9F-1D254041F57B}"/>
              </a:ext>
            </a:extLst>
          </p:cNvPr>
          <p:cNvSpPr>
            <a:spLocks noGrp="1"/>
          </p:cNvSpPr>
          <p:nvPr>
            <p:ph type="body" sz="quarter" idx="13"/>
          </p:nvPr>
        </p:nvSpPr>
        <p:spPr>
          <a:xfrm>
            <a:off x="7866042" y="903288"/>
            <a:ext cx="3714750" cy="3957637"/>
          </a:xfrm>
        </p:spPr>
        <p:txBody>
          <a:bodyPr/>
          <a:lstStyle>
            <a:lvl1pPr>
              <a:defRPr sz="2400">
                <a:solidFill>
                  <a:schemeClr val="bg1"/>
                </a:solidFill>
              </a:defRPr>
            </a:lvl1pPr>
            <a:lvl2pPr>
              <a:spcBef>
                <a:spcPts val="1800"/>
              </a:spcBef>
              <a:defRPr sz="1600">
                <a:solidFill>
                  <a:schemeClr val="bg1"/>
                </a:solidFill>
              </a:defRPr>
            </a:lvl2pPr>
            <a:lvl3pPr marL="0" indent="0">
              <a:buNone/>
              <a:defRPr sz="1400">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2813092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rio 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5185-B6F2-DA27-97F5-A261008249C0}"/>
              </a:ext>
            </a:extLst>
          </p:cNvPr>
          <p:cNvSpPr>
            <a:spLocks noGrp="1"/>
          </p:cNvSpPr>
          <p:nvPr>
            <p:ph type="title"/>
          </p:nvPr>
        </p:nvSpPr>
        <p:spPr>
          <a:xfrm>
            <a:off x="511427" y="437444"/>
            <a:ext cx="11167811" cy="614117"/>
          </a:xfrm>
        </p:spPr>
        <p:txBody>
          <a:bodyPr/>
          <a:lstStyle/>
          <a:p>
            <a:r>
              <a:rPr lang="en-US" dirty="0"/>
              <a:t>Click to edit Master title style</a:t>
            </a:r>
          </a:p>
        </p:txBody>
      </p:sp>
      <p:sp>
        <p:nvSpPr>
          <p:cNvPr id="5" name="Rectangle 4">
            <a:extLst>
              <a:ext uri="{FF2B5EF4-FFF2-40B4-BE49-F238E27FC236}">
                <a16:creationId xmlns:a16="http://schemas.microsoft.com/office/drawing/2014/main" id="{895E45AE-8CD3-04FD-8145-5F22A12DA9AD}"/>
              </a:ext>
            </a:extLst>
          </p:cNvPr>
          <p:cNvSpPr/>
          <p:nvPr userDrawn="1"/>
        </p:nvSpPr>
        <p:spPr>
          <a:xfrm>
            <a:off x="0" y="4220063"/>
            <a:ext cx="12192000" cy="191403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43D3821-B7C2-E329-9CF4-E787569C31B2}"/>
              </a:ext>
            </a:extLst>
          </p:cNvPr>
          <p:cNvSpPr/>
          <p:nvPr userDrawn="1"/>
        </p:nvSpPr>
        <p:spPr>
          <a:xfrm>
            <a:off x="1233708" y="4220063"/>
            <a:ext cx="2398235" cy="19026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19B13CA-8DC4-867F-D557-D69CBB8B67DA}"/>
              </a:ext>
            </a:extLst>
          </p:cNvPr>
          <p:cNvSpPr/>
          <p:nvPr userDrawn="1"/>
        </p:nvSpPr>
        <p:spPr>
          <a:xfrm>
            <a:off x="4896883" y="4220063"/>
            <a:ext cx="2398235" cy="19026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B147C2C-8AD5-4E0E-B86F-FB610E2E8D77}"/>
              </a:ext>
            </a:extLst>
          </p:cNvPr>
          <p:cNvSpPr/>
          <p:nvPr userDrawn="1"/>
        </p:nvSpPr>
        <p:spPr>
          <a:xfrm>
            <a:off x="8508434" y="4220063"/>
            <a:ext cx="2398235" cy="19026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77152127-24A4-5B38-2225-CFB9E1AC963F}"/>
              </a:ext>
            </a:extLst>
          </p:cNvPr>
          <p:cNvSpPr>
            <a:spLocks noGrp="1"/>
          </p:cNvSpPr>
          <p:nvPr>
            <p:ph type="pic" sz="quarter" idx="12"/>
          </p:nvPr>
        </p:nvSpPr>
        <p:spPr>
          <a:xfrm>
            <a:off x="1233488" y="1567448"/>
            <a:ext cx="2398712" cy="2652615"/>
          </a:xfrm>
          <a:solidFill>
            <a:schemeClr val="accent2"/>
          </a:solidFill>
        </p:spPr>
        <p:txBody>
          <a:bodyPr anchor="ctr"/>
          <a:lstStyle>
            <a:lvl1pPr algn="ctr">
              <a:defRPr/>
            </a:lvl1pPr>
          </a:lstStyle>
          <a:p>
            <a:endParaRPr lang="en-US"/>
          </a:p>
        </p:txBody>
      </p:sp>
      <p:sp>
        <p:nvSpPr>
          <p:cNvPr id="12" name="Picture Placeholder 9">
            <a:extLst>
              <a:ext uri="{FF2B5EF4-FFF2-40B4-BE49-F238E27FC236}">
                <a16:creationId xmlns:a16="http://schemas.microsoft.com/office/drawing/2014/main" id="{4B1E2DD4-B1C2-7FB1-C1EA-A46F91A95F78}"/>
              </a:ext>
            </a:extLst>
          </p:cNvPr>
          <p:cNvSpPr>
            <a:spLocks noGrp="1"/>
          </p:cNvSpPr>
          <p:nvPr>
            <p:ph type="pic" sz="quarter" idx="13"/>
          </p:nvPr>
        </p:nvSpPr>
        <p:spPr>
          <a:xfrm>
            <a:off x="4896883" y="1567448"/>
            <a:ext cx="2398712" cy="2652615"/>
          </a:xfrm>
          <a:solidFill>
            <a:schemeClr val="accent2"/>
          </a:solidFill>
        </p:spPr>
        <p:txBody>
          <a:bodyPr anchor="ctr"/>
          <a:lstStyle>
            <a:lvl1pPr algn="ctr">
              <a:defRPr/>
            </a:lvl1pPr>
          </a:lstStyle>
          <a:p>
            <a:endParaRPr lang="en-US" dirty="0"/>
          </a:p>
        </p:txBody>
      </p:sp>
      <p:sp>
        <p:nvSpPr>
          <p:cNvPr id="13" name="Picture Placeholder 9">
            <a:extLst>
              <a:ext uri="{FF2B5EF4-FFF2-40B4-BE49-F238E27FC236}">
                <a16:creationId xmlns:a16="http://schemas.microsoft.com/office/drawing/2014/main" id="{5B101D83-A82D-5B8E-7FA6-80AB668E9941}"/>
              </a:ext>
            </a:extLst>
          </p:cNvPr>
          <p:cNvSpPr>
            <a:spLocks noGrp="1"/>
          </p:cNvSpPr>
          <p:nvPr>
            <p:ph type="pic" sz="quarter" idx="14"/>
          </p:nvPr>
        </p:nvSpPr>
        <p:spPr>
          <a:xfrm>
            <a:off x="8508434" y="1567448"/>
            <a:ext cx="2398712" cy="2652615"/>
          </a:xfrm>
          <a:solidFill>
            <a:schemeClr val="accent2"/>
          </a:solidFill>
        </p:spPr>
        <p:txBody>
          <a:bodyPr anchor="ctr"/>
          <a:lstStyle>
            <a:lvl1pPr algn="ctr">
              <a:defRPr/>
            </a:lvl1pPr>
          </a:lstStyle>
          <a:p>
            <a:endParaRPr lang="en-US" dirty="0"/>
          </a:p>
        </p:txBody>
      </p:sp>
      <p:sp>
        <p:nvSpPr>
          <p:cNvPr id="15" name="Text Placeholder 14">
            <a:extLst>
              <a:ext uri="{FF2B5EF4-FFF2-40B4-BE49-F238E27FC236}">
                <a16:creationId xmlns:a16="http://schemas.microsoft.com/office/drawing/2014/main" id="{02A3F5B9-E2E5-EC83-A97F-CE3D39998690}"/>
              </a:ext>
            </a:extLst>
          </p:cNvPr>
          <p:cNvSpPr>
            <a:spLocks noGrp="1"/>
          </p:cNvSpPr>
          <p:nvPr>
            <p:ph type="body" sz="quarter" idx="15"/>
          </p:nvPr>
        </p:nvSpPr>
        <p:spPr>
          <a:xfrm>
            <a:off x="832803" y="4729251"/>
            <a:ext cx="3170237" cy="1147762"/>
          </a:xfrm>
        </p:spPr>
        <p:txBody>
          <a:bodyPr/>
          <a:lstStyle>
            <a:lvl1pPr algn="ctr">
              <a:defRPr>
                <a:solidFill>
                  <a:schemeClr val="bg1"/>
                </a:solidFill>
              </a:defRPr>
            </a:lvl1pPr>
            <a:lvl2pPr algn="ctr">
              <a:defRPr>
                <a:solidFill>
                  <a:schemeClr val="bg1"/>
                </a:solidFill>
              </a:defRPr>
            </a:lvl2pPr>
            <a:lvl3pPr marL="0" indent="0" algn="ctr">
              <a:buNone/>
              <a:defRPr/>
            </a:lvl3pPr>
            <a:lvl4pPr algn="ctr">
              <a:defRPr/>
            </a:lvl4pPr>
            <a:lvl5pPr algn="ctr">
              <a:defRPr/>
            </a:lvl5pPr>
          </a:lstStyle>
          <a:p>
            <a:pPr lvl="0"/>
            <a:r>
              <a:rPr lang="en-US" dirty="0"/>
              <a:t>Click to edit Master text styles</a:t>
            </a:r>
          </a:p>
          <a:p>
            <a:pPr lvl="1"/>
            <a:r>
              <a:rPr lang="en-US" dirty="0"/>
              <a:t>Second level</a:t>
            </a:r>
          </a:p>
        </p:txBody>
      </p:sp>
      <p:sp>
        <p:nvSpPr>
          <p:cNvPr id="16" name="Text Placeholder 14">
            <a:extLst>
              <a:ext uri="{FF2B5EF4-FFF2-40B4-BE49-F238E27FC236}">
                <a16:creationId xmlns:a16="http://schemas.microsoft.com/office/drawing/2014/main" id="{E3CD09CE-CBA6-D7B7-229E-1DC0D3426C35}"/>
              </a:ext>
            </a:extLst>
          </p:cNvPr>
          <p:cNvSpPr>
            <a:spLocks noGrp="1"/>
          </p:cNvSpPr>
          <p:nvPr>
            <p:ph type="body" sz="quarter" idx="16"/>
          </p:nvPr>
        </p:nvSpPr>
        <p:spPr>
          <a:xfrm>
            <a:off x="4510882" y="4729251"/>
            <a:ext cx="3170237" cy="1147762"/>
          </a:xfrm>
        </p:spPr>
        <p:txBody>
          <a:bodyPr/>
          <a:lstStyle>
            <a:lvl1pPr algn="ctr">
              <a:defRPr>
                <a:solidFill>
                  <a:schemeClr val="bg1"/>
                </a:solidFill>
              </a:defRPr>
            </a:lvl1pPr>
            <a:lvl2pPr algn="ctr">
              <a:defRPr>
                <a:solidFill>
                  <a:schemeClr val="bg1"/>
                </a:solidFill>
              </a:defRPr>
            </a:lvl2pPr>
            <a:lvl3pPr marL="0" indent="0" algn="ctr">
              <a:buNone/>
              <a:defRPr/>
            </a:lvl3pPr>
            <a:lvl4pPr algn="ctr">
              <a:defRPr/>
            </a:lvl4pPr>
            <a:lvl5pPr algn="ctr">
              <a:defRPr/>
            </a:lvl5pPr>
          </a:lstStyle>
          <a:p>
            <a:pPr lvl="0"/>
            <a:r>
              <a:rPr lang="en-US" dirty="0"/>
              <a:t>Click to edit Master text styles</a:t>
            </a:r>
          </a:p>
          <a:p>
            <a:pPr lvl="1"/>
            <a:r>
              <a:rPr lang="en-US" dirty="0"/>
              <a:t>Second level</a:t>
            </a:r>
          </a:p>
        </p:txBody>
      </p:sp>
      <p:sp>
        <p:nvSpPr>
          <p:cNvPr id="17" name="Text Placeholder 14">
            <a:extLst>
              <a:ext uri="{FF2B5EF4-FFF2-40B4-BE49-F238E27FC236}">
                <a16:creationId xmlns:a16="http://schemas.microsoft.com/office/drawing/2014/main" id="{50936DEA-0015-2C53-7764-81D237AA5780}"/>
              </a:ext>
            </a:extLst>
          </p:cNvPr>
          <p:cNvSpPr>
            <a:spLocks noGrp="1"/>
          </p:cNvSpPr>
          <p:nvPr>
            <p:ph type="body" sz="quarter" idx="17"/>
          </p:nvPr>
        </p:nvSpPr>
        <p:spPr>
          <a:xfrm>
            <a:off x="8133080" y="4729251"/>
            <a:ext cx="3170237" cy="1147762"/>
          </a:xfrm>
        </p:spPr>
        <p:txBody>
          <a:bodyPr/>
          <a:lstStyle>
            <a:lvl1pPr algn="ctr">
              <a:defRPr>
                <a:solidFill>
                  <a:schemeClr val="bg1"/>
                </a:solidFill>
              </a:defRPr>
            </a:lvl1pPr>
            <a:lvl2pPr algn="ctr">
              <a:defRPr>
                <a:solidFill>
                  <a:schemeClr val="bg1"/>
                </a:solidFill>
              </a:defRPr>
            </a:lvl2pPr>
            <a:lvl3pPr marL="0" indent="0" algn="ctr">
              <a:buNone/>
              <a:defRPr/>
            </a:lvl3pPr>
            <a:lvl4pPr algn="ctr">
              <a:defRPr/>
            </a:lvl4pPr>
            <a:lvl5pPr algn="ctr">
              <a:defRPr/>
            </a:lvl5pPr>
          </a:lstStyle>
          <a:p>
            <a:pPr lvl="0"/>
            <a:r>
              <a:rPr lang="en-US" dirty="0"/>
              <a:t>Click to edit Master text styles</a:t>
            </a:r>
          </a:p>
          <a:p>
            <a:pPr lvl="1"/>
            <a:r>
              <a:rPr lang="en-US" dirty="0"/>
              <a:t>Second level</a:t>
            </a:r>
          </a:p>
        </p:txBody>
      </p:sp>
      <p:sp>
        <p:nvSpPr>
          <p:cNvPr id="21" name="Footer Placeholder 5">
            <a:extLst>
              <a:ext uri="{FF2B5EF4-FFF2-40B4-BE49-F238E27FC236}">
                <a16:creationId xmlns:a16="http://schemas.microsoft.com/office/drawing/2014/main" id="{35EEC88B-64D7-58A8-A6A3-BAE15852FF3D}"/>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22" name="Slide Number Placeholder 6">
            <a:extLst>
              <a:ext uri="{FF2B5EF4-FFF2-40B4-BE49-F238E27FC236}">
                <a16:creationId xmlns:a16="http://schemas.microsoft.com/office/drawing/2014/main" id="{9DA960EC-7047-D992-6A0D-B2B2BF704DDC}"/>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23" name="Text Placeholder 5">
            <a:extLst>
              <a:ext uri="{FF2B5EF4-FFF2-40B4-BE49-F238E27FC236}">
                <a16:creationId xmlns:a16="http://schemas.microsoft.com/office/drawing/2014/main" id="{73B05B23-359F-5932-B1A5-F90563302333}"/>
              </a:ext>
            </a:extLst>
          </p:cNvPr>
          <p:cNvSpPr>
            <a:spLocks noGrp="1"/>
          </p:cNvSpPr>
          <p:nvPr>
            <p:ph type="body" sz="quarter" idx="18"/>
          </p:nvPr>
        </p:nvSpPr>
        <p:spPr>
          <a:xfrm>
            <a:off x="512763" y="1051561"/>
            <a:ext cx="11166475"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Tree>
    <p:extLst>
      <p:ext uri="{BB962C8B-B14F-4D97-AF65-F5344CB8AC3E}">
        <p14:creationId xmlns:p14="http://schemas.microsoft.com/office/powerpoint/2010/main" val="1014201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27E08-94CF-6FA6-259A-D4B0215436A1}"/>
              </a:ext>
            </a:extLst>
          </p:cNvPr>
          <p:cNvSpPr>
            <a:spLocks noGrp="1"/>
          </p:cNvSpPr>
          <p:nvPr>
            <p:ph type="title" hasCustomPrompt="1"/>
          </p:nvPr>
        </p:nvSpPr>
        <p:spPr>
          <a:xfrm>
            <a:off x="511427" y="2357290"/>
            <a:ext cx="3593213" cy="980194"/>
          </a:xfrm>
        </p:spPr>
        <p:txBody>
          <a:bodyPr/>
          <a:lstStyle>
            <a:lvl1pPr>
              <a:defRPr sz="5400">
                <a:latin typeface="Georgia" panose="02040502050405020303" pitchFamily="18" charset="0"/>
              </a:defRPr>
            </a:lvl1pPr>
          </a:lstStyle>
          <a:p>
            <a:r>
              <a:rPr lang="en-US" dirty="0"/>
              <a:t>Agenda</a:t>
            </a:r>
          </a:p>
        </p:txBody>
      </p:sp>
      <p:sp>
        <p:nvSpPr>
          <p:cNvPr id="5" name="Rectangle 4">
            <a:extLst>
              <a:ext uri="{FF2B5EF4-FFF2-40B4-BE49-F238E27FC236}">
                <a16:creationId xmlns:a16="http://schemas.microsoft.com/office/drawing/2014/main" id="{4FAF18C4-8E88-BC25-A282-A9E543495953}"/>
              </a:ext>
            </a:extLst>
          </p:cNvPr>
          <p:cNvSpPr/>
          <p:nvPr userDrawn="1"/>
        </p:nvSpPr>
        <p:spPr>
          <a:xfrm>
            <a:off x="4104640" y="619760"/>
            <a:ext cx="8087360" cy="514096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Content Placeholder 4">
            <a:extLst>
              <a:ext uri="{FF2B5EF4-FFF2-40B4-BE49-F238E27FC236}">
                <a16:creationId xmlns:a16="http://schemas.microsoft.com/office/drawing/2014/main" id="{98F1CF70-BAC4-4070-0CC3-53C7E9D38566}"/>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4104641" y="5509548"/>
            <a:ext cx="8085245" cy="251171"/>
          </a:xfrm>
          <a:prstGeom prst="rect">
            <a:avLst/>
          </a:prstGeom>
        </p:spPr>
      </p:pic>
      <p:cxnSp>
        <p:nvCxnSpPr>
          <p:cNvPr id="7" name="Straight Connector 6">
            <a:extLst>
              <a:ext uri="{FF2B5EF4-FFF2-40B4-BE49-F238E27FC236}">
                <a16:creationId xmlns:a16="http://schemas.microsoft.com/office/drawing/2014/main" id="{81604BCD-BC3A-DE84-90AD-BB35133C98FF}"/>
              </a:ext>
            </a:extLst>
          </p:cNvPr>
          <p:cNvCxnSpPr>
            <a:cxnSpLocks/>
          </p:cNvCxnSpPr>
          <p:nvPr userDrawn="1"/>
        </p:nvCxnSpPr>
        <p:spPr>
          <a:xfrm>
            <a:off x="512763" y="1696519"/>
            <a:ext cx="1424596" cy="0"/>
          </a:xfrm>
          <a:prstGeom prst="line">
            <a:avLst/>
          </a:prstGeom>
          <a:ln w="57150">
            <a:solidFill>
              <a:schemeClr val="tx2"/>
            </a:solidFill>
          </a:ln>
        </p:spPr>
        <p:style>
          <a:lnRef idx="1">
            <a:schemeClr val="accent6"/>
          </a:lnRef>
          <a:fillRef idx="0">
            <a:schemeClr val="accent6"/>
          </a:fillRef>
          <a:effectRef idx="0">
            <a:schemeClr val="accent6"/>
          </a:effectRef>
          <a:fontRef idx="minor">
            <a:schemeClr val="tx1"/>
          </a:fontRef>
        </p:style>
      </p:cxnSp>
      <p:sp>
        <p:nvSpPr>
          <p:cNvPr id="8" name="Text Placeholder 10">
            <a:extLst>
              <a:ext uri="{FF2B5EF4-FFF2-40B4-BE49-F238E27FC236}">
                <a16:creationId xmlns:a16="http://schemas.microsoft.com/office/drawing/2014/main" id="{F7FF7787-EC31-5F16-15F3-D99D80060DCB}"/>
              </a:ext>
            </a:extLst>
          </p:cNvPr>
          <p:cNvSpPr>
            <a:spLocks noGrp="1"/>
          </p:cNvSpPr>
          <p:nvPr>
            <p:ph type="body" sz="quarter" idx="12"/>
          </p:nvPr>
        </p:nvSpPr>
        <p:spPr>
          <a:xfrm>
            <a:off x="512763" y="1217639"/>
            <a:ext cx="2977197" cy="402336"/>
          </a:xfrm>
        </p:spPr>
        <p:txBody>
          <a:bodyPr>
            <a:noAutofit/>
          </a:bodyPr>
          <a:lstStyle>
            <a:lvl1pPr>
              <a:defRPr sz="1800" i="0">
                <a:solidFill>
                  <a:schemeClr val="tx2"/>
                </a:solidFill>
              </a:defRPr>
            </a:lvl1pPr>
          </a:lstStyle>
          <a:p>
            <a:pPr lvl="0"/>
            <a:r>
              <a:rPr lang="en-US" dirty="0"/>
              <a:t>Click to edit Master text styles</a:t>
            </a:r>
          </a:p>
        </p:txBody>
      </p:sp>
      <p:sp>
        <p:nvSpPr>
          <p:cNvPr id="13" name="Footer Placeholder 5">
            <a:extLst>
              <a:ext uri="{FF2B5EF4-FFF2-40B4-BE49-F238E27FC236}">
                <a16:creationId xmlns:a16="http://schemas.microsoft.com/office/drawing/2014/main" id="{C4E4B447-5E78-26D1-11D4-9F10C5ADB49A}"/>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4" name="Slide Number Placeholder 6">
            <a:extLst>
              <a:ext uri="{FF2B5EF4-FFF2-40B4-BE49-F238E27FC236}">
                <a16:creationId xmlns:a16="http://schemas.microsoft.com/office/drawing/2014/main" id="{DE2CBB75-E971-3468-55D8-59660AE2DE5D}"/>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1840923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Only">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32017E2-0C1F-52A1-C0B6-4354EC8C6656}"/>
              </a:ext>
            </a:extLst>
          </p:cNvPr>
          <p:cNvSpPr>
            <a:spLocks noGrp="1"/>
          </p:cNvSpPr>
          <p:nvPr>
            <p:ph type="pic" sz="quarter" idx="12" hasCustomPrompt="1"/>
          </p:nvPr>
        </p:nvSpPr>
        <p:spPr>
          <a:xfrm>
            <a:off x="0" y="0"/>
            <a:ext cx="12192000" cy="6134100"/>
          </a:xfrm>
          <a:solidFill>
            <a:schemeClr val="accent2"/>
          </a:solidFill>
        </p:spPr>
        <p:txBody>
          <a:bodyPr anchor="ctr"/>
          <a:lstStyle>
            <a:lvl1pPr algn="ctr">
              <a:defRPr b="0">
                <a:solidFill>
                  <a:schemeClr val="tx1">
                    <a:lumMod val="65000"/>
                    <a:lumOff val="35000"/>
                  </a:schemeClr>
                </a:solidFill>
              </a:defRPr>
            </a:lvl1pPr>
          </a:lstStyle>
          <a:p>
            <a:r>
              <a:rPr lang="en-US" dirty="0"/>
              <a:t>Image only slide (click icon to add image)</a:t>
            </a:r>
          </a:p>
        </p:txBody>
      </p:sp>
      <p:sp>
        <p:nvSpPr>
          <p:cNvPr id="10" name="Footer Placeholder 5">
            <a:extLst>
              <a:ext uri="{FF2B5EF4-FFF2-40B4-BE49-F238E27FC236}">
                <a16:creationId xmlns:a16="http://schemas.microsoft.com/office/drawing/2014/main" id="{477122EF-EC77-5683-5F0C-EEB6518DB36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1" name="Slide Number Placeholder 6">
            <a:extLst>
              <a:ext uri="{FF2B5EF4-FFF2-40B4-BE49-F238E27FC236}">
                <a16:creationId xmlns:a16="http://schemas.microsoft.com/office/drawing/2014/main" id="{62C41F0B-5AAD-8344-8A22-63D161AC280B}"/>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4006429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Only_GRADIENT">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822EF925-F91E-CF0B-2906-3149E56CD5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537" y="6134100"/>
            <a:ext cx="12189463" cy="723901"/>
          </a:xfrm>
          <a:prstGeom prst="rect">
            <a:avLst/>
          </a:prstGeom>
        </p:spPr>
      </p:pic>
      <p:sp>
        <p:nvSpPr>
          <p:cNvPr id="6" name="Picture Placeholder 5">
            <a:extLst>
              <a:ext uri="{FF2B5EF4-FFF2-40B4-BE49-F238E27FC236}">
                <a16:creationId xmlns:a16="http://schemas.microsoft.com/office/drawing/2014/main" id="{C32017E2-0C1F-52A1-C0B6-4354EC8C6656}"/>
              </a:ext>
            </a:extLst>
          </p:cNvPr>
          <p:cNvSpPr>
            <a:spLocks noGrp="1"/>
          </p:cNvSpPr>
          <p:nvPr>
            <p:ph type="pic" sz="quarter" idx="12" hasCustomPrompt="1"/>
          </p:nvPr>
        </p:nvSpPr>
        <p:spPr>
          <a:xfrm>
            <a:off x="0" y="0"/>
            <a:ext cx="12192000" cy="6134100"/>
          </a:xfrm>
          <a:solidFill>
            <a:schemeClr val="accent2"/>
          </a:solidFill>
        </p:spPr>
        <p:txBody>
          <a:bodyPr anchor="ctr"/>
          <a:lstStyle>
            <a:lvl1pPr algn="ctr">
              <a:defRPr b="0">
                <a:solidFill>
                  <a:schemeClr val="tx1">
                    <a:lumMod val="65000"/>
                    <a:lumOff val="35000"/>
                  </a:schemeClr>
                </a:solidFill>
              </a:defRPr>
            </a:lvl1pPr>
          </a:lstStyle>
          <a:p>
            <a:r>
              <a:rPr lang="en-US" dirty="0"/>
              <a:t>Image only slide (click icon to add image)</a:t>
            </a:r>
          </a:p>
        </p:txBody>
      </p:sp>
      <p:sp>
        <p:nvSpPr>
          <p:cNvPr id="10" name="Footer Placeholder 5">
            <a:extLst>
              <a:ext uri="{FF2B5EF4-FFF2-40B4-BE49-F238E27FC236}">
                <a16:creationId xmlns:a16="http://schemas.microsoft.com/office/drawing/2014/main" id="{477122EF-EC77-5683-5F0C-EEB6518DB36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1" name="Slide Number Placeholder 6">
            <a:extLst>
              <a:ext uri="{FF2B5EF4-FFF2-40B4-BE49-F238E27FC236}">
                <a16:creationId xmlns:a16="http://schemas.microsoft.com/office/drawing/2014/main" id="{62C41F0B-5AAD-8344-8A22-63D161AC280B}"/>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pic>
        <p:nvPicPr>
          <p:cNvPr id="3" name="Graphic 2">
            <a:extLst>
              <a:ext uri="{FF2B5EF4-FFF2-40B4-BE49-F238E27FC236}">
                <a16:creationId xmlns:a16="http://schemas.microsoft.com/office/drawing/2014/main" id="{FE06A606-B049-1036-FB09-50B455B5BAA2}"/>
              </a:ext>
            </a:extLst>
          </p:cNvPr>
          <p:cNvPicPr>
            <a:picLocks noChangeAspect="1"/>
          </p:cNvPicPr>
          <p:nvPr userDrawn="1"/>
        </p:nvPicPr>
        <p:blipFill>
          <a:blip>
            <a:extLst>
              <a:ext uri="{96DAC541-7B7A-43D3-8B79-37D633B846F1}">
                <asvg:svgBlip xmlns:asvg="http://schemas.microsoft.com/office/drawing/2016/SVG/main" r:embed="rId3"/>
              </a:ext>
            </a:extLst>
          </a:blip>
          <a:srcRect r="41905"/>
          <a:stretch>
            <a:fillRect/>
          </a:stretch>
        </p:blipFill>
        <p:spPr>
          <a:xfrm>
            <a:off x="511426" y="6353070"/>
            <a:ext cx="1381169" cy="323734"/>
          </a:xfrm>
          <a:prstGeom prst="rect">
            <a:avLst/>
          </a:prstGeom>
        </p:spPr>
      </p:pic>
    </p:spTree>
    <p:extLst>
      <p:ext uri="{BB962C8B-B14F-4D97-AF65-F5344CB8AC3E}">
        <p14:creationId xmlns:p14="http://schemas.microsoft.com/office/powerpoint/2010/main" val="3852114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eader, subhead and gradient footer">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822EF925-F91E-CF0B-2906-3149E56CD5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6134099"/>
            <a:ext cx="12190732" cy="723901"/>
          </a:xfrm>
          <a:prstGeom prst="rect">
            <a:avLst/>
          </a:prstGeom>
        </p:spPr>
      </p:pic>
      <p:sp>
        <p:nvSpPr>
          <p:cNvPr id="10" name="Footer Placeholder 5">
            <a:extLst>
              <a:ext uri="{FF2B5EF4-FFF2-40B4-BE49-F238E27FC236}">
                <a16:creationId xmlns:a16="http://schemas.microsoft.com/office/drawing/2014/main" id="{477122EF-EC77-5683-5F0C-EEB6518DB36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1" name="Slide Number Placeholder 6">
            <a:extLst>
              <a:ext uri="{FF2B5EF4-FFF2-40B4-BE49-F238E27FC236}">
                <a16:creationId xmlns:a16="http://schemas.microsoft.com/office/drawing/2014/main" id="{62C41F0B-5AAD-8344-8A22-63D161AC280B}"/>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
        <p:nvSpPr>
          <p:cNvPr id="5" name="Title 1">
            <a:extLst>
              <a:ext uri="{FF2B5EF4-FFF2-40B4-BE49-F238E27FC236}">
                <a16:creationId xmlns:a16="http://schemas.microsoft.com/office/drawing/2014/main" id="{7588FC03-5CCE-0D86-8A3A-F919435777AE}"/>
              </a:ext>
            </a:extLst>
          </p:cNvPr>
          <p:cNvSpPr>
            <a:spLocks noGrp="1"/>
          </p:cNvSpPr>
          <p:nvPr>
            <p:ph type="title"/>
          </p:nvPr>
        </p:nvSpPr>
        <p:spPr>
          <a:xfrm>
            <a:off x="511427" y="437444"/>
            <a:ext cx="11167811" cy="614116"/>
          </a:xfrm>
        </p:spPr>
        <p:txBody>
          <a:bodyPr/>
          <a:lstStyle/>
          <a:p>
            <a:r>
              <a:rPr lang="en-US" dirty="0"/>
              <a:t>Click to edit Master title style</a:t>
            </a:r>
          </a:p>
        </p:txBody>
      </p:sp>
      <p:sp>
        <p:nvSpPr>
          <p:cNvPr id="7" name="Text Placeholder 5">
            <a:extLst>
              <a:ext uri="{FF2B5EF4-FFF2-40B4-BE49-F238E27FC236}">
                <a16:creationId xmlns:a16="http://schemas.microsoft.com/office/drawing/2014/main" id="{A2BE9C5B-C374-57E0-7BD7-2A01F8707B02}"/>
              </a:ext>
            </a:extLst>
          </p:cNvPr>
          <p:cNvSpPr>
            <a:spLocks noGrp="1"/>
          </p:cNvSpPr>
          <p:nvPr>
            <p:ph type="body" sz="quarter" idx="12"/>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pic>
        <p:nvPicPr>
          <p:cNvPr id="6" name="Graphic 5">
            <a:extLst>
              <a:ext uri="{FF2B5EF4-FFF2-40B4-BE49-F238E27FC236}">
                <a16:creationId xmlns:a16="http://schemas.microsoft.com/office/drawing/2014/main" id="{E90BD3B1-489B-2447-0D11-E1BF10A2A188}"/>
              </a:ext>
            </a:extLst>
          </p:cNvPr>
          <p:cNvPicPr>
            <a:picLocks noChangeAspect="1"/>
          </p:cNvPicPr>
          <p:nvPr userDrawn="1"/>
        </p:nvPicPr>
        <p:blipFill>
          <a:blip>
            <a:extLst>
              <a:ext uri="{96DAC541-7B7A-43D3-8B79-37D633B846F1}">
                <asvg:svgBlip xmlns:asvg="http://schemas.microsoft.com/office/drawing/2016/SVG/main" r:embed="rId3"/>
              </a:ext>
            </a:extLst>
          </a:blip>
          <a:srcRect r="41905"/>
          <a:stretch>
            <a:fillRect/>
          </a:stretch>
        </p:blipFill>
        <p:spPr>
          <a:xfrm>
            <a:off x="511426" y="6353070"/>
            <a:ext cx="1381169" cy="323734"/>
          </a:xfrm>
          <a:prstGeom prst="rect">
            <a:avLst/>
          </a:prstGeom>
        </p:spPr>
      </p:pic>
    </p:spTree>
    <p:extLst>
      <p:ext uri="{BB962C8B-B14F-4D97-AF65-F5344CB8AC3E}">
        <p14:creationId xmlns:p14="http://schemas.microsoft.com/office/powerpoint/2010/main" val="3713476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der, subhead and red foot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03525CB-3575-15ED-8355-4B7991B1D33D}"/>
              </a:ext>
            </a:extLst>
          </p:cNvPr>
          <p:cNvSpPr/>
          <p:nvPr userDrawn="1"/>
        </p:nvSpPr>
        <p:spPr>
          <a:xfrm>
            <a:off x="0" y="6134099"/>
            <a:ext cx="12192000" cy="72920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Footer Placeholder 5">
            <a:extLst>
              <a:ext uri="{FF2B5EF4-FFF2-40B4-BE49-F238E27FC236}">
                <a16:creationId xmlns:a16="http://schemas.microsoft.com/office/drawing/2014/main" id="{477122EF-EC77-5683-5F0C-EEB6518DB36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1" name="Slide Number Placeholder 6">
            <a:extLst>
              <a:ext uri="{FF2B5EF4-FFF2-40B4-BE49-F238E27FC236}">
                <a16:creationId xmlns:a16="http://schemas.microsoft.com/office/drawing/2014/main" id="{62C41F0B-5AAD-8344-8A22-63D161AC280B}"/>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
        <p:nvSpPr>
          <p:cNvPr id="5" name="Title 1">
            <a:extLst>
              <a:ext uri="{FF2B5EF4-FFF2-40B4-BE49-F238E27FC236}">
                <a16:creationId xmlns:a16="http://schemas.microsoft.com/office/drawing/2014/main" id="{7588FC03-5CCE-0D86-8A3A-F919435777AE}"/>
              </a:ext>
            </a:extLst>
          </p:cNvPr>
          <p:cNvSpPr>
            <a:spLocks noGrp="1"/>
          </p:cNvSpPr>
          <p:nvPr>
            <p:ph type="title"/>
          </p:nvPr>
        </p:nvSpPr>
        <p:spPr>
          <a:xfrm>
            <a:off x="511427" y="437444"/>
            <a:ext cx="11167811" cy="614116"/>
          </a:xfrm>
        </p:spPr>
        <p:txBody>
          <a:bodyPr/>
          <a:lstStyle/>
          <a:p>
            <a:r>
              <a:rPr lang="en-US" dirty="0"/>
              <a:t>Click to edit Master title style</a:t>
            </a:r>
          </a:p>
        </p:txBody>
      </p:sp>
      <p:sp>
        <p:nvSpPr>
          <p:cNvPr id="7" name="Text Placeholder 5">
            <a:extLst>
              <a:ext uri="{FF2B5EF4-FFF2-40B4-BE49-F238E27FC236}">
                <a16:creationId xmlns:a16="http://schemas.microsoft.com/office/drawing/2014/main" id="{A2BE9C5B-C374-57E0-7BD7-2A01F8707B02}"/>
              </a:ext>
            </a:extLst>
          </p:cNvPr>
          <p:cNvSpPr>
            <a:spLocks noGrp="1"/>
          </p:cNvSpPr>
          <p:nvPr>
            <p:ph type="body" sz="quarter" idx="12"/>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pic>
        <p:nvPicPr>
          <p:cNvPr id="2" name="Graphic 1">
            <a:extLst>
              <a:ext uri="{FF2B5EF4-FFF2-40B4-BE49-F238E27FC236}">
                <a16:creationId xmlns:a16="http://schemas.microsoft.com/office/drawing/2014/main" id="{DA132C04-CB78-14F0-5958-754E3BF58D22}"/>
              </a:ext>
            </a:extLst>
          </p:cNvPr>
          <p:cNvPicPr>
            <a:picLocks noChangeAspect="1"/>
          </p:cNvPicPr>
          <p:nvPr userDrawn="1"/>
        </p:nvPicPr>
        <p:blipFill>
          <a:blip>
            <a:extLst>
              <a:ext uri="{96DAC541-7B7A-43D3-8B79-37D633B846F1}">
                <asvg:svgBlip xmlns:asvg="http://schemas.microsoft.com/office/drawing/2016/SVG/main" r:embed="rId2"/>
              </a:ext>
            </a:extLst>
          </a:blip>
          <a:srcRect r="42800"/>
          <a:stretch>
            <a:fillRect/>
          </a:stretch>
        </p:blipFill>
        <p:spPr>
          <a:xfrm>
            <a:off x="511426" y="6353070"/>
            <a:ext cx="1359904" cy="323734"/>
          </a:xfrm>
          <a:prstGeom prst="rect">
            <a:avLst/>
          </a:prstGeom>
        </p:spPr>
      </p:pic>
    </p:spTree>
    <p:extLst>
      <p:ext uri="{BB962C8B-B14F-4D97-AF65-F5344CB8AC3E}">
        <p14:creationId xmlns:p14="http://schemas.microsoft.com/office/powerpoint/2010/main" val="3685026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reaker 1">
    <p:spTree>
      <p:nvGrpSpPr>
        <p:cNvPr id="1" name=""/>
        <p:cNvGrpSpPr/>
        <p:nvPr/>
      </p:nvGrpSpPr>
      <p:grpSpPr>
        <a:xfrm>
          <a:off x="0" y="0"/>
          <a:ext cx="0" cy="0"/>
          <a:chOff x="0" y="0"/>
          <a:chExt cx="0" cy="0"/>
        </a:xfrm>
      </p:grpSpPr>
      <p:pic>
        <p:nvPicPr>
          <p:cNvPr id="5" name="Content Placeholder 4" descr="A red and green background&#10;&#10;AI-generated content may be incorrect.">
            <a:extLst>
              <a:ext uri="{FF2B5EF4-FFF2-40B4-BE49-F238E27FC236}">
                <a16:creationId xmlns:a16="http://schemas.microsoft.com/office/drawing/2014/main" id="{0EE4CDF9-A3FF-60F3-225A-734B7689318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42750F60-94FB-79D6-0C78-BB344949A7FA}"/>
              </a:ext>
            </a:extLst>
          </p:cNvPr>
          <p:cNvPicPr>
            <a:picLocks noChangeAspect="1"/>
          </p:cNvPicPr>
          <p:nvPr userDrawn="1"/>
        </p:nvPicPr>
        <p:blipFill>
          <a:blip r:embed="rId3"/>
          <a:srcRect t="591" r="26918" b="32805"/>
          <a:stretch/>
        </p:blipFill>
        <p:spPr>
          <a:xfrm>
            <a:off x="5613242" y="0"/>
            <a:ext cx="6578757" cy="6858000"/>
          </a:xfrm>
          <a:prstGeom prst="rect">
            <a:avLst/>
          </a:prstGeom>
        </p:spPr>
      </p:pic>
      <p:pic>
        <p:nvPicPr>
          <p:cNvPr id="10" name="Graphic 9">
            <a:extLst>
              <a:ext uri="{FF2B5EF4-FFF2-40B4-BE49-F238E27FC236}">
                <a16:creationId xmlns:a16="http://schemas.microsoft.com/office/drawing/2014/main" id="{9275B372-8BD2-273A-2BEE-315CE5994D44}"/>
              </a:ext>
            </a:extLst>
          </p:cNvPr>
          <p:cNvPicPr>
            <a:picLocks noChangeAspect="1"/>
          </p:cNvPicPr>
          <p:nvPr userDrawn="1"/>
        </p:nvPicPr>
        <p:blipFill>
          <a:blip>
            <a:extLst>
              <a:ext uri="{96DAC541-7B7A-43D3-8B79-37D633B846F1}">
                <asvg:svgBlip xmlns:asvg="http://schemas.microsoft.com/office/drawing/2016/SVG/main" r:embed="rId4"/>
              </a:ext>
            </a:extLst>
          </a:blip>
          <a:srcRect r="42466"/>
          <a:stretch>
            <a:fillRect/>
          </a:stretch>
        </p:blipFill>
        <p:spPr>
          <a:xfrm>
            <a:off x="512763" y="1500396"/>
            <a:ext cx="2377921" cy="562806"/>
          </a:xfrm>
          <a:prstGeom prst="rect">
            <a:avLst/>
          </a:prstGeom>
        </p:spPr>
      </p:pic>
      <p:sp>
        <p:nvSpPr>
          <p:cNvPr id="12" name="Text Placeholder 15">
            <a:extLst>
              <a:ext uri="{FF2B5EF4-FFF2-40B4-BE49-F238E27FC236}">
                <a16:creationId xmlns:a16="http://schemas.microsoft.com/office/drawing/2014/main" id="{1298D4D4-817F-775A-F0A7-805017E61827}"/>
              </a:ext>
            </a:extLst>
          </p:cNvPr>
          <p:cNvSpPr>
            <a:spLocks noGrp="1"/>
          </p:cNvSpPr>
          <p:nvPr>
            <p:ph type="body" sz="quarter" idx="13"/>
          </p:nvPr>
        </p:nvSpPr>
        <p:spPr>
          <a:xfrm>
            <a:off x="512763" y="2451633"/>
            <a:ext cx="5472849" cy="2511425"/>
          </a:xfrm>
        </p:spPr>
        <p:txBody>
          <a:bodyPr/>
          <a:lstStyle>
            <a:lvl1pPr>
              <a:defRPr sz="4400">
                <a:solidFill>
                  <a:schemeClr val="bg1"/>
                </a:solidFill>
              </a:defRPr>
            </a:lvl1pPr>
            <a:lvl2pPr>
              <a:spcBef>
                <a:spcPts val="2400"/>
              </a:spcBef>
              <a:defRPr sz="2400">
                <a:solidFill>
                  <a:schemeClr val="bg1"/>
                </a:solidFill>
              </a:defRPr>
            </a:lvl2pPr>
          </a:lstStyle>
          <a:p>
            <a:pPr lvl="0"/>
            <a:r>
              <a:rPr lang="en-US" dirty="0"/>
              <a:t>Click to edit Master text styles</a:t>
            </a:r>
          </a:p>
          <a:p>
            <a:pPr lvl="1"/>
            <a:r>
              <a:rPr lang="en-US" dirty="0"/>
              <a:t>Second level</a:t>
            </a:r>
          </a:p>
        </p:txBody>
      </p:sp>
      <p:sp>
        <p:nvSpPr>
          <p:cNvPr id="13" name="TextBox 12">
            <a:extLst>
              <a:ext uri="{FF2B5EF4-FFF2-40B4-BE49-F238E27FC236}">
                <a16:creationId xmlns:a16="http://schemas.microsoft.com/office/drawing/2014/main" id="{CDC51F79-C1BF-23EE-E735-4465B3DB39B0}"/>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Tree>
    <p:extLst>
      <p:ext uri="{BB962C8B-B14F-4D97-AF65-F5344CB8AC3E}">
        <p14:creationId xmlns:p14="http://schemas.microsoft.com/office/powerpoint/2010/main" val="3817666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reaker 2">
    <p:spTree>
      <p:nvGrpSpPr>
        <p:cNvPr id="1" name=""/>
        <p:cNvGrpSpPr/>
        <p:nvPr/>
      </p:nvGrpSpPr>
      <p:grpSpPr>
        <a:xfrm>
          <a:off x="0" y="0"/>
          <a:ext cx="0" cy="0"/>
          <a:chOff x="0" y="0"/>
          <a:chExt cx="0" cy="0"/>
        </a:xfrm>
      </p:grpSpPr>
      <p:pic>
        <p:nvPicPr>
          <p:cNvPr id="3074" name="Picture 2" descr="PhD in Social Work - Brown School at Washington University in St. Louis">
            <a:extLst>
              <a:ext uri="{FF2B5EF4-FFF2-40B4-BE49-F238E27FC236}">
                <a16:creationId xmlns:a16="http://schemas.microsoft.com/office/drawing/2014/main" id="{4F9A68E1-9E2A-544D-6695-F11E6951FED4}"/>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b="6404"/>
          <a:stretch>
            <a:fillRect/>
          </a:stretch>
        </p:blipFill>
        <p:spPr bwMode="auto">
          <a:xfrm>
            <a:off x="0" y="-1"/>
            <a:ext cx="5135880" cy="6858001"/>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4" descr="A red and green background&#10;&#10;AI-generated content may be incorrect.">
            <a:extLst>
              <a:ext uri="{FF2B5EF4-FFF2-40B4-BE49-F238E27FC236}">
                <a16:creationId xmlns:a16="http://schemas.microsoft.com/office/drawing/2014/main" id="{8F956D9F-0A69-EE76-C183-A385E517B76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5135880" y="0"/>
            <a:ext cx="7056120" cy="6858000"/>
          </a:xfrm>
          <a:prstGeom prst="rect">
            <a:avLst/>
          </a:prstGeom>
        </p:spPr>
      </p:pic>
      <p:sp>
        <p:nvSpPr>
          <p:cNvPr id="8" name="Text Placeholder 15">
            <a:extLst>
              <a:ext uri="{FF2B5EF4-FFF2-40B4-BE49-F238E27FC236}">
                <a16:creationId xmlns:a16="http://schemas.microsoft.com/office/drawing/2014/main" id="{302A3209-7CC7-A2A4-5597-06B82D23E37E}"/>
              </a:ext>
            </a:extLst>
          </p:cNvPr>
          <p:cNvSpPr>
            <a:spLocks noGrp="1"/>
          </p:cNvSpPr>
          <p:nvPr>
            <p:ph type="body" sz="quarter" idx="13"/>
          </p:nvPr>
        </p:nvSpPr>
        <p:spPr>
          <a:xfrm>
            <a:off x="6979921" y="1487665"/>
            <a:ext cx="4699317" cy="2511425"/>
          </a:xfrm>
        </p:spPr>
        <p:txBody>
          <a:bodyPr/>
          <a:lstStyle>
            <a:lvl1pPr>
              <a:defRPr sz="4400">
                <a:solidFill>
                  <a:schemeClr val="bg1"/>
                </a:solidFill>
              </a:defRPr>
            </a:lvl1pPr>
            <a:lvl2pPr>
              <a:spcBef>
                <a:spcPts val="2400"/>
              </a:spcBef>
              <a:defRPr sz="2400">
                <a:solidFill>
                  <a:schemeClr val="bg1"/>
                </a:solidFill>
              </a:defRPr>
            </a:lvl2pPr>
          </a:lstStyle>
          <a:p>
            <a:pPr lvl="0"/>
            <a:r>
              <a:rPr lang="en-US" dirty="0"/>
              <a:t>Click to edit Master text styles</a:t>
            </a:r>
          </a:p>
          <a:p>
            <a:pPr lvl="1"/>
            <a:r>
              <a:rPr lang="en-US" dirty="0"/>
              <a:t>Second level</a:t>
            </a:r>
          </a:p>
        </p:txBody>
      </p:sp>
      <p:pic>
        <p:nvPicPr>
          <p:cNvPr id="10" name="Graphic 9">
            <a:extLst>
              <a:ext uri="{FF2B5EF4-FFF2-40B4-BE49-F238E27FC236}">
                <a16:creationId xmlns:a16="http://schemas.microsoft.com/office/drawing/2014/main" id="{32F57A4A-EAEE-8F7F-EA10-43FBDD977B97}"/>
              </a:ext>
            </a:extLst>
          </p:cNvPr>
          <p:cNvPicPr>
            <a:picLocks noChangeAspect="1"/>
          </p:cNvPicPr>
          <p:nvPr userDrawn="1"/>
        </p:nvPicPr>
        <p:blipFill>
          <a:blip>
            <a:extLst>
              <a:ext uri="{96DAC541-7B7A-43D3-8B79-37D633B846F1}">
                <asvg:svgBlip xmlns:asvg="http://schemas.microsoft.com/office/drawing/2016/SVG/main" r:embed="rId4"/>
              </a:ext>
            </a:extLst>
          </a:blip>
          <a:srcRect r="41317"/>
          <a:stretch>
            <a:fillRect/>
          </a:stretch>
        </p:blipFill>
        <p:spPr>
          <a:xfrm>
            <a:off x="6979921" y="755694"/>
            <a:ext cx="1493519" cy="346564"/>
          </a:xfrm>
          <a:prstGeom prst="rect">
            <a:avLst/>
          </a:prstGeom>
        </p:spPr>
      </p:pic>
      <p:sp>
        <p:nvSpPr>
          <p:cNvPr id="13" name="TextBox 12">
            <a:extLst>
              <a:ext uri="{FF2B5EF4-FFF2-40B4-BE49-F238E27FC236}">
                <a16:creationId xmlns:a16="http://schemas.microsoft.com/office/drawing/2014/main" id="{BA2A41D4-AB3D-151D-66DD-4962AAC7904A}"/>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
        <p:nvSpPr>
          <p:cNvPr id="14" name="Footer Placeholder 5">
            <a:extLst>
              <a:ext uri="{FF2B5EF4-FFF2-40B4-BE49-F238E27FC236}">
                <a16:creationId xmlns:a16="http://schemas.microsoft.com/office/drawing/2014/main" id="{466E0752-FF39-E98C-C771-E737A49D9DAE}"/>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5" name="Slide Number Placeholder 6">
            <a:extLst>
              <a:ext uri="{FF2B5EF4-FFF2-40B4-BE49-F238E27FC236}">
                <a16:creationId xmlns:a16="http://schemas.microsoft.com/office/drawing/2014/main" id="{344416E3-AC56-3F3E-611F-87B839A4BD81}"/>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10093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reaker 3">
    <p:spTree>
      <p:nvGrpSpPr>
        <p:cNvPr id="1" name=""/>
        <p:cNvGrpSpPr/>
        <p:nvPr/>
      </p:nvGrpSpPr>
      <p:grpSpPr>
        <a:xfrm>
          <a:off x="0" y="0"/>
          <a:ext cx="0" cy="0"/>
          <a:chOff x="0" y="0"/>
          <a:chExt cx="0" cy="0"/>
        </a:xfrm>
      </p:grpSpPr>
      <p:pic>
        <p:nvPicPr>
          <p:cNvPr id="2052" name="Picture 4" descr="Master of Social Work - Brown School at Washington University in St. Louis">
            <a:extLst>
              <a:ext uri="{FF2B5EF4-FFF2-40B4-BE49-F238E27FC236}">
                <a16:creationId xmlns:a16="http://schemas.microsoft.com/office/drawing/2014/main" id="{397DCBF1-43F9-4AFE-21A3-1A39F7F9B886}"/>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3202" b="3202"/>
          <a:stretch>
            <a:fillRect/>
          </a:stretch>
        </p:blipFill>
        <p:spPr bwMode="auto">
          <a:xfrm>
            <a:off x="0" y="1"/>
            <a:ext cx="513588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4" descr="A red and green background&#10;&#10;AI-generated content may be incorrect.">
            <a:extLst>
              <a:ext uri="{FF2B5EF4-FFF2-40B4-BE49-F238E27FC236}">
                <a16:creationId xmlns:a16="http://schemas.microsoft.com/office/drawing/2014/main" id="{8F956D9F-0A69-EE76-C183-A385E517B76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5135880" y="0"/>
            <a:ext cx="7056120" cy="6858000"/>
          </a:xfrm>
          <a:prstGeom prst="rect">
            <a:avLst/>
          </a:prstGeom>
        </p:spPr>
      </p:pic>
      <p:sp>
        <p:nvSpPr>
          <p:cNvPr id="8" name="Text Placeholder 15">
            <a:extLst>
              <a:ext uri="{FF2B5EF4-FFF2-40B4-BE49-F238E27FC236}">
                <a16:creationId xmlns:a16="http://schemas.microsoft.com/office/drawing/2014/main" id="{302A3209-7CC7-A2A4-5597-06B82D23E37E}"/>
              </a:ext>
            </a:extLst>
          </p:cNvPr>
          <p:cNvSpPr>
            <a:spLocks noGrp="1"/>
          </p:cNvSpPr>
          <p:nvPr>
            <p:ph type="body" sz="quarter" idx="13"/>
          </p:nvPr>
        </p:nvSpPr>
        <p:spPr>
          <a:xfrm>
            <a:off x="6979921" y="1487665"/>
            <a:ext cx="4699317" cy="2511425"/>
          </a:xfrm>
        </p:spPr>
        <p:txBody>
          <a:bodyPr/>
          <a:lstStyle>
            <a:lvl1pPr>
              <a:defRPr sz="4400">
                <a:solidFill>
                  <a:schemeClr val="bg1"/>
                </a:solidFill>
              </a:defRPr>
            </a:lvl1pPr>
            <a:lvl2pPr>
              <a:spcBef>
                <a:spcPts val="2400"/>
              </a:spcBef>
              <a:defRPr sz="2400">
                <a:solidFill>
                  <a:schemeClr val="bg1"/>
                </a:solidFill>
              </a:defRPr>
            </a:lvl2pPr>
          </a:lstStyle>
          <a:p>
            <a:pPr lvl="0"/>
            <a:r>
              <a:rPr lang="en-US" dirty="0"/>
              <a:t>Click to edit Master text styles</a:t>
            </a:r>
          </a:p>
          <a:p>
            <a:pPr lvl="1"/>
            <a:r>
              <a:rPr lang="en-US" dirty="0"/>
              <a:t>Second level</a:t>
            </a:r>
          </a:p>
        </p:txBody>
      </p:sp>
      <p:pic>
        <p:nvPicPr>
          <p:cNvPr id="10" name="Graphic 9">
            <a:extLst>
              <a:ext uri="{FF2B5EF4-FFF2-40B4-BE49-F238E27FC236}">
                <a16:creationId xmlns:a16="http://schemas.microsoft.com/office/drawing/2014/main" id="{32F57A4A-EAEE-8F7F-EA10-43FBDD977B97}"/>
              </a:ext>
            </a:extLst>
          </p:cNvPr>
          <p:cNvPicPr>
            <a:picLocks noChangeAspect="1"/>
          </p:cNvPicPr>
          <p:nvPr userDrawn="1"/>
        </p:nvPicPr>
        <p:blipFill>
          <a:blip>
            <a:extLst>
              <a:ext uri="{96DAC541-7B7A-43D3-8B79-37D633B846F1}">
                <asvg:svgBlip xmlns:asvg="http://schemas.microsoft.com/office/drawing/2016/SVG/main" r:embed="rId4"/>
              </a:ext>
            </a:extLst>
          </a:blip>
          <a:srcRect r="42189"/>
          <a:stretch>
            <a:fillRect/>
          </a:stretch>
        </p:blipFill>
        <p:spPr>
          <a:xfrm>
            <a:off x="6979922" y="755694"/>
            <a:ext cx="1471352" cy="346564"/>
          </a:xfrm>
          <a:prstGeom prst="rect">
            <a:avLst/>
          </a:prstGeom>
        </p:spPr>
      </p:pic>
      <p:sp>
        <p:nvSpPr>
          <p:cNvPr id="2" name="TextBox 1">
            <a:extLst>
              <a:ext uri="{FF2B5EF4-FFF2-40B4-BE49-F238E27FC236}">
                <a16:creationId xmlns:a16="http://schemas.microsoft.com/office/drawing/2014/main" id="{F1FFF015-5AA5-9FD6-BE0F-F0E14040F9A8}"/>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
        <p:nvSpPr>
          <p:cNvPr id="6" name="Footer Placeholder 5">
            <a:extLst>
              <a:ext uri="{FF2B5EF4-FFF2-40B4-BE49-F238E27FC236}">
                <a16:creationId xmlns:a16="http://schemas.microsoft.com/office/drawing/2014/main" id="{A51CCE03-8C2C-223C-A359-11D05E7AE85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7" name="Slide Number Placeholder 6">
            <a:extLst>
              <a:ext uri="{FF2B5EF4-FFF2-40B4-BE49-F238E27FC236}">
                <a16:creationId xmlns:a16="http://schemas.microsoft.com/office/drawing/2014/main" id="{B298CEF6-7196-D2B3-7D3B-ADF792888D5F}"/>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236022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reaker 4">
    <p:spTree>
      <p:nvGrpSpPr>
        <p:cNvPr id="1" name=""/>
        <p:cNvGrpSpPr/>
        <p:nvPr/>
      </p:nvGrpSpPr>
      <p:grpSpPr>
        <a:xfrm>
          <a:off x="0" y="0"/>
          <a:ext cx="0" cy="0"/>
          <a:chOff x="0" y="0"/>
          <a:chExt cx="0" cy="0"/>
        </a:xfrm>
      </p:grpSpPr>
      <p:pic>
        <p:nvPicPr>
          <p:cNvPr id="5" name="Content Placeholder 4" descr="A red and green background&#10;&#10;AI-generated content may be incorrect.">
            <a:extLst>
              <a:ext uri="{FF2B5EF4-FFF2-40B4-BE49-F238E27FC236}">
                <a16:creationId xmlns:a16="http://schemas.microsoft.com/office/drawing/2014/main" id="{8F956D9F-0A69-EE76-C183-A385E517B76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135880" y="0"/>
            <a:ext cx="7056120" cy="6858000"/>
          </a:xfrm>
          <a:prstGeom prst="rect">
            <a:avLst/>
          </a:prstGeom>
        </p:spPr>
      </p:pic>
      <p:sp>
        <p:nvSpPr>
          <p:cNvPr id="9" name="Picture Placeholder 6">
            <a:extLst>
              <a:ext uri="{FF2B5EF4-FFF2-40B4-BE49-F238E27FC236}">
                <a16:creationId xmlns:a16="http://schemas.microsoft.com/office/drawing/2014/main" id="{A07E073C-A36B-F166-AFE6-5A5B30179E5D}"/>
              </a:ext>
            </a:extLst>
          </p:cNvPr>
          <p:cNvSpPr>
            <a:spLocks noGrp="1"/>
          </p:cNvSpPr>
          <p:nvPr>
            <p:ph type="pic" sz="quarter" idx="14"/>
          </p:nvPr>
        </p:nvSpPr>
        <p:spPr>
          <a:xfrm>
            <a:off x="0" y="0"/>
            <a:ext cx="6267450" cy="6858000"/>
          </a:xfrm>
          <a:solidFill>
            <a:schemeClr val="accent2"/>
          </a:solidFill>
        </p:spPr>
        <p:txBody>
          <a:bodyPr anchor="ctr"/>
          <a:lstStyle>
            <a:lvl1pPr algn="ctr">
              <a:defRPr/>
            </a:lvl1pPr>
          </a:lstStyle>
          <a:p>
            <a:endParaRPr lang="en-US"/>
          </a:p>
        </p:txBody>
      </p:sp>
      <p:sp>
        <p:nvSpPr>
          <p:cNvPr id="8" name="Text Placeholder 15">
            <a:extLst>
              <a:ext uri="{FF2B5EF4-FFF2-40B4-BE49-F238E27FC236}">
                <a16:creationId xmlns:a16="http://schemas.microsoft.com/office/drawing/2014/main" id="{302A3209-7CC7-A2A4-5597-06B82D23E37E}"/>
              </a:ext>
            </a:extLst>
          </p:cNvPr>
          <p:cNvSpPr>
            <a:spLocks noGrp="1"/>
          </p:cNvSpPr>
          <p:nvPr>
            <p:ph type="body" sz="quarter" idx="13"/>
          </p:nvPr>
        </p:nvSpPr>
        <p:spPr>
          <a:xfrm>
            <a:off x="6979921" y="1487665"/>
            <a:ext cx="4699317" cy="2511425"/>
          </a:xfrm>
        </p:spPr>
        <p:txBody>
          <a:bodyPr/>
          <a:lstStyle>
            <a:lvl1pPr>
              <a:defRPr sz="4400">
                <a:solidFill>
                  <a:schemeClr val="bg1"/>
                </a:solidFill>
              </a:defRPr>
            </a:lvl1pPr>
            <a:lvl2pPr>
              <a:spcBef>
                <a:spcPts val="2400"/>
              </a:spcBef>
              <a:defRPr sz="2400">
                <a:solidFill>
                  <a:schemeClr val="bg1"/>
                </a:solidFill>
              </a:defRPr>
            </a:lvl2pPr>
          </a:lstStyle>
          <a:p>
            <a:pPr lvl="0"/>
            <a:r>
              <a:rPr lang="en-US" dirty="0"/>
              <a:t>Click to edit Master text styles</a:t>
            </a:r>
          </a:p>
          <a:p>
            <a:pPr lvl="1"/>
            <a:r>
              <a:rPr lang="en-US" dirty="0"/>
              <a:t>Second level</a:t>
            </a:r>
          </a:p>
        </p:txBody>
      </p:sp>
      <p:pic>
        <p:nvPicPr>
          <p:cNvPr id="10" name="Graphic 9">
            <a:extLst>
              <a:ext uri="{FF2B5EF4-FFF2-40B4-BE49-F238E27FC236}">
                <a16:creationId xmlns:a16="http://schemas.microsoft.com/office/drawing/2014/main" id="{32F57A4A-EAEE-8F7F-EA10-43FBDD977B97}"/>
              </a:ext>
            </a:extLst>
          </p:cNvPr>
          <p:cNvPicPr>
            <a:picLocks noChangeAspect="1"/>
          </p:cNvPicPr>
          <p:nvPr userDrawn="1"/>
        </p:nvPicPr>
        <p:blipFill>
          <a:blip>
            <a:extLst>
              <a:ext uri="{96DAC541-7B7A-43D3-8B79-37D633B846F1}">
                <asvg:svgBlip xmlns:asvg="http://schemas.microsoft.com/office/drawing/2016/SVG/main" r:embed="rId3"/>
              </a:ext>
            </a:extLst>
          </a:blip>
          <a:srcRect r="41856"/>
          <a:stretch>
            <a:fillRect/>
          </a:stretch>
        </p:blipFill>
        <p:spPr>
          <a:xfrm>
            <a:off x="6979921" y="755694"/>
            <a:ext cx="1479793" cy="346564"/>
          </a:xfrm>
          <a:prstGeom prst="rect">
            <a:avLst/>
          </a:prstGeom>
        </p:spPr>
      </p:pic>
      <p:sp>
        <p:nvSpPr>
          <p:cNvPr id="2" name="TextBox 1">
            <a:extLst>
              <a:ext uri="{FF2B5EF4-FFF2-40B4-BE49-F238E27FC236}">
                <a16:creationId xmlns:a16="http://schemas.microsoft.com/office/drawing/2014/main" id="{F1FFF015-5AA5-9FD6-BE0F-F0E14040F9A8}"/>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
        <p:nvSpPr>
          <p:cNvPr id="11" name="Footer Placeholder 5">
            <a:extLst>
              <a:ext uri="{FF2B5EF4-FFF2-40B4-BE49-F238E27FC236}">
                <a16:creationId xmlns:a16="http://schemas.microsoft.com/office/drawing/2014/main" id="{234E558C-D3AB-836C-0C04-164B1113537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3" name="Slide Number Placeholder 6">
            <a:extLst>
              <a:ext uri="{FF2B5EF4-FFF2-40B4-BE49-F238E27FC236}">
                <a16:creationId xmlns:a16="http://schemas.microsoft.com/office/drawing/2014/main" id="{46EC1455-E1D2-32ED-96F9-1FB01D1EDCE4}"/>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841065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rge Statement with Eyebrow">
    <p:spTree>
      <p:nvGrpSpPr>
        <p:cNvPr id="1" name=""/>
        <p:cNvGrpSpPr/>
        <p:nvPr/>
      </p:nvGrpSpPr>
      <p:grpSpPr>
        <a:xfrm>
          <a:off x="0" y="0"/>
          <a:ext cx="0" cy="0"/>
          <a:chOff x="0" y="0"/>
          <a:chExt cx="0" cy="0"/>
        </a:xfrm>
      </p:grpSpPr>
      <p:pic>
        <p:nvPicPr>
          <p:cNvPr id="5" name="Content Placeholder 4" descr="A red and green background&#10;&#10;AI-generated content may be incorrect.">
            <a:extLst>
              <a:ext uri="{FF2B5EF4-FFF2-40B4-BE49-F238E27FC236}">
                <a16:creationId xmlns:a16="http://schemas.microsoft.com/office/drawing/2014/main" id="{0EE4CDF9-A3FF-60F3-225A-734B7689318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42750F60-94FB-79D6-0C78-BB344949A7FA}"/>
              </a:ext>
            </a:extLst>
          </p:cNvPr>
          <p:cNvPicPr>
            <a:picLocks noChangeAspect="1"/>
          </p:cNvPicPr>
          <p:nvPr userDrawn="1"/>
        </p:nvPicPr>
        <p:blipFill>
          <a:blip r:embed="rId3"/>
          <a:srcRect t="591" r="26918" b="32805"/>
          <a:stretch/>
        </p:blipFill>
        <p:spPr>
          <a:xfrm>
            <a:off x="5613242" y="0"/>
            <a:ext cx="6578757" cy="6858000"/>
          </a:xfrm>
          <a:prstGeom prst="rect">
            <a:avLst/>
          </a:prstGeom>
        </p:spPr>
      </p:pic>
      <p:cxnSp>
        <p:nvCxnSpPr>
          <p:cNvPr id="7" name="Straight Connector 6">
            <a:extLst>
              <a:ext uri="{FF2B5EF4-FFF2-40B4-BE49-F238E27FC236}">
                <a16:creationId xmlns:a16="http://schemas.microsoft.com/office/drawing/2014/main" id="{20D28EA1-5C18-4BC9-D6AE-63A3D89C12B3}"/>
              </a:ext>
            </a:extLst>
          </p:cNvPr>
          <p:cNvCxnSpPr>
            <a:cxnSpLocks/>
          </p:cNvCxnSpPr>
          <p:nvPr userDrawn="1"/>
        </p:nvCxnSpPr>
        <p:spPr>
          <a:xfrm>
            <a:off x="512764" y="1159727"/>
            <a:ext cx="1424596" cy="0"/>
          </a:xfrm>
          <a:prstGeom prst="line">
            <a:avLst/>
          </a:prstGeom>
          <a:ln w="57150">
            <a:solidFill>
              <a:schemeClr val="bg1"/>
            </a:solidFill>
          </a:ln>
        </p:spPr>
        <p:style>
          <a:lnRef idx="1">
            <a:schemeClr val="accent6"/>
          </a:lnRef>
          <a:fillRef idx="0">
            <a:schemeClr val="accent6"/>
          </a:fillRef>
          <a:effectRef idx="0">
            <a:schemeClr val="accent6"/>
          </a:effectRef>
          <a:fontRef idx="minor">
            <a:schemeClr val="tx1"/>
          </a:fontRef>
        </p:style>
      </p:cxnSp>
      <p:sp>
        <p:nvSpPr>
          <p:cNvPr id="11" name="Text Placeholder 10">
            <a:extLst>
              <a:ext uri="{FF2B5EF4-FFF2-40B4-BE49-F238E27FC236}">
                <a16:creationId xmlns:a16="http://schemas.microsoft.com/office/drawing/2014/main" id="{8021CCD9-6C33-1B29-15B6-F3FF2BB661CD}"/>
              </a:ext>
            </a:extLst>
          </p:cNvPr>
          <p:cNvSpPr>
            <a:spLocks noGrp="1"/>
          </p:cNvSpPr>
          <p:nvPr>
            <p:ph type="body" sz="quarter" idx="12"/>
          </p:nvPr>
        </p:nvSpPr>
        <p:spPr>
          <a:xfrm>
            <a:off x="512764" y="680847"/>
            <a:ext cx="4886555" cy="402336"/>
          </a:xfrm>
        </p:spPr>
        <p:txBody>
          <a:bodyPr>
            <a:noAutofit/>
          </a:bodyPr>
          <a:lstStyle>
            <a:lvl1pPr>
              <a:defRPr sz="1800" i="0">
                <a:solidFill>
                  <a:schemeClr val="bg1"/>
                </a:solidFill>
              </a:defRPr>
            </a:lvl1pPr>
          </a:lstStyle>
          <a:p>
            <a:pPr lvl="0"/>
            <a:r>
              <a:rPr lang="en-US" dirty="0"/>
              <a:t>Click to edit Master text styles</a:t>
            </a:r>
          </a:p>
        </p:txBody>
      </p:sp>
      <p:sp>
        <p:nvSpPr>
          <p:cNvPr id="16" name="Text Placeholder 15">
            <a:extLst>
              <a:ext uri="{FF2B5EF4-FFF2-40B4-BE49-F238E27FC236}">
                <a16:creationId xmlns:a16="http://schemas.microsoft.com/office/drawing/2014/main" id="{6E56F3DC-9167-0BC6-E0AD-B6B4E6BDBD8E}"/>
              </a:ext>
            </a:extLst>
          </p:cNvPr>
          <p:cNvSpPr>
            <a:spLocks noGrp="1"/>
          </p:cNvSpPr>
          <p:nvPr>
            <p:ph type="body" sz="quarter" idx="13"/>
          </p:nvPr>
        </p:nvSpPr>
        <p:spPr>
          <a:xfrm>
            <a:off x="512763" y="1487665"/>
            <a:ext cx="5472849" cy="2511425"/>
          </a:xfrm>
        </p:spPr>
        <p:txBody>
          <a:bodyPr/>
          <a:lstStyle>
            <a:lvl1pPr>
              <a:defRPr sz="4400">
                <a:solidFill>
                  <a:schemeClr val="bg1"/>
                </a:solidFill>
              </a:defRPr>
            </a:lvl1pPr>
            <a:lvl2pPr>
              <a:spcBef>
                <a:spcPts val="2400"/>
              </a:spcBef>
              <a:defRPr sz="2400">
                <a:solidFill>
                  <a:schemeClr val="bg1"/>
                </a:solidFill>
              </a:defRPr>
            </a:lvl2pPr>
          </a:lstStyle>
          <a:p>
            <a:pPr lvl="0"/>
            <a:r>
              <a:rPr lang="en-US" dirty="0"/>
              <a:t>Click to edit Master text styles</a:t>
            </a:r>
          </a:p>
          <a:p>
            <a:pPr lvl="1"/>
            <a:r>
              <a:rPr lang="en-US" dirty="0"/>
              <a:t>Second level</a:t>
            </a:r>
          </a:p>
        </p:txBody>
      </p:sp>
      <p:sp>
        <p:nvSpPr>
          <p:cNvPr id="17" name="TextBox 16">
            <a:extLst>
              <a:ext uri="{FF2B5EF4-FFF2-40B4-BE49-F238E27FC236}">
                <a16:creationId xmlns:a16="http://schemas.microsoft.com/office/drawing/2014/main" id="{B7BEF91C-6E18-2231-3C63-8D5E788FA7F9}"/>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Tree>
    <p:extLst>
      <p:ext uri="{BB962C8B-B14F-4D97-AF65-F5344CB8AC3E}">
        <p14:creationId xmlns:p14="http://schemas.microsoft.com/office/powerpoint/2010/main" val="2549844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arge Statement 2">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D9A7C88-DE74-6283-B4A4-1DD45AE677E9}"/>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5196" b="4206"/>
          <a:stretch>
            <a:fillRect/>
          </a:stretch>
        </p:blipFill>
        <p:spPr bwMode="auto">
          <a:xfrm>
            <a:off x="-6893" y="1"/>
            <a:ext cx="12198893"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4">
            <a:extLst>
              <a:ext uri="{FF2B5EF4-FFF2-40B4-BE49-F238E27FC236}">
                <a16:creationId xmlns:a16="http://schemas.microsoft.com/office/drawing/2014/main" id="{07672B93-86ED-2C39-6490-F7DF186BF34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903720" y="0"/>
            <a:ext cx="4634970" cy="548640"/>
          </a:xfrm>
          <a:prstGeom prst="rect">
            <a:avLst/>
          </a:prstGeom>
        </p:spPr>
      </p:pic>
      <p:sp>
        <p:nvSpPr>
          <p:cNvPr id="7" name="Text Placeholder 6">
            <a:extLst>
              <a:ext uri="{FF2B5EF4-FFF2-40B4-BE49-F238E27FC236}">
                <a16:creationId xmlns:a16="http://schemas.microsoft.com/office/drawing/2014/main" id="{A6578ACD-6DBC-F910-C01D-E10BC6695467}"/>
              </a:ext>
            </a:extLst>
          </p:cNvPr>
          <p:cNvSpPr>
            <a:spLocks noGrp="1"/>
          </p:cNvSpPr>
          <p:nvPr>
            <p:ph type="body" sz="quarter" idx="12"/>
          </p:nvPr>
        </p:nvSpPr>
        <p:spPr>
          <a:xfrm>
            <a:off x="6904038" y="549275"/>
            <a:ext cx="4635500" cy="3849688"/>
          </a:xfrm>
          <a:solidFill>
            <a:schemeClr val="bg1"/>
          </a:solidFill>
        </p:spPr>
        <p:txBody>
          <a:bodyPr lIns="548640" anchor="ctr"/>
          <a:lstStyle>
            <a:lvl1pPr>
              <a:defRPr sz="3200"/>
            </a:lvl1pPr>
            <a:lvl2pPr>
              <a:spcBef>
                <a:spcPts val="2500"/>
              </a:spcBef>
              <a:defRPr sz="1600"/>
            </a:lvl2pPr>
          </a:lstStyle>
          <a:p>
            <a:pPr lvl="0"/>
            <a:r>
              <a:rPr lang="en-US" dirty="0"/>
              <a:t>Click to edit Master text styles</a:t>
            </a:r>
          </a:p>
          <a:p>
            <a:pPr lvl="1"/>
            <a:r>
              <a:rPr lang="en-US" dirty="0"/>
              <a:t>Second level</a:t>
            </a:r>
          </a:p>
        </p:txBody>
      </p:sp>
      <p:sp>
        <p:nvSpPr>
          <p:cNvPr id="14" name="TextBox 13">
            <a:extLst>
              <a:ext uri="{FF2B5EF4-FFF2-40B4-BE49-F238E27FC236}">
                <a16:creationId xmlns:a16="http://schemas.microsoft.com/office/drawing/2014/main" id="{7E847C79-CC1A-B80C-4F37-51F734C13046}"/>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Tree>
    <p:extLst>
      <p:ext uri="{BB962C8B-B14F-4D97-AF65-F5344CB8AC3E}">
        <p14:creationId xmlns:p14="http://schemas.microsoft.com/office/powerpoint/2010/main" val="1285567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5" name="Content Placeholder 4" descr="A red and green background&#10;&#10;AI-generated content may be incorrect.">
            <a:extLst>
              <a:ext uri="{FF2B5EF4-FFF2-40B4-BE49-F238E27FC236}">
                <a16:creationId xmlns:a16="http://schemas.microsoft.com/office/drawing/2014/main" id="{7C4EBF34-8EB4-A4D6-7E35-2C97CE8F0BE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6" name="Graphic 5">
            <a:extLst>
              <a:ext uri="{FF2B5EF4-FFF2-40B4-BE49-F238E27FC236}">
                <a16:creationId xmlns:a16="http://schemas.microsoft.com/office/drawing/2014/main" id="{E3C86DE6-86C2-5AB7-06B8-F8A11E14561F}"/>
              </a:ext>
            </a:extLst>
          </p:cNvPr>
          <p:cNvPicPr>
            <a:picLocks noChangeAspect="1"/>
          </p:cNvPicPr>
          <p:nvPr userDrawn="1"/>
        </p:nvPicPr>
        <p:blipFill>
          <a:blip>
            <a:extLst>
              <a:ext uri="{96DAC541-7B7A-43D3-8B79-37D633B846F1}">
                <asvg:svgBlip xmlns:asvg="http://schemas.microsoft.com/office/drawing/2016/SVG/main" r:embed="rId3"/>
              </a:ext>
            </a:extLst>
          </a:blip>
          <a:srcRect r="42316"/>
          <a:stretch>
            <a:fillRect/>
          </a:stretch>
        </p:blipFill>
        <p:spPr>
          <a:xfrm>
            <a:off x="4398335" y="3028244"/>
            <a:ext cx="3395329" cy="801511"/>
          </a:xfrm>
          <a:prstGeom prst="rect">
            <a:avLst/>
          </a:prstGeom>
        </p:spPr>
      </p:pic>
    </p:spTree>
    <p:extLst>
      <p:ext uri="{BB962C8B-B14F-4D97-AF65-F5344CB8AC3E}">
        <p14:creationId xmlns:p14="http://schemas.microsoft.com/office/powerpoint/2010/main" val="3445174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 Id="rId31"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1427" y="437444"/>
            <a:ext cx="11167811" cy="980194"/>
          </a:xfrm>
          <a:prstGeom prst="rect">
            <a:avLst/>
          </a:prstGeom>
        </p:spPr>
        <p:txBody>
          <a:bodyPr vert="horz" lIns="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511426" y="1710372"/>
            <a:ext cx="11167811" cy="4423728"/>
          </a:xfrm>
          <a:prstGeom prst="rect">
            <a:avLst/>
          </a:prstGeom>
          <a:ln>
            <a:noFill/>
          </a:ln>
        </p:spPr>
        <p:txBody>
          <a:bodyPr vert="horz" lIns="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0EC011EB-C8DD-A0FA-332D-2345BA9928D0}"/>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7" name="Slide Number Placeholder 6">
            <a:extLst>
              <a:ext uri="{FF2B5EF4-FFF2-40B4-BE49-F238E27FC236}">
                <a16:creationId xmlns:a16="http://schemas.microsoft.com/office/drawing/2014/main" id="{C7015D9D-4496-53BC-5543-A7CD7127CBC5}"/>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pic>
        <p:nvPicPr>
          <p:cNvPr id="10" name="Graphic 9">
            <a:extLst>
              <a:ext uri="{FF2B5EF4-FFF2-40B4-BE49-F238E27FC236}">
                <a16:creationId xmlns:a16="http://schemas.microsoft.com/office/drawing/2014/main" id="{5A093176-96C9-BEE1-C4CD-B5CEAF9D7715}"/>
              </a:ext>
            </a:extLst>
          </p:cNvPr>
          <p:cNvPicPr>
            <a:picLocks noChangeAspect="1"/>
          </p:cNvPicPr>
          <p:nvPr userDrawn="1"/>
        </p:nvPicPr>
        <p:blipFill>
          <a:blip>
            <a:extLst>
              <a:ext uri="{96DAC541-7B7A-43D3-8B79-37D633B846F1}">
                <asvg:svgBlip xmlns:asvg="http://schemas.microsoft.com/office/drawing/2016/SVG/main" r:embed="rId31"/>
              </a:ext>
            </a:extLst>
          </a:blip>
          <a:srcRect r="42790"/>
          <a:stretch>
            <a:fillRect/>
          </a:stretch>
        </p:blipFill>
        <p:spPr>
          <a:xfrm>
            <a:off x="509322" y="6326908"/>
            <a:ext cx="1360118" cy="323736"/>
          </a:xfrm>
          <a:prstGeom prst="rect">
            <a:avLst/>
          </a:prstGeom>
        </p:spPr>
      </p:pic>
    </p:spTree>
    <p:extLst>
      <p:ext uri="{BB962C8B-B14F-4D97-AF65-F5344CB8AC3E}">
        <p14:creationId xmlns:p14="http://schemas.microsoft.com/office/powerpoint/2010/main" val="673511293"/>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51" r:id="rId3"/>
    <p:sldLayoutId id="2147483675" r:id="rId4"/>
    <p:sldLayoutId id="2147483670" r:id="rId5"/>
    <p:sldLayoutId id="2147483653" r:id="rId6"/>
    <p:sldLayoutId id="2147483654" r:id="rId7"/>
    <p:sldLayoutId id="2147483648" r:id="rId8"/>
    <p:sldLayoutId id="2147483652" r:id="rId9"/>
    <p:sldLayoutId id="2147483649" r:id="rId10"/>
    <p:sldLayoutId id="2147483659" r:id="rId11"/>
    <p:sldLayoutId id="2147483668" r:id="rId12"/>
    <p:sldLayoutId id="2147483660" r:id="rId13"/>
    <p:sldLayoutId id="2147483666" r:id="rId14"/>
    <p:sldLayoutId id="2147483672" r:id="rId15"/>
    <p:sldLayoutId id="2147483673" r:id="rId16"/>
    <p:sldLayoutId id="2147483663" r:id="rId17"/>
    <p:sldLayoutId id="2147483658" r:id="rId18"/>
    <p:sldLayoutId id="2147483669" r:id="rId19"/>
    <p:sldLayoutId id="2147483674" r:id="rId20"/>
    <p:sldLayoutId id="2147483676" r:id="rId21"/>
    <p:sldLayoutId id="2147483734" r:id="rId22"/>
    <p:sldLayoutId id="2147483655" r:id="rId23"/>
    <p:sldLayoutId id="2147483661" r:id="rId24"/>
    <p:sldLayoutId id="2147483662" r:id="rId25"/>
    <p:sldLayoutId id="2147483671" r:id="rId26"/>
    <p:sldLayoutId id="2147483656" r:id="rId27"/>
    <p:sldLayoutId id="2147483667" r:id="rId28"/>
    <p:sldLayoutId id="2147483657"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457200" rtl="0" eaLnBrk="1" latinLnBrk="0" hangingPunct="1">
        <a:lnSpc>
          <a:spcPct val="85000"/>
        </a:lnSpc>
        <a:spcBef>
          <a:spcPct val="0"/>
        </a:spcBef>
        <a:buNone/>
        <a:defRPr sz="3600" b="1" kern="1200">
          <a:solidFill>
            <a:schemeClr val="tx1"/>
          </a:solidFill>
          <a:latin typeface="+mj-lt"/>
          <a:ea typeface="Georgia" panose="02040502050405020303" pitchFamily="18" charset="0"/>
          <a:cs typeface="Times New Roman" charset="0"/>
        </a:defRPr>
      </a:lvl1pPr>
    </p:titleStyle>
    <p:bodyStyle>
      <a:lvl1pPr marL="0" indent="0" algn="l" defTabSz="457200" rtl="0" eaLnBrk="1" latinLnBrk="0" hangingPunct="1">
        <a:lnSpc>
          <a:spcPct val="90000"/>
        </a:lnSpc>
        <a:spcBef>
          <a:spcPct val="20000"/>
        </a:spcBef>
        <a:buFont typeface="Arial"/>
        <a:buNone/>
        <a:tabLst/>
        <a:defRPr sz="2200" b="1" i="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0" indent="0" algn="l" defTabSz="457200" rtl="0" eaLnBrk="1" latinLnBrk="0" hangingPunct="1">
        <a:spcBef>
          <a:spcPts val="800"/>
        </a:spcBef>
        <a:buFont typeface="Arial" panose="020B0604020202020204" pitchFamily="34" charset="0"/>
        <a:buNone/>
        <a:tabLst/>
        <a:defRPr sz="18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139700" indent="-139700" algn="l" defTabSz="457200" rtl="0" eaLnBrk="1" latinLnBrk="0" hangingPunct="1">
        <a:spcBef>
          <a:spcPts val="1200"/>
        </a:spcBef>
        <a:buClr>
          <a:schemeClr val="accent3"/>
        </a:buClr>
        <a:buFont typeface="Arial" panose="020B0604020202020204" pitchFamily="34" charset="0"/>
        <a:buChar char="•"/>
        <a:tabLst/>
        <a:defRPr sz="18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482600" indent="-139700" algn="l" defTabSz="457200" rtl="0" eaLnBrk="1" latinLnBrk="0" hangingPunct="1">
        <a:spcBef>
          <a:spcPts val="800"/>
        </a:spcBef>
        <a:buClr>
          <a:schemeClr val="accent3"/>
        </a:buClr>
        <a:buFont typeface="Arial" panose="020B0604020202020204" pitchFamily="34" charset="0"/>
        <a:buChar char="•"/>
        <a:tabLst/>
        <a:defRPr sz="16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974725" indent="-114300" algn="l" defTabSz="457200" rtl="0" eaLnBrk="1" latinLnBrk="0" hangingPunct="1">
        <a:spcBef>
          <a:spcPts val="800"/>
        </a:spcBef>
        <a:buClr>
          <a:schemeClr val="accent3"/>
        </a:buClr>
        <a:buFont typeface="Arial" panose="020B0604020202020204" pitchFamily="34" charset="0"/>
        <a:buChar char="•"/>
        <a:tabLst/>
        <a:defRPr sz="14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57" userDrawn="1">
          <p15:clr>
            <a:srgbClr val="F26B43"/>
          </p15:clr>
        </p15:guide>
        <p15:guide id="2" pos="323" userDrawn="1">
          <p15:clr>
            <a:srgbClr val="F26B43"/>
          </p15:clr>
        </p15:guide>
        <p15:guide id="3" orient="horz" pos="1080" userDrawn="1">
          <p15:clr>
            <a:srgbClr val="F26B43"/>
          </p15:clr>
        </p15:guide>
        <p15:guide id="4"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video" Target="https://www.youtube.com/embed/1pW3mnS3H0g?feature=oembed" TargetMode="External"/><Relationship Id="rId2" Type="http://schemas.openxmlformats.org/officeDocument/2006/relationships/slideLayout" Target="../slideLayouts/slideLayout5.xml"/><Relationship Id="rId3" Type="http://schemas.openxmlformats.org/officeDocument/2006/relationships/image" Target="../media/image20.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5.png"/><Relationship Id="rId4" Type="http://schemas.openxmlformats.org/officeDocument/2006/relationships/image" Target="../media/image33.png"/><Relationship Id="rId5" Type="http://schemas.openxmlformats.org/officeDocument/2006/relationships/image" Target="../media/image3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5.png"/><Relationship Id="rId4" Type="http://schemas.openxmlformats.org/officeDocument/2006/relationships/chart" Target="../charts/chart2.xml"/><Relationship Id="rId5" Type="http://schemas.openxmlformats.org/officeDocument/2006/relationships/image" Target="../media/image3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45.png"/><Relationship Id="rId5" Type="http://schemas.openxmlformats.org/officeDocument/2006/relationships/image" Target="../media/image54.png"/><Relationship Id="rId6" Type="http://schemas.openxmlformats.org/officeDocument/2006/relationships/image" Target="../media/image5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52.png"/><Relationship Id="rId6" Type="http://schemas.openxmlformats.org/officeDocument/2006/relationships/image" Target="../media/image5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3.xml"/><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4.xml"/><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t>AI-Empowered Research</a:t>
            </a:r>
          </a:p>
        </p:txBody>
      </p:sp>
      <p:sp>
        <p:nvSpPr>
          <p:cNvPr id="3" name="Text Placeholder 2"/>
          <p:cNvSpPr>
            <a:spLocks noGrp="1"/>
          </p:cNvSpPr>
          <p:nvPr>
            <p:ph type="body" sz="quarter" idx="14"/>
          </p:nvPr>
        </p:nvSpPr>
        <p:spPr>
          <a:xfrm>
            <a:off x="3657600" y="4434840"/>
            <a:ext cx="8138160" cy="457200"/>
          </a:xfrm>
        </p:spPr>
        <p:txBody>
          <a:bodyPr/>
          <a:lstStyle/>
          <a:p>
            <a:r>
              <a:rPr sz="2400"/>
              <a:t>Part 1 · The AI Research Landscape</a:t>
            </a:r>
          </a:p>
        </p:txBody>
      </p:sp>
      <p:sp>
        <p:nvSpPr>
          <p:cNvPr id="4" name="TextBox 3"/>
          <p:cNvSpPr txBox="1"/>
          <p:nvPr/>
        </p:nvSpPr>
        <p:spPr>
          <a:xfrm>
            <a:off x="3657600" y="5074920"/>
            <a:ext cx="8138160" cy="365760"/>
          </a:xfrm>
          <a:prstGeom prst="rect">
            <a:avLst/>
          </a:prstGeom>
          <a:noFill/>
        </p:spPr>
        <p:txBody>
          <a:bodyPr wrap="square" lIns="0" tIns="0" rIns="0" bIns="0" anchor="t">
            <a:spAutoFit/>
          </a:bodyPr>
          <a:lstStyle/>
          <a:p>
            <a:pPr algn="l"/>
            <a:r>
              <a:rPr sz="1600" b="0" i="0">
                <a:solidFill>
                  <a:srgbClr val="5F5F5F"/>
                </a:solidFill>
              </a:rPr>
              <a:t>Yung Chun · CERP³ · Hillman Hall 130 · 2026-10-16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7945D36-E159-3CA0-B433-DBFA57189D9F}"/>
              </a:ext>
            </a:extLst>
          </p:cNvPr>
          <p:cNvSpPr>
            <a:spLocks noGrp="1"/>
          </p:cNvSpPr>
          <p:nvPr>
            <p:ph type="ftr" sz="quarter" idx="3"/>
          </p:nvPr>
        </p:nvSpPr>
        <p:spPr/>
        <p:txBody>
          <a:bodyPr/>
          <a:lstStyle/>
          <a:p>
            <a:pPr>
              <a:lnSpc>
                <a:spcPct val="85000"/>
              </a:lnSpc>
              <a:spcBef>
                <a:spcPct val="20000"/>
              </a:spcBef>
            </a:pPr>
            <a:r>
              <a:rPr lang="en-US"/>
              <a:t>DEPARTMENT PLACEHOLDER</a:t>
            </a:r>
            <a:endParaRPr lang="en-US" dirty="0"/>
          </a:p>
        </p:txBody>
      </p:sp>
      <p:sp>
        <p:nvSpPr>
          <p:cNvPr id="3" name="Slide Number Placeholder 2">
            <a:extLst>
              <a:ext uri="{FF2B5EF4-FFF2-40B4-BE49-F238E27FC236}">
                <a16:creationId xmlns:a16="http://schemas.microsoft.com/office/drawing/2014/main" id="{319AF0CD-1C7E-4DEE-406F-039D54B26FEE}"/>
              </a:ext>
            </a:extLst>
          </p:cNvPr>
          <p:cNvSpPr>
            <a:spLocks noGrp="1"/>
          </p:cNvSpPr>
          <p:nvPr>
            <p:ph type="sldNum" sz="quarter" idx="4"/>
          </p:nvPr>
        </p:nvSpPr>
        <p:spPr/>
        <p:txBody>
          <a:bodyPr/>
          <a:lstStyle/>
          <a:p>
            <a:fld id="{E2C19600-1FA6-49A4-BAD8-DAC77A900071}" type="slidenum">
              <a:rPr lang="en-US" smtClean="0"/>
              <a:pPr/>
              <a:t>2</a:t>
            </a:fld>
            <a:endParaRPr lang="en-US" dirty="0"/>
          </a:p>
        </p:txBody>
      </p:sp>
      <p:pic>
        <p:nvPicPr>
          <p:cNvPr id="4" name="Online Media 3" descr="Nintendo power line employee helping for the legend of zelda #thelegendofzelda #nintendo #sword">
            <a:hlinkClick r:id="" action="ppaction://media"/>
            <a:extLst>
              <a:ext uri="{FF2B5EF4-FFF2-40B4-BE49-F238E27FC236}">
                <a16:creationId xmlns:a16="http://schemas.microsoft.com/office/drawing/2014/main" id="{63B206FB-8C4B-2815-5CDC-E9AE3F2302F2}"/>
              </a:ext>
            </a:extLst>
          </p:cNvPr>
          <p:cNvPicPr>
            <a:picLocks noRot="1" noChangeAspect="1"/>
          </p:cNvPicPr>
          <p:nvPr>
            <a:videoFile r:link="rId1"/>
          </p:nvPr>
        </p:nvPicPr>
        <p:blipFill>
          <a:blip r:embed="rId3"/>
          <a:stretch>
            <a:fillRect/>
          </a:stretch>
        </p:blipFill>
        <p:spPr>
          <a:xfrm>
            <a:off x="0" y="0"/>
            <a:ext cx="12192000" cy="6860598"/>
          </a:xfrm>
          <a:prstGeom prst="rect">
            <a:avLst/>
          </a:prstGeom>
        </p:spPr>
      </p:pic>
    </p:spTree>
    <p:extLst>
      <p:ext uri="{BB962C8B-B14F-4D97-AF65-F5344CB8AC3E}">
        <p14:creationId xmlns:p14="http://schemas.microsoft.com/office/powerpoint/2010/main" val="535994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browser-tab loop</a:t>
            </a:r>
          </a:p>
        </p:txBody>
      </p:sp>
      <p:sp>
        <p:nvSpPr>
          <p:cNvPr id="3" name="Text Placeholder 2"/>
          <p:cNvSpPr>
            <a:spLocks noGrp="1"/>
          </p:cNvSpPr>
          <p:nvPr>
            <p:ph type="body" sz="quarter" idx="12"/>
          </p:nvPr>
        </p:nvSpPr>
        <p:spPr/>
        <p:txBody>
          <a:bodyPr/>
          <a:lstStyle/>
          <a:p>
            <a:r>
              <a:t>How most of us use AI for analysis right now</a:t>
            </a:r>
          </a:p>
        </p:txBody>
      </p:sp>
      <p:sp>
        <p:nvSpPr>
          <p:cNvPr id="4" name="Text Placeholder 3"/>
          <p:cNvSpPr>
            <a:spLocks noGrp="1"/>
          </p:cNvSpPr>
          <p:nvPr>
            <p:ph type="body" sz="quarter" idx="14"/>
          </p:nvPr>
        </p:nvSpPr>
        <p:spPr/>
        <p:txBody>
          <a:bodyPr/>
          <a:lstStyle/>
          <a:p>
            <a:r>
              <a:t>A distinction: chat vs. agent</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3</a:t>
            </a:fld>
            <a:endParaRPr lang="en-US" dirty="0"/>
          </a:p>
        </p:txBody>
      </p:sp>
      <p:cxnSp>
        <p:nvCxnSpPr>
          <p:cNvPr id="13" name="Connector 12"/>
          <p:cNvCxnSpPr/>
          <p:nvPr/>
        </p:nvCxnSpPr>
        <p:spPr>
          <a:xfrm>
            <a:off x="3853130" y="2603296"/>
            <a:ext cx="543239" cy="211227"/>
          </a:xfrm>
          <a:prstGeom prst="line">
            <a:avLst/>
          </a:prstGeom>
          <a:ln w="254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94819" y="3629253"/>
            <a:ext cx="0" cy="422453"/>
          </a:xfrm>
          <a:prstGeom prst="line">
            <a:avLst/>
          </a:prstGeom>
          <a:ln w="254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3853130" y="4866436"/>
            <a:ext cx="543239" cy="211227"/>
          </a:xfrm>
          <a:prstGeom prst="line">
            <a:avLst/>
          </a:prstGeom>
          <a:ln w="254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1912990" y="4866436"/>
            <a:ext cx="543239" cy="211227"/>
          </a:xfrm>
          <a:prstGeom prst="line">
            <a:avLst/>
          </a:prstGeom>
          <a:ln w="254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214540" y="3629253"/>
            <a:ext cx="0" cy="422453"/>
          </a:xfrm>
          <a:prstGeom prst="line">
            <a:avLst/>
          </a:prstGeom>
          <a:ln w="254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912990" y="2603296"/>
            <a:ext cx="543239" cy="211227"/>
          </a:xfrm>
          <a:prstGeom prst="line">
            <a:avLst/>
          </a:prstGeom>
          <a:ln w="254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loop_0"/>
          <p:cNvSpPr/>
          <p:nvPr/>
        </p:nvSpPr>
        <p:spPr>
          <a:xfrm>
            <a:off x="2103120" y="2057400"/>
            <a:ext cx="2103120" cy="54864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2103120" y="2057400"/>
            <a:ext cx="2103120" cy="548640"/>
          </a:xfrm>
          <a:prstGeom prst="rect">
            <a:avLst/>
          </a:prstGeom>
          <a:noFill/>
        </p:spPr>
        <p:txBody>
          <a:bodyPr wrap="square" lIns="0" tIns="0" rIns="0" bIns="0" anchor="ctr">
            <a:spAutoFit/>
          </a:bodyPr>
          <a:lstStyle/>
          <a:p>
            <a:pPr algn="ctr"/>
            <a:r>
              <a:rPr sz="1500" b="0" i="0">
                <a:solidFill>
                  <a:schemeClr val="tx1"/>
                </a:solidFill>
              </a:rPr>
              <a:t>Copy code</a:t>
            </a:r>
          </a:p>
        </p:txBody>
      </p:sp>
      <p:sp>
        <p:nvSpPr>
          <p:cNvPr id="21" name="loop_1"/>
          <p:cNvSpPr/>
          <p:nvPr/>
        </p:nvSpPr>
        <p:spPr>
          <a:xfrm>
            <a:off x="4043259" y="2811780"/>
            <a:ext cx="2103120" cy="54864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043259" y="2811780"/>
            <a:ext cx="2103120" cy="548640"/>
          </a:xfrm>
          <a:prstGeom prst="rect">
            <a:avLst/>
          </a:prstGeom>
          <a:noFill/>
        </p:spPr>
        <p:txBody>
          <a:bodyPr wrap="square" lIns="0" tIns="0" rIns="0" bIns="0" anchor="ctr">
            <a:spAutoFit/>
          </a:bodyPr>
          <a:lstStyle/>
          <a:p>
            <a:pPr algn="ctr"/>
            <a:r>
              <a:rPr sz="1500" b="0" i="0">
                <a:solidFill>
                  <a:schemeClr val="tx1"/>
                </a:solidFill>
              </a:rPr>
              <a:t>Paste into a chat</a:t>
            </a:r>
          </a:p>
        </p:txBody>
      </p:sp>
      <p:sp>
        <p:nvSpPr>
          <p:cNvPr id="23" name="loop_2"/>
          <p:cNvSpPr/>
          <p:nvPr/>
        </p:nvSpPr>
        <p:spPr>
          <a:xfrm>
            <a:off x="4043259" y="4320540"/>
            <a:ext cx="2103120" cy="54864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043259" y="4320540"/>
            <a:ext cx="2103120" cy="548640"/>
          </a:xfrm>
          <a:prstGeom prst="rect">
            <a:avLst/>
          </a:prstGeom>
          <a:noFill/>
        </p:spPr>
        <p:txBody>
          <a:bodyPr wrap="square" lIns="0" tIns="0" rIns="0" bIns="0" anchor="ctr">
            <a:spAutoFit/>
          </a:bodyPr>
          <a:lstStyle/>
          <a:p>
            <a:pPr algn="ctr"/>
            <a:r>
              <a:rPr sz="1500" b="0" i="0">
                <a:solidFill>
                  <a:schemeClr val="tx1"/>
                </a:solidFill>
              </a:rPr>
              <a:t>Read a plausible answer</a:t>
            </a:r>
          </a:p>
        </p:txBody>
      </p:sp>
      <p:sp>
        <p:nvSpPr>
          <p:cNvPr id="25" name="loop_3"/>
          <p:cNvSpPr/>
          <p:nvPr/>
        </p:nvSpPr>
        <p:spPr>
          <a:xfrm>
            <a:off x="2103120" y="5074920"/>
            <a:ext cx="2103120" cy="54864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2103120" y="5074920"/>
            <a:ext cx="2103120" cy="548640"/>
          </a:xfrm>
          <a:prstGeom prst="rect">
            <a:avLst/>
          </a:prstGeom>
          <a:noFill/>
        </p:spPr>
        <p:txBody>
          <a:bodyPr wrap="square" lIns="0" tIns="0" rIns="0" bIns="0" anchor="ctr">
            <a:spAutoFit/>
          </a:bodyPr>
          <a:lstStyle/>
          <a:p>
            <a:pPr algn="ctr"/>
            <a:r>
              <a:rPr sz="1500" b="0" i="0">
                <a:solidFill>
                  <a:schemeClr val="tx1"/>
                </a:solidFill>
              </a:rPr>
              <a:t>Paste it back into R</a:t>
            </a:r>
          </a:p>
        </p:txBody>
      </p:sp>
      <p:sp>
        <p:nvSpPr>
          <p:cNvPr id="27" name="loop_4"/>
          <p:cNvSpPr/>
          <p:nvPr/>
        </p:nvSpPr>
        <p:spPr>
          <a:xfrm>
            <a:off x="162980" y="4320540"/>
            <a:ext cx="2103120" cy="54864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62980" y="4320540"/>
            <a:ext cx="2103120" cy="548640"/>
          </a:xfrm>
          <a:prstGeom prst="rect">
            <a:avLst/>
          </a:prstGeom>
          <a:noFill/>
        </p:spPr>
        <p:txBody>
          <a:bodyPr wrap="square" lIns="0" tIns="0" rIns="0" bIns="0" anchor="ctr">
            <a:spAutoFit/>
          </a:bodyPr>
          <a:lstStyle/>
          <a:p>
            <a:pPr algn="ctr"/>
            <a:r>
              <a:rPr sz="1500" b="1" i="0">
                <a:solidFill>
                  <a:schemeClr val="bg1"/>
                </a:solidFill>
              </a:rPr>
              <a:t>Error</a:t>
            </a:r>
          </a:p>
        </p:txBody>
      </p:sp>
      <p:sp>
        <p:nvSpPr>
          <p:cNvPr id="29" name="loop_5"/>
          <p:cNvSpPr/>
          <p:nvPr/>
        </p:nvSpPr>
        <p:spPr>
          <a:xfrm>
            <a:off x="162980" y="2811780"/>
            <a:ext cx="2103120" cy="54864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162980" y="2811780"/>
            <a:ext cx="2103120" cy="548640"/>
          </a:xfrm>
          <a:prstGeom prst="rect">
            <a:avLst/>
          </a:prstGeom>
          <a:noFill/>
        </p:spPr>
        <p:txBody>
          <a:bodyPr wrap="square" lIns="0" tIns="0" rIns="0" bIns="0" anchor="ctr">
            <a:spAutoFit/>
          </a:bodyPr>
          <a:lstStyle/>
          <a:p>
            <a:pPr algn="ctr"/>
            <a:r>
              <a:rPr sz="1500" b="0" i="0">
                <a:solidFill>
                  <a:schemeClr val="tx1"/>
                </a:solidFill>
              </a:rPr>
              <a:t>Paste the error back</a:t>
            </a:r>
          </a:p>
        </p:txBody>
      </p:sp>
      <p:sp>
        <p:nvSpPr>
          <p:cNvPr id="31" name="icon_FaRotate_circle"/>
          <p:cNvSpPr/>
          <p:nvPr/>
        </p:nvSpPr>
        <p:spPr>
          <a:xfrm>
            <a:off x="2770632" y="3456432"/>
            <a:ext cx="768096" cy="76809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2" name="Picture 31" descr="FaRotate_white.png"/>
          <p:cNvPicPr>
            <a:picLocks noChangeAspect="1"/>
          </p:cNvPicPr>
          <p:nvPr/>
        </p:nvPicPr>
        <p:blipFill>
          <a:blip r:embed="rId3"/>
          <a:stretch>
            <a:fillRect/>
          </a:stretch>
        </p:blipFill>
        <p:spPr>
          <a:xfrm>
            <a:off x="2962656" y="3648456"/>
            <a:ext cx="384048" cy="384048"/>
          </a:xfrm>
          <a:prstGeom prst="rect">
            <a:avLst/>
          </a:prstGeom>
        </p:spPr>
      </p:pic>
      <p:sp>
        <p:nvSpPr>
          <p:cNvPr id="33" name="Rounded Rectangle 32"/>
          <p:cNvSpPr/>
          <p:nvPr/>
        </p:nvSpPr>
        <p:spPr>
          <a:xfrm>
            <a:off x="6583680" y="2011680"/>
            <a:ext cx="5093208" cy="105156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icon_FaBookOpen_circle"/>
          <p:cNvSpPr/>
          <p:nvPr/>
        </p:nvSpPr>
        <p:spPr>
          <a:xfrm>
            <a:off x="6812280" y="2240280"/>
            <a:ext cx="594360" cy="59436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5" name="Picture 34" descr="FaBookOpen_white.png"/>
          <p:cNvPicPr>
            <a:picLocks noChangeAspect="1"/>
          </p:cNvPicPr>
          <p:nvPr/>
        </p:nvPicPr>
        <p:blipFill>
          <a:blip r:embed="rId4"/>
          <a:stretch>
            <a:fillRect/>
          </a:stretch>
        </p:blipFill>
        <p:spPr>
          <a:xfrm>
            <a:off x="6960870" y="2388870"/>
            <a:ext cx="297180" cy="297180"/>
          </a:xfrm>
          <a:prstGeom prst="rect">
            <a:avLst/>
          </a:prstGeom>
        </p:spPr>
      </p:pic>
      <p:sp>
        <p:nvSpPr>
          <p:cNvPr id="36" name="TextBox 35"/>
          <p:cNvSpPr txBox="1"/>
          <p:nvPr/>
        </p:nvSpPr>
        <p:spPr>
          <a:xfrm>
            <a:off x="7635240" y="2011680"/>
            <a:ext cx="3840480" cy="1051560"/>
          </a:xfrm>
          <a:prstGeom prst="rect">
            <a:avLst/>
          </a:prstGeom>
          <a:noFill/>
        </p:spPr>
        <p:txBody>
          <a:bodyPr wrap="square" lIns="0" tIns="0" rIns="0" bIns="0" anchor="ctr">
            <a:spAutoFit/>
          </a:bodyPr>
          <a:lstStyle/>
          <a:p>
            <a:pPr algn="l"/>
            <a:r>
              <a:rPr sz="1700" b="0" i="0">
                <a:solidFill>
                  <a:schemeClr val="tx1"/>
                </a:solidFill>
              </a:rPr>
              <a:t>The model never saw your data dictionary.</a:t>
            </a:r>
          </a:p>
        </p:txBody>
      </p:sp>
      <p:sp>
        <p:nvSpPr>
          <p:cNvPr id="37" name="Rounded Rectangle 36"/>
          <p:cNvSpPr/>
          <p:nvPr/>
        </p:nvSpPr>
        <p:spPr>
          <a:xfrm>
            <a:off x="6583680" y="3273552"/>
            <a:ext cx="5093208" cy="105156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icon_FaMagnifyingGlass_circle"/>
          <p:cNvSpPr/>
          <p:nvPr/>
        </p:nvSpPr>
        <p:spPr>
          <a:xfrm>
            <a:off x="6812280" y="3502152"/>
            <a:ext cx="594360" cy="59436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9" name="Picture 38" descr="FaMagnifyingGlass_white.png"/>
          <p:cNvPicPr>
            <a:picLocks noChangeAspect="1"/>
          </p:cNvPicPr>
          <p:nvPr/>
        </p:nvPicPr>
        <p:blipFill>
          <a:blip r:embed="rId5"/>
          <a:stretch>
            <a:fillRect/>
          </a:stretch>
        </p:blipFill>
        <p:spPr>
          <a:xfrm>
            <a:off x="6960870" y="3650742"/>
            <a:ext cx="297180" cy="297180"/>
          </a:xfrm>
          <a:prstGeom prst="rect">
            <a:avLst/>
          </a:prstGeom>
        </p:spPr>
      </p:pic>
      <p:sp>
        <p:nvSpPr>
          <p:cNvPr id="40" name="TextBox 39"/>
          <p:cNvSpPr txBox="1"/>
          <p:nvPr/>
        </p:nvSpPr>
        <p:spPr>
          <a:xfrm>
            <a:off x="7635240" y="3273552"/>
            <a:ext cx="3840480" cy="1051560"/>
          </a:xfrm>
          <a:prstGeom prst="rect">
            <a:avLst/>
          </a:prstGeom>
          <a:noFill/>
        </p:spPr>
        <p:txBody>
          <a:bodyPr wrap="square" lIns="0" tIns="0" rIns="0" bIns="0" anchor="ctr">
            <a:spAutoFit/>
          </a:bodyPr>
          <a:lstStyle/>
          <a:p>
            <a:pPr algn="l"/>
            <a:r>
              <a:rPr sz="1700" b="0" i="0">
                <a:solidFill>
                  <a:schemeClr val="tx1"/>
                </a:solidFill>
              </a:rPr>
              <a:t>The fix lives in a chat window you will never find again.</a:t>
            </a:r>
          </a:p>
        </p:txBody>
      </p:sp>
      <p:sp>
        <p:nvSpPr>
          <p:cNvPr id="41" name="Rounded Rectangle 40"/>
          <p:cNvSpPr/>
          <p:nvPr/>
        </p:nvSpPr>
        <p:spPr>
          <a:xfrm>
            <a:off x="6583680" y="4535424"/>
            <a:ext cx="5093208" cy="105156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icon_FaClockRotateLeft_circle"/>
          <p:cNvSpPr/>
          <p:nvPr/>
        </p:nvSpPr>
        <p:spPr>
          <a:xfrm>
            <a:off x="6812280" y="4764024"/>
            <a:ext cx="594360" cy="59436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3" name="Picture 42" descr="FaClockRotateLeft_white.png"/>
          <p:cNvPicPr>
            <a:picLocks noChangeAspect="1"/>
          </p:cNvPicPr>
          <p:nvPr/>
        </p:nvPicPr>
        <p:blipFill>
          <a:blip r:embed="rId6"/>
          <a:stretch>
            <a:fillRect/>
          </a:stretch>
        </p:blipFill>
        <p:spPr>
          <a:xfrm>
            <a:off x="6960870" y="4912614"/>
            <a:ext cx="297180" cy="297180"/>
          </a:xfrm>
          <a:prstGeom prst="rect">
            <a:avLst/>
          </a:prstGeom>
        </p:spPr>
      </p:pic>
      <p:sp>
        <p:nvSpPr>
          <p:cNvPr id="44" name="TextBox 43"/>
          <p:cNvSpPr txBox="1"/>
          <p:nvPr/>
        </p:nvSpPr>
        <p:spPr>
          <a:xfrm>
            <a:off x="7635240" y="4535424"/>
            <a:ext cx="3840480" cy="1051560"/>
          </a:xfrm>
          <a:prstGeom prst="rect">
            <a:avLst/>
          </a:prstGeom>
          <a:noFill/>
        </p:spPr>
        <p:txBody>
          <a:bodyPr wrap="square" lIns="0" tIns="0" rIns="0" bIns="0" anchor="ctr">
            <a:spAutoFit/>
          </a:bodyPr>
          <a:lstStyle/>
          <a:p>
            <a:pPr algn="l"/>
            <a:r>
              <a:rPr sz="1700" b="0" i="0">
                <a:solidFill>
                  <a:schemeClr val="tx1"/>
                </a:solidFill>
              </a:rPr>
              <a:t>Six months later, nobody can say what was done to the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Chat-based vs. agent-based AI</a:t>
            </a:r>
          </a:p>
        </p:txBody>
      </p:sp>
      <p:sp>
        <p:nvSpPr>
          <p:cNvPr id="3" name="Text Placeholder 2"/>
          <p:cNvSpPr>
            <a:spLocks noGrp="1"/>
          </p:cNvSpPr>
          <p:nvPr>
            <p:ph type="body" sz="quarter" idx="12"/>
          </p:nvPr>
        </p:nvSpPr>
        <p:spPr/>
        <p:txBody>
          <a:bodyPr/>
          <a:lstStyle/>
          <a:p>
            <a:r>
              <a:t>The difference is not the model; it's where the model sits</a:t>
            </a:r>
          </a:p>
        </p:txBody>
      </p:sp>
      <p:sp>
        <p:nvSpPr>
          <p:cNvPr id="4" name="Text Placeholder 3"/>
          <p:cNvSpPr>
            <a:spLocks noGrp="1"/>
          </p:cNvSpPr>
          <p:nvPr>
            <p:ph type="body" sz="quarter" idx="14"/>
          </p:nvPr>
        </p:nvSpPr>
        <p:spPr/>
        <p:txBody>
          <a:bodyPr/>
          <a:lstStyle/>
          <a:p>
            <a:r>
              <a:t>A distinction: chat vs. agent</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4</a:t>
            </a:fld>
            <a:endParaRPr lang="en-US" dirty="0"/>
          </a:p>
        </p:txBody>
      </p:sp>
      <p:sp>
        <p:nvSpPr>
          <p:cNvPr id="13" name="Rounded Rectangle 12"/>
          <p:cNvSpPr/>
          <p:nvPr/>
        </p:nvSpPr>
        <p:spPr>
          <a:xfrm>
            <a:off x="512064" y="1920240"/>
            <a:ext cx="5394960" cy="18288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icon_FaComments_circle"/>
          <p:cNvSpPr/>
          <p:nvPr/>
        </p:nvSpPr>
        <p:spPr>
          <a:xfrm>
            <a:off x="832104" y="2423160"/>
            <a:ext cx="777240" cy="77724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FaComments_dark.png"/>
          <p:cNvPicPr>
            <a:picLocks noChangeAspect="1"/>
          </p:cNvPicPr>
          <p:nvPr/>
        </p:nvPicPr>
        <p:blipFill>
          <a:blip r:embed="rId3"/>
          <a:stretch>
            <a:fillRect/>
          </a:stretch>
        </p:blipFill>
        <p:spPr>
          <a:xfrm>
            <a:off x="1026414" y="2617470"/>
            <a:ext cx="388620" cy="388620"/>
          </a:xfrm>
          <a:prstGeom prst="rect">
            <a:avLst/>
          </a:prstGeom>
        </p:spPr>
      </p:pic>
      <p:sp>
        <p:nvSpPr>
          <p:cNvPr id="16" name="TextBox 15"/>
          <p:cNvSpPr txBox="1"/>
          <p:nvPr/>
        </p:nvSpPr>
        <p:spPr>
          <a:xfrm>
            <a:off x="1883664" y="1920240"/>
            <a:ext cx="3840480" cy="1828800"/>
          </a:xfrm>
          <a:prstGeom prst="rect">
            <a:avLst/>
          </a:prstGeom>
          <a:noFill/>
        </p:spPr>
        <p:txBody>
          <a:bodyPr wrap="square" lIns="0" tIns="0" rIns="0" bIns="0" anchor="ctr">
            <a:spAutoFit/>
          </a:bodyPr>
          <a:lstStyle/>
          <a:p>
            <a:pPr algn="l"/>
            <a:r>
              <a:rPr sz="2600" b="1" i="0">
                <a:solidFill>
                  <a:schemeClr val="tx1"/>
                </a:solidFill>
              </a:rPr>
              <a:t>A chatbot answers in a window.</a:t>
            </a:r>
          </a:p>
        </p:txBody>
      </p:sp>
      <p:sp>
        <p:nvSpPr>
          <p:cNvPr id="17" name="Rounded Rectangle 16"/>
          <p:cNvSpPr/>
          <p:nvPr/>
        </p:nvSpPr>
        <p:spPr>
          <a:xfrm>
            <a:off x="6281928" y="1920240"/>
            <a:ext cx="5394960" cy="182880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icon_FaFolderOpen_circle"/>
          <p:cNvSpPr/>
          <p:nvPr/>
        </p:nvSpPr>
        <p:spPr>
          <a:xfrm>
            <a:off x="6601968" y="2423160"/>
            <a:ext cx="777240" cy="77724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FaFolderOpen_red.png"/>
          <p:cNvPicPr>
            <a:picLocks noChangeAspect="1"/>
          </p:cNvPicPr>
          <p:nvPr/>
        </p:nvPicPr>
        <p:blipFill>
          <a:blip r:embed="rId4"/>
          <a:stretch>
            <a:fillRect/>
          </a:stretch>
        </p:blipFill>
        <p:spPr>
          <a:xfrm>
            <a:off x="6796278" y="2617470"/>
            <a:ext cx="388620" cy="388620"/>
          </a:xfrm>
          <a:prstGeom prst="rect">
            <a:avLst/>
          </a:prstGeom>
        </p:spPr>
      </p:pic>
      <p:sp>
        <p:nvSpPr>
          <p:cNvPr id="20" name="TextBox 19"/>
          <p:cNvSpPr txBox="1"/>
          <p:nvPr/>
        </p:nvSpPr>
        <p:spPr>
          <a:xfrm>
            <a:off x="7653527" y="1920240"/>
            <a:ext cx="3840480" cy="1828800"/>
          </a:xfrm>
          <a:prstGeom prst="rect">
            <a:avLst/>
          </a:prstGeom>
          <a:noFill/>
        </p:spPr>
        <p:txBody>
          <a:bodyPr wrap="square" lIns="0" tIns="0" rIns="0" bIns="0" anchor="ctr">
            <a:spAutoFit/>
          </a:bodyPr>
          <a:lstStyle/>
          <a:p>
            <a:pPr algn="l"/>
            <a:r>
              <a:rPr sz="2600" b="1" i="0">
                <a:solidFill>
                  <a:schemeClr val="bg1"/>
                </a:solidFill>
              </a:rPr>
              <a:t>An agent works inside your project.</a:t>
            </a:r>
          </a:p>
        </p:txBody>
      </p:sp>
      <p:sp>
        <p:nvSpPr>
          <p:cNvPr id="21" name="TextBox 20"/>
          <p:cNvSpPr txBox="1"/>
          <p:nvPr/>
        </p:nvSpPr>
        <p:spPr>
          <a:xfrm>
            <a:off x="512064" y="3977639"/>
            <a:ext cx="5486400" cy="365760"/>
          </a:xfrm>
          <a:prstGeom prst="rect">
            <a:avLst/>
          </a:prstGeom>
          <a:noFill/>
        </p:spPr>
        <p:txBody>
          <a:bodyPr wrap="square" lIns="0" tIns="0" rIns="0" bIns="0" anchor="t">
            <a:spAutoFit/>
          </a:bodyPr>
          <a:lstStyle/>
          <a:p>
            <a:pPr algn="l"/>
            <a:r>
              <a:rPr sz="1800" b="1" i="0">
                <a:solidFill>
                  <a:schemeClr val="tx2"/>
                </a:solidFill>
              </a:rPr>
              <a:t>An agent can…</a:t>
            </a:r>
          </a:p>
        </p:txBody>
      </p:sp>
      <p:sp>
        <p:nvSpPr>
          <p:cNvPr id="22" name="icon_FaFileLines_circle"/>
          <p:cNvSpPr/>
          <p:nvPr/>
        </p:nvSpPr>
        <p:spPr>
          <a:xfrm>
            <a:off x="1124712" y="4434840"/>
            <a:ext cx="603504" cy="6035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FaFileLines_white.png"/>
          <p:cNvPicPr>
            <a:picLocks noChangeAspect="1"/>
          </p:cNvPicPr>
          <p:nvPr/>
        </p:nvPicPr>
        <p:blipFill>
          <a:blip r:embed="rId5"/>
          <a:stretch>
            <a:fillRect/>
          </a:stretch>
        </p:blipFill>
        <p:spPr>
          <a:xfrm>
            <a:off x="1275588" y="4585716"/>
            <a:ext cx="301752" cy="301752"/>
          </a:xfrm>
          <a:prstGeom prst="rect">
            <a:avLst/>
          </a:prstGeom>
        </p:spPr>
      </p:pic>
      <p:sp>
        <p:nvSpPr>
          <p:cNvPr id="24" name="TextBox 23"/>
          <p:cNvSpPr txBox="1"/>
          <p:nvPr/>
        </p:nvSpPr>
        <p:spPr>
          <a:xfrm>
            <a:off x="512064" y="5120640"/>
            <a:ext cx="1828800" cy="365760"/>
          </a:xfrm>
          <a:prstGeom prst="rect">
            <a:avLst/>
          </a:prstGeom>
          <a:noFill/>
        </p:spPr>
        <p:txBody>
          <a:bodyPr wrap="square" lIns="0" tIns="0" rIns="0" bIns="0" anchor="t">
            <a:spAutoFit/>
          </a:bodyPr>
          <a:lstStyle/>
          <a:p>
            <a:pPr algn="ctr"/>
            <a:r>
              <a:rPr sz="1600" b="0" i="0">
                <a:solidFill>
                  <a:schemeClr val="tx1"/>
                </a:solidFill>
              </a:rPr>
              <a:t>Read your files</a:t>
            </a:r>
          </a:p>
        </p:txBody>
      </p:sp>
      <p:cxnSp>
        <p:nvCxnSpPr>
          <p:cNvPr id="25" name="Connector 24"/>
          <p:cNvCxnSpPr/>
          <p:nvPr/>
        </p:nvCxnSpPr>
        <p:spPr>
          <a:xfrm>
            <a:off x="1865376" y="4736592"/>
            <a:ext cx="1456182" cy="0"/>
          </a:xfrm>
          <a:prstGeom prst="line">
            <a:avLst/>
          </a:prstGeom>
          <a:ln w="254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icon_FaFileCode_circle"/>
          <p:cNvSpPr/>
          <p:nvPr/>
        </p:nvSpPr>
        <p:spPr>
          <a:xfrm>
            <a:off x="3458718" y="4434840"/>
            <a:ext cx="603504" cy="6035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7" name="Picture 26" descr="FaFileCode_white.png"/>
          <p:cNvPicPr>
            <a:picLocks noChangeAspect="1"/>
          </p:cNvPicPr>
          <p:nvPr/>
        </p:nvPicPr>
        <p:blipFill>
          <a:blip r:embed="rId6"/>
          <a:stretch>
            <a:fillRect/>
          </a:stretch>
        </p:blipFill>
        <p:spPr>
          <a:xfrm>
            <a:off x="3609594" y="4585716"/>
            <a:ext cx="301752" cy="301752"/>
          </a:xfrm>
          <a:prstGeom prst="rect">
            <a:avLst/>
          </a:prstGeom>
        </p:spPr>
      </p:pic>
      <p:sp>
        <p:nvSpPr>
          <p:cNvPr id="28" name="TextBox 27"/>
          <p:cNvSpPr txBox="1"/>
          <p:nvPr/>
        </p:nvSpPr>
        <p:spPr>
          <a:xfrm>
            <a:off x="2846070" y="5120640"/>
            <a:ext cx="1828800" cy="365760"/>
          </a:xfrm>
          <a:prstGeom prst="rect">
            <a:avLst/>
          </a:prstGeom>
          <a:noFill/>
        </p:spPr>
        <p:txBody>
          <a:bodyPr wrap="square" lIns="0" tIns="0" rIns="0" bIns="0" anchor="t">
            <a:spAutoFit/>
          </a:bodyPr>
          <a:lstStyle/>
          <a:p>
            <a:pPr algn="ctr"/>
            <a:r>
              <a:rPr sz="1600" b="0" i="0">
                <a:solidFill>
                  <a:schemeClr val="tx1"/>
                </a:solidFill>
              </a:rPr>
              <a:t>Write a script to disk</a:t>
            </a:r>
          </a:p>
        </p:txBody>
      </p:sp>
      <p:cxnSp>
        <p:nvCxnSpPr>
          <p:cNvPr id="29" name="Connector 28"/>
          <p:cNvCxnSpPr/>
          <p:nvPr/>
        </p:nvCxnSpPr>
        <p:spPr>
          <a:xfrm>
            <a:off x="4199382" y="4736592"/>
            <a:ext cx="1456182" cy="0"/>
          </a:xfrm>
          <a:prstGeom prst="line">
            <a:avLst/>
          </a:prstGeom>
          <a:ln w="254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icon_FaPlay_circle"/>
          <p:cNvSpPr/>
          <p:nvPr/>
        </p:nvSpPr>
        <p:spPr>
          <a:xfrm>
            <a:off x="5792724" y="4434840"/>
            <a:ext cx="603504" cy="6035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1" name="Picture 30" descr="FaPlay_white.png"/>
          <p:cNvPicPr>
            <a:picLocks noChangeAspect="1"/>
          </p:cNvPicPr>
          <p:nvPr/>
        </p:nvPicPr>
        <p:blipFill>
          <a:blip r:embed="rId7"/>
          <a:stretch>
            <a:fillRect/>
          </a:stretch>
        </p:blipFill>
        <p:spPr>
          <a:xfrm>
            <a:off x="5943600" y="4585716"/>
            <a:ext cx="301752" cy="301752"/>
          </a:xfrm>
          <a:prstGeom prst="rect">
            <a:avLst/>
          </a:prstGeom>
        </p:spPr>
      </p:pic>
      <p:sp>
        <p:nvSpPr>
          <p:cNvPr id="32" name="TextBox 31"/>
          <p:cNvSpPr txBox="1"/>
          <p:nvPr/>
        </p:nvSpPr>
        <p:spPr>
          <a:xfrm>
            <a:off x="5180076" y="5120640"/>
            <a:ext cx="1828800" cy="365760"/>
          </a:xfrm>
          <a:prstGeom prst="rect">
            <a:avLst/>
          </a:prstGeom>
          <a:noFill/>
        </p:spPr>
        <p:txBody>
          <a:bodyPr wrap="square" lIns="0" tIns="0" rIns="0" bIns="0" anchor="t">
            <a:spAutoFit/>
          </a:bodyPr>
          <a:lstStyle/>
          <a:p>
            <a:pPr algn="ctr"/>
            <a:r>
              <a:rPr sz="1600" b="0" i="0">
                <a:solidFill>
                  <a:schemeClr val="tx1"/>
                </a:solidFill>
              </a:rPr>
              <a:t>Run it</a:t>
            </a:r>
          </a:p>
        </p:txBody>
      </p:sp>
      <p:cxnSp>
        <p:nvCxnSpPr>
          <p:cNvPr id="33" name="Connector 32"/>
          <p:cNvCxnSpPr/>
          <p:nvPr/>
        </p:nvCxnSpPr>
        <p:spPr>
          <a:xfrm>
            <a:off x="6533388" y="4736592"/>
            <a:ext cx="1456182" cy="0"/>
          </a:xfrm>
          <a:prstGeom prst="line">
            <a:avLst/>
          </a:prstGeom>
          <a:ln w="254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icon_FaBug_circle"/>
          <p:cNvSpPr/>
          <p:nvPr/>
        </p:nvSpPr>
        <p:spPr>
          <a:xfrm>
            <a:off x="8126730" y="4434840"/>
            <a:ext cx="603504" cy="6035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5" name="Picture 34" descr="FaBug_white.png"/>
          <p:cNvPicPr>
            <a:picLocks noChangeAspect="1"/>
          </p:cNvPicPr>
          <p:nvPr/>
        </p:nvPicPr>
        <p:blipFill>
          <a:blip r:embed="rId8"/>
          <a:stretch>
            <a:fillRect/>
          </a:stretch>
        </p:blipFill>
        <p:spPr>
          <a:xfrm>
            <a:off x="8277606" y="4585716"/>
            <a:ext cx="301752" cy="301752"/>
          </a:xfrm>
          <a:prstGeom prst="rect">
            <a:avLst/>
          </a:prstGeom>
        </p:spPr>
      </p:pic>
      <p:sp>
        <p:nvSpPr>
          <p:cNvPr id="36" name="TextBox 35"/>
          <p:cNvSpPr txBox="1"/>
          <p:nvPr/>
        </p:nvSpPr>
        <p:spPr>
          <a:xfrm>
            <a:off x="7514082" y="5120640"/>
            <a:ext cx="1828800" cy="365760"/>
          </a:xfrm>
          <a:prstGeom prst="rect">
            <a:avLst/>
          </a:prstGeom>
          <a:noFill/>
        </p:spPr>
        <p:txBody>
          <a:bodyPr wrap="square" lIns="0" tIns="0" rIns="0" bIns="0" anchor="t">
            <a:spAutoFit/>
          </a:bodyPr>
          <a:lstStyle/>
          <a:p>
            <a:pPr algn="ctr"/>
            <a:r>
              <a:rPr sz="1600" b="0" i="0">
                <a:solidFill>
                  <a:schemeClr val="tx1"/>
                </a:solidFill>
              </a:rPr>
              <a:t>Read the error</a:t>
            </a:r>
          </a:p>
        </p:txBody>
      </p:sp>
      <p:cxnSp>
        <p:nvCxnSpPr>
          <p:cNvPr id="37" name="Connector 36"/>
          <p:cNvCxnSpPr/>
          <p:nvPr/>
        </p:nvCxnSpPr>
        <p:spPr>
          <a:xfrm>
            <a:off x="8867394" y="4736592"/>
            <a:ext cx="1456182" cy="0"/>
          </a:xfrm>
          <a:prstGeom prst="line">
            <a:avLst/>
          </a:prstGeom>
          <a:ln w="254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icon_FaWrench_circle"/>
          <p:cNvSpPr/>
          <p:nvPr/>
        </p:nvSpPr>
        <p:spPr>
          <a:xfrm>
            <a:off x="10460736" y="4434840"/>
            <a:ext cx="603504" cy="6035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9" name="Picture 38" descr="FaWrench_white.png"/>
          <p:cNvPicPr>
            <a:picLocks noChangeAspect="1"/>
          </p:cNvPicPr>
          <p:nvPr/>
        </p:nvPicPr>
        <p:blipFill>
          <a:blip r:embed="rId9"/>
          <a:stretch>
            <a:fillRect/>
          </a:stretch>
        </p:blipFill>
        <p:spPr>
          <a:xfrm>
            <a:off x="10611612" y="4585716"/>
            <a:ext cx="301752" cy="301752"/>
          </a:xfrm>
          <a:prstGeom prst="rect">
            <a:avLst/>
          </a:prstGeom>
        </p:spPr>
      </p:pic>
      <p:sp>
        <p:nvSpPr>
          <p:cNvPr id="40" name="TextBox 39"/>
          <p:cNvSpPr txBox="1"/>
          <p:nvPr/>
        </p:nvSpPr>
        <p:spPr>
          <a:xfrm>
            <a:off x="9848088" y="5120640"/>
            <a:ext cx="1828800" cy="365760"/>
          </a:xfrm>
          <a:prstGeom prst="rect">
            <a:avLst/>
          </a:prstGeom>
          <a:noFill/>
        </p:spPr>
        <p:txBody>
          <a:bodyPr wrap="square" lIns="0" tIns="0" rIns="0" bIns="0" anchor="t">
            <a:spAutoFit/>
          </a:bodyPr>
          <a:lstStyle/>
          <a:p>
            <a:pPr algn="ctr"/>
            <a:r>
              <a:rPr sz="1600" b="0" i="0">
                <a:solidFill>
                  <a:schemeClr val="tx1"/>
                </a:solidFill>
              </a:rPr>
              <a:t>Fix it</a:t>
            </a:r>
          </a:p>
        </p:txBody>
      </p:sp>
      <p:sp>
        <p:nvSpPr>
          <p:cNvPr id="41" name="TextBox 40"/>
          <p:cNvSpPr txBox="1"/>
          <p:nvPr/>
        </p:nvSpPr>
        <p:spPr>
          <a:xfrm>
            <a:off x="512064" y="5532120"/>
            <a:ext cx="11164824" cy="365760"/>
          </a:xfrm>
          <a:prstGeom prst="rect">
            <a:avLst/>
          </a:prstGeom>
          <a:noFill/>
        </p:spPr>
        <p:txBody>
          <a:bodyPr wrap="square" lIns="0" tIns="0" rIns="0" bIns="0" anchor="t">
            <a:spAutoFit/>
          </a:bodyPr>
          <a:lstStyle/>
          <a:p>
            <a:pPr algn="ctr"/>
            <a:r>
              <a:rPr sz="1800" b="1" i="1">
                <a:solidFill>
                  <a:schemeClr val="tx2"/>
                </a:solidFill>
              </a:rPr>
              <a:t>…and leave every step in your folder.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changes</a:t>
            </a:r>
          </a:p>
        </p:txBody>
      </p:sp>
      <p:sp>
        <p:nvSpPr>
          <p:cNvPr id="3" name="Text Placeholder 2"/>
          <p:cNvSpPr>
            <a:spLocks noGrp="1"/>
          </p:cNvSpPr>
          <p:nvPr>
            <p:ph type="body" sz="quarter" idx="12"/>
          </p:nvPr>
        </p:nvSpPr>
        <p:spPr/>
        <p:txBody>
          <a:bodyPr/>
          <a:lstStyle/>
          <a:p>
            <a:r>
              <a:t>Same model, different place: what that does to your work</a:t>
            </a:r>
          </a:p>
        </p:txBody>
      </p:sp>
      <p:sp>
        <p:nvSpPr>
          <p:cNvPr id="4" name="Text Placeholder 3"/>
          <p:cNvSpPr>
            <a:spLocks noGrp="1"/>
          </p:cNvSpPr>
          <p:nvPr>
            <p:ph type="body" sz="quarter" idx="14"/>
          </p:nvPr>
        </p:nvSpPr>
        <p:spPr/>
        <p:txBody>
          <a:bodyPr/>
          <a:lstStyle/>
          <a:p>
            <a:r>
              <a:t>A distinction: chat vs. agent</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5</a:t>
            </a:fld>
            <a:endParaRPr lang="en-US" dirty="0"/>
          </a:p>
        </p:txBody>
      </p:sp>
      <p:graphicFrame>
        <p:nvGraphicFramePr>
          <p:cNvPr id="13" name="Table 12"/>
          <p:cNvGraphicFramePr>
            <a:graphicFrameLocks noGrp="1"/>
          </p:cNvGraphicFramePr>
          <p:nvPr>
            <p:extLst>
              <p:ext uri="{D42A27DB-BD31-4B8C-83A1-F6EECF244321}">
                <p14:modId xmlns:p14="http://schemas.microsoft.com/office/powerpoint/2010/main" val="333905215"/>
              </p:ext>
            </p:extLst>
          </p:nvPr>
        </p:nvGraphicFramePr>
        <p:xfrm>
          <a:off x="512064" y="1920240"/>
          <a:ext cx="11164824" cy="3493008"/>
        </p:xfrm>
        <a:graphic>
          <a:graphicData uri="http://schemas.openxmlformats.org/drawingml/2006/table">
            <a:tbl>
              <a:tblPr firstRow="1">
                <a:tableStyleId>{5C22544A-7EE6-4342-B048-85BDC9FD1C3A}</a:tableStyleId>
              </a:tblPr>
              <a:tblGrid>
                <a:gridCol w="27432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764024">
                  <a:extLst>
                    <a:ext uri="{9D8B030D-6E8A-4147-A177-3AD203B41FA5}">
                      <a16:colId xmlns:a16="http://schemas.microsoft.com/office/drawing/2014/main" val="20002"/>
                    </a:ext>
                  </a:extLst>
                </a:gridCol>
              </a:tblGrid>
              <a:tr h="457200">
                <a:tc>
                  <a:txBody>
                    <a:bodyPr/>
                    <a:lstStyle/>
                    <a:p>
                      <a:endParaRPr dirty="0"/>
                    </a:p>
                  </a:txBody>
                  <a:tcPr marT="36576" marB="36576" anchor="ctr">
                    <a:solidFill>
                      <a:schemeClr val="tx2"/>
                    </a:solidFill>
                  </a:tcPr>
                </a:tc>
                <a:tc>
                  <a:txBody>
                    <a:bodyPr/>
                    <a:lstStyle/>
                    <a:p>
                      <a:r>
                        <a:rPr sz="2000" b="1" dirty="0">
                          <a:solidFill>
                            <a:schemeClr val="bg1"/>
                          </a:solidFill>
                        </a:rPr>
                        <a:t>Chat</a:t>
                      </a:r>
                    </a:p>
                  </a:txBody>
                  <a:tcPr marT="36576" marB="36576" anchor="ctr">
                    <a:solidFill>
                      <a:schemeClr val="tx2"/>
                    </a:solidFill>
                  </a:tcPr>
                </a:tc>
                <a:tc>
                  <a:txBody>
                    <a:bodyPr/>
                    <a:lstStyle/>
                    <a:p>
                      <a:r>
                        <a:rPr sz="2000" b="1" dirty="0">
                          <a:solidFill>
                            <a:schemeClr val="bg1"/>
                          </a:solidFill>
                        </a:rPr>
                        <a:t>Agent</a:t>
                      </a:r>
                    </a:p>
                  </a:txBody>
                  <a:tcPr marT="36576" marB="36576" anchor="ctr">
                    <a:solidFill>
                      <a:schemeClr val="tx2"/>
                    </a:solidFill>
                  </a:tcPr>
                </a:tc>
                <a:extLst>
                  <a:ext uri="{0D108BD9-81ED-4DB2-BD59-A6C34878D82A}">
                    <a16:rowId xmlns:a16="http://schemas.microsoft.com/office/drawing/2014/main" val="10000"/>
                  </a:ext>
                </a:extLst>
              </a:tr>
              <a:tr h="603504">
                <a:tc>
                  <a:txBody>
                    <a:bodyPr/>
                    <a:lstStyle/>
                    <a:p>
                      <a:r>
                        <a:rPr sz="1800" b="1" dirty="0">
                          <a:solidFill>
                            <a:schemeClr val="tx1"/>
                          </a:solidFill>
                        </a:rPr>
                        <a:t>Where the context lives</a:t>
                      </a:r>
                    </a:p>
                  </a:txBody>
                  <a:tcPr marT="36576" marB="36576" anchor="ctr">
                    <a:solidFill>
                      <a:schemeClr val="bg1"/>
                    </a:solidFill>
                  </a:tcPr>
                </a:tc>
                <a:tc>
                  <a:txBody>
                    <a:bodyPr/>
                    <a:lstStyle/>
                    <a:p>
                      <a:r>
                        <a:rPr sz="1800" b="0">
                          <a:solidFill>
                            <a:schemeClr val="tx1"/>
                          </a:solidFill>
                        </a:rPr>
                        <a:t>What you paste, this session</a:t>
                      </a:r>
                    </a:p>
                  </a:txBody>
                  <a:tcPr marT="36576" marB="36576" anchor="ctr">
                    <a:solidFill>
                      <a:schemeClr val="bg1"/>
                    </a:solidFill>
                  </a:tcPr>
                </a:tc>
                <a:tc>
                  <a:txBody>
                    <a:bodyPr/>
                    <a:lstStyle/>
                    <a:p>
                      <a:r>
                        <a:rPr sz="1800" b="0">
                          <a:solidFill>
                            <a:schemeClr val="tx1"/>
                          </a:solidFill>
                        </a:rPr>
                        <a:t>Your project folder + a CLAUDE.md file it reads every time</a:t>
                      </a:r>
                    </a:p>
                  </a:txBody>
                  <a:tcPr marT="36576" marB="36576" anchor="ctr">
                    <a:solidFill>
                      <a:schemeClr val="bg1"/>
                    </a:solidFill>
                  </a:tcPr>
                </a:tc>
                <a:extLst>
                  <a:ext uri="{0D108BD9-81ED-4DB2-BD59-A6C34878D82A}">
                    <a16:rowId xmlns:a16="http://schemas.microsoft.com/office/drawing/2014/main" val="10001"/>
                  </a:ext>
                </a:extLst>
              </a:tr>
              <a:tr h="603504">
                <a:tc>
                  <a:txBody>
                    <a:bodyPr/>
                    <a:lstStyle/>
                    <a:p>
                      <a:r>
                        <a:rPr sz="1800" b="1" dirty="0">
                          <a:solidFill>
                            <a:schemeClr val="tx1"/>
                          </a:solidFill>
                        </a:rPr>
                        <a:t>Where the code runs</a:t>
                      </a:r>
                    </a:p>
                  </a:txBody>
                  <a:tcPr marT="36576" marB="36576" anchor="ctr">
                    <a:solidFill>
                      <a:schemeClr val="bg1"/>
                    </a:solidFill>
                  </a:tcPr>
                </a:tc>
                <a:tc>
                  <a:txBody>
                    <a:bodyPr/>
                    <a:lstStyle/>
                    <a:p>
                      <a:r>
                        <a:rPr sz="1800" b="0" dirty="0">
                          <a:solidFill>
                            <a:schemeClr val="tx1"/>
                          </a:solidFill>
                        </a:rPr>
                        <a:t>Nowhere — you copy it out</a:t>
                      </a:r>
                    </a:p>
                  </a:txBody>
                  <a:tcPr marT="36576" marB="36576" anchor="ctr">
                    <a:solidFill>
                      <a:schemeClr val="bg1"/>
                    </a:solidFill>
                  </a:tcPr>
                </a:tc>
                <a:tc>
                  <a:txBody>
                    <a:bodyPr/>
                    <a:lstStyle/>
                    <a:p>
                      <a:r>
                        <a:rPr sz="1800" b="0">
                          <a:solidFill>
                            <a:schemeClr val="tx1"/>
                          </a:solidFill>
                        </a:rPr>
                        <a:t>On your machine, in your R</a:t>
                      </a:r>
                    </a:p>
                  </a:txBody>
                  <a:tcPr marT="36576" marB="36576" anchor="ctr">
                    <a:solidFill>
                      <a:schemeClr val="bg1"/>
                    </a:solidFill>
                  </a:tcPr>
                </a:tc>
                <a:extLst>
                  <a:ext uri="{0D108BD9-81ED-4DB2-BD59-A6C34878D82A}">
                    <a16:rowId xmlns:a16="http://schemas.microsoft.com/office/drawing/2014/main" val="10002"/>
                  </a:ext>
                </a:extLst>
              </a:tr>
              <a:tr h="603504">
                <a:tc>
                  <a:txBody>
                    <a:bodyPr/>
                    <a:lstStyle/>
                    <a:p>
                      <a:r>
                        <a:rPr sz="1800" b="1">
                          <a:solidFill>
                            <a:schemeClr val="tx1"/>
                          </a:solidFill>
                        </a:rPr>
                        <a:t>Where the data sits</a:t>
                      </a:r>
                    </a:p>
                  </a:txBody>
                  <a:tcPr marT="36576" marB="36576" anchor="ctr">
                    <a:solidFill>
                      <a:schemeClr val="bg1"/>
                    </a:solidFill>
                  </a:tcPr>
                </a:tc>
                <a:tc>
                  <a:txBody>
                    <a:bodyPr/>
                    <a:lstStyle/>
                    <a:p>
                      <a:r>
                        <a:rPr sz="1800" b="0" dirty="0">
                          <a:solidFill>
                            <a:schemeClr val="tx1"/>
                          </a:solidFill>
                        </a:rPr>
                        <a:t>Wherever you pasted it</a:t>
                      </a:r>
                    </a:p>
                  </a:txBody>
                  <a:tcPr marT="36576" marB="36576" anchor="ctr">
                    <a:solidFill>
                      <a:schemeClr val="bg1"/>
                    </a:solidFill>
                  </a:tcPr>
                </a:tc>
                <a:tc>
                  <a:txBody>
                    <a:bodyPr/>
                    <a:lstStyle/>
                    <a:p>
                      <a:r>
                        <a:rPr sz="1800" b="0">
                          <a:solidFill>
                            <a:schemeClr val="tx1"/>
                          </a:solidFill>
                        </a:rPr>
                        <a:t>Files stay in your folder; what it reads is sent to the model</a:t>
                      </a:r>
                    </a:p>
                  </a:txBody>
                  <a:tcPr marT="36576" marB="36576" anchor="ctr">
                    <a:solidFill>
                      <a:schemeClr val="bg1"/>
                    </a:solidFill>
                  </a:tcPr>
                </a:tc>
                <a:extLst>
                  <a:ext uri="{0D108BD9-81ED-4DB2-BD59-A6C34878D82A}">
                    <a16:rowId xmlns:a16="http://schemas.microsoft.com/office/drawing/2014/main" val="10003"/>
                  </a:ext>
                </a:extLst>
              </a:tr>
              <a:tr h="603504">
                <a:tc>
                  <a:txBody>
                    <a:bodyPr/>
                    <a:lstStyle/>
                    <a:p>
                      <a:r>
                        <a:rPr sz="1800" b="1">
                          <a:solidFill>
                            <a:schemeClr val="tx1"/>
                          </a:solidFill>
                        </a:rPr>
                        <a:t>What record is left</a:t>
                      </a:r>
                    </a:p>
                  </a:txBody>
                  <a:tcPr marT="36576" marB="36576" anchor="ctr">
                    <a:solidFill>
                      <a:srgbClr val="F6E2E6"/>
                    </a:solidFill>
                  </a:tcPr>
                </a:tc>
                <a:tc>
                  <a:txBody>
                    <a:bodyPr/>
                    <a:lstStyle/>
                    <a:p>
                      <a:r>
                        <a:rPr sz="1800" b="0" dirty="0">
                          <a:solidFill>
                            <a:schemeClr val="tx1"/>
                          </a:solidFill>
                        </a:rPr>
                        <a:t>A chat transcript</a:t>
                      </a:r>
                    </a:p>
                  </a:txBody>
                  <a:tcPr marT="36576" marB="36576" anchor="ctr">
                    <a:solidFill>
                      <a:srgbClr val="F6E2E6"/>
                    </a:solidFill>
                  </a:tcPr>
                </a:tc>
                <a:tc>
                  <a:txBody>
                    <a:bodyPr/>
                    <a:lstStyle/>
                    <a:p>
                      <a:r>
                        <a:rPr sz="1800" b="1" dirty="0">
                          <a:solidFill>
                            <a:schemeClr val="tx2"/>
                          </a:solidFill>
                        </a:rPr>
                        <a:t>Scripts, logs, outputs, and drafts in your project</a:t>
                      </a:r>
                    </a:p>
                  </a:txBody>
                  <a:tcPr marT="36576" marB="36576" anchor="ctr">
                    <a:solidFill>
                      <a:srgbClr val="F6E2E6"/>
                    </a:solidFill>
                  </a:tcPr>
                </a:tc>
                <a:extLst>
                  <a:ext uri="{0D108BD9-81ED-4DB2-BD59-A6C34878D82A}">
                    <a16:rowId xmlns:a16="http://schemas.microsoft.com/office/drawing/2014/main" val="10004"/>
                  </a:ext>
                </a:extLst>
              </a:tr>
              <a:tr h="603504">
                <a:tc>
                  <a:txBody>
                    <a:bodyPr/>
                    <a:lstStyle/>
                    <a:p>
                      <a:r>
                        <a:rPr sz="1800" b="1">
                          <a:solidFill>
                            <a:schemeClr val="tx1"/>
                          </a:solidFill>
                        </a:rPr>
                        <a:t>Who checks the work</a:t>
                      </a:r>
                    </a:p>
                  </a:txBody>
                  <a:tcPr marT="36576" marB="36576" anchor="ctr">
                    <a:solidFill>
                      <a:srgbClr val="F6E2E6"/>
                    </a:solidFill>
                  </a:tcPr>
                </a:tc>
                <a:tc>
                  <a:txBody>
                    <a:bodyPr/>
                    <a:lstStyle/>
                    <a:p>
                      <a:r>
                        <a:rPr sz="1800" b="0">
                          <a:solidFill>
                            <a:schemeClr val="tx1"/>
                          </a:solidFill>
                        </a:rPr>
                        <a:t>You, by re-pasting</a:t>
                      </a:r>
                    </a:p>
                  </a:txBody>
                  <a:tcPr marT="36576" marB="36576" anchor="ctr">
                    <a:solidFill>
                      <a:srgbClr val="F6E2E6"/>
                    </a:solidFill>
                  </a:tcPr>
                </a:tc>
                <a:tc>
                  <a:txBody>
                    <a:bodyPr/>
                    <a:lstStyle/>
                    <a:p>
                      <a:r>
                        <a:rPr sz="1800" b="1" dirty="0">
                          <a:solidFill>
                            <a:schemeClr val="tx2"/>
                          </a:solidFill>
                        </a:rPr>
                        <a:t>You, by reading what it wrote and ran</a:t>
                      </a:r>
                    </a:p>
                  </a:txBody>
                  <a:tcPr marT="36576" marB="36576" anchor="ctr">
                    <a:solidFill>
                      <a:srgbClr val="F6E2E6"/>
                    </a:solidFill>
                  </a:tcPr>
                </a:tc>
                <a:extLst>
                  <a:ext uri="{0D108BD9-81ED-4DB2-BD59-A6C34878D82A}">
                    <a16:rowId xmlns:a16="http://schemas.microsoft.com/office/drawing/2014/main" val="10005"/>
                  </a:ext>
                </a:extLst>
              </a:tr>
            </a:tbl>
          </a:graphicData>
        </a:graphic>
      </p:graphicFrame>
      <p:pic>
        <p:nvPicPr>
          <p:cNvPr id="14" name="Picture 13" descr="FaCircleCheck_red.png"/>
          <p:cNvPicPr>
            <a:picLocks noChangeAspect="1"/>
          </p:cNvPicPr>
          <p:nvPr/>
        </p:nvPicPr>
        <p:blipFill>
          <a:blip r:embed="rId3"/>
          <a:stretch>
            <a:fillRect/>
          </a:stretch>
        </p:blipFill>
        <p:spPr>
          <a:xfrm>
            <a:off x="511427" y="5597402"/>
            <a:ext cx="384685" cy="384048"/>
          </a:xfrm>
          <a:prstGeom prst="rect">
            <a:avLst/>
          </a:prstGeom>
        </p:spPr>
      </p:pic>
      <p:sp>
        <p:nvSpPr>
          <p:cNvPr id="15" name="TextBox 14"/>
          <p:cNvSpPr txBox="1"/>
          <p:nvPr/>
        </p:nvSpPr>
        <p:spPr>
          <a:xfrm>
            <a:off x="1043262" y="5661743"/>
            <a:ext cx="10533042" cy="246221"/>
          </a:xfrm>
          <a:prstGeom prst="rect">
            <a:avLst/>
          </a:prstGeom>
          <a:noFill/>
        </p:spPr>
        <p:txBody>
          <a:bodyPr wrap="square" lIns="0" tIns="0" rIns="0" bIns="0" anchor="ctr">
            <a:spAutoFit/>
          </a:bodyPr>
          <a:lstStyle/>
          <a:p>
            <a:pPr algn="l"/>
            <a:r>
              <a:rPr sz="1600" b="0" i="0" dirty="0">
                <a:solidFill>
                  <a:schemeClr val="tx1"/>
                </a:solidFill>
              </a:rPr>
              <a:t>The agent changes what you check, not whether you check. </a:t>
            </a:r>
            <a:r>
              <a:rPr sz="1600" b="0" i="0" dirty="0" err="1">
                <a:solidFill>
                  <a:schemeClr val="tx1"/>
                </a:solidFill>
              </a:rPr>
              <a:t>CLAUDE.md</a:t>
            </a:r>
            <a:r>
              <a:rPr sz="1600" b="0" i="0" dirty="0">
                <a:solidFill>
                  <a:schemeClr val="tx1"/>
                </a:solidFill>
              </a:rPr>
              <a:t>, the project memory, is the subject of Part 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Same task, two ways</a:t>
            </a:r>
          </a:p>
        </p:txBody>
      </p:sp>
      <p:sp>
        <p:nvSpPr>
          <p:cNvPr id="3" name="Text Placeholder 2"/>
          <p:cNvSpPr>
            <a:spLocks noGrp="1"/>
          </p:cNvSpPr>
          <p:nvPr>
            <p:ph type="body" sz="quarter" idx="12"/>
          </p:nvPr>
        </p:nvSpPr>
        <p:spPr/>
        <p:txBody>
          <a:bodyPr/>
          <a:lstStyle/>
          <a:p>
            <a:r>
              <a:t>Task: “ZIP codes in my enrollment file are messy — fix them.”</a:t>
            </a:r>
          </a:p>
        </p:txBody>
      </p:sp>
      <p:sp>
        <p:nvSpPr>
          <p:cNvPr id="4" name="Text Placeholder 3"/>
          <p:cNvSpPr>
            <a:spLocks noGrp="1"/>
          </p:cNvSpPr>
          <p:nvPr>
            <p:ph type="body" sz="quarter" idx="14"/>
          </p:nvPr>
        </p:nvSpPr>
        <p:spPr/>
        <p:txBody>
          <a:bodyPr/>
          <a:lstStyle/>
          <a:p>
            <a:r>
              <a:t>A distinction: chat vs. agent</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6</a:t>
            </a:fld>
            <a:endParaRPr lang="en-US" dirty="0"/>
          </a:p>
        </p:txBody>
      </p:sp>
      <p:sp>
        <p:nvSpPr>
          <p:cNvPr id="13" name="Rounded Rectangle 12"/>
          <p:cNvSpPr/>
          <p:nvPr/>
        </p:nvSpPr>
        <p:spPr>
          <a:xfrm>
            <a:off x="512064" y="1920240"/>
            <a:ext cx="5394960" cy="379476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icon_FaComments_circle"/>
          <p:cNvSpPr/>
          <p:nvPr/>
        </p:nvSpPr>
        <p:spPr>
          <a:xfrm>
            <a:off x="786384" y="2148840"/>
            <a:ext cx="548640" cy="54864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FaComments_dark.png"/>
          <p:cNvPicPr>
            <a:picLocks noChangeAspect="1"/>
          </p:cNvPicPr>
          <p:nvPr/>
        </p:nvPicPr>
        <p:blipFill>
          <a:blip r:embed="rId3"/>
          <a:stretch>
            <a:fillRect/>
          </a:stretch>
        </p:blipFill>
        <p:spPr>
          <a:xfrm>
            <a:off x="923544" y="2286000"/>
            <a:ext cx="274320" cy="274320"/>
          </a:xfrm>
          <a:prstGeom prst="rect">
            <a:avLst/>
          </a:prstGeom>
        </p:spPr>
      </p:pic>
      <p:sp>
        <p:nvSpPr>
          <p:cNvPr id="16" name="TextBox 15"/>
          <p:cNvSpPr txBox="1"/>
          <p:nvPr/>
        </p:nvSpPr>
        <p:spPr>
          <a:xfrm>
            <a:off x="1472184" y="2148840"/>
            <a:ext cx="2743200" cy="548640"/>
          </a:xfrm>
          <a:prstGeom prst="rect">
            <a:avLst/>
          </a:prstGeom>
          <a:noFill/>
        </p:spPr>
        <p:txBody>
          <a:bodyPr wrap="square" lIns="0" tIns="0" rIns="0" bIns="0" anchor="ctr">
            <a:spAutoFit/>
          </a:bodyPr>
          <a:lstStyle/>
          <a:p>
            <a:pPr algn="l"/>
            <a:r>
              <a:rPr sz="2200" b="1" i="0">
                <a:solidFill>
                  <a:schemeClr val="tx1"/>
                </a:solidFill>
              </a:rPr>
              <a:t>Chat</a:t>
            </a:r>
          </a:p>
        </p:txBody>
      </p:sp>
      <p:sp>
        <p:nvSpPr>
          <p:cNvPr id="17" name="TextBox 16"/>
          <p:cNvSpPr txBox="1"/>
          <p:nvPr/>
        </p:nvSpPr>
        <p:spPr>
          <a:xfrm>
            <a:off x="832104" y="2926080"/>
            <a:ext cx="4754880" cy="276999"/>
          </a:xfrm>
          <a:prstGeom prst="rect">
            <a:avLst/>
          </a:prstGeom>
          <a:noFill/>
        </p:spPr>
        <p:txBody>
          <a:bodyPr wrap="square" lIns="0" tIns="0" rIns="0" bIns="0" anchor="t">
            <a:spAutoFit/>
          </a:bodyPr>
          <a:lstStyle/>
          <a:p>
            <a:pPr algn="l"/>
            <a:r>
              <a:rPr b="1" i="0">
                <a:solidFill>
                  <a:srgbClr val="5F5F5F"/>
                </a:solidFill>
              </a:rPr>
              <a:t>1   </a:t>
            </a:r>
            <a:r>
              <a:rPr b="0" i="0">
                <a:solidFill>
                  <a:schemeClr val="tx1"/>
                </a:solidFill>
              </a:rPr>
              <a:t>Paste 20 rows into the browser</a:t>
            </a:r>
          </a:p>
        </p:txBody>
      </p:sp>
      <p:sp>
        <p:nvSpPr>
          <p:cNvPr id="18" name="TextBox 17"/>
          <p:cNvSpPr txBox="1"/>
          <p:nvPr/>
        </p:nvSpPr>
        <p:spPr>
          <a:xfrm>
            <a:off x="832104" y="3429000"/>
            <a:ext cx="4754880" cy="276999"/>
          </a:xfrm>
          <a:prstGeom prst="rect">
            <a:avLst/>
          </a:prstGeom>
          <a:noFill/>
        </p:spPr>
        <p:txBody>
          <a:bodyPr wrap="square" lIns="0" tIns="0" rIns="0" bIns="0" anchor="t">
            <a:spAutoFit/>
          </a:bodyPr>
          <a:lstStyle/>
          <a:p>
            <a:pPr algn="l"/>
            <a:r>
              <a:rPr b="1" i="0">
                <a:solidFill>
                  <a:srgbClr val="5F5F5F"/>
                </a:solidFill>
              </a:rPr>
              <a:t>2   </a:t>
            </a:r>
            <a:r>
              <a:rPr b="0" i="0">
                <a:solidFill>
                  <a:schemeClr val="tx1"/>
                </a:solidFill>
              </a:rPr>
              <a:t>Get a regex; paste it into R</a:t>
            </a:r>
          </a:p>
        </p:txBody>
      </p:sp>
      <p:sp>
        <p:nvSpPr>
          <p:cNvPr id="19" name="TextBox 18"/>
          <p:cNvSpPr txBox="1"/>
          <p:nvPr/>
        </p:nvSpPr>
        <p:spPr>
          <a:xfrm>
            <a:off x="832104" y="3931920"/>
            <a:ext cx="4754880" cy="276999"/>
          </a:xfrm>
          <a:prstGeom prst="rect">
            <a:avLst/>
          </a:prstGeom>
          <a:noFill/>
        </p:spPr>
        <p:txBody>
          <a:bodyPr wrap="square" lIns="0" tIns="0" rIns="0" bIns="0" anchor="t">
            <a:spAutoFit/>
          </a:bodyPr>
          <a:lstStyle/>
          <a:p>
            <a:pPr algn="l"/>
            <a:r>
              <a:rPr b="1" i="0">
                <a:solidFill>
                  <a:srgbClr val="5F5F5F"/>
                </a:solidFill>
              </a:rPr>
              <a:t>3   </a:t>
            </a:r>
            <a:r>
              <a:rPr b="0" i="0">
                <a:solidFill>
                  <a:schemeClr val="tx1"/>
                </a:solidFill>
              </a:rPr>
              <a:t>It breaks on blanks</a:t>
            </a:r>
          </a:p>
        </p:txBody>
      </p:sp>
      <p:sp>
        <p:nvSpPr>
          <p:cNvPr id="20" name="TextBox 19"/>
          <p:cNvSpPr txBox="1"/>
          <p:nvPr/>
        </p:nvSpPr>
        <p:spPr>
          <a:xfrm>
            <a:off x="832104" y="4434840"/>
            <a:ext cx="4754880" cy="276999"/>
          </a:xfrm>
          <a:prstGeom prst="rect">
            <a:avLst/>
          </a:prstGeom>
          <a:noFill/>
        </p:spPr>
        <p:txBody>
          <a:bodyPr wrap="square" lIns="0" tIns="0" rIns="0" bIns="0" anchor="t">
            <a:spAutoFit/>
          </a:bodyPr>
          <a:lstStyle/>
          <a:p>
            <a:pPr algn="l"/>
            <a:r>
              <a:rPr b="1" i="0">
                <a:solidFill>
                  <a:srgbClr val="5F5F5F"/>
                </a:solidFill>
              </a:rPr>
              <a:t>4   </a:t>
            </a:r>
            <a:r>
              <a:rPr b="0" i="0">
                <a:solidFill>
                  <a:schemeClr val="tx1"/>
                </a:solidFill>
              </a:rPr>
              <a:t>Paste the error back. Repeat.</a:t>
            </a:r>
          </a:p>
        </p:txBody>
      </p:sp>
      <p:pic>
        <p:nvPicPr>
          <p:cNvPr id="21" name="Picture 20" descr="FaTriangleExclamation_red.png"/>
          <p:cNvPicPr>
            <a:picLocks noChangeAspect="1"/>
          </p:cNvPicPr>
          <p:nvPr/>
        </p:nvPicPr>
        <p:blipFill>
          <a:blip r:embed="rId4"/>
          <a:stretch>
            <a:fillRect/>
          </a:stretch>
        </p:blipFill>
        <p:spPr>
          <a:xfrm>
            <a:off x="832104" y="5056632"/>
            <a:ext cx="329184" cy="329184"/>
          </a:xfrm>
          <a:prstGeom prst="rect">
            <a:avLst/>
          </a:prstGeom>
        </p:spPr>
      </p:pic>
      <p:sp>
        <p:nvSpPr>
          <p:cNvPr id="22" name="TextBox 21"/>
          <p:cNvSpPr txBox="1"/>
          <p:nvPr/>
        </p:nvSpPr>
        <p:spPr>
          <a:xfrm>
            <a:off x="1289304" y="5010912"/>
            <a:ext cx="4389120" cy="411480"/>
          </a:xfrm>
          <a:prstGeom prst="rect">
            <a:avLst/>
          </a:prstGeom>
          <a:noFill/>
        </p:spPr>
        <p:txBody>
          <a:bodyPr wrap="square" lIns="0" tIns="0" rIns="0" bIns="0" anchor="ctr">
            <a:spAutoFit/>
          </a:bodyPr>
          <a:lstStyle/>
          <a:p>
            <a:pPr algn="l"/>
            <a:r>
              <a:rPr sz="1600" b="1" i="0">
                <a:solidFill>
                  <a:schemeClr val="tx2"/>
                </a:solidFill>
              </a:rPr>
              <a:t>That's student data in a browser.</a:t>
            </a:r>
          </a:p>
        </p:txBody>
      </p:sp>
      <p:sp>
        <p:nvSpPr>
          <p:cNvPr id="23" name="Rounded Rectangle 22"/>
          <p:cNvSpPr/>
          <p:nvPr/>
        </p:nvSpPr>
        <p:spPr>
          <a:xfrm>
            <a:off x="6281928" y="1920240"/>
            <a:ext cx="5394960" cy="3794760"/>
          </a:xfrm>
          <a:prstGeom prst="roundRect">
            <a:avLst>
              <a:gd name="adj" fmla="val 8000"/>
            </a:avLst>
          </a:prstGeom>
          <a:solidFill>
            <a:srgbClr val="F6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icon_FaFolderOpen_circle"/>
          <p:cNvSpPr/>
          <p:nvPr/>
        </p:nvSpPr>
        <p:spPr>
          <a:xfrm>
            <a:off x="6556248" y="2148840"/>
            <a:ext cx="548640" cy="54864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5" name="Picture 24" descr="FaFolderOpen_white.png"/>
          <p:cNvPicPr>
            <a:picLocks noChangeAspect="1"/>
          </p:cNvPicPr>
          <p:nvPr/>
        </p:nvPicPr>
        <p:blipFill>
          <a:blip r:embed="rId5"/>
          <a:stretch>
            <a:fillRect/>
          </a:stretch>
        </p:blipFill>
        <p:spPr>
          <a:xfrm>
            <a:off x="6693408" y="2286000"/>
            <a:ext cx="274320" cy="274320"/>
          </a:xfrm>
          <a:prstGeom prst="rect">
            <a:avLst/>
          </a:prstGeom>
        </p:spPr>
      </p:pic>
      <p:sp>
        <p:nvSpPr>
          <p:cNvPr id="26" name="TextBox 25"/>
          <p:cNvSpPr txBox="1"/>
          <p:nvPr/>
        </p:nvSpPr>
        <p:spPr>
          <a:xfrm>
            <a:off x="7242048" y="2148840"/>
            <a:ext cx="2743200" cy="548640"/>
          </a:xfrm>
          <a:prstGeom prst="rect">
            <a:avLst/>
          </a:prstGeom>
          <a:noFill/>
        </p:spPr>
        <p:txBody>
          <a:bodyPr wrap="square" lIns="0" tIns="0" rIns="0" bIns="0" anchor="ctr">
            <a:spAutoFit/>
          </a:bodyPr>
          <a:lstStyle/>
          <a:p>
            <a:pPr algn="l"/>
            <a:r>
              <a:rPr sz="2200" b="1" i="0">
                <a:solidFill>
                  <a:schemeClr val="tx1"/>
                </a:solidFill>
              </a:rPr>
              <a:t>Agent</a:t>
            </a:r>
          </a:p>
        </p:txBody>
      </p:sp>
      <p:sp>
        <p:nvSpPr>
          <p:cNvPr id="27" name="TextBox 26"/>
          <p:cNvSpPr txBox="1"/>
          <p:nvPr/>
        </p:nvSpPr>
        <p:spPr>
          <a:xfrm>
            <a:off x="6601968" y="2880360"/>
            <a:ext cx="4754880" cy="276999"/>
          </a:xfrm>
          <a:prstGeom prst="rect">
            <a:avLst/>
          </a:prstGeom>
          <a:noFill/>
        </p:spPr>
        <p:txBody>
          <a:bodyPr wrap="square" lIns="0" tIns="0" rIns="0" bIns="0" anchor="t">
            <a:spAutoFit/>
          </a:bodyPr>
          <a:lstStyle/>
          <a:p>
            <a:pPr algn="l"/>
            <a:r>
              <a:rPr b="0" i="0" dirty="0">
                <a:solidFill>
                  <a:schemeClr val="tx1"/>
                </a:solidFill>
              </a:rPr>
              <a:t>Reads </a:t>
            </a:r>
            <a:r>
              <a:rPr b="0" i="0" dirty="0" err="1">
                <a:solidFill>
                  <a:schemeClr val="tx1"/>
                </a:solidFill>
              </a:rPr>
              <a:t>codebook.md</a:t>
            </a:r>
            <a:r>
              <a:rPr b="0" i="0" dirty="0">
                <a:solidFill>
                  <a:schemeClr val="tx1"/>
                </a:solidFill>
              </a:rPr>
              <a:t>, then counts the problem:</a:t>
            </a:r>
          </a:p>
        </p:txBody>
      </p:sp>
      <p:sp>
        <p:nvSpPr>
          <p:cNvPr id="28" name="TextBox 27"/>
          <p:cNvSpPr txBox="1"/>
          <p:nvPr/>
        </p:nvSpPr>
        <p:spPr>
          <a:xfrm>
            <a:off x="6601968" y="3246120"/>
            <a:ext cx="2194560" cy="685800"/>
          </a:xfrm>
          <a:prstGeom prst="rect">
            <a:avLst/>
          </a:prstGeom>
          <a:noFill/>
        </p:spPr>
        <p:txBody>
          <a:bodyPr wrap="square" lIns="0" tIns="0" rIns="0" bIns="0" anchor="t">
            <a:spAutoFit/>
          </a:bodyPr>
          <a:lstStyle/>
          <a:p>
            <a:pPr algn="l"/>
            <a:r>
              <a:rPr sz="4000" b="1" i="0">
                <a:solidFill>
                  <a:schemeClr val="tx2"/>
                </a:solidFill>
              </a:rPr>
              <a:t>450</a:t>
            </a:r>
          </a:p>
        </p:txBody>
      </p:sp>
      <p:sp>
        <p:nvSpPr>
          <p:cNvPr id="29" name="TextBox 28"/>
          <p:cNvSpPr txBox="1"/>
          <p:nvPr/>
        </p:nvSpPr>
        <p:spPr>
          <a:xfrm>
            <a:off x="6601968" y="3931920"/>
            <a:ext cx="2194560" cy="320040"/>
          </a:xfrm>
          <a:prstGeom prst="rect">
            <a:avLst/>
          </a:prstGeom>
          <a:noFill/>
        </p:spPr>
        <p:txBody>
          <a:bodyPr wrap="square" lIns="0" tIns="0" rIns="0" bIns="0" anchor="t">
            <a:spAutoFit/>
          </a:bodyPr>
          <a:lstStyle/>
          <a:p>
            <a:pPr algn="l"/>
            <a:r>
              <a:rPr sz="1400" b="0" i="0">
                <a:solidFill>
                  <a:srgbClr val="5F5F5F"/>
                </a:solidFill>
              </a:rPr>
              <a:t>blank ZIP codes</a:t>
            </a:r>
          </a:p>
        </p:txBody>
      </p:sp>
      <p:sp>
        <p:nvSpPr>
          <p:cNvPr id="30" name="TextBox 29"/>
          <p:cNvSpPr txBox="1"/>
          <p:nvPr/>
        </p:nvSpPr>
        <p:spPr>
          <a:xfrm>
            <a:off x="8979408" y="3246120"/>
            <a:ext cx="2194560" cy="685800"/>
          </a:xfrm>
          <a:prstGeom prst="rect">
            <a:avLst/>
          </a:prstGeom>
          <a:noFill/>
        </p:spPr>
        <p:txBody>
          <a:bodyPr wrap="square" lIns="0" tIns="0" rIns="0" bIns="0" anchor="t">
            <a:spAutoFit/>
          </a:bodyPr>
          <a:lstStyle/>
          <a:p>
            <a:pPr algn="l"/>
            <a:r>
              <a:rPr sz="4000" b="1" i="0">
                <a:solidFill>
                  <a:schemeClr val="tx2"/>
                </a:solidFill>
              </a:rPr>
              <a:t>3,468</a:t>
            </a:r>
          </a:p>
        </p:txBody>
      </p:sp>
      <p:sp>
        <p:nvSpPr>
          <p:cNvPr id="31" name="TextBox 30"/>
          <p:cNvSpPr txBox="1"/>
          <p:nvPr/>
        </p:nvSpPr>
        <p:spPr>
          <a:xfrm>
            <a:off x="8979408" y="3931920"/>
            <a:ext cx="2194560" cy="320040"/>
          </a:xfrm>
          <a:prstGeom prst="rect">
            <a:avLst/>
          </a:prstGeom>
          <a:noFill/>
        </p:spPr>
        <p:txBody>
          <a:bodyPr wrap="square" lIns="0" tIns="0" rIns="0" bIns="0" anchor="t">
            <a:spAutoFit/>
          </a:bodyPr>
          <a:lstStyle/>
          <a:p>
            <a:pPr algn="l"/>
            <a:r>
              <a:rPr sz="1400" b="0" i="0">
                <a:solidFill>
                  <a:srgbClr val="5F5F5F"/>
                </a:solidFill>
              </a:rPr>
              <a:t>ZIP+4 codes</a:t>
            </a:r>
          </a:p>
        </p:txBody>
      </p:sp>
      <p:sp>
        <p:nvSpPr>
          <p:cNvPr id="32" name="TextBox 31"/>
          <p:cNvSpPr txBox="1"/>
          <p:nvPr/>
        </p:nvSpPr>
        <p:spPr>
          <a:xfrm>
            <a:off x="6601968" y="4343400"/>
            <a:ext cx="4754880" cy="548640"/>
          </a:xfrm>
          <a:prstGeom prst="rect">
            <a:avLst/>
          </a:prstGeom>
          <a:noFill/>
        </p:spPr>
        <p:txBody>
          <a:bodyPr wrap="square" lIns="0" tIns="0" rIns="0" bIns="0" anchor="t">
            <a:spAutoFit/>
          </a:bodyPr>
          <a:lstStyle/>
          <a:p>
            <a:pPr algn="l"/>
            <a:r>
              <a:rPr b="0" i="0">
                <a:solidFill>
                  <a:schemeClr val="tx1"/>
                </a:solidFill>
              </a:rPr>
              <a:t>Proposes a fix → writes 1000_clean.Rmd → runs it → logs rows dropped</a:t>
            </a:r>
          </a:p>
        </p:txBody>
      </p:sp>
      <p:sp>
        <p:nvSpPr>
          <p:cNvPr id="33" name="TextBox 32"/>
          <p:cNvSpPr txBox="1"/>
          <p:nvPr/>
        </p:nvSpPr>
        <p:spPr>
          <a:xfrm>
            <a:off x="6601968" y="5010912"/>
            <a:ext cx="4754880" cy="411480"/>
          </a:xfrm>
          <a:prstGeom prst="rect">
            <a:avLst/>
          </a:prstGeom>
          <a:noFill/>
        </p:spPr>
        <p:txBody>
          <a:bodyPr wrap="square" lIns="0" tIns="0" rIns="0" bIns="0" anchor="ctr">
            <a:spAutoFit/>
          </a:bodyPr>
          <a:lstStyle/>
          <a:p>
            <a:pPr algn="l"/>
            <a:r>
              <a:rPr sz="1700" b="1" i="0">
                <a:solidFill>
                  <a:schemeClr val="tx2"/>
                </a:solidFill>
              </a:rPr>
              <a:t>…and stops for your approval.</a:t>
            </a:r>
          </a:p>
        </p:txBody>
      </p:sp>
      <p:sp>
        <p:nvSpPr>
          <p:cNvPr id="34" name="source"/>
          <p:cNvSpPr txBox="1"/>
          <p:nvPr/>
        </p:nvSpPr>
        <p:spPr>
          <a:xfrm>
            <a:off x="512064" y="5833872"/>
            <a:ext cx="11164824" cy="274320"/>
          </a:xfrm>
          <a:prstGeom prst="rect">
            <a:avLst/>
          </a:prstGeom>
          <a:noFill/>
        </p:spPr>
        <p:txBody>
          <a:bodyPr wrap="square" lIns="0" tIns="0" rIns="0" bIns="0" anchor="b">
            <a:spAutoFit/>
          </a:bodyPr>
          <a:lstStyle/>
          <a:p>
            <a:pPr algn="l"/>
            <a:r>
              <a:rPr sz="1100" b="0" i="1">
                <a:solidFill>
                  <a:srgbClr val="5F5F5F"/>
                </a:solidFill>
              </a:rPr>
              <a:t>Counts from the synthetic dataset used in Part 3 (dese_student_core.csv). No real student records.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researchers use AI now</a:t>
            </a:r>
          </a:p>
        </p:txBody>
      </p:sp>
      <p:sp>
        <p:nvSpPr>
          <p:cNvPr id="3" name="Text Placeholder 2"/>
          <p:cNvSpPr>
            <a:spLocks noGrp="1"/>
          </p:cNvSpPr>
          <p:nvPr>
            <p:ph type="body" sz="quarter" idx="12"/>
          </p:nvPr>
        </p:nvSpPr>
        <p:spPr/>
        <p:txBody>
          <a:bodyPr/>
          <a:lstStyle/>
          <a:p>
            <a:r>
              <a:t>High use, low training, low trust, and a shift from chat to agents</a:t>
            </a:r>
          </a:p>
        </p:txBody>
      </p:sp>
      <p:sp>
        <p:nvSpPr>
          <p:cNvPr id="4" name="Text Placeholder 3"/>
          <p:cNvSpPr>
            <a:spLocks noGrp="1"/>
          </p:cNvSpPr>
          <p:nvPr>
            <p:ph type="body" sz="quarter" idx="14"/>
          </p:nvPr>
        </p:nvSpPr>
        <p:spPr/>
        <p:txBody>
          <a:bodyPr/>
          <a:lstStyle/>
          <a:p>
            <a:r>
              <a:t>The landscape</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7</a:t>
            </a:fld>
            <a:endParaRPr lang="en-US" dirty="0"/>
          </a:p>
        </p:txBody>
      </p:sp>
      <p:sp>
        <p:nvSpPr>
          <p:cNvPr id="13" name="TextBox 12"/>
          <p:cNvSpPr txBox="1"/>
          <p:nvPr/>
        </p:nvSpPr>
        <p:spPr>
          <a:xfrm>
            <a:off x="512064" y="1920240"/>
            <a:ext cx="4754880" cy="365760"/>
          </a:xfrm>
          <a:prstGeom prst="rect">
            <a:avLst/>
          </a:prstGeom>
          <a:noFill/>
        </p:spPr>
        <p:txBody>
          <a:bodyPr wrap="square" lIns="0" tIns="0" rIns="0" bIns="0" anchor="t">
            <a:spAutoFit/>
          </a:bodyPr>
          <a:lstStyle/>
          <a:p>
            <a:pPr algn="l"/>
            <a:r>
              <a:rPr sz="1900" b="1" i="0">
                <a:solidFill>
                  <a:schemeClr val="tx2"/>
                </a:solidFill>
              </a:rPr>
              <a:t>Use is now the norm</a:t>
            </a:r>
          </a:p>
        </p:txBody>
      </p:sp>
      <p:sp>
        <p:nvSpPr>
          <p:cNvPr id="14" name="TextBox 13"/>
          <p:cNvSpPr txBox="1"/>
          <p:nvPr/>
        </p:nvSpPr>
        <p:spPr>
          <a:xfrm>
            <a:off x="512064" y="2377440"/>
            <a:ext cx="4754880" cy="685800"/>
          </a:xfrm>
          <a:prstGeom prst="rect">
            <a:avLst/>
          </a:prstGeom>
          <a:noFill/>
        </p:spPr>
        <p:txBody>
          <a:bodyPr wrap="square" lIns="0" tIns="0" rIns="0" bIns="0" anchor="t">
            <a:spAutoFit/>
          </a:bodyPr>
          <a:lstStyle/>
          <a:p>
            <a:pPr algn="l"/>
            <a:r>
              <a:rPr sz="4000" b="1" i="0">
                <a:solidFill>
                  <a:schemeClr val="tx1"/>
                </a:solidFill>
              </a:rPr>
              <a:t>57% → 84%</a:t>
            </a:r>
          </a:p>
        </p:txBody>
      </p:sp>
      <p:sp>
        <p:nvSpPr>
          <p:cNvPr id="15" name="TextBox 14"/>
          <p:cNvSpPr txBox="1"/>
          <p:nvPr/>
        </p:nvSpPr>
        <p:spPr>
          <a:xfrm>
            <a:off x="512064" y="3035808"/>
            <a:ext cx="4754880" cy="320040"/>
          </a:xfrm>
          <a:prstGeom prst="rect">
            <a:avLst/>
          </a:prstGeom>
          <a:noFill/>
        </p:spPr>
        <p:txBody>
          <a:bodyPr wrap="square" lIns="0" tIns="0" rIns="0" bIns="0" anchor="t">
            <a:spAutoFit/>
          </a:bodyPr>
          <a:lstStyle/>
          <a:p>
            <a:pPr algn="l"/>
            <a:r>
              <a:rPr sz="1500" b="0" i="0">
                <a:solidFill>
                  <a:srgbClr val="5F5F5F"/>
                </a:solidFill>
              </a:rPr>
              <a:t>of researchers use AI (2024 → 2025)</a:t>
            </a:r>
          </a:p>
        </p:txBody>
      </p:sp>
      <p:sp>
        <p:nvSpPr>
          <p:cNvPr id="16" name="TextBox 15"/>
          <p:cNvSpPr txBox="1"/>
          <p:nvPr/>
        </p:nvSpPr>
        <p:spPr>
          <a:xfrm>
            <a:off x="512064" y="3520440"/>
            <a:ext cx="4754880" cy="685800"/>
          </a:xfrm>
          <a:prstGeom prst="rect">
            <a:avLst/>
          </a:prstGeom>
          <a:noFill/>
        </p:spPr>
        <p:txBody>
          <a:bodyPr wrap="square" lIns="0" tIns="0" rIns="0" bIns="0" anchor="t">
            <a:spAutoFit/>
          </a:bodyPr>
          <a:lstStyle/>
          <a:p>
            <a:pPr algn="l"/>
            <a:r>
              <a:rPr sz="4000" b="1" i="0">
                <a:solidFill>
                  <a:schemeClr val="tx1"/>
                </a:solidFill>
              </a:rPr>
              <a:t>45% → 62%</a:t>
            </a:r>
          </a:p>
        </p:txBody>
      </p:sp>
      <p:sp>
        <p:nvSpPr>
          <p:cNvPr id="17" name="TextBox 16"/>
          <p:cNvSpPr txBox="1"/>
          <p:nvPr/>
        </p:nvSpPr>
        <p:spPr>
          <a:xfrm>
            <a:off x="512064" y="4178808"/>
            <a:ext cx="4754880" cy="320040"/>
          </a:xfrm>
          <a:prstGeom prst="rect">
            <a:avLst/>
          </a:prstGeom>
          <a:noFill/>
        </p:spPr>
        <p:txBody>
          <a:bodyPr wrap="square" lIns="0" tIns="0" rIns="0" bIns="0" anchor="t">
            <a:spAutoFit/>
          </a:bodyPr>
          <a:lstStyle/>
          <a:p>
            <a:pPr algn="l"/>
            <a:r>
              <a:rPr sz="1500" b="0" i="0">
                <a:solidFill>
                  <a:srgbClr val="5F5F5F"/>
                </a:solidFill>
              </a:rPr>
              <a:t>use it for research tasks specifically</a:t>
            </a:r>
          </a:p>
        </p:txBody>
      </p:sp>
      <p:sp>
        <p:nvSpPr>
          <p:cNvPr id="18" name="TextBox 17"/>
          <p:cNvSpPr txBox="1"/>
          <p:nvPr/>
        </p:nvSpPr>
        <p:spPr>
          <a:xfrm>
            <a:off x="5852160" y="1920240"/>
            <a:ext cx="5760720" cy="365760"/>
          </a:xfrm>
          <a:prstGeom prst="rect">
            <a:avLst/>
          </a:prstGeom>
          <a:noFill/>
        </p:spPr>
        <p:txBody>
          <a:bodyPr wrap="square" lIns="0" tIns="0" rIns="0" bIns="0" anchor="t">
            <a:spAutoFit/>
          </a:bodyPr>
          <a:lstStyle/>
          <a:p>
            <a:pPr algn="l"/>
            <a:r>
              <a:rPr sz="1900" b="1" i="0">
                <a:solidFill>
                  <a:schemeClr val="tx2"/>
                </a:solidFill>
              </a:rPr>
              <a:t>Trust and support lag</a:t>
            </a:r>
          </a:p>
        </p:txBody>
      </p:sp>
      <p:graphicFrame>
        <p:nvGraphicFramePr>
          <p:cNvPr id="19" name="Chart 18"/>
          <p:cNvGraphicFramePr>
            <a:graphicFrameLocks noGrp="1"/>
          </p:cNvGraphicFramePr>
          <p:nvPr/>
        </p:nvGraphicFramePr>
        <p:xfrm>
          <a:off x="5760720" y="2286000"/>
          <a:ext cx="5897880" cy="2057400"/>
        </p:xfrm>
        <a:graphic>
          <a:graphicData uri="http://schemas.openxmlformats.org/drawingml/2006/chart">
            <c:chart xmlns:c="http://schemas.openxmlformats.org/drawingml/2006/chart" xmlns:r="http://schemas.openxmlformats.org/officeDocument/2006/relationships" r:id="rId3"/>
          </a:graphicData>
        </a:graphic>
      </p:graphicFrame>
      <p:sp>
        <p:nvSpPr>
          <p:cNvPr id="20" name="Rounded Rectangle 19"/>
          <p:cNvSpPr/>
          <p:nvPr/>
        </p:nvSpPr>
        <p:spPr>
          <a:xfrm>
            <a:off x="512064" y="4572000"/>
            <a:ext cx="11164824" cy="105156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86384" y="4572000"/>
            <a:ext cx="3749039" cy="1051560"/>
          </a:xfrm>
          <a:prstGeom prst="rect">
            <a:avLst/>
          </a:prstGeom>
          <a:noFill/>
        </p:spPr>
        <p:txBody>
          <a:bodyPr wrap="square" lIns="0" tIns="0" rIns="0" bIns="0" anchor="ctr">
            <a:spAutoFit/>
          </a:bodyPr>
          <a:lstStyle/>
          <a:p>
            <a:pPr algn="l"/>
            <a:r>
              <a:rPr sz="1700" b="1" i="0">
                <a:solidFill>
                  <a:schemeClr val="tx2"/>
                </a:solidFill>
              </a:rPr>
              <a:t>2023 · </a:t>
            </a:r>
            <a:r>
              <a:rPr sz="1700" b="0" i="0">
                <a:solidFill>
                  <a:schemeClr val="tx1"/>
                </a:solidFill>
              </a:rPr>
              <a:t>chat help on “micro-tasks”</a:t>
            </a:r>
          </a:p>
        </p:txBody>
      </p:sp>
      <p:cxnSp>
        <p:nvCxnSpPr>
          <p:cNvPr id="22" name="Connector 21"/>
          <p:cNvCxnSpPr/>
          <p:nvPr/>
        </p:nvCxnSpPr>
        <p:spPr>
          <a:xfrm>
            <a:off x="4343400" y="5097780"/>
            <a:ext cx="1097280" cy="0"/>
          </a:xfrm>
          <a:prstGeom prst="line">
            <a:avLst/>
          </a:prstGeom>
          <a:ln w="31750">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669280" y="4572000"/>
            <a:ext cx="5760720" cy="1051560"/>
          </a:xfrm>
          <a:prstGeom prst="rect">
            <a:avLst/>
          </a:prstGeom>
          <a:noFill/>
        </p:spPr>
        <p:txBody>
          <a:bodyPr wrap="square" lIns="0" tIns="0" rIns="0" bIns="0" anchor="ctr">
            <a:spAutoFit/>
          </a:bodyPr>
          <a:lstStyle/>
          <a:p>
            <a:pPr algn="l"/>
            <a:r>
              <a:rPr sz="1700" b="1" i="0">
                <a:solidFill>
                  <a:schemeClr val="tx2"/>
                </a:solidFill>
              </a:rPr>
              <a:t>2025 · </a:t>
            </a:r>
            <a:r>
              <a:rPr sz="1700" b="0" i="0">
                <a:solidFill>
                  <a:schemeClr val="tx1"/>
                </a:solidFill>
              </a:rPr>
              <a:t>agents that review literature, write and debug code, fetch data, and run multi-step workflows</a:t>
            </a:r>
          </a:p>
        </p:txBody>
      </p:sp>
      <p:sp>
        <p:nvSpPr>
          <p:cNvPr id="24" name="source"/>
          <p:cNvSpPr txBox="1"/>
          <p:nvPr/>
        </p:nvSpPr>
        <p:spPr>
          <a:xfrm>
            <a:off x="512064" y="5833872"/>
            <a:ext cx="11164824" cy="274320"/>
          </a:xfrm>
          <a:prstGeom prst="rect">
            <a:avLst/>
          </a:prstGeom>
          <a:noFill/>
        </p:spPr>
        <p:txBody>
          <a:bodyPr wrap="square" lIns="0" tIns="0" rIns="0" bIns="0" anchor="b">
            <a:spAutoFit/>
          </a:bodyPr>
          <a:lstStyle/>
          <a:p>
            <a:pPr algn="l"/>
            <a:r>
              <a:rPr sz="1100" b="0" i="1">
                <a:solidFill>
                  <a:srgbClr val="5F5F5F"/>
                </a:solidFill>
              </a:rPr>
              <a:t>Wiley ExplanAItions 2025 (N = 2,430) · Elsevier, Researcher of the Future 2025 (N = 3,200+) · Korinek (2023, JEL; 2025, NBER WP 34202)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it helps, where it fails</a:t>
            </a:r>
          </a:p>
        </p:txBody>
      </p:sp>
      <p:sp>
        <p:nvSpPr>
          <p:cNvPr id="3" name="Text Placeholder 2"/>
          <p:cNvSpPr>
            <a:spLocks noGrp="1"/>
          </p:cNvSpPr>
          <p:nvPr>
            <p:ph type="body" sz="quarter" idx="12"/>
          </p:nvPr>
        </p:nvSpPr>
        <p:spPr/>
        <p:txBody>
          <a:bodyPr/>
          <a:lstStyle/>
          <a:p>
            <a:r>
              <a:t>Every failure here is a judgment problem, not a typing problem</a:t>
            </a:r>
          </a:p>
        </p:txBody>
      </p:sp>
      <p:sp>
        <p:nvSpPr>
          <p:cNvPr id="4" name="Text Placeholder 3"/>
          <p:cNvSpPr>
            <a:spLocks noGrp="1"/>
          </p:cNvSpPr>
          <p:nvPr>
            <p:ph type="body" sz="quarter" idx="14"/>
          </p:nvPr>
        </p:nvSpPr>
        <p:spPr/>
        <p:txBody>
          <a:bodyPr/>
          <a:lstStyle/>
          <a:p>
            <a:r>
              <a:t>The landscape</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8</a:t>
            </a:fld>
            <a:endParaRPr lang="en-US" dirty="0"/>
          </a:p>
        </p:txBody>
      </p:sp>
      <p:sp>
        <p:nvSpPr>
          <p:cNvPr id="13" name="Rounded Rectangle 12"/>
          <p:cNvSpPr/>
          <p:nvPr/>
        </p:nvSpPr>
        <p:spPr>
          <a:xfrm>
            <a:off x="512064" y="1920240"/>
            <a:ext cx="3840480" cy="379476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86384" y="2103120"/>
            <a:ext cx="3383280" cy="365760"/>
          </a:xfrm>
          <a:prstGeom prst="rect">
            <a:avLst/>
          </a:prstGeom>
          <a:noFill/>
        </p:spPr>
        <p:txBody>
          <a:bodyPr wrap="square" lIns="0" tIns="0" rIns="0" bIns="0" anchor="t">
            <a:spAutoFit/>
          </a:bodyPr>
          <a:lstStyle/>
          <a:p>
            <a:pPr algn="l"/>
            <a:r>
              <a:rPr sz="1900" b="1" i="0">
                <a:solidFill>
                  <a:schemeClr val="accent3"/>
                </a:solidFill>
              </a:rPr>
              <a:t>Helps, with validation</a:t>
            </a:r>
          </a:p>
        </p:txBody>
      </p:sp>
      <p:pic>
        <p:nvPicPr>
          <p:cNvPr id="15" name="Picture 14" descr="FaCircleCheck_green.png"/>
          <p:cNvPicPr>
            <a:picLocks noChangeAspect="1"/>
          </p:cNvPicPr>
          <p:nvPr/>
        </p:nvPicPr>
        <p:blipFill>
          <a:blip r:embed="rId3"/>
          <a:stretch>
            <a:fillRect/>
          </a:stretch>
        </p:blipFill>
        <p:spPr>
          <a:xfrm>
            <a:off x="786384" y="2697480"/>
            <a:ext cx="310896" cy="310896"/>
          </a:xfrm>
          <a:prstGeom prst="rect">
            <a:avLst/>
          </a:prstGeom>
        </p:spPr>
      </p:pic>
      <p:sp>
        <p:nvSpPr>
          <p:cNvPr id="16" name="TextBox 15"/>
          <p:cNvSpPr txBox="1"/>
          <p:nvPr/>
        </p:nvSpPr>
        <p:spPr>
          <a:xfrm>
            <a:off x="1243584" y="2633472"/>
            <a:ext cx="2926080" cy="914400"/>
          </a:xfrm>
          <a:prstGeom prst="rect">
            <a:avLst/>
          </a:prstGeom>
          <a:noFill/>
        </p:spPr>
        <p:txBody>
          <a:bodyPr wrap="square" lIns="0" tIns="0" rIns="0" bIns="0" anchor="t">
            <a:spAutoFit/>
          </a:bodyPr>
          <a:lstStyle/>
          <a:p>
            <a:pPr algn="l"/>
            <a:r>
              <a:rPr sz="1600" b="0" i="0">
                <a:solidFill>
                  <a:schemeClr val="tx1"/>
                </a:solidFill>
              </a:rPr>
              <a:t>Annotating and classifying text at a fraction of crowd-worker cost</a:t>
            </a:r>
          </a:p>
        </p:txBody>
      </p:sp>
      <p:pic>
        <p:nvPicPr>
          <p:cNvPr id="17" name="Picture 16" descr="FaCircleCheck_green.png"/>
          <p:cNvPicPr>
            <a:picLocks noChangeAspect="1"/>
          </p:cNvPicPr>
          <p:nvPr/>
        </p:nvPicPr>
        <p:blipFill>
          <a:blip r:embed="rId3"/>
          <a:stretch>
            <a:fillRect/>
          </a:stretch>
        </p:blipFill>
        <p:spPr>
          <a:xfrm>
            <a:off x="786384" y="3685032"/>
            <a:ext cx="310896" cy="310896"/>
          </a:xfrm>
          <a:prstGeom prst="rect">
            <a:avLst/>
          </a:prstGeom>
        </p:spPr>
      </p:pic>
      <p:sp>
        <p:nvSpPr>
          <p:cNvPr id="18" name="TextBox 17"/>
          <p:cNvSpPr txBox="1"/>
          <p:nvPr/>
        </p:nvSpPr>
        <p:spPr>
          <a:xfrm>
            <a:off x="1243584" y="3621024"/>
            <a:ext cx="2926080" cy="914400"/>
          </a:xfrm>
          <a:prstGeom prst="rect">
            <a:avLst/>
          </a:prstGeom>
          <a:noFill/>
        </p:spPr>
        <p:txBody>
          <a:bodyPr wrap="square" lIns="0" tIns="0" rIns="0" bIns="0" anchor="t">
            <a:spAutoFit/>
          </a:bodyPr>
          <a:lstStyle/>
          <a:p>
            <a:pPr algn="l"/>
            <a:r>
              <a:rPr sz="1600" b="0" i="0" dirty="0">
                <a:solidFill>
                  <a:schemeClr val="tx1"/>
                </a:solidFill>
              </a:rPr>
              <a:t>First-pass codebooks with a human in the loop</a:t>
            </a:r>
          </a:p>
        </p:txBody>
      </p:sp>
      <p:pic>
        <p:nvPicPr>
          <p:cNvPr id="19" name="Picture 18" descr="FaCircleCheck_green.png"/>
          <p:cNvPicPr>
            <a:picLocks noChangeAspect="1"/>
          </p:cNvPicPr>
          <p:nvPr/>
        </p:nvPicPr>
        <p:blipFill>
          <a:blip r:embed="rId3"/>
          <a:stretch>
            <a:fillRect/>
          </a:stretch>
        </p:blipFill>
        <p:spPr>
          <a:xfrm>
            <a:off x="786384" y="4672584"/>
            <a:ext cx="310896" cy="310896"/>
          </a:xfrm>
          <a:prstGeom prst="rect">
            <a:avLst/>
          </a:prstGeom>
        </p:spPr>
      </p:pic>
      <p:sp>
        <p:nvSpPr>
          <p:cNvPr id="20" name="TextBox 19"/>
          <p:cNvSpPr txBox="1"/>
          <p:nvPr/>
        </p:nvSpPr>
        <p:spPr>
          <a:xfrm>
            <a:off x="1243584" y="4608576"/>
            <a:ext cx="2926080" cy="914400"/>
          </a:xfrm>
          <a:prstGeom prst="rect">
            <a:avLst/>
          </a:prstGeom>
          <a:noFill/>
        </p:spPr>
        <p:txBody>
          <a:bodyPr wrap="square" lIns="0" tIns="0" rIns="0" bIns="0" anchor="t">
            <a:spAutoFit/>
          </a:bodyPr>
          <a:lstStyle/>
          <a:p>
            <a:pPr algn="l"/>
            <a:r>
              <a:rPr sz="1600" b="0" i="0">
                <a:solidFill>
                  <a:schemeClr val="tx1"/>
                </a:solidFill>
              </a:rPr>
              <a:t>Writing and debugging analysis code</a:t>
            </a:r>
          </a:p>
        </p:txBody>
      </p:sp>
      <p:sp>
        <p:nvSpPr>
          <p:cNvPr id="21" name="TextBox 20"/>
          <p:cNvSpPr txBox="1"/>
          <p:nvPr/>
        </p:nvSpPr>
        <p:spPr>
          <a:xfrm>
            <a:off x="4663440" y="1920240"/>
            <a:ext cx="7013448" cy="365760"/>
          </a:xfrm>
          <a:prstGeom prst="rect">
            <a:avLst/>
          </a:prstGeom>
          <a:noFill/>
        </p:spPr>
        <p:txBody>
          <a:bodyPr wrap="square" lIns="0" tIns="0" rIns="0" bIns="0" anchor="t">
            <a:spAutoFit/>
          </a:bodyPr>
          <a:lstStyle/>
          <a:p>
            <a:pPr algn="l"/>
            <a:r>
              <a:rPr sz="1900" b="1" i="0">
                <a:solidFill>
                  <a:schemeClr val="tx2"/>
                </a:solidFill>
              </a:rPr>
              <a:t>Fails without a researcher in charge</a:t>
            </a:r>
          </a:p>
        </p:txBody>
      </p:sp>
      <p:sp>
        <p:nvSpPr>
          <p:cNvPr id="22" name="TextBox 21"/>
          <p:cNvSpPr txBox="1"/>
          <p:nvPr/>
        </p:nvSpPr>
        <p:spPr>
          <a:xfrm>
            <a:off x="4663440" y="2304288"/>
            <a:ext cx="7013448" cy="320040"/>
          </a:xfrm>
          <a:prstGeom prst="rect">
            <a:avLst/>
          </a:prstGeom>
          <a:noFill/>
        </p:spPr>
        <p:txBody>
          <a:bodyPr wrap="square" lIns="0" tIns="0" rIns="0" bIns="0" anchor="t">
            <a:spAutoFit/>
          </a:bodyPr>
          <a:lstStyle/>
          <a:p>
            <a:pPr algn="l"/>
            <a:r>
              <a:rPr sz="1400" b="0" i="0" dirty="0">
                <a:solidFill>
                  <a:srgbClr val="5F5F5F"/>
                </a:solidFill>
              </a:rPr>
              <a:t>Reproducing quantitative social science studies: success rate (randomized, 103 teams)</a:t>
            </a:r>
          </a:p>
        </p:txBody>
      </p:sp>
      <p:graphicFrame>
        <p:nvGraphicFramePr>
          <p:cNvPr id="23" name="Chart 22"/>
          <p:cNvGraphicFramePr>
            <a:graphicFrameLocks noGrp="1"/>
          </p:cNvGraphicFramePr>
          <p:nvPr/>
        </p:nvGraphicFramePr>
        <p:xfrm>
          <a:off x="4572000" y="2578608"/>
          <a:ext cx="7104888" cy="1417320"/>
        </p:xfrm>
        <a:graphic>
          <a:graphicData uri="http://schemas.openxmlformats.org/drawingml/2006/chart">
            <c:chart xmlns:c="http://schemas.openxmlformats.org/drawingml/2006/chart" xmlns:r="http://schemas.openxmlformats.org/officeDocument/2006/relationships" r:id="rId4"/>
          </a:graphicData>
        </a:graphic>
      </p:graphicFrame>
      <p:pic>
        <p:nvPicPr>
          <p:cNvPr id="24" name="Picture 23" descr="FaCircleXmark_red.png"/>
          <p:cNvPicPr>
            <a:picLocks noChangeAspect="1"/>
          </p:cNvPicPr>
          <p:nvPr/>
        </p:nvPicPr>
        <p:blipFill>
          <a:blip r:embed="rId5"/>
          <a:stretch>
            <a:fillRect/>
          </a:stretch>
        </p:blipFill>
        <p:spPr>
          <a:xfrm>
            <a:off x="4663440" y="4133087"/>
            <a:ext cx="274320" cy="274320"/>
          </a:xfrm>
          <a:prstGeom prst="rect">
            <a:avLst/>
          </a:prstGeom>
        </p:spPr>
      </p:pic>
      <p:sp>
        <p:nvSpPr>
          <p:cNvPr id="25" name="TextBox 24"/>
          <p:cNvSpPr txBox="1"/>
          <p:nvPr/>
        </p:nvSpPr>
        <p:spPr>
          <a:xfrm>
            <a:off x="5074920" y="4087368"/>
            <a:ext cx="6601968" cy="411480"/>
          </a:xfrm>
          <a:prstGeom prst="rect">
            <a:avLst/>
          </a:prstGeom>
          <a:noFill/>
        </p:spPr>
        <p:txBody>
          <a:bodyPr wrap="square" lIns="0" tIns="0" rIns="0" bIns="0" anchor="t">
            <a:spAutoFit/>
          </a:bodyPr>
          <a:lstStyle/>
          <a:p>
            <a:pPr algn="l"/>
            <a:r>
              <a:rPr sz="1600" b="0" i="0">
                <a:solidFill>
                  <a:schemeClr val="tx1"/>
                </a:solidFill>
              </a:rPr>
              <a:t>Annotation choices alone flipped ~1 in 3 hypothesis tests</a:t>
            </a:r>
          </a:p>
        </p:txBody>
      </p:sp>
      <p:pic>
        <p:nvPicPr>
          <p:cNvPr id="26" name="Picture 25" descr="FaCircleXmark_red.png"/>
          <p:cNvPicPr>
            <a:picLocks noChangeAspect="1"/>
          </p:cNvPicPr>
          <p:nvPr/>
        </p:nvPicPr>
        <p:blipFill>
          <a:blip r:embed="rId5"/>
          <a:stretch>
            <a:fillRect/>
          </a:stretch>
        </p:blipFill>
        <p:spPr>
          <a:xfrm>
            <a:off x="4663440" y="4663440"/>
            <a:ext cx="274320" cy="274320"/>
          </a:xfrm>
          <a:prstGeom prst="rect">
            <a:avLst/>
          </a:prstGeom>
        </p:spPr>
      </p:pic>
      <p:sp>
        <p:nvSpPr>
          <p:cNvPr id="27" name="TextBox 26"/>
          <p:cNvSpPr txBox="1"/>
          <p:nvPr/>
        </p:nvSpPr>
        <p:spPr>
          <a:xfrm>
            <a:off x="5074920" y="4617720"/>
            <a:ext cx="6601968" cy="411480"/>
          </a:xfrm>
          <a:prstGeom prst="rect">
            <a:avLst/>
          </a:prstGeom>
          <a:noFill/>
        </p:spPr>
        <p:txBody>
          <a:bodyPr wrap="square" lIns="0" tIns="0" rIns="0" bIns="0" anchor="t">
            <a:spAutoFit/>
          </a:bodyPr>
          <a:lstStyle/>
          <a:p>
            <a:pPr algn="l"/>
            <a:r>
              <a:rPr sz="1600" b="0" i="0">
                <a:solidFill>
                  <a:schemeClr val="tx1"/>
                </a:solidFill>
              </a:rPr>
              <a:t>LLM “survey respondents” match averages but lack real variation, and drift</a:t>
            </a:r>
          </a:p>
        </p:txBody>
      </p:sp>
      <p:pic>
        <p:nvPicPr>
          <p:cNvPr id="28" name="Picture 27" descr="FaCircleXmark_red.png"/>
          <p:cNvPicPr>
            <a:picLocks noChangeAspect="1"/>
          </p:cNvPicPr>
          <p:nvPr/>
        </p:nvPicPr>
        <p:blipFill>
          <a:blip r:embed="rId5"/>
          <a:stretch>
            <a:fillRect/>
          </a:stretch>
        </p:blipFill>
        <p:spPr>
          <a:xfrm>
            <a:off x="4663440" y="5193792"/>
            <a:ext cx="274320" cy="274320"/>
          </a:xfrm>
          <a:prstGeom prst="rect">
            <a:avLst/>
          </a:prstGeom>
        </p:spPr>
      </p:pic>
      <p:sp>
        <p:nvSpPr>
          <p:cNvPr id="29" name="TextBox 28"/>
          <p:cNvSpPr txBox="1"/>
          <p:nvPr/>
        </p:nvSpPr>
        <p:spPr>
          <a:xfrm>
            <a:off x="5074920" y="5148072"/>
            <a:ext cx="6601968" cy="411480"/>
          </a:xfrm>
          <a:prstGeom prst="rect">
            <a:avLst/>
          </a:prstGeom>
          <a:noFill/>
        </p:spPr>
        <p:txBody>
          <a:bodyPr wrap="square" lIns="0" tIns="0" rIns="0" bIns="0" anchor="t">
            <a:spAutoFit/>
          </a:bodyPr>
          <a:lstStyle/>
          <a:p>
            <a:pPr algn="l"/>
            <a:r>
              <a:rPr sz="1600" b="0" i="0">
                <a:solidFill>
                  <a:schemeClr val="tx1"/>
                </a:solidFill>
              </a:rPr>
              <a:t>Fabricated or inaccurate citations remain common</a:t>
            </a:r>
          </a:p>
        </p:txBody>
      </p:sp>
      <p:sp>
        <p:nvSpPr>
          <p:cNvPr id="30" name="source"/>
          <p:cNvSpPr txBox="1"/>
          <p:nvPr/>
        </p:nvSpPr>
        <p:spPr>
          <a:xfrm>
            <a:off x="512064" y="5833872"/>
            <a:ext cx="11164824" cy="274320"/>
          </a:xfrm>
          <a:prstGeom prst="rect">
            <a:avLst/>
          </a:prstGeom>
          <a:noFill/>
        </p:spPr>
        <p:txBody>
          <a:bodyPr wrap="square" lIns="0" tIns="0" rIns="0" bIns="0" anchor="b">
            <a:spAutoFit/>
          </a:bodyPr>
          <a:lstStyle/>
          <a:p>
            <a:pPr algn="l"/>
            <a:r>
              <a:rPr sz="1100" b="0" i="1">
                <a:solidFill>
                  <a:srgbClr val="5F5F5F"/>
                </a:solidFill>
              </a:rPr>
              <a:t>Brodeur et al. (2026, PNAS) · Baumann et al. (2025, preprint) · Bisbee et al. (2024) · Gilardi et al. (2023) · Barany et al. (2024) · Lu et al.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layers: platform → model → surface</a:t>
            </a:r>
          </a:p>
        </p:txBody>
      </p:sp>
      <p:sp>
        <p:nvSpPr>
          <p:cNvPr id="3" name="Text Placeholder 2"/>
          <p:cNvSpPr>
            <a:spLocks noGrp="1"/>
          </p:cNvSpPr>
          <p:nvPr>
            <p:ph type="body" sz="quarter" idx="12"/>
          </p:nvPr>
        </p:nvSpPr>
        <p:spPr/>
        <p:txBody>
          <a:bodyPr/>
          <a:lstStyle/>
          <a:p>
            <a:r>
              <a:t>“I use ChatGPT” tells you only the first layer</a:t>
            </a:r>
          </a:p>
        </p:txBody>
      </p:sp>
      <p:sp>
        <p:nvSpPr>
          <p:cNvPr id="4" name="Text Placeholder 3"/>
          <p:cNvSpPr>
            <a:spLocks noGrp="1"/>
          </p:cNvSpPr>
          <p:nvPr>
            <p:ph type="body" sz="quarter" idx="14"/>
          </p:nvPr>
        </p:nvSpPr>
        <p:spPr/>
        <p:txBody>
          <a:bodyPr/>
          <a:lstStyle/>
          <a:p>
            <a:r>
              <a:t>What WashU provides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9</a:t>
            </a:fld>
            <a:endParaRPr lang="en-US" dirty="0"/>
          </a:p>
        </p:txBody>
      </p:sp>
      <p:sp>
        <p:nvSpPr>
          <p:cNvPr id="13" name="Rounded Rectangle 12"/>
          <p:cNvSpPr/>
          <p:nvPr/>
        </p:nvSpPr>
        <p:spPr>
          <a:xfrm>
            <a:off x="512064" y="1920240"/>
            <a:ext cx="6675120" cy="1115568"/>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icon_FaBuildingColumns_circle"/>
          <p:cNvSpPr/>
          <p:nvPr/>
        </p:nvSpPr>
        <p:spPr>
          <a:xfrm>
            <a:off x="768096" y="2176272"/>
            <a:ext cx="603504" cy="60350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FaBuildingColumns_white.png"/>
          <p:cNvPicPr>
            <a:picLocks noChangeAspect="1"/>
          </p:cNvPicPr>
          <p:nvPr/>
        </p:nvPicPr>
        <p:blipFill>
          <a:blip r:embed="rId3"/>
          <a:stretch>
            <a:fillRect/>
          </a:stretch>
        </p:blipFill>
        <p:spPr>
          <a:xfrm>
            <a:off x="918972" y="2327148"/>
            <a:ext cx="301752" cy="301752"/>
          </a:xfrm>
          <a:prstGeom prst="rect">
            <a:avLst/>
          </a:prstGeom>
        </p:spPr>
      </p:pic>
      <p:sp>
        <p:nvSpPr>
          <p:cNvPr id="16" name="TextBox 15"/>
          <p:cNvSpPr txBox="1"/>
          <p:nvPr/>
        </p:nvSpPr>
        <p:spPr>
          <a:xfrm>
            <a:off x="1591056" y="2048256"/>
            <a:ext cx="5440679" cy="457200"/>
          </a:xfrm>
          <a:prstGeom prst="rect">
            <a:avLst/>
          </a:prstGeom>
          <a:noFill/>
        </p:spPr>
        <p:txBody>
          <a:bodyPr wrap="square" lIns="0" tIns="0" rIns="0" bIns="0" anchor="ctr">
            <a:spAutoFit/>
          </a:bodyPr>
          <a:lstStyle/>
          <a:p>
            <a:pPr algn="l"/>
            <a:r>
              <a:rPr sz="2200" b="1" i="0">
                <a:solidFill>
                  <a:schemeClr val="tx1"/>
                </a:solidFill>
              </a:rPr>
              <a:t>Platform</a:t>
            </a:r>
            <a:r>
              <a:rPr sz="1500" b="0" i="0">
                <a:solidFill>
                  <a:srgbClr val="5F5F5F"/>
                </a:solidFill>
              </a:rPr>
              <a:t>   whose service and account</a:t>
            </a:r>
          </a:p>
        </p:txBody>
      </p:sp>
      <p:sp>
        <p:nvSpPr>
          <p:cNvPr id="17" name="TextBox 16"/>
          <p:cNvSpPr txBox="1"/>
          <p:nvPr/>
        </p:nvSpPr>
        <p:spPr>
          <a:xfrm>
            <a:off x="1591056" y="2523744"/>
            <a:ext cx="5440679" cy="411480"/>
          </a:xfrm>
          <a:prstGeom prst="rect">
            <a:avLst/>
          </a:prstGeom>
          <a:noFill/>
        </p:spPr>
        <p:txBody>
          <a:bodyPr wrap="square" lIns="0" tIns="0" rIns="0" bIns="0" anchor="t">
            <a:spAutoFit/>
          </a:bodyPr>
          <a:lstStyle/>
          <a:p>
            <a:pPr algn="l"/>
            <a:r>
              <a:rPr sz="1600" b="0" i="0">
                <a:solidFill>
                  <a:schemeClr val="tx1"/>
                </a:solidFill>
              </a:rPr>
              <a:t>Claude · Gemini · ChatGPT · Copilot · Ask WashU</a:t>
            </a:r>
          </a:p>
        </p:txBody>
      </p:sp>
      <p:sp>
        <p:nvSpPr>
          <p:cNvPr id="18" name="Rounded Rectangle 17"/>
          <p:cNvSpPr/>
          <p:nvPr/>
        </p:nvSpPr>
        <p:spPr>
          <a:xfrm>
            <a:off x="832104" y="3218688"/>
            <a:ext cx="6355080" cy="1115568"/>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icon_FaMicrochip_circle"/>
          <p:cNvSpPr/>
          <p:nvPr/>
        </p:nvSpPr>
        <p:spPr>
          <a:xfrm>
            <a:off x="1088136" y="3474720"/>
            <a:ext cx="603504" cy="60350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FaMicrochip_white.png"/>
          <p:cNvPicPr>
            <a:picLocks noChangeAspect="1"/>
          </p:cNvPicPr>
          <p:nvPr/>
        </p:nvPicPr>
        <p:blipFill>
          <a:blip r:embed="rId4"/>
          <a:stretch>
            <a:fillRect/>
          </a:stretch>
        </p:blipFill>
        <p:spPr>
          <a:xfrm>
            <a:off x="1239012" y="3625596"/>
            <a:ext cx="301752" cy="301752"/>
          </a:xfrm>
          <a:prstGeom prst="rect">
            <a:avLst/>
          </a:prstGeom>
        </p:spPr>
      </p:pic>
      <p:sp>
        <p:nvSpPr>
          <p:cNvPr id="21" name="TextBox 20"/>
          <p:cNvSpPr txBox="1"/>
          <p:nvPr/>
        </p:nvSpPr>
        <p:spPr>
          <a:xfrm>
            <a:off x="1911095" y="3346704"/>
            <a:ext cx="5120640" cy="457200"/>
          </a:xfrm>
          <a:prstGeom prst="rect">
            <a:avLst/>
          </a:prstGeom>
          <a:noFill/>
        </p:spPr>
        <p:txBody>
          <a:bodyPr wrap="square" lIns="0" tIns="0" rIns="0" bIns="0" anchor="ctr">
            <a:spAutoFit/>
          </a:bodyPr>
          <a:lstStyle/>
          <a:p>
            <a:pPr algn="l"/>
            <a:r>
              <a:rPr sz="2200" b="1" i="0">
                <a:solidFill>
                  <a:schemeClr val="tx1"/>
                </a:solidFill>
              </a:rPr>
              <a:t>Model</a:t>
            </a:r>
            <a:r>
              <a:rPr sz="1500" b="0" i="0">
                <a:solidFill>
                  <a:srgbClr val="5F5F5F"/>
                </a:solidFill>
              </a:rPr>
              <a:t>   which brain inside it</a:t>
            </a:r>
          </a:p>
        </p:txBody>
      </p:sp>
      <p:sp>
        <p:nvSpPr>
          <p:cNvPr id="22" name="TextBox 21"/>
          <p:cNvSpPr txBox="1"/>
          <p:nvPr/>
        </p:nvSpPr>
        <p:spPr>
          <a:xfrm>
            <a:off x="1911095" y="3822191"/>
            <a:ext cx="5120640" cy="411480"/>
          </a:xfrm>
          <a:prstGeom prst="rect">
            <a:avLst/>
          </a:prstGeom>
          <a:noFill/>
        </p:spPr>
        <p:txBody>
          <a:bodyPr wrap="square" lIns="0" tIns="0" rIns="0" bIns="0" anchor="t">
            <a:spAutoFit/>
          </a:bodyPr>
          <a:lstStyle/>
          <a:p>
            <a:pPr algn="l"/>
            <a:r>
              <a:rPr sz="1600" b="0" i="0">
                <a:solidFill>
                  <a:schemeClr val="tx1"/>
                </a:solidFill>
              </a:rPr>
              <a:t>e.g., Claude Fable / Opus / Sonnet / Haiku</a:t>
            </a:r>
          </a:p>
        </p:txBody>
      </p:sp>
      <p:sp>
        <p:nvSpPr>
          <p:cNvPr id="23" name="Rounded Rectangle 22"/>
          <p:cNvSpPr/>
          <p:nvPr/>
        </p:nvSpPr>
        <p:spPr>
          <a:xfrm>
            <a:off x="1152144" y="4517136"/>
            <a:ext cx="6035040" cy="1115568"/>
          </a:xfrm>
          <a:prstGeom prst="roundRect">
            <a:avLst>
              <a:gd name="adj" fmla="val 8000"/>
            </a:avLst>
          </a:prstGeom>
          <a:solidFill>
            <a:srgbClr val="F6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icon_FaDisplay_circle"/>
          <p:cNvSpPr/>
          <p:nvPr/>
        </p:nvSpPr>
        <p:spPr>
          <a:xfrm>
            <a:off x="1408176" y="4773168"/>
            <a:ext cx="603504" cy="60350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5" name="Picture 24" descr="FaDisplay_white.png"/>
          <p:cNvPicPr>
            <a:picLocks noChangeAspect="1"/>
          </p:cNvPicPr>
          <p:nvPr/>
        </p:nvPicPr>
        <p:blipFill>
          <a:blip r:embed="rId5"/>
          <a:stretch>
            <a:fillRect/>
          </a:stretch>
        </p:blipFill>
        <p:spPr>
          <a:xfrm>
            <a:off x="1559052" y="4924044"/>
            <a:ext cx="301752" cy="301752"/>
          </a:xfrm>
          <a:prstGeom prst="rect">
            <a:avLst/>
          </a:prstGeom>
        </p:spPr>
      </p:pic>
      <p:sp>
        <p:nvSpPr>
          <p:cNvPr id="26" name="TextBox 25"/>
          <p:cNvSpPr txBox="1"/>
          <p:nvPr/>
        </p:nvSpPr>
        <p:spPr>
          <a:xfrm>
            <a:off x="2231136" y="4645151"/>
            <a:ext cx="4800600" cy="457200"/>
          </a:xfrm>
          <a:prstGeom prst="rect">
            <a:avLst/>
          </a:prstGeom>
          <a:noFill/>
        </p:spPr>
        <p:txBody>
          <a:bodyPr wrap="square" lIns="0" tIns="0" rIns="0" bIns="0" anchor="ctr">
            <a:spAutoFit/>
          </a:bodyPr>
          <a:lstStyle/>
          <a:p>
            <a:pPr algn="l"/>
            <a:r>
              <a:rPr sz="2200" b="1" i="0">
                <a:solidFill>
                  <a:schemeClr val="tx1"/>
                </a:solidFill>
              </a:rPr>
              <a:t>Surface</a:t>
            </a:r>
            <a:r>
              <a:rPr sz="1500" b="0" i="0">
                <a:solidFill>
                  <a:srgbClr val="5F5F5F"/>
                </a:solidFill>
              </a:rPr>
              <a:t>   how you work with it</a:t>
            </a:r>
          </a:p>
        </p:txBody>
      </p:sp>
      <p:sp>
        <p:nvSpPr>
          <p:cNvPr id="27" name="TextBox 26"/>
          <p:cNvSpPr txBox="1"/>
          <p:nvPr/>
        </p:nvSpPr>
        <p:spPr>
          <a:xfrm>
            <a:off x="2231136" y="5120640"/>
            <a:ext cx="4800600" cy="411480"/>
          </a:xfrm>
          <a:prstGeom prst="rect">
            <a:avLst/>
          </a:prstGeom>
          <a:noFill/>
        </p:spPr>
        <p:txBody>
          <a:bodyPr wrap="square" lIns="0" tIns="0" rIns="0" bIns="0" anchor="t">
            <a:spAutoFit/>
          </a:bodyPr>
          <a:lstStyle/>
          <a:p>
            <a:pPr algn="l"/>
            <a:r>
              <a:rPr sz="1600" b="0" i="0" dirty="0">
                <a:solidFill>
                  <a:schemeClr val="tx1"/>
                </a:solidFill>
              </a:rPr>
              <a:t>chat in a browser · agent in the terminal · agent in a desktop app</a:t>
            </a:r>
          </a:p>
        </p:txBody>
      </p:sp>
      <p:sp>
        <p:nvSpPr>
          <p:cNvPr id="28" name="Rounded Rectangle 27"/>
          <p:cNvSpPr/>
          <p:nvPr/>
        </p:nvSpPr>
        <p:spPr>
          <a:xfrm>
            <a:off x="7955279" y="1920240"/>
            <a:ext cx="3721608" cy="178308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icon_FaShieldHalved_circle"/>
          <p:cNvSpPr/>
          <p:nvPr/>
        </p:nvSpPr>
        <p:spPr>
          <a:xfrm>
            <a:off x="8229600" y="2148840"/>
            <a:ext cx="548640" cy="54864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0" name="Picture 29" descr="FaShieldHalved_red.png"/>
          <p:cNvPicPr>
            <a:picLocks noChangeAspect="1"/>
          </p:cNvPicPr>
          <p:nvPr/>
        </p:nvPicPr>
        <p:blipFill>
          <a:blip r:embed="rId6"/>
          <a:stretch>
            <a:fillRect/>
          </a:stretch>
        </p:blipFill>
        <p:spPr>
          <a:xfrm>
            <a:off x="8366760" y="2286000"/>
            <a:ext cx="274320" cy="274320"/>
          </a:xfrm>
          <a:prstGeom prst="rect">
            <a:avLst/>
          </a:prstGeom>
        </p:spPr>
      </p:pic>
      <p:sp>
        <p:nvSpPr>
          <p:cNvPr id="31" name="TextBox 30"/>
          <p:cNvSpPr txBox="1"/>
          <p:nvPr/>
        </p:nvSpPr>
        <p:spPr>
          <a:xfrm>
            <a:off x="8229600" y="2788920"/>
            <a:ext cx="3172968" cy="777240"/>
          </a:xfrm>
          <a:prstGeom prst="rect">
            <a:avLst/>
          </a:prstGeom>
          <a:noFill/>
        </p:spPr>
        <p:txBody>
          <a:bodyPr wrap="square" lIns="0" tIns="0" rIns="0" bIns="0" anchor="t">
            <a:spAutoFit/>
          </a:bodyPr>
          <a:lstStyle/>
          <a:p>
            <a:pPr algn="l"/>
            <a:r>
              <a:rPr sz="1900" b="1" i="0">
                <a:solidFill>
                  <a:schemeClr val="bg1"/>
                </a:solidFill>
              </a:rPr>
              <a:t>Your data rules attach to the platform account.</a:t>
            </a:r>
          </a:p>
        </p:txBody>
      </p:sp>
      <p:sp>
        <p:nvSpPr>
          <p:cNvPr id="32" name="Rounded Rectangle 31"/>
          <p:cNvSpPr/>
          <p:nvPr/>
        </p:nvSpPr>
        <p:spPr>
          <a:xfrm>
            <a:off x="7955279" y="3931920"/>
            <a:ext cx="3721608" cy="178308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icon_FaRoute_circle"/>
          <p:cNvSpPr/>
          <p:nvPr/>
        </p:nvSpPr>
        <p:spPr>
          <a:xfrm>
            <a:off x="8229600" y="4160520"/>
            <a:ext cx="548640" cy="54864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4" name="Picture 33" descr="FaRoute_red.png"/>
          <p:cNvPicPr>
            <a:picLocks noChangeAspect="1"/>
          </p:cNvPicPr>
          <p:nvPr/>
        </p:nvPicPr>
        <p:blipFill>
          <a:blip r:embed="rId7"/>
          <a:stretch>
            <a:fillRect/>
          </a:stretch>
        </p:blipFill>
        <p:spPr>
          <a:xfrm>
            <a:off x="8366760" y="4297680"/>
            <a:ext cx="274320" cy="274320"/>
          </a:xfrm>
          <a:prstGeom prst="rect">
            <a:avLst/>
          </a:prstGeom>
        </p:spPr>
      </p:pic>
      <p:sp>
        <p:nvSpPr>
          <p:cNvPr id="35" name="TextBox 34"/>
          <p:cNvSpPr txBox="1"/>
          <p:nvPr/>
        </p:nvSpPr>
        <p:spPr>
          <a:xfrm>
            <a:off x="8229600" y="4800600"/>
            <a:ext cx="3172968" cy="777240"/>
          </a:xfrm>
          <a:prstGeom prst="rect">
            <a:avLst/>
          </a:prstGeom>
          <a:noFill/>
        </p:spPr>
        <p:txBody>
          <a:bodyPr wrap="square" lIns="0" tIns="0" rIns="0" bIns="0" anchor="t">
            <a:spAutoFit/>
          </a:bodyPr>
          <a:lstStyle/>
          <a:p>
            <a:pPr algn="l"/>
            <a:r>
              <a:rPr sz="1900" b="1" i="0">
                <a:solidFill>
                  <a:schemeClr val="bg1"/>
                </a:solidFill>
              </a:rPr>
              <a:t>Your workflow depends on the surface.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WashU provides</a:t>
            </a:r>
          </a:p>
        </p:txBody>
      </p:sp>
      <p:sp>
        <p:nvSpPr>
          <p:cNvPr id="3" name="Text Placeholder 2"/>
          <p:cNvSpPr>
            <a:spLocks noGrp="1"/>
          </p:cNvSpPr>
          <p:nvPr>
            <p:ph type="body" sz="quarter" idx="12"/>
          </p:nvPr>
        </p:nvSpPr>
        <p:spPr/>
        <p:txBody>
          <a:bodyPr/>
          <a:lstStyle/>
          <a:p>
            <a:r>
              <a:t>Which data each platform is approved for</a:t>
            </a:r>
          </a:p>
        </p:txBody>
      </p:sp>
      <p:sp>
        <p:nvSpPr>
          <p:cNvPr id="4" name="Text Placeholder 3"/>
          <p:cNvSpPr>
            <a:spLocks noGrp="1"/>
          </p:cNvSpPr>
          <p:nvPr>
            <p:ph type="body" sz="quarter" idx="14"/>
          </p:nvPr>
        </p:nvSpPr>
        <p:spPr/>
        <p:txBody>
          <a:bodyPr/>
          <a:lstStyle/>
          <a:p>
            <a:r>
              <a:t>What WashU provides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10</a:t>
            </a:fld>
            <a:endParaRPr lang="en-US" dirty="0"/>
          </a:p>
        </p:txBody>
      </p:sp>
      <p:graphicFrame>
        <p:nvGraphicFramePr>
          <p:cNvPr id="13" name="Table 12"/>
          <p:cNvGraphicFramePr>
            <a:graphicFrameLocks noGrp="1"/>
          </p:cNvGraphicFramePr>
          <p:nvPr/>
        </p:nvGraphicFramePr>
        <p:xfrm>
          <a:off x="512064" y="1783080"/>
          <a:ext cx="11164824" cy="3151632"/>
        </p:xfrm>
        <a:graphic>
          <a:graphicData uri="http://schemas.openxmlformats.org/drawingml/2006/table">
            <a:tbl>
              <a:tblPr firstRow="1">
                <a:tableStyleId>{5C22544A-7EE6-4342-B048-85BDC9FD1C3A}</a:tableStyleId>
              </a:tblPr>
              <a:tblGrid>
                <a:gridCol w="315468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660904">
                  <a:extLst>
                    <a:ext uri="{9D8B030D-6E8A-4147-A177-3AD203B41FA5}">
                      <a16:colId xmlns:a16="http://schemas.microsoft.com/office/drawing/2014/main" val="20003"/>
                    </a:ext>
                  </a:extLst>
                </a:gridCol>
              </a:tblGrid>
              <a:tr h="365760">
                <a:tc>
                  <a:txBody>
                    <a:bodyPr/>
                    <a:lstStyle/>
                    <a:p>
                      <a:r>
                        <a:rPr sz="1400" b="1">
                          <a:solidFill>
                            <a:schemeClr val="bg1"/>
                          </a:solidFill>
                        </a:rPr>
                        <a:t>Platform</a:t>
                      </a:r>
                    </a:p>
                  </a:txBody>
                  <a:tcPr marT="36576" marB="36576" anchor="ctr">
                    <a:solidFill>
                      <a:schemeClr val="tx2"/>
                    </a:solidFill>
                  </a:tcPr>
                </a:tc>
                <a:tc>
                  <a:txBody>
                    <a:bodyPr/>
                    <a:lstStyle/>
                    <a:p>
                      <a:r>
                        <a:rPr sz="1400" b="1">
                          <a:solidFill>
                            <a:schemeClr val="bg1"/>
                          </a:solidFill>
                        </a:rPr>
                        <a:t>Who</a:t>
                      </a:r>
                    </a:p>
                  </a:txBody>
                  <a:tcPr marT="36576" marB="36576" anchor="ctr">
                    <a:solidFill>
                      <a:schemeClr val="tx2"/>
                    </a:solidFill>
                  </a:tcPr>
                </a:tc>
                <a:tc>
                  <a:txBody>
                    <a:bodyPr/>
                    <a:lstStyle/>
                    <a:p>
                      <a:r>
                        <a:rPr sz="1400" b="1">
                          <a:solidFill>
                            <a:schemeClr val="bg1"/>
                          </a:solidFill>
                        </a:rPr>
                        <a:t>Cost</a:t>
                      </a:r>
                    </a:p>
                  </a:txBody>
                  <a:tcPr marT="36576" marB="36576" anchor="ctr">
                    <a:solidFill>
                      <a:schemeClr val="tx2"/>
                    </a:solidFill>
                  </a:tcPr>
                </a:tc>
                <a:tc>
                  <a:txBody>
                    <a:bodyPr/>
                    <a:lstStyle/>
                    <a:p>
                      <a:r>
                        <a:rPr sz="1400" b="1">
                          <a:solidFill>
                            <a:schemeClr val="bg1"/>
                          </a:solidFill>
                        </a:rPr>
                        <a:t>Approved for</a:t>
                      </a:r>
                    </a:p>
                  </a:txBody>
                  <a:tcPr marT="36576" marB="36576" anchor="ctr">
                    <a:solidFill>
                      <a:schemeClr val="tx2"/>
                    </a:solidFill>
                  </a:tcPr>
                </a:tc>
                <a:extLst>
                  <a:ext uri="{0D108BD9-81ED-4DB2-BD59-A6C34878D82A}">
                    <a16:rowId xmlns:a16="http://schemas.microsoft.com/office/drawing/2014/main" val="10000"/>
                  </a:ext>
                </a:extLst>
              </a:tr>
              <a:tr h="384048">
                <a:tc>
                  <a:txBody>
                    <a:bodyPr/>
                    <a:lstStyle/>
                    <a:p>
                      <a:r>
                        <a:rPr sz="1400" b="1">
                          <a:solidFill>
                            <a:schemeClr val="tx1"/>
                          </a:solidFill>
                        </a:rPr>
                        <a:t>Gemini for Education</a:t>
                      </a:r>
                    </a:p>
                  </a:txBody>
                  <a:tcPr marT="36576" marB="36576" anchor="ctr">
                    <a:solidFill>
                      <a:schemeClr val="bg1"/>
                    </a:solidFill>
                  </a:tcPr>
                </a:tc>
                <a:tc>
                  <a:txBody>
                    <a:bodyPr/>
                    <a:lstStyle/>
                    <a:p>
                      <a:r>
                        <a:rPr sz="1400" b="0">
                          <a:solidFill>
                            <a:schemeClr val="tx1"/>
                          </a:solidFill>
                        </a:rPr>
                        <a:t>Students, faculty, staff</a:t>
                      </a:r>
                    </a:p>
                  </a:txBody>
                  <a:tcPr marT="36576" marB="36576" anchor="ctr">
                    <a:solidFill>
                      <a:schemeClr val="bg1"/>
                    </a:solidFill>
                  </a:tcPr>
                </a:tc>
                <a:tc>
                  <a:txBody>
                    <a:bodyPr/>
                    <a:lstStyle/>
                    <a:p>
                      <a:r>
                        <a:rPr sz="1400" b="0">
                          <a:solidFill>
                            <a:schemeClr val="tx1"/>
                          </a:solidFill>
                        </a:rPr>
                        <a:t>Free</a:t>
                      </a:r>
                    </a:p>
                  </a:txBody>
                  <a:tcPr marT="36576" marB="36576" anchor="ctr">
                    <a:solidFill>
                      <a:schemeClr val="bg1"/>
                    </a:solidFill>
                  </a:tcPr>
                </a:tc>
                <a:tc>
                  <a:txBody>
                    <a:bodyPr/>
                    <a:lstStyle/>
                    <a:p>
                      <a:r>
                        <a:rPr sz="1400" b="0">
                          <a:solidFill>
                            <a:schemeClr val="tx1"/>
                          </a:solidFill>
                        </a:rPr>
                        <a:t>FERPA. PHI: confirm with the HIPAA office</a:t>
                      </a:r>
                    </a:p>
                  </a:txBody>
                  <a:tcPr marT="36576" marB="36576" anchor="ctr">
                    <a:solidFill>
                      <a:schemeClr val="bg1"/>
                    </a:solidFill>
                  </a:tcPr>
                </a:tc>
                <a:extLst>
                  <a:ext uri="{0D108BD9-81ED-4DB2-BD59-A6C34878D82A}">
                    <a16:rowId xmlns:a16="http://schemas.microsoft.com/office/drawing/2014/main" val="10001"/>
                  </a:ext>
                </a:extLst>
              </a:tr>
              <a:tr h="384048">
                <a:tc>
                  <a:txBody>
                    <a:bodyPr/>
                    <a:lstStyle/>
                    <a:p>
                      <a:r>
                        <a:rPr sz="1400" b="1">
                          <a:solidFill>
                            <a:schemeClr val="tx1"/>
                          </a:solidFill>
                        </a:rPr>
                        <a:t>Copilot Chat</a:t>
                      </a:r>
                    </a:p>
                  </a:txBody>
                  <a:tcPr marT="36576" marB="36576" anchor="ctr">
                    <a:solidFill>
                      <a:schemeClr val="bg1"/>
                    </a:solidFill>
                  </a:tcPr>
                </a:tc>
                <a:tc>
                  <a:txBody>
                    <a:bodyPr/>
                    <a:lstStyle/>
                    <a:p>
                      <a:r>
                        <a:rPr sz="1400" b="0">
                          <a:solidFill>
                            <a:schemeClr val="tx1"/>
                          </a:solidFill>
                        </a:rPr>
                        <a:t>All with Microsoft 365</a:t>
                      </a:r>
                    </a:p>
                  </a:txBody>
                  <a:tcPr marT="36576" marB="36576" anchor="ctr">
                    <a:solidFill>
                      <a:schemeClr val="bg1"/>
                    </a:solidFill>
                  </a:tcPr>
                </a:tc>
                <a:tc>
                  <a:txBody>
                    <a:bodyPr/>
                    <a:lstStyle/>
                    <a:p>
                      <a:r>
                        <a:rPr sz="1400" b="0">
                          <a:solidFill>
                            <a:schemeClr val="tx1"/>
                          </a:solidFill>
                        </a:rPr>
                        <a:t>Free</a:t>
                      </a:r>
                    </a:p>
                  </a:txBody>
                  <a:tcPr marT="36576" marB="36576" anchor="ctr">
                    <a:solidFill>
                      <a:schemeClr val="bg1"/>
                    </a:solidFill>
                  </a:tcPr>
                </a:tc>
                <a:tc>
                  <a:txBody>
                    <a:bodyPr/>
                    <a:lstStyle/>
                    <a:p>
                      <a:r>
                        <a:rPr sz="1400" b="0">
                          <a:solidFill>
                            <a:schemeClr val="tx1"/>
                          </a:solidFill>
                        </a:rPr>
                        <a:t>FERPA. Not PHI</a:t>
                      </a:r>
                    </a:p>
                  </a:txBody>
                  <a:tcPr marT="36576" marB="36576" anchor="ctr">
                    <a:solidFill>
                      <a:schemeClr val="bg1"/>
                    </a:solidFill>
                  </a:tcPr>
                </a:tc>
                <a:extLst>
                  <a:ext uri="{0D108BD9-81ED-4DB2-BD59-A6C34878D82A}">
                    <a16:rowId xmlns:a16="http://schemas.microsoft.com/office/drawing/2014/main" val="10002"/>
                  </a:ext>
                </a:extLst>
              </a:tr>
              <a:tr h="384048">
                <a:tc>
                  <a:txBody>
                    <a:bodyPr/>
                    <a:lstStyle/>
                    <a:p>
                      <a:r>
                        <a:rPr sz="1400" b="1">
                          <a:solidFill>
                            <a:schemeClr val="tx1"/>
                          </a:solidFill>
                        </a:rPr>
                        <a:t>Ask WashU</a:t>
                      </a:r>
                    </a:p>
                  </a:txBody>
                  <a:tcPr marT="36576" marB="36576" anchor="ctr">
                    <a:solidFill>
                      <a:schemeClr val="bg1"/>
                    </a:solidFill>
                  </a:tcPr>
                </a:tc>
                <a:tc>
                  <a:txBody>
                    <a:bodyPr/>
                    <a:lstStyle/>
                    <a:p>
                      <a:r>
                        <a:rPr sz="1400" b="0">
                          <a:solidFill>
                            <a:schemeClr val="tx1"/>
                          </a:solidFill>
                        </a:rPr>
                        <a:t>Students, faculty, staff</a:t>
                      </a:r>
                    </a:p>
                  </a:txBody>
                  <a:tcPr marT="36576" marB="36576" anchor="ctr">
                    <a:solidFill>
                      <a:schemeClr val="bg1"/>
                    </a:solidFill>
                  </a:tcPr>
                </a:tc>
                <a:tc>
                  <a:txBody>
                    <a:bodyPr/>
                    <a:lstStyle/>
                    <a:p>
                      <a:r>
                        <a:rPr sz="1400" b="0">
                          <a:solidFill>
                            <a:schemeClr val="tx1"/>
                          </a:solidFill>
                        </a:rPr>
                        <a:t>Free</a:t>
                      </a:r>
                    </a:p>
                  </a:txBody>
                  <a:tcPr marT="36576" marB="36576" anchor="ctr">
                    <a:solidFill>
                      <a:schemeClr val="bg1"/>
                    </a:solidFill>
                  </a:tcPr>
                </a:tc>
                <a:tc>
                  <a:txBody>
                    <a:bodyPr/>
                    <a:lstStyle/>
                    <a:p>
                      <a:r>
                        <a:rPr sz="1400" b="0">
                          <a:solidFill>
                            <a:schemeClr val="tx1"/>
                          </a:solidFill>
                        </a:rPr>
                        <a:t>FERPA and PHI</a:t>
                      </a:r>
                    </a:p>
                  </a:txBody>
                  <a:tcPr marT="36576" marB="36576" anchor="ctr">
                    <a:solidFill>
                      <a:schemeClr val="bg1"/>
                    </a:solidFill>
                  </a:tcPr>
                </a:tc>
                <a:extLst>
                  <a:ext uri="{0D108BD9-81ED-4DB2-BD59-A6C34878D82A}">
                    <a16:rowId xmlns:a16="http://schemas.microsoft.com/office/drawing/2014/main" val="10003"/>
                  </a:ext>
                </a:extLst>
              </a:tr>
              <a:tr h="566928">
                <a:tc>
                  <a:txBody>
                    <a:bodyPr/>
                    <a:lstStyle/>
                    <a:p>
                      <a:r>
                        <a:rPr sz="1400" b="1">
                          <a:solidFill>
                            <a:schemeClr val="tx1"/>
                          </a:solidFill>
                        </a:rPr>
                        <a:t>Claude Edu (Chat, Cowork, Claude Code, Design)</a:t>
                      </a:r>
                    </a:p>
                  </a:txBody>
                  <a:tcPr marT="36576" marB="36576" anchor="ctr">
                    <a:solidFill>
                      <a:srgbClr val="F6E2E6"/>
                    </a:solidFill>
                  </a:tcPr>
                </a:tc>
                <a:tc>
                  <a:txBody>
                    <a:bodyPr/>
                    <a:lstStyle/>
                    <a:p>
                      <a:r>
                        <a:rPr sz="1400" b="0">
                          <a:solidFill>
                            <a:schemeClr val="tx1"/>
                          </a:solidFill>
                        </a:rPr>
                        <a:t>Faculty/staff; Danforth students free after the AI Literacy module</a:t>
                      </a:r>
                    </a:p>
                  </a:txBody>
                  <a:tcPr marT="36576" marB="36576" anchor="ctr">
                    <a:solidFill>
                      <a:srgbClr val="F6E2E6"/>
                    </a:solidFill>
                  </a:tcPr>
                </a:tc>
                <a:tc>
                  <a:txBody>
                    <a:bodyPr/>
                    <a:lstStyle/>
                    <a:p>
                      <a:r>
                        <a:rPr sz="1400" b="0">
                          <a:solidFill>
                            <a:schemeClr val="tx1"/>
                          </a:solidFill>
                        </a:rPr>
                        <a:t>$16 / $50 per month (faculty/staff)</a:t>
                      </a:r>
                    </a:p>
                  </a:txBody>
                  <a:tcPr marT="36576" marB="36576" anchor="ctr">
                    <a:solidFill>
                      <a:srgbClr val="F6E2E6"/>
                    </a:solidFill>
                  </a:tcPr>
                </a:tc>
                <a:tc>
                  <a:txBody>
                    <a:bodyPr/>
                    <a:lstStyle/>
                    <a:p>
                      <a:r>
                        <a:rPr sz="1400" b="1">
                          <a:solidFill>
                            <a:schemeClr val="tx2"/>
                          </a:solidFill>
                        </a:rPr>
                        <a:t>FERPA, institutional IP. Not PHI</a:t>
                      </a:r>
                    </a:p>
                  </a:txBody>
                  <a:tcPr marT="36576" marB="36576" anchor="ctr">
                    <a:solidFill>
                      <a:srgbClr val="F6E2E6"/>
                    </a:solidFill>
                  </a:tcPr>
                </a:tc>
                <a:extLst>
                  <a:ext uri="{0D108BD9-81ED-4DB2-BD59-A6C34878D82A}">
                    <a16:rowId xmlns:a16="http://schemas.microsoft.com/office/drawing/2014/main" val="10004"/>
                  </a:ext>
                </a:extLst>
              </a:tr>
              <a:tr h="384048">
                <a:tc>
                  <a:txBody>
                    <a:bodyPr/>
                    <a:lstStyle/>
                    <a:p>
                      <a:r>
                        <a:rPr sz="1400" b="1">
                          <a:solidFill>
                            <a:schemeClr val="tx1"/>
                          </a:solidFill>
                        </a:rPr>
                        <a:t>Claude Secure (no Claude Code)</a:t>
                      </a:r>
                    </a:p>
                  </a:txBody>
                  <a:tcPr marT="36576" marB="36576" anchor="ctr">
                    <a:solidFill>
                      <a:schemeClr val="bg1"/>
                    </a:solidFill>
                  </a:tcPr>
                </a:tc>
                <a:tc>
                  <a:txBody>
                    <a:bodyPr/>
                    <a:lstStyle/>
                    <a:p>
                      <a:r>
                        <a:rPr sz="1400" b="0">
                          <a:solidFill>
                            <a:schemeClr val="tx1"/>
                          </a:solidFill>
                        </a:rPr>
                        <a:t>Faculty/staff</a:t>
                      </a:r>
                    </a:p>
                  </a:txBody>
                  <a:tcPr marT="36576" marB="36576" anchor="ctr">
                    <a:solidFill>
                      <a:schemeClr val="bg1"/>
                    </a:solidFill>
                  </a:tcPr>
                </a:tc>
                <a:tc>
                  <a:txBody>
                    <a:bodyPr/>
                    <a:lstStyle/>
                    <a:p>
                      <a:r>
                        <a:rPr sz="1400" b="0">
                          <a:solidFill>
                            <a:schemeClr val="tx1"/>
                          </a:solidFill>
                        </a:rPr>
                        <a:t>$16 / $50 per month</a:t>
                      </a:r>
                    </a:p>
                  </a:txBody>
                  <a:tcPr marT="36576" marB="36576" anchor="ctr">
                    <a:solidFill>
                      <a:schemeClr val="bg1"/>
                    </a:solidFill>
                  </a:tcPr>
                </a:tc>
                <a:tc>
                  <a:txBody>
                    <a:bodyPr/>
                    <a:lstStyle/>
                    <a:p>
                      <a:r>
                        <a:rPr sz="1400" b="0">
                          <a:solidFill>
                            <a:schemeClr val="tx1"/>
                          </a:solidFill>
                        </a:rPr>
                        <a:t>PHI and FERPA</a:t>
                      </a:r>
                    </a:p>
                  </a:txBody>
                  <a:tcPr marT="36576" marB="36576" anchor="ctr">
                    <a:solidFill>
                      <a:schemeClr val="bg1"/>
                    </a:solidFill>
                  </a:tcPr>
                </a:tc>
                <a:extLst>
                  <a:ext uri="{0D108BD9-81ED-4DB2-BD59-A6C34878D82A}">
                    <a16:rowId xmlns:a16="http://schemas.microsoft.com/office/drawing/2014/main" val="10005"/>
                  </a:ext>
                </a:extLst>
              </a:tr>
              <a:tr h="566928">
                <a:tc>
                  <a:txBody>
                    <a:bodyPr/>
                    <a:lstStyle/>
                    <a:p>
                      <a:r>
                        <a:rPr sz="1400" b="1">
                          <a:solidFill>
                            <a:schemeClr val="tx1"/>
                          </a:solidFill>
                        </a:rPr>
                        <a:t>ChatGPT Edu (Codex: separate approval)</a:t>
                      </a:r>
                    </a:p>
                  </a:txBody>
                  <a:tcPr marT="36576" marB="36576" anchor="ctr">
                    <a:solidFill>
                      <a:schemeClr val="bg1"/>
                    </a:solidFill>
                  </a:tcPr>
                </a:tc>
                <a:tc>
                  <a:txBody>
                    <a:bodyPr/>
                    <a:lstStyle/>
                    <a:p>
                      <a:r>
                        <a:rPr sz="1400" b="0">
                          <a:solidFill>
                            <a:schemeClr val="tx1"/>
                          </a:solidFill>
                        </a:rPr>
                        <a:t>Faculty/staff</a:t>
                      </a:r>
                    </a:p>
                  </a:txBody>
                  <a:tcPr marT="36576" marB="36576" anchor="ctr">
                    <a:solidFill>
                      <a:schemeClr val="bg1"/>
                    </a:solidFill>
                  </a:tcPr>
                </a:tc>
                <a:tc>
                  <a:txBody>
                    <a:bodyPr/>
                    <a:lstStyle/>
                    <a:p>
                      <a:r>
                        <a:rPr sz="1400" b="0">
                          <a:solidFill>
                            <a:schemeClr val="tx1"/>
                          </a:solidFill>
                        </a:rPr>
                        <a:t>$10–$100 per month</a:t>
                      </a:r>
                    </a:p>
                  </a:txBody>
                  <a:tcPr marT="36576" marB="36576" anchor="ctr">
                    <a:solidFill>
                      <a:schemeClr val="bg1"/>
                    </a:solidFill>
                  </a:tcPr>
                </a:tc>
                <a:tc>
                  <a:txBody>
                    <a:bodyPr/>
                    <a:lstStyle/>
                    <a:p>
                      <a:r>
                        <a:rPr sz="1400" b="0">
                          <a:solidFill>
                            <a:schemeClr val="tx1"/>
                          </a:solidFill>
                        </a:rPr>
                        <a:t>PHI and FERPA. Codex: not HIPAA or FERPA</a:t>
                      </a:r>
                    </a:p>
                  </a:txBody>
                  <a:tcPr marT="36576" marB="36576" anchor="ctr">
                    <a:solidFill>
                      <a:schemeClr val="bg1"/>
                    </a:solidFill>
                  </a:tcPr>
                </a:tc>
                <a:extLst>
                  <a:ext uri="{0D108BD9-81ED-4DB2-BD59-A6C34878D82A}">
                    <a16:rowId xmlns:a16="http://schemas.microsoft.com/office/drawing/2014/main" val="10006"/>
                  </a:ext>
                </a:extLst>
              </a:tr>
            </a:tbl>
          </a:graphicData>
        </a:graphic>
      </p:graphicFrame>
      <p:sp>
        <p:nvSpPr>
          <p:cNvPr id="14" name="Rounded Rectangle 13"/>
          <p:cNvSpPr/>
          <p:nvPr/>
        </p:nvSpPr>
        <p:spPr>
          <a:xfrm>
            <a:off x="512064" y="5193792"/>
            <a:ext cx="11164824" cy="54864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FaLock_white.png"/>
          <p:cNvPicPr>
            <a:picLocks noChangeAspect="1"/>
          </p:cNvPicPr>
          <p:nvPr/>
        </p:nvPicPr>
        <p:blipFill>
          <a:blip r:embed="rId3"/>
          <a:stretch>
            <a:fillRect/>
          </a:stretch>
        </p:blipFill>
        <p:spPr>
          <a:xfrm>
            <a:off x="768096" y="5303520"/>
            <a:ext cx="329184" cy="329184"/>
          </a:xfrm>
          <a:prstGeom prst="rect">
            <a:avLst/>
          </a:prstGeom>
        </p:spPr>
      </p:pic>
      <p:sp>
        <p:nvSpPr>
          <p:cNvPr id="16" name="TextBox 15"/>
          <p:cNvSpPr txBox="1"/>
          <p:nvPr/>
        </p:nvSpPr>
        <p:spPr>
          <a:xfrm>
            <a:off x="1289304" y="5193792"/>
            <a:ext cx="10058400" cy="548640"/>
          </a:xfrm>
          <a:prstGeom prst="rect">
            <a:avLst/>
          </a:prstGeom>
          <a:noFill/>
        </p:spPr>
        <p:txBody>
          <a:bodyPr wrap="square" lIns="0" tIns="0" rIns="0" bIns="0" anchor="ctr">
            <a:spAutoFit/>
          </a:bodyPr>
          <a:lstStyle/>
          <a:p>
            <a:pPr algn="l"/>
            <a:r>
              <a:rPr sz="2000" b="1" i="0">
                <a:solidFill>
                  <a:schemeClr val="bg1"/>
                </a:solidFill>
              </a:rPr>
              <a:t>No agentic coding tool at WashU is approved for PHI.</a:t>
            </a:r>
          </a:p>
        </p:txBody>
      </p:sp>
      <p:sp>
        <p:nvSpPr>
          <p:cNvPr id="17" name="source"/>
          <p:cNvSpPr txBox="1"/>
          <p:nvPr/>
        </p:nvSpPr>
        <p:spPr>
          <a:xfrm>
            <a:off x="512064" y="5833872"/>
            <a:ext cx="11164824" cy="274320"/>
          </a:xfrm>
          <a:prstGeom prst="rect">
            <a:avLst/>
          </a:prstGeom>
          <a:noFill/>
        </p:spPr>
        <p:txBody>
          <a:bodyPr wrap="square" lIns="0" tIns="0" rIns="0" bIns="0" anchor="b">
            <a:spAutoFit/>
          </a:bodyPr>
          <a:lstStyle/>
          <a:p>
            <a:pPr algn="l"/>
            <a:r>
              <a:rPr sz="1100" b="0" i="1">
                <a:solidFill>
                  <a:srgbClr val="5F5F5F"/>
                </a:solidFill>
              </a:rPr>
              <a:t>Details: ai.washu.edu/tools · it.washu.edu/claude-for-education (accessed 2026-10-12)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Models: tiers and cost</a:t>
            </a:r>
          </a:p>
        </p:txBody>
      </p:sp>
      <p:sp>
        <p:nvSpPr>
          <p:cNvPr id="3" name="Text Placeholder 2"/>
          <p:cNvSpPr>
            <a:spLocks noGrp="1"/>
          </p:cNvSpPr>
          <p:nvPr>
            <p:ph type="body" sz="quarter" idx="12"/>
          </p:nvPr>
        </p:nvSpPr>
        <p:spPr/>
        <p:txBody>
          <a:bodyPr/>
          <a:lstStyle/>
          <a:p>
            <a:r>
              <a:t>Names change every few months; the structure doesn't</a:t>
            </a:r>
          </a:p>
        </p:txBody>
      </p:sp>
      <p:sp>
        <p:nvSpPr>
          <p:cNvPr id="4" name="Text Placeholder 3"/>
          <p:cNvSpPr>
            <a:spLocks noGrp="1"/>
          </p:cNvSpPr>
          <p:nvPr>
            <p:ph type="body" sz="quarter" idx="14"/>
          </p:nvPr>
        </p:nvSpPr>
        <p:spPr/>
        <p:txBody>
          <a:bodyPr/>
          <a:lstStyle/>
          <a:p>
            <a:r>
              <a:t>What WashU provides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11</a:t>
            </a:fld>
            <a:endParaRPr lang="en-US" dirty="0"/>
          </a:p>
        </p:txBody>
      </p:sp>
      <p:graphicFrame>
        <p:nvGraphicFramePr>
          <p:cNvPr id="13" name="Table 12"/>
          <p:cNvGraphicFramePr>
            <a:graphicFrameLocks noGrp="1"/>
          </p:cNvGraphicFramePr>
          <p:nvPr/>
        </p:nvGraphicFramePr>
        <p:xfrm>
          <a:off x="512064" y="1920240"/>
          <a:ext cx="11164824" cy="1947672"/>
        </p:xfrm>
        <a:graphic>
          <a:graphicData uri="http://schemas.openxmlformats.org/drawingml/2006/table">
            <a:tbl>
              <a:tblPr firstRow="1">
                <a:tableStyleId>{5C22544A-7EE6-4342-B048-85BDC9FD1C3A}</a:tableStyleId>
              </a:tblPr>
              <a:tblGrid>
                <a:gridCol w="18288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026664">
                  <a:extLst>
                    <a:ext uri="{9D8B030D-6E8A-4147-A177-3AD203B41FA5}">
                      <a16:colId xmlns:a16="http://schemas.microsoft.com/office/drawing/2014/main" val="20003"/>
                    </a:ext>
                  </a:extLst>
                </a:gridCol>
              </a:tblGrid>
              <a:tr h="438912">
                <a:tc>
                  <a:txBody>
                    <a:bodyPr/>
                    <a:lstStyle/>
                    <a:p>
                      <a:endParaRPr/>
                    </a:p>
                  </a:txBody>
                  <a:tcPr marT="36576" marB="36576" anchor="ctr">
                    <a:solidFill>
                      <a:schemeClr val="tx2"/>
                    </a:solidFill>
                  </a:tcPr>
                </a:tc>
                <a:tc>
                  <a:txBody>
                    <a:bodyPr/>
                    <a:lstStyle/>
                    <a:p>
                      <a:r>
                        <a:rPr sz="1600" b="1">
                          <a:solidFill>
                            <a:schemeClr val="bg1"/>
                          </a:solidFill>
                        </a:rPr>
                        <a:t>Most capable</a:t>
                      </a:r>
                    </a:p>
                  </a:txBody>
                  <a:tcPr marT="36576" marB="36576" anchor="ctr">
                    <a:solidFill>
                      <a:schemeClr val="tx2"/>
                    </a:solidFill>
                  </a:tcPr>
                </a:tc>
                <a:tc>
                  <a:txBody>
                    <a:bodyPr/>
                    <a:lstStyle/>
                    <a:p>
                      <a:r>
                        <a:rPr sz="1600" b="1">
                          <a:solidFill>
                            <a:schemeClr val="bg1"/>
                          </a:solidFill>
                        </a:rPr>
                        <a:t>Balanced</a:t>
                      </a:r>
                    </a:p>
                  </a:txBody>
                  <a:tcPr marT="36576" marB="36576" anchor="ctr">
                    <a:solidFill>
                      <a:schemeClr val="tx2"/>
                    </a:solidFill>
                  </a:tcPr>
                </a:tc>
                <a:tc>
                  <a:txBody>
                    <a:bodyPr/>
                    <a:lstStyle/>
                    <a:p>
                      <a:r>
                        <a:rPr sz="1600" b="1">
                          <a:solidFill>
                            <a:schemeClr val="bg1"/>
                          </a:solidFill>
                        </a:rPr>
                        <a:t>Fast and cheap</a:t>
                      </a:r>
                    </a:p>
                  </a:txBody>
                  <a:tcPr marT="36576" marB="36576" anchor="ctr">
                    <a:solidFill>
                      <a:schemeClr val="tx2"/>
                    </a:solidFill>
                  </a:tcPr>
                </a:tc>
                <a:extLst>
                  <a:ext uri="{0D108BD9-81ED-4DB2-BD59-A6C34878D82A}">
                    <a16:rowId xmlns:a16="http://schemas.microsoft.com/office/drawing/2014/main" val="10000"/>
                  </a:ext>
                </a:extLst>
              </a:tr>
              <a:tr h="502920">
                <a:tc>
                  <a:txBody>
                    <a:bodyPr/>
                    <a:lstStyle/>
                    <a:p>
                      <a:r>
                        <a:rPr sz="1600" b="1">
                          <a:solidFill>
                            <a:schemeClr val="tx1"/>
                          </a:solidFill>
                        </a:rPr>
                        <a:t>Claude</a:t>
                      </a:r>
                    </a:p>
                  </a:txBody>
                  <a:tcPr marT="36576" marB="36576" anchor="ctr">
                    <a:solidFill>
                      <a:schemeClr val="bg1"/>
                    </a:solidFill>
                  </a:tcPr>
                </a:tc>
                <a:tc>
                  <a:txBody>
                    <a:bodyPr/>
                    <a:lstStyle/>
                    <a:p>
                      <a:r>
                        <a:rPr sz="1600" b="0">
                          <a:solidFill>
                            <a:schemeClr val="tx1"/>
                          </a:solidFill>
                        </a:rPr>
                        <a:t>Fable 5.1 · Opus 5.5</a:t>
                      </a:r>
                    </a:p>
                  </a:txBody>
                  <a:tcPr marT="36576" marB="36576" anchor="ctr">
                    <a:solidFill>
                      <a:schemeClr val="bg1"/>
                    </a:solidFill>
                  </a:tcPr>
                </a:tc>
                <a:tc>
                  <a:txBody>
                    <a:bodyPr/>
                    <a:lstStyle/>
                    <a:p>
                      <a:r>
                        <a:rPr sz="1600" b="0">
                          <a:solidFill>
                            <a:schemeClr val="tx1"/>
                          </a:solidFill>
                        </a:rPr>
                        <a:t>Sonnet 5.5</a:t>
                      </a:r>
                    </a:p>
                  </a:txBody>
                  <a:tcPr marT="36576" marB="36576" anchor="ctr">
                    <a:solidFill>
                      <a:schemeClr val="bg1"/>
                    </a:solidFill>
                  </a:tcPr>
                </a:tc>
                <a:tc>
                  <a:txBody>
                    <a:bodyPr/>
                    <a:lstStyle/>
                    <a:p>
                      <a:r>
                        <a:rPr sz="1600" b="0">
                          <a:solidFill>
                            <a:schemeClr val="tx1"/>
                          </a:solidFill>
                        </a:rPr>
                        <a:t>Haiku 5.5</a:t>
                      </a:r>
                    </a:p>
                  </a:txBody>
                  <a:tcPr marT="36576" marB="36576" anchor="ctr">
                    <a:solidFill>
                      <a:schemeClr val="bg1"/>
                    </a:solidFill>
                  </a:tcPr>
                </a:tc>
                <a:extLst>
                  <a:ext uri="{0D108BD9-81ED-4DB2-BD59-A6C34878D82A}">
                    <a16:rowId xmlns:a16="http://schemas.microsoft.com/office/drawing/2014/main" val="10001"/>
                  </a:ext>
                </a:extLst>
              </a:tr>
              <a:tr h="502920">
                <a:tc>
                  <a:txBody>
                    <a:bodyPr/>
                    <a:lstStyle/>
                    <a:p>
                      <a:r>
                        <a:rPr sz="1600" b="1">
                          <a:solidFill>
                            <a:schemeClr val="tx1"/>
                          </a:solidFill>
                        </a:rPr>
                        <a:t>Gemini</a:t>
                      </a:r>
                    </a:p>
                  </a:txBody>
                  <a:tcPr marT="36576" marB="36576" anchor="ctr">
                    <a:solidFill>
                      <a:schemeClr val="bg1"/>
                    </a:solidFill>
                  </a:tcPr>
                </a:tc>
                <a:tc>
                  <a:txBody>
                    <a:bodyPr/>
                    <a:lstStyle/>
                    <a:p>
                      <a:r>
                        <a:rPr sz="1600" b="0">
                          <a:solidFill>
                            <a:schemeClr val="tx1"/>
                          </a:solidFill>
                        </a:rPr>
                        <a:t>3.1 Pro</a:t>
                      </a:r>
                    </a:p>
                  </a:txBody>
                  <a:tcPr marT="36576" marB="36576" anchor="ctr">
                    <a:solidFill>
                      <a:schemeClr val="bg1"/>
                    </a:solidFill>
                  </a:tcPr>
                </a:tc>
                <a:tc>
                  <a:txBody>
                    <a:bodyPr/>
                    <a:lstStyle/>
                    <a:p>
                      <a:r>
                        <a:rPr sz="1600" b="0">
                          <a:solidFill>
                            <a:schemeClr val="tx1"/>
                          </a:solidFill>
                        </a:rPr>
                        <a:t>3.8 Flash</a:t>
                      </a:r>
                    </a:p>
                  </a:txBody>
                  <a:tcPr marT="36576" marB="36576" anchor="ctr">
                    <a:solidFill>
                      <a:schemeClr val="bg1"/>
                    </a:solidFill>
                  </a:tcPr>
                </a:tc>
                <a:tc>
                  <a:txBody>
                    <a:bodyPr/>
                    <a:lstStyle/>
                    <a:p>
                      <a:r>
                        <a:rPr sz="1600" b="0">
                          <a:solidFill>
                            <a:schemeClr val="tx1"/>
                          </a:solidFill>
                        </a:rPr>
                        <a:t>Flash-Lite</a:t>
                      </a:r>
                    </a:p>
                  </a:txBody>
                  <a:tcPr marT="36576" marB="36576" anchor="ctr">
                    <a:solidFill>
                      <a:schemeClr val="bg1"/>
                    </a:solidFill>
                  </a:tcPr>
                </a:tc>
                <a:extLst>
                  <a:ext uri="{0D108BD9-81ED-4DB2-BD59-A6C34878D82A}">
                    <a16:rowId xmlns:a16="http://schemas.microsoft.com/office/drawing/2014/main" val="10002"/>
                  </a:ext>
                </a:extLst>
              </a:tr>
              <a:tr h="502920">
                <a:tc>
                  <a:txBody>
                    <a:bodyPr/>
                    <a:lstStyle/>
                    <a:p>
                      <a:r>
                        <a:rPr sz="1600" b="1">
                          <a:solidFill>
                            <a:schemeClr val="tx1"/>
                          </a:solidFill>
                        </a:rPr>
                        <a:t>OpenAI</a:t>
                      </a:r>
                    </a:p>
                  </a:txBody>
                  <a:tcPr marT="36576" marB="36576" anchor="ctr">
                    <a:solidFill>
                      <a:schemeClr val="bg1"/>
                    </a:solidFill>
                  </a:tcPr>
                </a:tc>
                <a:tc>
                  <a:txBody>
                    <a:bodyPr/>
                    <a:lstStyle/>
                    <a:p>
                      <a:r>
                        <a:rPr sz="1600" b="0">
                          <a:solidFill>
                            <a:schemeClr val="tx1"/>
                          </a:solidFill>
                        </a:rPr>
                        <a:t>GPT-6 Astra</a:t>
                      </a:r>
                    </a:p>
                  </a:txBody>
                  <a:tcPr marT="36576" marB="36576" anchor="ctr">
                    <a:solidFill>
                      <a:schemeClr val="bg1"/>
                    </a:solidFill>
                  </a:tcPr>
                </a:tc>
                <a:tc>
                  <a:txBody>
                    <a:bodyPr/>
                    <a:lstStyle/>
                    <a:p>
                      <a:r>
                        <a:rPr sz="1600" b="0">
                          <a:solidFill>
                            <a:schemeClr val="tx1"/>
                          </a:solidFill>
                        </a:rPr>
                        <a:t>GPT-6.1 Sol</a:t>
                      </a:r>
                    </a:p>
                  </a:txBody>
                  <a:tcPr marT="36576" marB="36576" anchor="ctr">
                    <a:solidFill>
                      <a:schemeClr val="bg1"/>
                    </a:solidFill>
                  </a:tcPr>
                </a:tc>
                <a:tc>
                  <a:txBody>
                    <a:bodyPr/>
                    <a:lstStyle/>
                    <a:p>
                      <a:r>
                        <a:rPr sz="1600" b="0">
                          <a:solidFill>
                            <a:schemeClr val="tx1"/>
                          </a:solidFill>
                        </a:rPr>
                        <a:t>GPT-6 Luna</a:t>
                      </a:r>
                    </a:p>
                  </a:txBody>
                  <a:tcPr marT="36576" marB="36576" anchor="ctr">
                    <a:solidFill>
                      <a:schemeClr val="bg1"/>
                    </a:solidFill>
                  </a:tcPr>
                </a:tc>
                <a:extLst>
                  <a:ext uri="{0D108BD9-81ED-4DB2-BD59-A6C34878D82A}">
                    <a16:rowId xmlns:a16="http://schemas.microsoft.com/office/drawing/2014/main" val="10003"/>
                  </a:ext>
                </a:extLst>
              </a:tr>
            </a:tbl>
          </a:graphicData>
        </a:graphic>
      </p:graphicFrame>
      <p:sp>
        <p:nvSpPr>
          <p:cNvPr id="14" name="Rounded Rectangle 13"/>
          <p:cNvSpPr/>
          <p:nvPr/>
        </p:nvSpPr>
        <p:spPr>
          <a:xfrm>
            <a:off x="512064" y="4160520"/>
            <a:ext cx="4206240" cy="150876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86384" y="4279392"/>
            <a:ext cx="3657600" cy="320040"/>
          </a:xfrm>
          <a:prstGeom prst="rect">
            <a:avLst/>
          </a:prstGeom>
          <a:noFill/>
        </p:spPr>
        <p:txBody>
          <a:bodyPr wrap="square" lIns="0" tIns="0" rIns="0" bIns="0" anchor="t">
            <a:spAutoFit/>
          </a:bodyPr>
          <a:lstStyle/>
          <a:p>
            <a:pPr algn="l"/>
            <a:r>
              <a:rPr sz="1600" b="1" i="0">
                <a:solidFill>
                  <a:schemeClr val="tx1"/>
                </a:solidFill>
              </a:rPr>
              <a:t>Fable 5.1</a:t>
            </a:r>
          </a:p>
        </p:txBody>
      </p:sp>
      <p:sp>
        <p:nvSpPr>
          <p:cNvPr id="16" name="TextBox 15"/>
          <p:cNvSpPr txBox="1"/>
          <p:nvPr/>
        </p:nvSpPr>
        <p:spPr>
          <a:xfrm>
            <a:off x="786384" y="4572000"/>
            <a:ext cx="3657600" cy="685800"/>
          </a:xfrm>
          <a:prstGeom prst="rect">
            <a:avLst/>
          </a:prstGeom>
          <a:noFill/>
        </p:spPr>
        <p:txBody>
          <a:bodyPr wrap="square" lIns="0" tIns="0" rIns="0" bIns="0" anchor="t">
            <a:spAutoFit/>
          </a:bodyPr>
          <a:lstStyle/>
          <a:p>
            <a:pPr algn="l"/>
            <a:r>
              <a:rPr sz="4000" b="1" i="0">
                <a:solidFill>
                  <a:schemeClr val="tx1"/>
                </a:solidFill>
              </a:rPr>
              <a:t>$10 / $50</a:t>
            </a:r>
          </a:p>
        </p:txBody>
      </p:sp>
      <p:sp>
        <p:nvSpPr>
          <p:cNvPr id="17" name="TextBox 16"/>
          <p:cNvSpPr txBox="1"/>
          <p:nvPr/>
        </p:nvSpPr>
        <p:spPr>
          <a:xfrm>
            <a:off x="786384" y="5257800"/>
            <a:ext cx="3657600" cy="320040"/>
          </a:xfrm>
          <a:prstGeom prst="rect">
            <a:avLst/>
          </a:prstGeom>
          <a:noFill/>
        </p:spPr>
        <p:txBody>
          <a:bodyPr wrap="square" lIns="0" tIns="0" rIns="0" bIns="0" anchor="t">
            <a:spAutoFit/>
          </a:bodyPr>
          <a:lstStyle/>
          <a:p>
            <a:pPr algn="l"/>
            <a:r>
              <a:rPr sz="1400" b="0" i="0">
                <a:solidFill>
                  <a:srgbClr val="5F5F5F"/>
                </a:solidFill>
              </a:rPr>
              <a:t>per million tokens, in / out</a:t>
            </a:r>
          </a:p>
        </p:txBody>
      </p:sp>
      <p:sp>
        <p:nvSpPr>
          <p:cNvPr id="18" name="TextBox 17"/>
          <p:cNvSpPr txBox="1"/>
          <p:nvPr/>
        </p:nvSpPr>
        <p:spPr>
          <a:xfrm>
            <a:off x="4937760" y="4160520"/>
            <a:ext cx="2331720" cy="1508760"/>
          </a:xfrm>
          <a:prstGeom prst="rect">
            <a:avLst/>
          </a:prstGeom>
          <a:noFill/>
        </p:spPr>
        <p:txBody>
          <a:bodyPr wrap="square" lIns="0" tIns="0" rIns="0" bIns="0" anchor="ctr">
            <a:spAutoFit/>
          </a:bodyPr>
          <a:lstStyle/>
          <a:p>
            <a:pPr algn="ctr"/>
            <a:r>
              <a:rPr sz="4400" b="1" i="0">
                <a:solidFill>
                  <a:schemeClr val="tx2"/>
                </a:solidFill>
              </a:rPr>
              <a:t>≈100×</a:t>
            </a:r>
          </a:p>
        </p:txBody>
      </p:sp>
      <p:sp>
        <p:nvSpPr>
          <p:cNvPr id="19" name="Rounded Rectangle 18"/>
          <p:cNvSpPr/>
          <p:nvPr/>
        </p:nvSpPr>
        <p:spPr>
          <a:xfrm>
            <a:off x="7470648" y="4160520"/>
            <a:ext cx="4206240" cy="1508760"/>
          </a:xfrm>
          <a:prstGeom prst="roundRect">
            <a:avLst>
              <a:gd name="adj" fmla="val 8000"/>
            </a:avLst>
          </a:prstGeom>
          <a:solidFill>
            <a:srgbClr val="F6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744968" y="4279392"/>
            <a:ext cx="3657600" cy="320040"/>
          </a:xfrm>
          <a:prstGeom prst="rect">
            <a:avLst/>
          </a:prstGeom>
          <a:noFill/>
        </p:spPr>
        <p:txBody>
          <a:bodyPr wrap="square" lIns="0" tIns="0" rIns="0" bIns="0" anchor="t">
            <a:spAutoFit/>
          </a:bodyPr>
          <a:lstStyle/>
          <a:p>
            <a:pPr algn="l"/>
            <a:r>
              <a:rPr sz="1600" b="1" i="0">
                <a:solidFill>
                  <a:schemeClr val="tx1"/>
                </a:solidFill>
              </a:rPr>
              <a:t>Haiku 5.5</a:t>
            </a:r>
          </a:p>
        </p:txBody>
      </p:sp>
      <p:sp>
        <p:nvSpPr>
          <p:cNvPr id="21" name="TextBox 20"/>
          <p:cNvSpPr txBox="1"/>
          <p:nvPr/>
        </p:nvSpPr>
        <p:spPr>
          <a:xfrm>
            <a:off x="7744968" y="4572000"/>
            <a:ext cx="3657600" cy="685800"/>
          </a:xfrm>
          <a:prstGeom prst="rect">
            <a:avLst/>
          </a:prstGeom>
          <a:noFill/>
        </p:spPr>
        <p:txBody>
          <a:bodyPr wrap="square" lIns="0" tIns="0" rIns="0" bIns="0" anchor="t">
            <a:spAutoFit/>
          </a:bodyPr>
          <a:lstStyle/>
          <a:p>
            <a:pPr algn="l"/>
            <a:r>
              <a:rPr sz="4000" b="1" i="0">
                <a:solidFill>
                  <a:schemeClr val="tx2"/>
                </a:solidFill>
              </a:rPr>
              <a:t>$0.10 / $0.50</a:t>
            </a:r>
          </a:p>
        </p:txBody>
      </p:sp>
      <p:sp>
        <p:nvSpPr>
          <p:cNvPr id="22" name="TextBox 21"/>
          <p:cNvSpPr txBox="1"/>
          <p:nvPr/>
        </p:nvSpPr>
        <p:spPr>
          <a:xfrm>
            <a:off x="7744968" y="5257800"/>
            <a:ext cx="3657600" cy="320040"/>
          </a:xfrm>
          <a:prstGeom prst="rect">
            <a:avLst/>
          </a:prstGeom>
          <a:noFill/>
        </p:spPr>
        <p:txBody>
          <a:bodyPr wrap="square" lIns="0" tIns="0" rIns="0" bIns="0" anchor="t">
            <a:spAutoFit/>
          </a:bodyPr>
          <a:lstStyle/>
          <a:p>
            <a:pPr algn="l"/>
            <a:r>
              <a:rPr sz="1400" b="0" i="0">
                <a:solidFill>
                  <a:srgbClr val="5F5F5F"/>
                </a:solidFill>
              </a:rPr>
              <a:t>from, per million tokens, in / out</a:t>
            </a:r>
          </a:p>
        </p:txBody>
      </p:sp>
      <p:sp>
        <p:nvSpPr>
          <p:cNvPr id="23" name="source"/>
          <p:cNvSpPr txBox="1"/>
          <p:nvPr/>
        </p:nvSpPr>
        <p:spPr>
          <a:xfrm>
            <a:off x="512064" y="5833872"/>
            <a:ext cx="11164824" cy="274320"/>
          </a:xfrm>
          <a:prstGeom prst="rect">
            <a:avLst/>
          </a:prstGeom>
          <a:noFill/>
        </p:spPr>
        <p:txBody>
          <a:bodyPr wrap="square" lIns="0" tIns="0" rIns="0" bIns="0" anchor="b">
            <a:spAutoFit/>
          </a:bodyPr>
          <a:lstStyle/>
          <a:p>
            <a:pPr algn="l"/>
            <a:r>
              <a:rPr sz="1100" b="0" i="1">
                <a:solidFill>
                  <a:srgbClr val="5F5F5F"/>
                </a:solidFill>
              </a:rPr>
              <a:t>Claude API prices and model names from vendor model pages, accessed 2026-10-12. Re-check the week of the workshop.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Chat vs. Claude Code vs. Cowork</a:t>
            </a:r>
          </a:p>
        </p:txBody>
      </p:sp>
      <p:sp>
        <p:nvSpPr>
          <p:cNvPr id="3" name="Text Placeholder 2"/>
          <p:cNvSpPr>
            <a:spLocks noGrp="1"/>
          </p:cNvSpPr>
          <p:nvPr>
            <p:ph type="body" idx="12" sz="quarter"/>
          </p:nvPr>
        </p:nvSpPr>
        <p:spPr/>
        <p:txBody>
          <a:bodyPr/>
          <a:lstStyle/>
          <a:p>
            <a:r>
              <a:t>Same Claude, three ways to work</a:t>
            </a:r>
          </a:p>
        </p:txBody>
      </p:sp>
      <p:sp>
        <p:nvSpPr>
          <p:cNvPr id="4" name="Text Placeholder 3"/>
          <p:cNvSpPr>
            <a:spLocks noGrp="1"/>
          </p:cNvSpPr>
          <p:nvPr>
            <p:ph type="body" idx="14" sz="quarter"/>
          </p:nvPr>
        </p:nvSpPr>
        <p:spPr/>
        <p:txBody>
          <a:bodyPr/>
          <a:lstStyle/>
          <a:p>
            <a:r>
              <a:t>What WashU provides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TextBox 12"/>
          <p:cNvSpPr txBox="1"/>
          <p:nvPr/>
        </p:nvSpPr>
        <p:spPr>
          <a:xfrm>
            <a:off x="512064" y="2834640"/>
            <a:ext cx="1417320" cy="457200"/>
          </a:xfrm>
          <a:prstGeom prst="rect">
            <a:avLst/>
          </a:prstGeom>
          <a:noFill/>
        </p:spPr>
        <p:txBody>
          <a:bodyPr wrap="square" lIns="0" rIns="0" tIns="0" bIns="0" anchor="ctr">
            <a:spAutoFit/>
          </a:bodyPr>
          <a:lstStyle/>
          <a:p>
            <a:pPr algn="l"/>
            <a:r>
              <a:rPr sz="1400" b="1" i="0">
                <a:solidFill>
                  <a:srgbClr val="5F5F5F"/>
                </a:solidFill>
              </a:rPr>
              <a:t>Runs</a:t>
            </a:r>
          </a:p>
        </p:txBody>
      </p:sp>
      <p:sp>
        <p:nvSpPr>
          <p:cNvPr id="14" name="TextBox 13"/>
          <p:cNvSpPr txBox="1"/>
          <p:nvPr/>
        </p:nvSpPr>
        <p:spPr>
          <a:xfrm>
            <a:off x="512064" y="3310128"/>
            <a:ext cx="1417320" cy="457200"/>
          </a:xfrm>
          <a:prstGeom prst="rect">
            <a:avLst/>
          </a:prstGeom>
          <a:noFill/>
        </p:spPr>
        <p:txBody>
          <a:bodyPr wrap="square" lIns="0" rIns="0" tIns="0" bIns="0" anchor="ctr">
            <a:spAutoFit/>
          </a:bodyPr>
          <a:lstStyle/>
          <a:p>
            <a:pPr algn="l"/>
            <a:r>
              <a:rPr sz="1400" b="1" i="0">
                <a:solidFill>
                  <a:srgbClr val="5F5F5F"/>
                </a:solidFill>
              </a:rPr>
              <a:t>Can touch</a:t>
            </a:r>
          </a:p>
        </p:txBody>
      </p:sp>
      <p:sp>
        <p:nvSpPr>
          <p:cNvPr id="15" name="TextBox 14"/>
          <p:cNvSpPr txBox="1"/>
          <p:nvPr/>
        </p:nvSpPr>
        <p:spPr>
          <a:xfrm>
            <a:off x="512064" y="3785616"/>
            <a:ext cx="1417320" cy="457200"/>
          </a:xfrm>
          <a:prstGeom prst="rect">
            <a:avLst/>
          </a:prstGeom>
          <a:noFill/>
        </p:spPr>
        <p:txBody>
          <a:bodyPr wrap="square" lIns="0" rIns="0" tIns="0" bIns="0" anchor="ctr">
            <a:spAutoFit/>
          </a:bodyPr>
          <a:lstStyle/>
          <a:p>
            <a:pPr algn="l"/>
            <a:r>
              <a:rPr sz="1400" b="1" i="0">
                <a:solidFill>
                  <a:srgbClr val="5F5F5F"/>
                </a:solidFill>
              </a:rPr>
              <a:t>How you work</a:t>
            </a:r>
          </a:p>
        </p:txBody>
      </p:sp>
      <p:sp>
        <p:nvSpPr>
          <p:cNvPr id="16" name="TextBox 15"/>
          <p:cNvSpPr txBox="1"/>
          <p:nvPr/>
        </p:nvSpPr>
        <p:spPr>
          <a:xfrm>
            <a:off x="512064" y="4261104"/>
            <a:ext cx="1417320" cy="457200"/>
          </a:xfrm>
          <a:prstGeom prst="rect">
            <a:avLst/>
          </a:prstGeom>
          <a:noFill/>
        </p:spPr>
        <p:txBody>
          <a:bodyPr wrap="square" lIns="0" rIns="0" tIns="0" bIns="0" anchor="ctr">
            <a:spAutoFit/>
          </a:bodyPr>
          <a:lstStyle/>
          <a:p>
            <a:pPr algn="l"/>
            <a:r>
              <a:rPr sz="1400" b="1" i="0">
                <a:solidFill>
                  <a:srgbClr val="5F5F5F"/>
                </a:solidFill>
              </a:rPr>
              <a:t>Leaves behind</a:t>
            </a:r>
          </a:p>
        </p:txBody>
      </p:sp>
      <p:sp>
        <p:nvSpPr>
          <p:cNvPr id="17" name="TextBox 16"/>
          <p:cNvSpPr txBox="1"/>
          <p:nvPr/>
        </p:nvSpPr>
        <p:spPr>
          <a:xfrm>
            <a:off x="512064" y="4736592"/>
            <a:ext cx="1417320" cy="457200"/>
          </a:xfrm>
          <a:prstGeom prst="rect">
            <a:avLst/>
          </a:prstGeom>
          <a:noFill/>
        </p:spPr>
        <p:txBody>
          <a:bodyPr wrap="square" lIns="0" rIns="0" tIns="0" bIns="0" anchor="ctr">
            <a:spAutoFit/>
          </a:bodyPr>
          <a:lstStyle/>
          <a:p>
            <a:pPr algn="l"/>
            <a:r>
              <a:rPr sz="1400" b="1" i="0">
                <a:solidFill>
                  <a:srgbClr val="5F5F5F"/>
                </a:solidFill>
              </a:rPr>
              <a:t>Best for</a:t>
            </a:r>
          </a:p>
        </p:txBody>
      </p:sp>
      <p:sp>
        <p:nvSpPr>
          <p:cNvPr id="18" name="Rounded Rectangle 17"/>
          <p:cNvSpPr/>
          <p:nvPr/>
        </p:nvSpPr>
        <p:spPr>
          <a:xfrm>
            <a:off x="1929384" y="1920240"/>
            <a:ext cx="3157728" cy="3401568"/>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con_FaComments_circle"/>
          <p:cNvSpPr/>
          <p:nvPr/>
        </p:nvSpPr>
        <p:spPr>
          <a:xfrm>
            <a:off x="2112264" y="2084832"/>
            <a:ext cx="502920" cy="50292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png"/>
          <p:cNvPicPr>
            <a:picLocks noChangeAspect="1"/>
          </p:cNvPicPr>
          <p:nvPr/>
        </p:nvPicPr>
        <p:blipFill>
          <a:blip r:embed="rId3"/>
          <a:stretch>
            <a:fillRect/>
          </a:stretch>
        </p:blipFill>
        <p:spPr>
          <a:xfrm>
            <a:off x="2237994" y="2210562"/>
            <a:ext cx="251460" cy="251460"/>
          </a:xfrm>
          <a:prstGeom prst="rect">
            <a:avLst/>
          </a:prstGeom>
        </p:spPr>
      </p:pic>
      <p:sp>
        <p:nvSpPr>
          <p:cNvPr id="21" name="TextBox 20"/>
          <p:cNvSpPr txBox="1"/>
          <p:nvPr/>
        </p:nvSpPr>
        <p:spPr>
          <a:xfrm>
            <a:off x="2734056" y="2029968"/>
            <a:ext cx="2243328" cy="384048"/>
          </a:xfrm>
          <a:prstGeom prst="rect">
            <a:avLst/>
          </a:prstGeom>
          <a:noFill/>
        </p:spPr>
        <p:txBody>
          <a:bodyPr wrap="square" lIns="0" rIns="0" tIns="0" bIns="0" anchor="ctr">
            <a:spAutoFit/>
          </a:bodyPr>
          <a:lstStyle/>
          <a:p>
            <a:pPr algn="l"/>
            <a:r>
              <a:rPr sz="2000" b="1" i="0">
                <a:solidFill>
                  <a:schemeClr val="tx1"/>
                </a:solidFill>
              </a:rPr>
              <a:t>Chat</a:t>
            </a:r>
          </a:p>
        </p:txBody>
      </p:sp>
      <p:sp>
        <p:nvSpPr>
          <p:cNvPr id="22" name="TextBox 21"/>
          <p:cNvSpPr txBox="1"/>
          <p:nvPr/>
        </p:nvSpPr>
        <p:spPr>
          <a:xfrm>
            <a:off x="2734056" y="2395728"/>
            <a:ext cx="2243328" cy="274320"/>
          </a:xfrm>
          <a:prstGeom prst="rect">
            <a:avLst/>
          </a:prstGeom>
          <a:noFill/>
        </p:spPr>
        <p:txBody>
          <a:bodyPr wrap="square" lIns="0" rIns="0" tIns="0" bIns="0" anchor="t">
            <a:spAutoFit/>
          </a:bodyPr>
          <a:lstStyle/>
          <a:p>
            <a:pPr algn="l"/>
            <a:r>
              <a:rPr sz="1200" b="0" i="0">
                <a:solidFill>
                  <a:srgbClr val="5F5F5F"/>
                </a:solidFill>
              </a:rPr>
              <a:t>Ask · claude.ai</a:t>
            </a:r>
          </a:p>
        </p:txBody>
      </p:sp>
      <p:sp>
        <p:nvSpPr>
          <p:cNvPr id="23" name="TextBox 22"/>
          <p:cNvSpPr txBox="1"/>
          <p:nvPr/>
        </p:nvSpPr>
        <p:spPr>
          <a:xfrm>
            <a:off x="2112264" y="2834640"/>
            <a:ext cx="2837687" cy="457200"/>
          </a:xfrm>
          <a:prstGeom prst="rect">
            <a:avLst/>
          </a:prstGeom>
          <a:noFill/>
        </p:spPr>
        <p:txBody>
          <a:bodyPr wrap="square" lIns="0" rIns="0" tIns="0" bIns="0" anchor="ctr">
            <a:spAutoFit/>
          </a:bodyPr>
          <a:lstStyle/>
          <a:p>
            <a:pPr algn="l"/>
            <a:r>
              <a:rPr sz="1400" b="0" i="0">
                <a:solidFill>
                  <a:schemeClr val="tx1"/>
                </a:solidFill>
              </a:rPr>
              <a:t>Anthropic's cloud</a:t>
            </a:r>
          </a:p>
        </p:txBody>
      </p:sp>
      <p:sp>
        <p:nvSpPr>
          <p:cNvPr id="24" name="TextBox 23"/>
          <p:cNvSpPr txBox="1"/>
          <p:nvPr/>
        </p:nvSpPr>
        <p:spPr>
          <a:xfrm>
            <a:off x="2112264" y="3310128"/>
            <a:ext cx="2837687" cy="457200"/>
          </a:xfrm>
          <a:prstGeom prst="rect">
            <a:avLst/>
          </a:prstGeom>
          <a:noFill/>
        </p:spPr>
        <p:txBody>
          <a:bodyPr wrap="square" lIns="0" rIns="0" tIns="0" bIns="0" anchor="ctr">
            <a:spAutoFit/>
          </a:bodyPr>
          <a:lstStyle/>
          <a:p>
            <a:pPr algn="l"/>
            <a:r>
              <a:rPr sz="1400" b="0" i="0">
                <a:solidFill>
                  <a:schemeClr val="tx1"/>
                </a:solidFill>
              </a:rPr>
              <a:t>What you paste or upload</a:t>
            </a:r>
          </a:p>
        </p:txBody>
      </p:sp>
      <p:sp>
        <p:nvSpPr>
          <p:cNvPr id="25" name="TextBox 24"/>
          <p:cNvSpPr txBox="1"/>
          <p:nvPr/>
        </p:nvSpPr>
        <p:spPr>
          <a:xfrm>
            <a:off x="2112264" y="3785616"/>
            <a:ext cx="2837687" cy="457200"/>
          </a:xfrm>
          <a:prstGeom prst="rect">
            <a:avLst/>
          </a:prstGeom>
          <a:noFill/>
        </p:spPr>
        <p:txBody>
          <a:bodyPr wrap="square" lIns="0" rIns="0" tIns="0" bIns="0" anchor="ctr">
            <a:spAutoFit/>
          </a:bodyPr>
          <a:lstStyle/>
          <a:p>
            <a:pPr algn="l"/>
            <a:r>
              <a:rPr sz="1400" b="0" i="0">
                <a:solidFill>
                  <a:schemeClr val="tx1"/>
                </a:solidFill>
              </a:rPr>
              <a:t>One question at a time</a:t>
            </a:r>
          </a:p>
        </p:txBody>
      </p:sp>
      <p:sp>
        <p:nvSpPr>
          <p:cNvPr id="26" name="TextBox 25"/>
          <p:cNvSpPr txBox="1"/>
          <p:nvPr/>
        </p:nvSpPr>
        <p:spPr>
          <a:xfrm>
            <a:off x="2112264" y="4261104"/>
            <a:ext cx="2837687" cy="457200"/>
          </a:xfrm>
          <a:prstGeom prst="rect">
            <a:avLst/>
          </a:prstGeom>
          <a:noFill/>
        </p:spPr>
        <p:txBody>
          <a:bodyPr wrap="square" lIns="0" rIns="0" tIns="0" bIns="0" anchor="ctr">
            <a:spAutoFit/>
          </a:bodyPr>
          <a:lstStyle/>
          <a:p>
            <a:pPr algn="l"/>
            <a:r>
              <a:rPr sz="1400" b="0" i="0">
                <a:solidFill>
                  <a:schemeClr val="tx1"/>
                </a:solidFill>
              </a:rPr>
              <a:t>A chat transcript</a:t>
            </a:r>
          </a:p>
        </p:txBody>
      </p:sp>
      <p:sp>
        <p:nvSpPr>
          <p:cNvPr id="27" name="TextBox 26"/>
          <p:cNvSpPr txBox="1"/>
          <p:nvPr/>
        </p:nvSpPr>
        <p:spPr>
          <a:xfrm>
            <a:off x="2112264" y="4736592"/>
            <a:ext cx="2837687" cy="457200"/>
          </a:xfrm>
          <a:prstGeom prst="rect">
            <a:avLst/>
          </a:prstGeom>
          <a:noFill/>
        </p:spPr>
        <p:txBody>
          <a:bodyPr wrap="square" lIns="0" rIns="0" tIns="0" bIns="0" anchor="ctr">
            <a:spAutoFit/>
          </a:bodyPr>
          <a:lstStyle/>
          <a:p>
            <a:pPr algn="l"/>
            <a:r>
              <a:rPr sz="1400" b="0" i="0">
                <a:solidFill>
                  <a:schemeClr val="tx1"/>
                </a:solidFill>
              </a:rPr>
              <a:t>Questions, drafts, editing a paragraph</a:t>
            </a:r>
          </a:p>
        </p:txBody>
      </p:sp>
      <p:sp>
        <p:nvSpPr>
          <p:cNvPr id="28" name="Rounded Rectangle 27"/>
          <p:cNvSpPr/>
          <p:nvPr/>
        </p:nvSpPr>
        <p:spPr>
          <a:xfrm>
            <a:off x="5224272" y="1920240"/>
            <a:ext cx="3157728" cy="3401568"/>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icon_FaTerminal_circle"/>
          <p:cNvSpPr/>
          <p:nvPr/>
        </p:nvSpPr>
        <p:spPr>
          <a:xfrm>
            <a:off x="5407152" y="2084832"/>
            <a:ext cx="502920" cy="50292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image.png"/>
          <p:cNvPicPr>
            <a:picLocks noChangeAspect="1"/>
          </p:cNvPicPr>
          <p:nvPr/>
        </p:nvPicPr>
        <p:blipFill>
          <a:blip r:embed="rId4"/>
          <a:stretch>
            <a:fillRect/>
          </a:stretch>
        </p:blipFill>
        <p:spPr>
          <a:xfrm>
            <a:off x="5532882" y="2210562"/>
            <a:ext cx="251460" cy="251460"/>
          </a:xfrm>
          <a:prstGeom prst="rect">
            <a:avLst/>
          </a:prstGeom>
        </p:spPr>
      </p:pic>
      <p:sp>
        <p:nvSpPr>
          <p:cNvPr id="31" name="TextBox 30"/>
          <p:cNvSpPr txBox="1"/>
          <p:nvPr/>
        </p:nvSpPr>
        <p:spPr>
          <a:xfrm>
            <a:off x="6028944" y="2029968"/>
            <a:ext cx="2243328" cy="384048"/>
          </a:xfrm>
          <a:prstGeom prst="rect">
            <a:avLst/>
          </a:prstGeom>
          <a:noFill/>
        </p:spPr>
        <p:txBody>
          <a:bodyPr wrap="square" lIns="0" rIns="0" tIns="0" bIns="0" anchor="ctr">
            <a:spAutoFit/>
          </a:bodyPr>
          <a:lstStyle/>
          <a:p>
            <a:pPr algn="l"/>
            <a:r>
              <a:rPr sz="2000" b="1" i="0">
                <a:solidFill>
                  <a:schemeClr val="bg1"/>
                </a:solidFill>
              </a:rPr>
              <a:t>Claude Code</a:t>
            </a:r>
          </a:p>
        </p:txBody>
      </p:sp>
      <p:sp>
        <p:nvSpPr>
          <p:cNvPr id="32" name="TextBox 31"/>
          <p:cNvSpPr txBox="1"/>
          <p:nvPr/>
        </p:nvSpPr>
        <p:spPr>
          <a:xfrm>
            <a:off x="6028944" y="2395728"/>
            <a:ext cx="2243328" cy="274320"/>
          </a:xfrm>
          <a:prstGeom prst="rect">
            <a:avLst/>
          </a:prstGeom>
          <a:noFill/>
        </p:spPr>
        <p:txBody>
          <a:bodyPr wrap="square" lIns="0" rIns="0" tIns="0" bIns="0" anchor="t">
            <a:spAutoFit/>
          </a:bodyPr>
          <a:lstStyle/>
          <a:p>
            <a:pPr algn="l"/>
            <a:r>
              <a:rPr sz="1200" b="0" i="0">
                <a:solidFill>
                  <a:schemeClr val="bg1"/>
                </a:solidFill>
              </a:rPr>
              <a:t>Work together · terminal</a:t>
            </a:r>
          </a:p>
        </p:txBody>
      </p:sp>
      <p:sp>
        <p:nvSpPr>
          <p:cNvPr id="33" name="TextBox 32"/>
          <p:cNvSpPr txBox="1"/>
          <p:nvPr/>
        </p:nvSpPr>
        <p:spPr>
          <a:xfrm>
            <a:off x="5407152" y="2834640"/>
            <a:ext cx="2837687" cy="457200"/>
          </a:xfrm>
          <a:prstGeom prst="rect">
            <a:avLst/>
          </a:prstGeom>
          <a:noFill/>
        </p:spPr>
        <p:txBody>
          <a:bodyPr wrap="square" lIns="0" rIns="0" tIns="0" bIns="0" anchor="ctr">
            <a:spAutoFit/>
          </a:bodyPr>
          <a:lstStyle/>
          <a:p>
            <a:pPr algn="l"/>
            <a:r>
              <a:rPr sz="1400" b="0" i="0">
                <a:solidFill>
                  <a:schemeClr val="bg1"/>
                </a:solidFill>
              </a:rPr>
              <a:t>Your machine, in your project</a:t>
            </a:r>
          </a:p>
        </p:txBody>
      </p:sp>
      <p:sp>
        <p:nvSpPr>
          <p:cNvPr id="34" name="TextBox 33"/>
          <p:cNvSpPr txBox="1"/>
          <p:nvPr/>
        </p:nvSpPr>
        <p:spPr>
          <a:xfrm>
            <a:off x="5407152" y="3310128"/>
            <a:ext cx="2837687" cy="457200"/>
          </a:xfrm>
          <a:prstGeom prst="rect">
            <a:avLst/>
          </a:prstGeom>
          <a:noFill/>
        </p:spPr>
        <p:txBody>
          <a:bodyPr wrap="square" lIns="0" rIns="0" tIns="0" bIns="0" anchor="ctr">
            <a:spAutoFit/>
          </a:bodyPr>
          <a:lstStyle/>
          <a:p>
            <a:pPr algn="l"/>
            <a:r>
              <a:rPr sz="1400" b="0" i="0">
                <a:solidFill>
                  <a:schemeClr val="bg1"/>
                </a:solidFill>
              </a:rPr>
              <a:t>Your files, your R, your tools</a:t>
            </a:r>
          </a:p>
        </p:txBody>
      </p:sp>
      <p:sp>
        <p:nvSpPr>
          <p:cNvPr id="35" name="TextBox 34"/>
          <p:cNvSpPr txBox="1"/>
          <p:nvPr/>
        </p:nvSpPr>
        <p:spPr>
          <a:xfrm>
            <a:off x="5407152" y="3785616"/>
            <a:ext cx="2837687" cy="457200"/>
          </a:xfrm>
          <a:prstGeom prst="rect">
            <a:avLst/>
          </a:prstGeom>
          <a:noFill/>
        </p:spPr>
        <p:txBody>
          <a:bodyPr wrap="square" lIns="0" rIns="0" tIns="0" bIns="0" anchor="ctr">
            <a:spAutoFit/>
          </a:bodyPr>
          <a:lstStyle/>
          <a:p>
            <a:pPr algn="l"/>
            <a:r>
              <a:rPr sz="1400" b="0" i="0">
                <a:solidFill>
                  <a:schemeClr val="bg1"/>
                </a:solidFill>
              </a:rPr>
              <a:t>Step by step, with checkpoints</a:t>
            </a:r>
          </a:p>
        </p:txBody>
      </p:sp>
      <p:sp>
        <p:nvSpPr>
          <p:cNvPr id="36" name="TextBox 35"/>
          <p:cNvSpPr txBox="1"/>
          <p:nvPr/>
        </p:nvSpPr>
        <p:spPr>
          <a:xfrm>
            <a:off x="5407152" y="4261104"/>
            <a:ext cx="2837687" cy="457200"/>
          </a:xfrm>
          <a:prstGeom prst="rect">
            <a:avLst/>
          </a:prstGeom>
          <a:noFill/>
        </p:spPr>
        <p:txBody>
          <a:bodyPr wrap="square" lIns="0" rIns="0" tIns="0" bIns="0" anchor="ctr">
            <a:spAutoFit/>
          </a:bodyPr>
          <a:lstStyle/>
          <a:p>
            <a:pPr algn="l"/>
            <a:r>
              <a:rPr sz="1400" b="1" i="0">
                <a:solidFill>
                  <a:schemeClr val="bg1"/>
                </a:solidFill>
              </a:rPr>
              <a:t>Scripts, logs, outputs: re-runnable</a:t>
            </a:r>
          </a:p>
        </p:txBody>
      </p:sp>
      <p:sp>
        <p:nvSpPr>
          <p:cNvPr id="37" name="TextBox 36"/>
          <p:cNvSpPr txBox="1"/>
          <p:nvPr/>
        </p:nvSpPr>
        <p:spPr>
          <a:xfrm>
            <a:off x="5407152" y="4736592"/>
            <a:ext cx="2837687" cy="457200"/>
          </a:xfrm>
          <a:prstGeom prst="rect">
            <a:avLst/>
          </a:prstGeom>
          <a:noFill/>
        </p:spPr>
        <p:txBody>
          <a:bodyPr wrap="square" lIns="0" rIns="0" tIns="0" bIns="0" anchor="ctr">
            <a:spAutoFit/>
          </a:bodyPr>
          <a:lstStyle/>
          <a:p>
            <a:pPr algn="l"/>
            <a:r>
              <a:rPr sz="1400" b="1" i="0">
                <a:solidFill>
                  <a:schemeClr val="bg1"/>
                </a:solidFill>
              </a:rPr>
              <a:t>Reproducible data analysis</a:t>
            </a:r>
          </a:p>
        </p:txBody>
      </p:sp>
      <p:sp>
        <p:nvSpPr>
          <p:cNvPr id="38" name="Rounded Rectangle 37"/>
          <p:cNvSpPr/>
          <p:nvPr/>
        </p:nvSpPr>
        <p:spPr>
          <a:xfrm>
            <a:off x="8519160" y="1920240"/>
            <a:ext cx="3157728" cy="3401568"/>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icon_FaFolderOpen_circle"/>
          <p:cNvSpPr/>
          <p:nvPr/>
        </p:nvSpPr>
        <p:spPr>
          <a:xfrm>
            <a:off x="8702040" y="2084832"/>
            <a:ext cx="502920" cy="50292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FaFolderOpen_dark.png"/>
          <p:cNvPicPr>
            <a:picLocks noChangeAspect="1"/>
          </p:cNvPicPr>
          <p:nvPr/>
        </p:nvPicPr>
        <p:blipFill>
          <a:blip r:embed="rId5"/>
          <a:stretch>
            <a:fillRect/>
          </a:stretch>
        </p:blipFill>
        <p:spPr>
          <a:xfrm>
            <a:off x="8827769" y="2210562"/>
            <a:ext cx="251460" cy="251460"/>
          </a:xfrm>
          <a:prstGeom prst="rect">
            <a:avLst/>
          </a:prstGeom>
        </p:spPr>
      </p:pic>
      <p:sp>
        <p:nvSpPr>
          <p:cNvPr id="41" name="TextBox 40"/>
          <p:cNvSpPr txBox="1"/>
          <p:nvPr/>
        </p:nvSpPr>
        <p:spPr>
          <a:xfrm>
            <a:off x="9323832" y="2029968"/>
            <a:ext cx="2243328" cy="384048"/>
          </a:xfrm>
          <a:prstGeom prst="rect">
            <a:avLst/>
          </a:prstGeom>
          <a:noFill/>
        </p:spPr>
        <p:txBody>
          <a:bodyPr wrap="square" lIns="0" rIns="0" tIns="0" bIns="0" anchor="ctr">
            <a:spAutoFit/>
          </a:bodyPr>
          <a:lstStyle/>
          <a:p>
            <a:pPr algn="l"/>
            <a:r>
              <a:rPr sz="2000" b="1" i="0">
                <a:solidFill>
                  <a:schemeClr val="tx1"/>
                </a:solidFill>
              </a:rPr>
              <a:t>Cowork</a:t>
            </a:r>
          </a:p>
        </p:txBody>
      </p:sp>
      <p:sp>
        <p:nvSpPr>
          <p:cNvPr id="42" name="TextBox 41"/>
          <p:cNvSpPr txBox="1"/>
          <p:nvPr/>
        </p:nvSpPr>
        <p:spPr>
          <a:xfrm>
            <a:off x="9323832" y="2395728"/>
            <a:ext cx="2243328" cy="274320"/>
          </a:xfrm>
          <a:prstGeom prst="rect">
            <a:avLst/>
          </a:prstGeom>
          <a:noFill/>
        </p:spPr>
        <p:txBody>
          <a:bodyPr wrap="square" lIns="0" rIns="0" tIns="0" bIns="0" anchor="t">
            <a:spAutoFit/>
          </a:bodyPr>
          <a:lstStyle/>
          <a:p>
            <a:pPr algn="l"/>
            <a:r>
              <a:rPr sz="1200" b="0" i="0">
                <a:solidFill>
                  <a:srgbClr val="5F5F5F"/>
                </a:solidFill>
              </a:rPr>
              <a:t>Delegate · desktop app or cloud</a:t>
            </a:r>
          </a:p>
        </p:txBody>
      </p:sp>
      <p:sp>
        <p:nvSpPr>
          <p:cNvPr id="43" name="TextBox 42"/>
          <p:cNvSpPr txBox="1"/>
          <p:nvPr/>
        </p:nvSpPr>
        <p:spPr>
          <a:xfrm>
            <a:off x="8702040" y="2834640"/>
            <a:ext cx="2837687" cy="457200"/>
          </a:xfrm>
          <a:prstGeom prst="rect">
            <a:avLst/>
          </a:prstGeom>
          <a:noFill/>
        </p:spPr>
        <p:txBody>
          <a:bodyPr wrap="square" lIns="0" rIns="0" tIns="0" bIns="0" anchor="ctr">
            <a:spAutoFit/>
          </a:bodyPr>
          <a:lstStyle/>
          <a:p>
            <a:pPr algn="l"/>
            <a:r>
              <a:rPr sz="1400" b="0" i="0">
                <a:solidFill>
                  <a:schemeClr val="tx1"/>
                </a:solidFill>
              </a:rPr>
              <a:t>Your machine or the cloud</a:t>
            </a:r>
          </a:p>
        </p:txBody>
      </p:sp>
      <p:sp>
        <p:nvSpPr>
          <p:cNvPr id="44" name="TextBox 43"/>
          <p:cNvSpPr txBox="1"/>
          <p:nvPr/>
        </p:nvSpPr>
        <p:spPr>
          <a:xfrm>
            <a:off x="8702040" y="3310128"/>
            <a:ext cx="2837687" cy="457200"/>
          </a:xfrm>
          <a:prstGeom prst="rect">
            <a:avLst/>
          </a:prstGeom>
          <a:noFill/>
        </p:spPr>
        <p:txBody>
          <a:bodyPr wrap="square" lIns="0" rIns="0" tIns="0" bIns="0" anchor="ctr">
            <a:spAutoFit/>
          </a:bodyPr>
          <a:lstStyle/>
          <a:p>
            <a:pPr algn="l"/>
            <a:r>
              <a:rPr sz="1400" b="0" i="0">
                <a:solidFill>
                  <a:schemeClr val="tx1"/>
                </a:solidFill>
              </a:rPr>
              <a:t>Only the folders and tools you grant</a:t>
            </a:r>
          </a:p>
        </p:txBody>
      </p:sp>
      <p:sp>
        <p:nvSpPr>
          <p:cNvPr id="45" name="TextBox 44"/>
          <p:cNvSpPr txBox="1"/>
          <p:nvPr/>
        </p:nvSpPr>
        <p:spPr>
          <a:xfrm>
            <a:off x="8702040" y="3785616"/>
            <a:ext cx="2837687" cy="457200"/>
          </a:xfrm>
          <a:prstGeom prst="rect">
            <a:avLst/>
          </a:prstGeom>
          <a:noFill/>
        </p:spPr>
        <p:txBody>
          <a:bodyPr wrap="square" lIns="0" rIns="0" tIns="0" bIns="0" anchor="ctr">
            <a:spAutoFit/>
          </a:bodyPr>
          <a:lstStyle/>
          <a:p>
            <a:pPr algn="l"/>
            <a:r>
              <a:rPr sz="1400" b="0" i="0">
                <a:solidFill>
                  <a:schemeClr val="tx1"/>
                </a:solidFill>
              </a:rPr>
              <a:t>Hand off a task, get the result</a:t>
            </a:r>
          </a:p>
        </p:txBody>
      </p:sp>
      <p:sp>
        <p:nvSpPr>
          <p:cNvPr id="46" name="TextBox 45"/>
          <p:cNvSpPr txBox="1"/>
          <p:nvPr/>
        </p:nvSpPr>
        <p:spPr>
          <a:xfrm>
            <a:off x="8702040" y="4261104"/>
            <a:ext cx="2837687" cy="457200"/>
          </a:xfrm>
          <a:prstGeom prst="rect">
            <a:avLst/>
          </a:prstGeom>
          <a:noFill/>
        </p:spPr>
        <p:txBody>
          <a:bodyPr wrap="square" lIns="0" rIns="0" tIns="0" bIns="0" anchor="ctr">
            <a:spAutoFit/>
          </a:bodyPr>
          <a:lstStyle/>
          <a:p>
            <a:pPr algn="l"/>
            <a:r>
              <a:rPr sz="1400" b="0" i="0">
                <a:solidFill>
                  <a:schemeClr val="tx1"/>
                </a:solidFill>
              </a:rPr>
              <a:t>Finished files (reports, tables)</a:t>
            </a:r>
          </a:p>
        </p:txBody>
      </p:sp>
      <p:sp>
        <p:nvSpPr>
          <p:cNvPr id="47" name="TextBox 46"/>
          <p:cNvSpPr txBox="1"/>
          <p:nvPr/>
        </p:nvSpPr>
        <p:spPr>
          <a:xfrm>
            <a:off x="8702040" y="4736592"/>
            <a:ext cx="2837687" cy="457200"/>
          </a:xfrm>
          <a:prstGeom prst="rect">
            <a:avLst/>
          </a:prstGeom>
          <a:noFill/>
        </p:spPr>
        <p:txBody>
          <a:bodyPr wrap="square" lIns="0" rIns="0" tIns="0" bIns="0" anchor="ctr">
            <a:spAutoFit/>
          </a:bodyPr>
          <a:lstStyle/>
          <a:p>
            <a:pPr algn="l"/>
            <a:r>
              <a:rPr sz="1400" b="0" i="0">
                <a:solidFill>
                  <a:schemeClr val="tx1"/>
                </a:solidFill>
              </a:rPr>
              <a:t>Knowledge work: PDFs, reports, files</a:t>
            </a:r>
          </a:p>
        </p:txBody>
      </p:sp>
      <p:sp>
        <p:nvSpPr>
          <p:cNvPr id="48" name="Rounded Rectangle 47"/>
          <p:cNvSpPr/>
          <p:nvPr/>
        </p:nvSpPr>
        <p:spPr>
          <a:xfrm>
            <a:off x="512064" y="5486400"/>
            <a:ext cx="11164824" cy="566928"/>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9" name="Picture 48" descr="FaCircleCheck_white.png"/>
          <p:cNvPicPr>
            <a:picLocks noChangeAspect="1"/>
          </p:cNvPicPr>
          <p:nvPr/>
        </p:nvPicPr>
        <p:blipFill>
          <a:blip r:embed="rId6"/>
          <a:stretch>
            <a:fillRect/>
          </a:stretch>
        </p:blipFill>
        <p:spPr>
          <a:xfrm>
            <a:off x="740664" y="5605272"/>
            <a:ext cx="329184" cy="329184"/>
          </a:xfrm>
          <a:prstGeom prst="rect">
            <a:avLst/>
          </a:prstGeom>
        </p:spPr>
      </p:pic>
      <p:sp>
        <p:nvSpPr>
          <p:cNvPr id="50" name="TextBox 49"/>
          <p:cNvSpPr txBox="1"/>
          <p:nvPr/>
        </p:nvSpPr>
        <p:spPr>
          <a:xfrm>
            <a:off x="1243584" y="5486400"/>
            <a:ext cx="10250424" cy="566928"/>
          </a:xfrm>
          <a:prstGeom prst="rect">
            <a:avLst/>
          </a:prstGeom>
          <a:noFill/>
        </p:spPr>
        <p:txBody>
          <a:bodyPr wrap="square" lIns="0" rIns="0" tIns="0" bIns="0" anchor="ctr">
            <a:spAutoFit/>
          </a:bodyPr>
          <a:lstStyle/>
          <a:p>
            <a:pPr algn="l"/>
            <a:r>
              <a:rPr sz="1600" b="1" i="0">
                <a:solidFill>
                  <a:schemeClr val="bg1"/>
                </a:solidFill>
              </a:rPr>
              <a:t>For research with data, Claude Code is the best fit: </a:t>
            </a:r>
            <a:r>
              <a:rPr sz="1600" b="0" i="0">
                <a:solidFill>
                  <a:schemeClr val="bg1"/>
                </a:solidFill>
              </a:rPr>
              <a:t>your files, your R, a reproducible record, and you decide at every step.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Claude CLI, and what transfers</a:t>
            </a:r>
          </a:p>
        </p:txBody>
      </p:sp>
      <p:sp>
        <p:nvSpPr>
          <p:cNvPr id="3" name="Text Placeholder 2"/>
          <p:cNvSpPr>
            <a:spLocks noGrp="1"/>
          </p:cNvSpPr>
          <p:nvPr>
            <p:ph type="body" idx="12" sz="quarter"/>
          </p:nvPr>
        </p:nvSpPr>
        <p:spPr/>
        <p:txBody>
          <a:bodyPr/>
          <a:lstStyle/>
          <a:p>
            <a:r>
              <a:t>Learn the workflow, not the tool</a:t>
            </a:r>
          </a:p>
        </p:txBody>
      </p:sp>
      <p:sp>
        <p:nvSpPr>
          <p:cNvPr id="4" name="Text Placeholder 3"/>
          <p:cNvSpPr>
            <a:spLocks noGrp="1"/>
          </p:cNvSpPr>
          <p:nvPr>
            <p:ph type="body" idx="14" sz="quarter"/>
          </p:nvPr>
        </p:nvSpPr>
        <p:spPr/>
        <p:txBody>
          <a:bodyPr/>
          <a:lstStyle/>
          <a:p>
            <a:r>
              <a:t>What WashU provides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TextBox 12"/>
          <p:cNvSpPr txBox="1"/>
          <p:nvPr/>
        </p:nvSpPr>
        <p:spPr>
          <a:xfrm>
            <a:off x="512064" y="1920240"/>
            <a:ext cx="5257800" cy="365760"/>
          </a:xfrm>
          <a:prstGeom prst="rect">
            <a:avLst/>
          </a:prstGeom>
          <a:noFill/>
        </p:spPr>
        <p:txBody>
          <a:bodyPr wrap="square" lIns="0" rIns="0" tIns="0" bIns="0" anchor="t">
            <a:spAutoFit/>
          </a:bodyPr>
          <a:lstStyle/>
          <a:p>
            <a:pPr algn="l"/>
            <a:r>
              <a:rPr sz="1900" b="1" i="0">
                <a:solidFill>
                  <a:schemeClr val="tx2"/>
                </a:solidFill>
              </a:rPr>
              <a:t>Why Claude CLI at WashU</a:t>
            </a:r>
          </a:p>
        </p:txBody>
      </p:sp>
      <p:sp>
        <p:nvSpPr>
          <p:cNvPr id="14" name="Rounded Rectangle 13"/>
          <p:cNvSpPr/>
          <p:nvPr/>
        </p:nvSpPr>
        <p:spPr>
          <a:xfrm>
            <a:off x="512064" y="2377440"/>
            <a:ext cx="5257800" cy="822960"/>
          </a:xfrm>
          <a:prstGeom prst="roundRect">
            <a:avLst>
              <a:gd name="adj" fmla="val 8000"/>
            </a:avLst>
          </a:prstGeom>
          <a:solidFill>
            <a:srgbClr val="F6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image.png"/>
          <p:cNvPicPr>
            <a:picLocks noChangeAspect="1"/>
          </p:cNvPicPr>
          <p:nvPr/>
        </p:nvPicPr>
        <p:blipFill>
          <a:blip r:embed="rId3"/>
          <a:stretch>
            <a:fillRect/>
          </a:stretch>
        </p:blipFill>
        <p:spPr>
          <a:xfrm>
            <a:off x="694944" y="2606040"/>
            <a:ext cx="365760" cy="365760"/>
          </a:xfrm>
          <a:prstGeom prst="rect">
            <a:avLst/>
          </a:prstGeom>
        </p:spPr>
      </p:pic>
      <p:sp>
        <p:nvSpPr>
          <p:cNvPr id="16" name="TextBox 15"/>
          <p:cNvSpPr txBox="1"/>
          <p:nvPr/>
        </p:nvSpPr>
        <p:spPr>
          <a:xfrm>
            <a:off x="1243584" y="2423160"/>
            <a:ext cx="4343400" cy="365760"/>
          </a:xfrm>
          <a:prstGeom prst="rect">
            <a:avLst/>
          </a:prstGeom>
          <a:noFill/>
        </p:spPr>
        <p:txBody>
          <a:bodyPr wrap="square" lIns="0" rIns="0" tIns="0" bIns="0" anchor="ctr">
            <a:spAutoFit/>
          </a:bodyPr>
          <a:lstStyle/>
          <a:p>
            <a:pPr algn="l"/>
            <a:r>
              <a:rPr sz="1700" b="1" i="0">
                <a:solidFill>
                  <a:schemeClr val="tx1"/>
                </a:solidFill>
              </a:rPr>
              <a:t>Claude Code</a:t>
            </a:r>
            <a:r>
              <a:rPr sz="1300" b="0" i="0">
                <a:solidFill>
                  <a:srgbClr val="5F5F5F"/>
                </a:solidFill>
              </a:rPr>
              <a:t>   via Claude Edu</a:t>
            </a:r>
          </a:p>
        </p:txBody>
      </p:sp>
      <p:sp>
        <p:nvSpPr>
          <p:cNvPr id="17" name="TextBox 16"/>
          <p:cNvSpPr txBox="1"/>
          <p:nvPr/>
        </p:nvSpPr>
        <p:spPr>
          <a:xfrm>
            <a:off x="1243584" y="2807208"/>
            <a:ext cx="4343400" cy="365760"/>
          </a:xfrm>
          <a:prstGeom prst="rect">
            <a:avLst/>
          </a:prstGeom>
          <a:noFill/>
        </p:spPr>
        <p:txBody>
          <a:bodyPr wrap="square" lIns="0" rIns="0" tIns="0" bIns="0" anchor="t">
            <a:spAutoFit/>
          </a:bodyPr>
          <a:lstStyle/>
          <a:p>
            <a:pPr algn="l"/>
            <a:r>
              <a:rPr sz="1400" b="1" i="0">
                <a:solidFill>
                  <a:schemeClr val="tx2"/>
                </a:solidFill>
              </a:rPr>
              <a:t>FERPA approved · not PHI</a:t>
            </a:r>
          </a:p>
        </p:txBody>
      </p:sp>
      <p:sp>
        <p:nvSpPr>
          <p:cNvPr id="18" name="Rounded Rectangle 17"/>
          <p:cNvSpPr/>
          <p:nvPr/>
        </p:nvSpPr>
        <p:spPr>
          <a:xfrm>
            <a:off x="512064" y="3310128"/>
            <a:ext cx="5257800" cy="82296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image.png"/>
          <p:cNvPicPr>
            <a:picLocks noChangeAspect="1"/>
          </p:cNvPicPr>
          <p:nvPr/>
        </p:nvPicPr>
        <p:blipFill>
          <a:blip r:embed="rId4"/>
          <a:stretch>
            <a:fillRect/>
          </a:stretch>
        </p:blipFill>
        <p:spPr>
          <a:xfrm>
            <a:off x="694944" y="3538728"/>
            <a:ext cx="365760" cy="365760"/>
          </a:xfrm>
          <a:prstGeom prst="rect">
            <a:avLst/>
          </a:prstGeom>
        </p:spPr>
      </p:pic>
      <p:sp>
        <p:nvSpPr>
          <p:cNvPr id="20" name="TextBox 19"/>
          <p:cNvSpPr txBox="1"/>
          <p:nvPr/>
        </p:nvSpPr>
        <p:spPr>
          <a:xfrm>
            <a:off x="1243584" y="3355848"/>
            <a:ext cx="4343400" cy="365760"/>
          </a:xfrm>
          <a:prstGeom prst="rect">
            <a:avLst/>
          </a:prstGeom>
          <a:noFill/>
        </p:spPr>
        <p:txBody>
          <a:bodyPr wrap="square" lIns="0" rIns="0" tIns="0" bIns="0" anchor="ctr">
            <a:spAutoFit/>
          </a:bodyPr>
          <a:lstStyle/>
          <a:p>
            <a:pPr algn="l"/>
            <a:r>
              <a:rPr sz="1700" b="1" i="0">
                <a:solidFill>
                  <a:schemeClr val="tx1"/>
                </a:solidFill>
              </a:rPr>
              <a:t>Codex CLI</a:t>
            </a:r>
            <a:r>
              <a:rPr sz="1300" b="0" i="0">
                <a:solidFill>
                  <a:srgbClr val="5F5F5F"/>
                </a:solidFill>
              </a:rPr>
              <a:t>   ChatGPT Edu add-on</a:t>
            </a:r>
          </a:p>
        </p:txBody>
      </p:sp>
      <p:sp>
        <p:nvSpPr>
          <p:cNvPr id="21" name="TextBox 20"/>
          <p:cNvSpPr txBox="1"/>
          <p:nvPr/>
        </p:nvSpPr>
        <p:spPr>
          <a:xfrm>
            <a:off x="1243584" y="3739896"/>
            <a:ext cx="4343400" cy="365760"/>
          </a:xfrm>
          <a:prstGeom prst="rect">
            <a:avLst/>
          </a:prstGeom>
          <a:noFill/>
        </p:spPr>
        <p:txBody>
          <a:bodyPr wrap="square" lIns="0" rIns="0" tIns="0" bIns="0" anchor="t">
            <a:spAutoFit/>
          </a:bodyPr>
          <a:lstStyle/>
          <a:p>
            <a:pPr algn="l"/>
            <a:r>
              <a:rPr sz="1400" b="0" i="0">
                <a:solidFill>
                  <a:schemeClr val="tx1"/>
                </a:solidFill>
              </a:rPr>
              <a:t>Not approved for HIPAA or FERPA data</a:t>
            </a:r>
          </a:p>
        </p:txBody>
      </p:sp>
      <p:sp>
        <p:nvSpPr>
          <p:cNvPr id="22" name="Rounded Rectangle 21"/>
          <p:cNvSpPr/>
          <p:nvPr/>
        </p:nvSpPr>
        <p:spPr>
          <a:xfrm>
            <a:off x="512064" y="4242816"/>
            <a:ext cx="5257800" cy="82296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FaCircleQuestion_gray.png"/>
          <p:cNvPicPr>
            <a:picLocks noChangeAspect="1"/>
          </p:cNvPicPr>
          <p:nvPr/>
        </p:nvPicPr>
        <p:blipFill>
          <a:blip r:embed="rId5"/>
          <a:stretch>
            <a:fillRect/>
          </a:stretch>
        </p:blipFill>
        <p:spPr>
          <a:xfrm>
            <a:off x="694944" y="4471416"/>
            <a:ext cx="365760" cy="365760"/>
          </a:xfrm>
          <a:prstGeom prst="rect">
            <a:avLst/>
          </a:prstGeom>
        </p:spPr>
      </p:pic>
      <p:sp>
        <p:nvSpPr>
          <p:cNvPr id="24" name="TextBox 23"/>
          <p:cNvSpPr txBox="1"/>
          <p:nvPr/>
        </p:nvSpPr>
        <p:spPr>
          <a:xfrm>
            <a:off x="1243584" y="4288536"/>
            <a:ext cx="4343400" cy="365760"/>
          </a:xfrm>
          <a:prstGeom prst="rect">
            <a:avLst/>
          </a:prstGeom>
          <a:noFill/>
        </p:spPr>
        <p:txBody>
          <a:bodyPr wrap="square" lIns="0" rIns="0" tIns="0" bIns="0" anchor="ctr">
            <a:spAutoFit/>
          </a:bodyPr>
          <a:lstStyle/>
          <a:p>
            <a:pPr algn="l"/>
            <a:r>
              <a:rPr sz="1700" b="1" i="0">
                <a:solidFill>
                  <a:schemeClr val="tx1"/>
                </a:solidFill>
              </a:rPr>
              <a:t>Gemini CLI</a:t>
            </a:r>
            <a:r>
              <a:rPr sz="1300" b="0" i="0">
                <a:solidFill>
                  <a:srgbClr val="5F5F5F"/>
                </a:solidFill>
              </a:rPr>
              <a:t/>
            </a:r>
          </a:p>
        </p:txBody>
      </p:sp>
      <p:sp>
        <p:nvSpPr>
          <p:cNvPr id="25" name="TextBox 24"/>
          <p:cNvSpPr txBox="1"/>
          <p:nvPr/>
        </p:nvSpPr>
        <p:spPr>
          <a:xfrm>
            <a:off x="1243584" y="4672584"/>
            <a:ext cx="4343400" cy="365760"/>
          </a:xfrm>
          <a:prstGeom prst="rect">
            <a:avLst/>
          </a:prstGeom>
          <a:noFill/>
        </p:spPr>
        <p:txBody>
          <a:bodyPr wrap="square" lIns="0" rIns="0" tIns="0" bIns="0" anchor="t">
            <a:spAutoFit/>
          </a:bodyPr>
          <a:lstStyle/>
          <a:p>
            <a:pPr algn="l"/>
            <a:r>
              <a:rPr sz="1400" b="0" i="0">
                <a:solidFill>
                  <a:schemeClr val="tx1"/>
                </a:solidFill>
              </a:rPr>
              <a:t>Not covered by WashU; personal sign-in ended in 2026</a:t>
            </a:r>
          </a:p>
        </p:txBody>
      </p:sp>
      <p:sp>
        <p:nvSpPr>
          <p:cNvPr id="26" name="TextBox 25"/>
          <p:cNvSpPr txBox="1"/>
          <p:nvPr/>
        </p:nvSpPr>
        <p:spPr>
          <a:xfrm>
            <a:off x="6080760" y="1920240"/>
            <a:ext cx="5596127" cy="365760"/>
          </a:xfrm>
          <a:prstGeom prst="rect">
            <a:avLst/>
          </a:prstGeom>
          <a:noFill/>
        </p:spPr>
        <p:txBody>
          <a:bodyPr wrap="square" lIns="0" rIns="0" tIns="0" bIns="0" anchor="t">
            <a:spAutoFit/>
          </a:bodyPr>
          <a:lstStyle/>
          <a:p>
            <a:pPr algn="l"/>
            <a:r>
              <a:rPr sz="1900" b="1" i="0">
                <a:solidFill>
                  <a:schemeClr val="tx2"/>
                </a:solidFill>
              </a:rPr>
              <a:t>What transfers to other terminal agents</a:t>
            </a:r>
          </a:p>
        </p:txBody>
      </p:sp>
      <p:graphicFrame>
        <p:nvGraphicFramePr>
          <p:cNvPr id="27" name="Table 26"/>
          <p:cNvGraphicFramePr>
            <a:graphicFrameLocks noGrp="1"/>
          </p:cNvGraphicFramePr>
          <p:nvPr/>
        </p:nvGraphicFramePr>
        <p:xfrm>
          <a:off x="6080760" y="2377440"/>
          <a:ext cx="5596128" cy="2487168"/>
        </p:xfrm>
        <a:graphic>
          <a:graphicData uri="http://schemas.openxmlformats.org/drawingml/2006/table">
            <a:tbl>
              <a:tblPr firstRow="1">
                <a:tableStyleId>{5C22544A-7EE6-4342-B048-85BDC9FD1C3A}</a:tableStyleId>
              </a:tblPr>
              <a:tblGrid>
                <a:gridCol w="1783080"/>
                <a:gridCol w="1280160"/>
                <a:gridCol w="1243584"/>
                <a:gridCol w="1289304"/>
              </a:tblGrid>
              <a:tr h="411480">
                <a:tc>
                  <a:txBody>
                    <a:bodyPr wrap="square"/>
                    <a:lstStyle/>
                    <a:p>
                      <a:r>
                        <a:rPr sz="1400" b="1">
                          <a:solidFill>
                            <a:schemeClr val="bg1"/>
                          </a:solidFill>
                        </a:rPr>
                        <a:t/>
                      </a:r>
                    </a:p>
                  </a:txBody>
                  <a:tcPr marL="91440" marR="91440" marT="36576" marB="36576" anchor="ctr">
                    <a:solidFill>
                      <a:schemeClr val="tx2"/>
                    </a:solidFill>
                  </a:tcPr>
                </a:tc>
                <a:tc>
                  <a:txBody>
                    <a:bodyPr wrap="square"/>
                    <a:lstStyle/>
                    <a:p>
                      <a:r>
                        <a:rPr sz="1400" b="1">
                          <a:solidFill>
                            <a:schemeClr val="bg1"/>
                          </a:solidFill>
                        </a:rPr>
                        <a:t>Claude Code</a:t>
                      </a:r>
                    </a:p>
                  </a:txBody>
                  <a:tcPr marL="91440" marR="91440" marT="36576" marB="36576" anchor="ctr">
                    <a:solidFill>
                      <a:schemeClr val="tx2"/>
                    </a:solidFill>
                  </a:tcPr>
                </a:tc>
                <a:tc>
                  <a:txBody>
                    <a:bodyPr wrap="square"/>
                    <a:lstStyle/>
                    <a:p>
                      <a:r>
                        <a:rPr sz="1400" b="1">
                          <a:solidFill>
                            <a:schemeClr val="bg1"/>
                          </a:solidFill>
                        </a:rPr>
                        <a:t>Codex CLI</a:t>
                      </a:r>
                    </a:p>
                  </a:txBody>
                  <a:tcPr marL="91440" marR="91440" marT="36576" marB="36576" anchor="ctr">
                    <a:solidFill>
                      <a:schemeClr val="tx2"/>
                    </a:solidFill>
                  </a:tcPr>
                </a:tc>
                <a:tc>
                  <a:txBody>
                    <a:bodyPr wrap="square"/>
                    <a:lstStyle/>
                    <a:p>
                      <a:r>
                        <a:rPr sz="1400" b="1">
                          <a:solidFill>
                            <a:schemeClr val="bg1"/>
                          </a:solidFill>
                        </a:rPr>
                        <a:t>Gemini CLI</a:t>
                      </a:r>
                    </a:p>
                  </a:txBody>
                  <a:tcPr marL="91440" marR="91440" marT="36576" marB="36576" anchor="ctr">
                    <a:solidFill>
                      <a:schemeClr val="tx2"/>
                    </a:solidFill>
                  </a:tcPr>
                </a:tc>
              </a:tr>
              <a:tr h="502920">
                <a:tc>
                  <a:txBody>
                    <a:bodyPr wrap="square"/>
                    <a:lstStyle/>
                    <a:p>
                      <a:r>
                        <a:rPr sz="1400" b="1">
                          <a:solidFill>
                            <a:schemeClr val="tx1"/>
                          </a:solidFill>
                        </a:rPr>
                        <a:t>Rules file</a:t>
                      </a:r>
                    </a:p>
                  </a:txBody>
                  <a:tcPr marL="91440" marR="91440" marT="36576" marB="36576" anchor="ctr">
                    <a:solidFill>
                      <a:schemeClr val="bg1"/>
                    </a:solidFill>
                  </a:tcPr>
                </a:tc>
                <a:tc>
                  <a:txBody>
                    <a:bodyPr wrap="square"/>
                    <a:lstStyle/>
                    <a:p>
                      <a:r>
                        <a:rPr sz="1400" b="0">
                          <a:solidFill>
                            <a:schemeClr val="tx1"/>
                          </a:solidFill>
                        </a:rPr>
                        <a:t>CLAUDE.md</a:t>
                      </a:r>
                    </a:p>
                  </a:txBody>
                  <a:tcPr marL="91440" marR="91440" marT="36576" marB="36576" anchor="ctr">
                    <a:solidFill>
                      <a:schemeClr val="bg1"/>
                    </a:solidFill>
                  </a:tcPr>
                </a:tc>
                <a:tc>
                  <a:txBody>
                    <a:bodyPr wrap="square"/>
                    <a:lstStyle/>
                    <a:p>
                      <a:r>
                        <a:rPr sz="1400" b="0">
                          <a:solidFill>
                            <a:schemeClr val="tx1"/>
                          </a:solidFill>
                        </a:rPr>
                        <a:t>AGENTS.md</a:t>
                      </a:r>
                    </a:p>
                  </a:txBody>
                  <a:tcPr marL="91440" marR="91440" marT="36576" marB="36576" anchor="ctr">
                    <a:solidFill>
                      <a:schemeClr val="bg1"/>
                    </a:solidFill>
                  </a:tcPr>
                </a:tc>
                <a:tc>
                  <a:txBody>
                    <a:bodyPr wrap="square"/>
                    <a:lstStyle/>
                    <a:p>
                      <a:r>
                        <a:rPr sz="1400" b="0">
                          <a:solidFill>
                            <a:schemeClr val="tx1"/>
                          </a:solidFill>
                        </a:rPr>
                        <a:t>GEMINI.md*</a:t>
                      </a:r>
                    </a:p>
                  </a:txBody>
                  <a:tcPr marL="91440" marR="91440" marT="36576" marB="36576" anchor="ctr">
                    <a:solidFill>
                      <a:schemeClr val="bg1"/>
                    </a:solidFill>
                  </a:tcPr>
                </a:tc>
              </a:tr>
              <a:tr h="502920">
                <a:tc>
                  <a:txBody>
                    <a:bodyPr wrap="square"/>
                    <a:lstStyle/>
                    <a:p>
                      <a:r>
                        <a:rPr sz="1400" b="1">
                          <a:solidFill>
                            <a:schemeClr val="tx1"/>
                          </a:solidFill>
                        </a:rPr>
                        <a:t>Tool connections</a:t>
                      </a:r>
                    </a:p>
                  </a:txBody>
                  <a:tcPr marL="91440" marR="91440" marT="36576" marB="36576" anchor="ctr">
                    <a:solidFill>
                      <a:schemeClr val="bg1"/>
                    </a:solidFill>
                  </a:tcPr>
                </a:tc>
                <a:tc>
                  <a:txBody>
                    <a:bodyPr wrap="square"/>
                    <a:lstStyle/>
                    <a:p>
                      <a:r>
                        <a:rPr sz="1400" b="0">
                          <a:solidFill>
                            <a:schemeClr val="tx1"/>
                          </a:solidFill>
                        </a:rPr>
                        <a:t>MCP</a:t>
                      </a:r>
                    </a:p>
                  </a:txBody>
                  <a:tcPr marL="91440" marR="91440" marT="36576" marB="36576" anchor="ctr">
                    <a:solidFill>
                      <a:schemeClr val="bg1"/>
                    </a:solidFill>
                  </a:tcPr>
                </a:tc>
                <a:tc>
                  <a:txBody>
                    <a:bodyPr wrap="square"/>
                    <a:lstStyle/>
                    <a:p>
                      <a:r>
                        <a:rPr sz="1400" b="0">
                          <a:solidFill>
                            <a:schemeClr val="tx1"/>
                          </a:solidFill>
                        </a:rPr>
                        <a:t>MCP</a:t>
                      </a:r>
                    </a:p>
                  </a:txBody>
                  <a:tcPr marL="91440" marR="91440" marT="36576" marB="36576" anchor="ctr">
                    <a:solidFill>
                      <a:schemeClr val="bg1"/>
                    </a:solidFill>
                  </a:tcPr>
                </a:tc>
                <a:tc>
                  <a:txBody>
                    <a:bodyPr wrap="square"/>
                    <a:lstStyle/>
                    <a:p>
                      <a:r>
                        <a:rPr sz="1400" b="0">
                          <a:solidFill>
                            <a:schemeClr val="tx1"/>
                          </a:solidFill>
                        </a:rPr>
                        <a:t>MCP</a:t>
                      </a:r>
                    </a:p>
                  </a:txBody>
                  <a:tcPr marL="91440" marR="91440" marT="36576" marB="36576" anchor="ctr">
                    <a:solidFill>
                      <a:schemeClr val="bg1"/>
                    </a:solidFill>
                  </a:tcPr>
                </a:tc>
              </a:tr>
              <a:tr h="502920">
                <a:tc>
                  <a:txBody>
                    <a:bodyPr wrap="square"/>
                    <a:lstStyle/>
                    <a:p>
                      <a:r>
                        <a:rPr sz="1400" b="1">
                          <a:solidFill>
                            <a:schemeClr val="tx1"/>
                          </a:solidFill>
                        </a:rPr>
                        <a:t>Read-only planning</a:t>
                      </a:r>
                    </a:p>
                  </a:txBody>
                  <a:tcPr marL="91440" marR="91440" marT="36576" marB="36576" anchor="ctr">
                    <a:solidFill>
                      <a:schemeClr val="bg1"/>
                    </a:solidFill>
                  </a:tcPr>
                </a:tc>
                <a:tc>
                  <a:txBody>
                    <a:bodyPr wrap="square"/>
                    <a:lstStyle/>
                    <a:p>
                      <a:r>
                        <a:rPr sz="1400" b="0">
                          <a:solidFill>
                            <a:schemeClr val="tx1"/>
                          </a:solidFill>
                        </a:rPr>
                        <a:t>Plan mode</a:t>
                      </a:r>
                    </a:p>
                  </a:txBody>
                  <a:tcPr marL="91440" marR="91440" marT="36576" marB="36576" anchor="ctr">
                    <a:solidFill>
                      <a:schemeClr val="bg1"/>
                    </a:solidFill>
                  </a:tcPr>
                </a:tc>
                <a:tc>
                  <a:txBody>
                    <a:bodyPr wrap="square"/>
                    <a:lstStyle/>
                    <a:p>
                      <a:r>
                        <a:rPr sz="1400" b="0">
                          <a:solidFill>
                            <a:schemeClr val="tx1"/>
                          </a:solidFill>
                        </a:rPr>
                        <a:t>Read-only</a:t>
                      </a:r>
                    </a:p>
                  </a:txBody>
                  <a:tcPr marL="91440" marR="91440" marT="36576" marB="36576" anchor="ctr">
                    <a:solidFill>
                      <a:schemeClr val="bg1"/>
                    </a:solidFill>
                  </a:tcPr>
                </a:tc>
                <a:tc>
                  <a:txBody>
                    <a:bodyPr wrap="square"/>
                    <a:lstStyle/>
                    <a:p>
                      <a:r>
                        <a:rPr sz="1400" b="0">
                          <a:solidFill>
                            <a:schemeClr val="tx1"/>
                          </a:solidFill>
                        </a:rPr>
                        <a:t>Plan mode</a:t>
                      </a:r>
                    </a:p>
                  </a:txBody>
                  <a:tcPr marL="91440" marR="91440" marT="36576" marB="36576" anchor="ctr">
                    <a:solidFill>
                      <a:schemeClr val="bg1"/>
                    </a:solidFill>
                  </a:tcPr>
                </a:tc>
              </a:tr>
              <a:tr h="566928">
                <a:tc>
                  <a:txBody>
                    <a:bodyPr wrap="square"/>
                    <a:lstStyle/>
                    <a:p>
                      <a:r>
                        <a:rPr sz="1400" b="1">
                          <a:solidFill>
                            <a:schemeClr val="tx1"/>
                          </a:solidFill>
                        </a:rPr>
                        <a:t>Folders, prompts, checkpoints</a:t>
                      </a:r>
                    </a:p>
                  </a:txBody>
                  <a:tcPr marL="91440" marR="91440" marT="36576" marB="36576" anchor="ctr">
                    <a:solidFill>
                      <a:schemeClr val="bg1"/>
                    </a:solidFill>
                  </a:tcPr>
                </a:tc>
                <a:tc>
                  <a:txBody>
                    <a:bodyPr wrap="square"/>
                    <a:lstStyle/>
                    <a:p>
                      <a:r>
                        <a:rPr sz="1400" b="0">
                          <a:solidFill>
                            <a:schemeClr val="tx1"/>
                          </a:solidFill>
                        </a:rPr>
                        <a:t>Same files</a:t>
                      </a:r>
                    </a:p>
                  </a:txBody>
                  <a:tcPr marL="91440" marR="91440" marT="36576" marB="36576" anchor="ctr">
                    <a:solidFill>
                      <a:schemeClr val="bg1"/>
                    </a:solidFill>
                  </a:tcPr>
                </a:tc>
                <a:tc>
                  <a:txBody>
                    <a:bodyPr wrap="square"/>
                    <a:lstStyle/>
                    <a:p>
                      <a:r>
                        <a:rPr sz="1400" b="0">
                          <a:solidFill>
                            <a:schemeClr val="tx1"/>
                          </a:solidFill>
                        </a:rPr>
                        <a:t>Same files</a:t>
                      </a:r>
                    </a:p>
                  </a:txBody>
                  <a:tcPr marL="91440" marR="91440" marT="36576" marB="36576" anchor="ctr">
                    <a:solidFill>
                      <a:schemeClr val="bg1"/>
                    </a:solidFill>
                  </a:tcPr>
                </a:tc>
                <a:tc>
                  <a:txBody>
                    <a:bodyPr wrap="square"/>
                    <a:lstStyle/>
                    <a:p>
                      <a:r>
                        <a:rPr sz="1400" b="0">
                          <a:solidFill>
                            <a:schemeClr val="tx1"/>
                          </a:solidFill>
                        </a:rPr>
                        <a:t>Same files</a:t>
                      </a:r>
                    </a:p>
                  </a:txBody>
                  <a:tcPr marL="91440" marR="91440" marT="36576" marB="36576" anchor="ctr">
                    <a:solidFill>
                      <a:schemeClr val="bg1"/>
                    </a:solidFill>
                  </a:tcPr>
                </a:tc>
              </a:tr>
            </a:tbl>
          </a:graphicData>
        </a:graphic>
      </p:graphicFrame>
      <p:sp>
        <p:nvSpPr>
          <p:cNvPr id="28" name="TextBox 27"/>
          <p:cNvSpPr txBox="1"/>
          <p:nvPr/>
        </p:nvSpPr>
        <p:spPr>
          <a:xfrm>
            <a:off x="6080760" y="4956048"/>
            <a:ext cx="5596127" cy="320040"/>
          </a:xfrm>
          <a:prstGeom prst="rect">
            <a:avLst/>
          </a:prstGeom>
          <a:noFill/>
        </p:spPr>
        <p:txBody>
          <a:bodyPr wrap="square" lIns="0" rIns="0" tIns="0" bIns="0" anchor="t">
            <a:spAutoFit/>
          </a:bodyPr>
          <a:lstStyle/>
          <a:p>
            <a:pPr algn="l"/>
            <a:r>
              <a:rPr sz="1200" b="0" i="1">
                <a:solidFill>
                  <a:srgbClr val="5F5F5F"/>
                </a:solidFill>
              </a:rPr>
              <a:t>* configurable to read AGENTS.md</a:t>
            </a:r>
          </a:p>
        </p:txBody>
      </p:sp>
      <p:sp>
        <p:nvSpPr>
          <p:cNvPr id="29" name="Rounded Rectangle 28"/>
          <p:cNvSpPr/>
          <p:nvPr/>
        </p:nvSpPr>
        <p:spPr>
          <a:xfrm>
            <a:off x="512064" y="5212080"/>
            <a:ext cx="11164824" cy="566928"/>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FaLightbulb_white.png"/>
          <p:cNvPicPr>
            <a:picLocks noChangeAspect="1"/>
          </p:cNvPicPr>
          <p:nvPr/>
        </p:nvPicPr>
        <p:blipFill>
          <a:blip r:embed="rId6"/>
          <a:stretch>
            <a:fillRect/>
          </a:stretch>
        </p:blipFill>
        <p:spPr>
          <a:xfrm>
            <a:off x="740664" y="5330952"/>
            <a:ext cx="329184" cy="329184"/>
          </a:xfrm>
          <a:prstGeom prst="rect">
            <a:avLst/>
          </a:prstGeom>
        </p:spPr>
      </p:pic>
      <p:sp>
        <p:nvSpPr>
          <p:cNvPr id="31" name="TextBox 30"/>
          <p:cNvSpPr txBox="1"/>
          <p:nvPr/>
        </p:nvSpPr>
        <p:spPr>
          <a:xfrm>
            <a:off x="1243584" y="5212080"/>
            <a:ext cx="10250424" cy="566928"/>
          </a:xfrm>
          <a:prstGeom prst="rect">
            <a:avLst/>
          </a:prstGeom>
          <a:noFill/>
        </p:spPr>
        <p:txBody>
          <a:bodyPr wrap="square" lIns="0" rIns="0" tIns="0" bIns="0" anchor="ctr">
            <a:spAutoFit/>
          </a:bodyPr>
          <a:lstStyle/>
          <a:p>
            <a:pPr algn="l"/>
            <a:r>
              <a:rPr sz="1600" b="1" i="0">
                <a:solidFill>
                  <a:schemeClr val="bg1"/>
                </a:solidFill>
              </a:rPr>
              <a:t>One rules file for every agent: </a:t>
            </a:r>
            <a:r>
              <a:rPr sz="1600" b="0" i="0">
                <a:solidFill>
                  <a:schemeClr val="bg1"/>
                </a:solidFill>
              </a:rPr>
              <a:t>keep it in </a:t>
            </a:r>
            <a:r>
              <a:rPr sz="1600" b="1" i="0">
                <a:solidFill>
                  <a:schemeClr val="bg1"/>
                </a:solidFill>
                <a:latin typeface="Courier New"/>
              </a:rPr>
              <a:t>AGENTS.md</a:t>
            </a:r>
            <a:r>
              <a:rPr sz="1600" b="0" i="0">
                <a:solidFill>
                  <a:schemeClr val="bg1"/>
                </a:solidFill>
              </a:rPr>
              <a:t> and put </a:t>
            </a:r>
            <a:r>
              <a:rPr sz="1600" b="1" i="0">
                <a:solidFill>
                  <a:schemeClr val="bg1"/>
                </a:solidFill>
                <a:latin typeface="Courier New"/>
              </a:rPr>
              <a:t>@AGENTS.md</a:t>
            </a:r>
            <a:r>
              <a:rPr sz="1600" b="0" i="0">
                <a:solidFill>
                  <a:schemeClr val="bg1"/>
                </a:solidFill>
              </a:rPr>
              <a:t> in CLAUDE.md.</a:t>
            </a:r>
          </a:p>
        </p:txBody>
      </p:sp>
      <p:sp>
        <p:nvSpPr>
          <p:cNvPr id="32" name="source"/>
          <p:cNvSpPr txBox="1"/>
          <p:nvPr/>
        </p:nvSpPr>
        <p:spPr>
          <a:xfrm>
            <a:off x="512064" y="5833872"/>
            <a:ext cx="11164824" cy="274320"/>
          </a:xfrm>
          <a:prstGeom prst="rect">
            <a:avLst/>
          </a:prstGeom>
          <a:noFill/>
        </p:spPr>
        <p:txBody>
          <a:bodyPr wrap="square" lIns="0" rIns="0" tIns="0" bIns="0" anchor="b">
            <a:spAutoFit/>
          </a:bodyPr>
          <a:lstStyle/>
          <a:p>
            <a:pPr algn="l"/>
            <a:r>
              <a:rPr sz="1100" b="0" i="1">
                <a:solidFill>
                  <a:srgbClr val="5F5F5F"/>
                </a:solidFill>
              </a:rPr>
              <a:t>WashU IT (it.washu.edu) and vendor docs, accessed 2026-10-15. Approvals change: re-check before relying on them.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Division of labor</a:t>
            </a:r>
          </a:p>
        </p:txBody>
      </p:sp>
      <p:sp>
        <p:nvSpPr>
          <p:cNvPr id="3" name="Text Placeholder 2"/>
          <p:cNvSpPr>
            <a:spLocks noGrp="1"/>
          </p:cNvSpPr>
          <p:nvPr>
            <p:ph type="body" sz="quarter" idx="12"/>
          </p:nvPr>
        </p:nvSpPr>
        <p:spPr/>
        <p:txBody>
          <a:bodyPr/>
          <a:lstStyle/>
          <a:p>
            <a:r>
              <a:t>A cost argument and a fit argument</a:t>
            </a:r>
          </a:p>
        </p:txBody>
      </p:sp>
      <p:sp>
        <p:nvSpPr>
          <p:cNvPr id="4" name="Text Placeholder 3"/>
          <p:cNvSpPr>
            <a:spLocks noGrp="1"/>
          </p:cNvSpPr>
          <p:nvPr>
            <p:ph type="body" sz="quarter" idx="14"/>
          </p:nvPr>
        </p:nvSpPr>
        <p:spPr/>
        <p:txBody>
          <a:bodyPr/>
          <a:lstStyle/>
          <a:p>
            <a:r>
              <a:t>What WashU provides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13</a:t>
            </a:fld>
            <a:endParaRPr lang="en-US" dirty="0"/>
          </a:p>
        </p:txBody>
      </p:sp>
      <p:sp>
        <p:nvSpPr>
          <p:cNvPr id="13" name="Rounded Rectangle 12"/>
          <p:cNvSpPr/>
          <p:nvPr/>
        </p:nvSpPr>
        <p:spPr>
          <a:xfrm>
            <a:off x="512064" y="1920240"/>
            <a:ext cx="4572000" cy="34290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icon_FaBookOpenReader_circle"/>
          <p:cNvSpPr/>
          <p:nvPr/>
        </p:nvSpPr>
        <p:spPr>
          <a:xfrm>
            <a:off x="832104" y="2194560"/>
            <a:ext cx="731520" cy="73152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FaBookOpenReader_dark.png"/>
          <p:cNvPicPr>
            <a:picLocks noChangeAspect="1"/>
          </p:cNvPicPr>
          <p:nvPr/>
        </p:nvPicPr>
        <p:blipFill>
          <a:blip r:embed="rId3"/>
          <a:stretch>
            <a:fillRect/>
          </a:stretch>
        </p:blipFill>
        <p:spPr>
          <a:xfrm>
            <a:off x="1014984" y="2377440"/>
            <a:ext cx="365760" cy="365760"/>
          </a:xfrm>
          <a:prstGeom prst="rect">
            <a:avLst/>
          </a:prstGeom>
        </p:spPr>
      </p:pic>
      <p:sp>
        <p:nvSpPr>
          <p:cNvPr id="16" name="TextBox 15"/>
          <p:cNvSpPr txBox="1"/>
          <p:nvPr/>
        </p:nvSpPr>
        <p:spPr>
          <a:xfrm>
            <a:off x="1746504" y="2194560"/>
            <a:ext cx="3108960" cy="411480"/>
          </a:xfrm>
          <a:prstGeom prst="rect">
            <a:avLst/>
          </a:prstGeom>
          <a:noFill/>
        </p:spPr>
        <p:txBody>
          <a:bodyPr wrap="square" lIns="0" tIns="0" rIns="0" bIns="0" anchor="t">
            <a:spAutoFit/>
          </a:bodyPr>
          <a:lstStyle/>
          <a:p>
            <a:pPr algn="l"/>
            <a:r>
              <a:rPr sz="2400" b="1" i="0">
                <a:solidFill>
                  <a:schemeClr val="tx1"/>
                </a:solidFill>
              </a:rPr>
              <a:t>Gemini</a:t>
            </a:r>
          </a:p>
        </p:txBody>
      </p:sp>
      <p:sp>
        <p:nvSpPr>
          <p:cNvPr id="17" name="TextBox 16"/>
          <p:cNvSpPr txBox="1"/>
          <p:nvPr/>
        </p:nvSpPr>
        <p:spPr>
          <a:xfrm>
            <a:off x="1746504" y="2606040"/>
            <a:ext cx="3108960" cy="320040"/>
          </a:xfrm>
          <a:prstGeom prst="rect">
            <a:avLst/>
          </a:prstGeom>
          <a:noFill/>
        </p:spPr>
        <p:txBody>
          <a:bodyPr wrap="square" lIns="0" tIns="0" rIns="0" bIns="0" anchor="t">
            <a:spAutoFit/>
          </a:bodyPr>
          <a:lstStyle/>
          <a:p>
            <a:pPr algn="l"/>
            <a:r>
              <a:rPr sz="1400" b="0" i="0">
                <a:solidFill>
                  <a:srgbClr val="5F5F5F"/>
                </a:solidFill>
              </a:rPr>
              <a:t>free through WashU</a:t>
            </a:r>
          </a:p>
        </p:txBody>
      </p:sp>
      <p:sp>
        <p:nvSpPr>
          <p:cNvPr id="18" name="TextBox 17"/>
          <p:cNvSpPr txBox="1"/>
          <p:nvPr/>
        </p:nvSpPr>
        <p:spPr>
          <a:xfrm>
            <a:off x="832104" y="3246120"/>
            <a:ext cx="3931920" cy="2011680"/>
          </a:xfrm>
          <a:prstGeom prst="rect">
            <a:avLst/>
          </a:prstGeom>
          <a:noFill/>
        </p:spPr>
        <p:txBody>
          <a:bodyPr wrap="square" lIns="0" tIns="0" rIns="0" bIns="0" anchor="t">
            <a:spAutoFit/>
          </a:bodyPr>
          <a:lstStyle/>
          <a:p>
            <a:pPr algn="l">
              <a:spcAft>
                <a:spcPts val="600"/>
              </a:spcAft>
            </a:pPr>
            <a:r>
              <a:rPr sz="1700" b="1" i="0">
                <a:solidFill>
                  <a:schemeClr val="tx1"/>
                </a:solidFill>
              </a:rPr>
              <a:t>Reading and literature work</a:t>
            </a:r>
          </a:p>
          <a:p>
            <a:pPr algn="l">
              <a:spcAft>
                <a:spcPts val="600"/>
              </a:spcAft>
            </a:pPr>
            <a:r>
              <a:rPr sz="1700" b="0" i="0">
                <a:solidFill>
                  <a:schemeClr val="tx1"/>
                </a:solidFill>
              </a:rPr>
              <a:t>Long PDFs, many sources, first-pass synthesis, drafting a spec or a CLAUDE.md before you spend Claude usage</a:t>
            </a:r>
          </a:p>
        </p:txBody>
      </p:sp>
      <p:sp>
        <p:nvSpPr>
          <p:cNvPr id="19" name="Rounded Rectangle 18"/>
          <p:cNvSpPr/>
          <p:nvPr/>
        </p:nvSpPr>
        <p:spPr>
          <a:xfrm>
            <a:off x="7104888" y="1920240"/>
            <a:ext cx="4572000" cy="342900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icon_FaTerminal_circle"/>
          <p:cNvSpPr/>
          <p:nvPr/>
        </p:nvSpPr>
        <p:spPr>
          <a:xfrm>
            <a:off x="7424927" y="2194560"/>
            <a:ext cx="731520" cy="73152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1" name="Picture 20" descr="FaTerminal_red.png"/>
          <p:cNvPicPr>
            <a:picLocks noChangeAspect="1"/>
          </p:cNvPicPr>
          <p:nvPr/>
        </p:nvPicPr>
        <p:blipFill>
          <a:blip r:embed="rId4"/>
          <a:stretch>
            <a:fillRect/>
          </a:stretch>
        </p:blipFill>
        <p:spPr>
          <a:xfrm>
            <a:off x="7607807" y="2377440"/>
            <a:ext cx="365760" cy="365760"/>
          </a:xfrm>
          <a:prstGeom prst="rect">
            <a:avLst/>
          </a:prstGeom>
        </p:spPr>
      </p:pic>
      <p:sp>
        <p:nvSpPr>
          <p:cNvPr id="22" name="TextBox 21"/>
          <p:cNvSpPr txBox="1"/>
          <p:nvPr/>
        </p:nvSpPr>
        <p:spPr>
          <a:xfrm>
            <a:off x="8339327" y="2194560"/>
            <a:ext cx="3108960" cy="411480"/>
          </a:xfrm>
          <a:prstGeom prst="rect">
            <a:avLst/>
          </a:prstGeom>
          <a:noFill/>
        </p:spPr>
        <p:txBody>
          <a:bodyPr wrap="square" lIns="0" tIns="0" rIns="0" bIns="0" anchor="t">
            <a:spAutoFit/>
          </a:bodyPr>
          <a:lstStyle/>
          <a:p>
            <a:pPr algn="l"/>
            <a:r>
              <a:rPr sz="2400" b="1" i="0">
                <a:solidFill>
                  <a:schemeClr val="bg1"/>
                </a:solidFill>
              </a:rPr>
              <a:t>Claude CLI</a:t>
            </a:r>
          </a:p>
        </p:txBody>
      </p:sp>
      <p:sp>
        <p:nvSpPr>
          <p:cNvPr id="23" name="TextBox 22"/>
          <p:cNvSpPr txBox="1"/>
          <p:nvPr/>
        </p:nvSpPr>
        <p:spPr>
          <a:xfrm>
            <a:off x="8339327" y="2606040"/>
            <a:ext cx="3108960" cy="320040"/>
          </a:xfrm>
          <a:prstGeom prst="rect">
            <a:avLst/>
          </a:prstGeom>
          <a:noFill/>
        </p:spPr>
        <p:txBody>
          <a:bodyPr wrap="square" lIns="0" tIns="0" rIns="0" bIns="0" anchor="t">
            <a:spAutoFit/>
          </a:bodyPr>
          <a:lstStyle/>
          <a:p>
            <a:pPr algn="l"/>
            <a:r>
              <a:rPr sz="1400" b="0" i="0">
                <a:solidFill>
                  <a:schemeClr val="bg1"/>
                </a:solidFill>
              </a:rPr>
              <a:t>in your project folder</a:t>
            </a:r>
          </a:p>
        </p:txBody>
      </p:sp>
      <p:sp>
        <p:nvSpPr>
          <p:cNvPr id="24" name="TextBox 23"/>
          <p:cNvSpPr txBox="1"/>
          <p:nvPr/>
        </p:nvSpPr>
        <p:spPr>
          <a:xfrm>
            <a:off x="7424927" y="3246120"/>
            <a:ext cx="3931920" cy="2011680"/>
          </a:xfrm>
          <a:prstGeom prst="rect">
            <a:avLst/>
          </a:prstGeom>
          <a:noFill/>
        </p:spPr>
        <p:txBody>
          <a:bodyPr wrap="square" lIns="0" tIns="0" rIns="0" bIns="0" anchor="t">
            <a:spAutoFit/>
          </a:bodyPr>
          <a:lstStyle/>
          <a:p>
            <a:pPr algn="l">
              <a:spcAft>
                <a:spcPts val="600"/>
              </a:spcAft>
            </a:pPr>
            <a:r>
              <a:rPr sz="1700" b="1" i="0">
                <a:solidFill>
                  <a:schemeClr val="bg1"/>
                </a:solidFill>
              </a:rPr>
              <a:t>Anything that touches your files</a:t>
            </a:r>
          </a:p>
          <a:p>
            <a:pPr algn="l">
              <a:spcAft>
                <a:spcPts val="600"/>
              </a:spcAft>
            </a:pPr>
            <a:r>
              <a:rPr sz="1700" b="0" i="0">
                <a:solidFill>
                  <a:schemeClr val="bg1"/>
                </a:solidFill>
              </a:rPr>
              <a:t>Scripts, data cleaning, analysis, reproducible pipelines, drafts that live in the project</a:t>
            </a:r>
          </a:p>
        </p:txBody>
      </p:sp>
      <p:pic>
        <p:nvPicPr>
          <p:cNvPr id="25" name="Picture 24" descr="FaFileLines_red.png"/>
          <p:cNvPicPr>
            <a:picLocks noChangeAspect="1"/>
          </p:cNvPicPr>
          <p:nvPr/>
        </p:nvPicPr>
        <p:blipFill>
          <a:blip r:embed="rId5"/>
          <a:stretch>
            <a:fillRect/>
          </a:stretch>
        </p:blipFill>
        <p:spPr>
          <a:xfrm>
            <a:off x="5815584" y="2788920"/>
            <a:ext cx="548640" cy="548640"/>
          </a:xfrm>
          <a:prstGeom prst="rect">
            <a:avLst/>
          </a:prstGeom>
        </p:spPr>
      </p:pic>
      <p:sp>
        <p:nvSpPr>
          <p:cNvPr id="26" name="TextBox 25"/>
          <p:cNvSpPr txBox="1"/>
          <p:nvPr/>
        </p:nvSpPr>
        <p:spPr>
          <a:xfrm>
            <a:off x="5230368" y="3429000"/>
            <a:ext cx="1719072" cy="320040"/>
          </a:xfrm>
          <a:prstGeom prst="rect">
            <a:avLst/>
          </a:prstGeom>
          <a:noFill/>
        </p:spPr>
        <p:txBody>
          <a:bodyPr wrap="square" lIns="0" tIns="0" rIns="0" bIns="0" anchor="t">
            <a:spAutoFit/>
          </a:bodyPr>
          <a:lstStyle/>
          <a:p>
            <a:pPr algn="ctr"/>
            <a:r>
              <a:rPr sz="1400" b="1" i="0">
                <a:solidFill>
                  <a:schemeClr val="tx1"/>
                </a:solidFill>
              </a:rPr>
              <a:t>writing/*.md</a:t>
            </a:r>
          </a:p>
        </p:txBody>
      </p:sp>
      <p:cxnSp>
        <p:nvCxnSpPr>
          <p:cNvPr id="27" name="Connector 26"/>
          <p:cNvCxnSpPr/>
          <p:nvPr/>
        </p:nvCxnSpPr>
        <p:spPr>
          <a:xfrm>
            <a:off x="5257800" y="3977639"/>
            <a:ext cx="1691640" cy="0"/>
          </a:xfrm>
          <a:prstGeom prst="line">
            <a:avLst/>
          </a:prstGeom>
          <a:ln w="31750">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230368" y="4096512"/>
            <a:ext cx="1719072" cy="320040"/>
          </a:xfrm>
          <a:prstGeom prst="rect">
            <a:avLst/>
          </a:prstGeom>
          <a:noFill/>
        </p:spPr>
        <p:txBody>
          <a:bodyPr wrap="square" lIns="0" tIns="0" rIns="0" bIns="0" anchor="t">
            <a:spAutoFit/>
          </a:bodyPr>
          <a:lstStyle/>
          <a:p>
            <a:pPr algn="ctr"/>
            <a:r>
              <a:rPr sz="1400" b="0" i="0">
                <a:solidFill>
                  <a:srgbClr val="5F5F5F"/>
                </a:solidFill>
              </a:rPr>
              <a:t>handoff</a:t>
            </a:r>
          </a:p>
        </p:txBody>
      </p:sp>
      <p:sp>
        <p:nvSpPr>
          <p:cNvPr id="29" name="TextBox 28"/>
          <p:cNvSpPr txBox="1"/>
          <p:nvPr/>
        </p:nvSpPr>
        <p:spPr>
          <a:xfrm>
            <a:off x="512064" y="5486400"/>
            <a:ext cx="11164824" cy="411480"/>
          </a:xfrm>
          <a:prstGeom prst="rect">
            <a:avLst/>
          </a:prstGeom>
          <a:noFill/>
        </p:spPr>
        <p:txBody>
          <a:bodyPr wrap="square" lIns="0" tIns="0" rIns="0" bIns="0" anchor="t">
            <a:spAutoFit/>
          </a:bodyPr>
          <a:lstStyle/>
          <a:p>
            <a:pPr algn="ctr"/>
            <a:r>
              <a:rPr sz="1700" b="0" i="1">
                <a:solidFill>
                  <a:schemeClr val="accent1"/>
                </a:solidFill>
              </a:rPr>
              <a:t>Save Gemini's output as Markdown in writing/. The agent picks it up from there.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t>Don't drown in it</a:t>
            </a:r>
          </a:p>
        </p:txBody>
      </p:sp>
      <p:sp>
        <p:nvSpPr>
          <p:cNvPr id="3" name="Text Placeholder 2"/>
          <p:cNvSpPr>
            <a:spLocks noGrp="1"/>
          </p:cNvSpPr>
          <p:nvPr>
            <p:ph type="body" sz="quarter" idx="13"/>
          </p:nvPr>
        </p:nvSpPr>
        <p:spPr/>
        <p:txBody>
          <a:bodyPr/>
          <a:lstStyle/>
          <a:p>
            <a:r>
              <a:t>Learn the workflow, not the news cycle.</a:t>
            </a:r>
          </a:p>
        </p:txBody>
      </p:sp>
      <p:sp>
        <p:nvSpPr>
          <p:cNvPr id="4" name="icon_FaGraduationCap_circle"/>
          <p:cNvSpPr/>
          <p:nvPr/>
        </p:nvSpPr>
        <p:spPr>
          <a:xfrm>
            <a:off x="6172200" y="868680"/>
            <a:ext cx="502920" cy="50292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FaGraduationCap_red.png"/>
          <p:cNvPicPr>
            <a:picLocks noChangeAspect="1"/>
          </p:cNvPicPr>
          <p:nvPr/>
        </p:nvPicPr>
        <p:blipFill>
          <a:blip r:embed="rId3"/>
          <a:stretch>
            <a:fillRect/>
          </a:stretch>
        </p:blipFill>
        <p:spPr>
          <a:xfrm>
            <a:off x="6297930" y="994410"/>
            <a:ext cx="251460" cy="251460"/>
          </a:xfrm>
          <a:prstGeom prst="rect">
            <a:avLst/>
          </a:prstGeom>
        </p:spPr>
      </p:pic>
      <p:sp>
        <p:nvSpPr>
          <p:cNvPr id="6" name="TextBox 5"/>
          <p:cNvSpPr txBox="1"/>
          <p:nvPr/>
        </p:nvSpPr>
        <p:spPr>
          <a:xfrm>
            <a:off x="6903720" y="907183"/>
            <a:ext cx="4800600" cy="731520"/>
          </a:xfrm>
          <a:prstGeom prst="rect">
            <a:avLst/>
          </a:prstGeom>
          <a:noFill/>
        </p:spPr>
        <p:txBody>
          <a:bodyPr wrap="square" lIns="0" tIns="0" rIns="0" bIns="0" anchor="t">
            <a:spAutoFit/>
          </a:bodyPr>
          <a:lstStyle/>
          <a:p>
            <a:pPr algn="l"/>
            <a:r>
              <a:rPr sz="1700" b="0" i="0">
                <a:solidFill>
                  <a:schemeClr val="bg1"/>
                </a:solidFill>
              </a:rPr>
              <a:t>You are an education researcher, not an AI researcher.</a:t>
            </a:r>
          </a:p>
        </p:txBody>
      </p:sp>
      <p:sp>
        <p:nvSpPr>
          <p:cNvPr id="7" name="icon_FaCalendarXmark_circle"/>
          <p:cNvSpPr/>
          <p:nvPr/>
        </p:nvSpPr>
        <p:spPr>
          <a:xfrm>
            <a:off x="6172200" y="1874519"/>
            <a:ext cx="502920" cy="50292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FaCalendarXmark_red.png"/>
          <p:cNvPicPr>
            <a:picLocks noChangeAspect="1"/>
          </p:cNvPicPr>
          <p:nvPr/>
        </p:nvPicPr>
        <p:blipFill>
          <a:blip r:embed="rId4"/>
          <a:stretch>
            <a:fillRect/>
          </a:stretch>
        </p:blipFill>
        <p:spPr>
          <a:xfrm>
            <a:off x="6297930" y="2000250"/>
            <a:ext cx="251460" cy="251460"/>
          </a:xfrm>
          <a:prstGeom prst="rect">
            <a:avLst/>
          </a:prstGeom>
        </p:spPr>
      </p:pic>
      <p:sp>
        <p:nvSpPr>
          <p:cNvPr id="9" name="TextBox 8"/>
          <p:cNvSpPr txBox="1"/>
          <p:nvPr/>
        </p:nvSpPr>
        <p:spPr>
          <a:xfrm>
            <a:off x="6903720" y="1913023"/>
            <a:ext cx="4800600" cy="731520"/>
          </a:xfrm>
          <a:prstGeom prst="rect">
            <a:avLst/>
          </a:prstGeom>
          <a:noFill/>
        </p:spPr>
        <p:txBody>
          <a:bodyPr wrap="square" lIns="0" tIns="0" rIns="0" bIns="0" anchor="t">
            <a:spAutoFit/>
          </a:bodyPr>
          <a:lstStyle/>
          <a:p>
            <a:pPr algn="l"/>
            <a:r>
              <a:rPr sz="1700" b="0" i="0">
                <a:solidFill>
                  <a:schemeClr val="bg1"/>
                </a:solidFill>
              </a:rPr>
              <a:t>A new model every month is not a reason to change your workflow every month.</a:t>
            </a:r>
          </a:p>
        </p:txBody>
      </p:sp>
      <p:sp>
        <p:nvSpPr>
          <p:cNvPr id="10" name="icon_FaScaleBalanced_circle"/>
          <p:cNvSpPr/>
          <p:nvPr/>
        </p:nvSpPr>
        <p:spPr>
          <a:xfrm>
            <a:off x="6172200" y="2880360"/>
            <a:ext cx="502920" cy="50292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FaScaleBalanced_red.png"/>
          <p:cNvPicPr>
            <a:picLocks noChangeAspect="1"/>
          </p:cNvPicPr>
          <p:nvPr/>
        </p:nvPicPr>
        <p:blipFill>
          <a:blip r:embed="rId5"/>
          <a:stretch>
            <a:fillRect/>
          </a:stretch>
        </p:blipFill>
        <p:spPr>
          <a:xfrm>
            <a:off x="6297930" y="3006090"/>
            <a:ext cx="251460" cy="251460"/>
          </a:xfrm>
          <a:prstGeom prst="rect">
            <a:avLst/>
          </a:prstGeom>
        </p:spPr>
      </p:pic>
      <p:sp>
        <p:nvSpPr>
          <p:cNvPr id="12" name="TextBox 11"/>
          <p:cNvSpPr txBox="1"/>
          <p:nvPr/>
        </p:nvSpPr>
        <p:spPr>
          <a:xfrm>
            <a:off x="6903720" y="2918863"/>
            <a:ext cx="4800600" cy="1463040"/>
          </a:xfrm>
          <a:prstGeom prst="rect">
            <a:avLst/>
          </a:prstGeom>
          <a:noFill/>
        </p:spPr>
        <p:txBody>
          <a:bodyPr wrap="square" lIns="0" tIns="0" rIns="0" bIns="0" anchor="t">
            <a:spAutoFit/>
          </a:bodyPr>
          <a:lstStyle/>
          <a:p>
            <a:pPr algn="l"/>
            <a:r>
              <a:rPr sz="1700" b="0" i="0">
                <a:solidFill>
                  <a:schemeClr val="bg1"/>
                </a:solidFill>
              </a:rPr>
              <a:t>Pick the model by the task: smaller models often suffice for classifying and extracting text; stronger models earn their cost on long, multi-step agent work.</a:t>
            </a:r>
          </a:p>
        </p:txBody>
      </p:sp>
      <p:sp>
        <p:nvSpPr>
          <p:cNvPr id="13" name="icon_FaHourglassHalf_circle"/>
          <p:cNvSpPr/>
          <p:nvPr/>
        </p:nvSpPr>
        <p:spPr>
          <a:xfrm>
            <a:off x="6172200" y="4103370"/>
            <a:ext cx="502920" cy="50292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FaHourglassHalf_red.png"/>
          <p:cNvPicPr>
            <a:picLocks noChangeAspect="1"/>
          </p:cNvPicPr>
          <p:nvPr/>
        </p:nvPicPr>
        <p:blipFill>
          <a:blip r:embed="rId6"/>
          <a:stretch>
            <a:fillRect/>
          </a:stretch>
        </p:blipFill>
        <p:spPr>
          <a:xfrm>
            <a:off x="6297930" y="4229100"/>
            <a:ext cx="251460" cy="251460"/>
          </a:xfrm>
          <a:prstGeom prst="rect">
            <a:avLst/>
          </a:prstGeom>
        </p:spPr>
      </p:pic>
      <p:sp>
        <p:nvSpPr>
          <p:cNvPr id="15" name="TextBox 14"/>
          <p:cNvSpPr txBox="1"/>
          <p:nvPr/>
        </p:nvSpPr>
        <p:spPr>
          <a:xfrm>
            <a:off x="6903720" y="4141873"/>
            <a:ext cx="4800600" cy="731520"/>
          </a:xfrm>
          <a:prstGeom prst="rect">
            <a:avLst/>
          </a:prstGeom>
          <a:noFill/>
        </p:spPr>
        <p:txBody>
          <a:bodyPr wrap="square" lIns="0" tIns="0" rIns="0" bIns="0" anchor="t">
            <a:spAutoFit/>
          </a:bodyPr>
          <a:lstStyle/>
          <a:p>
            <a:pPr algn="l"/>
            <a:r>
              <a:rPr sz="1700" b="0" i="0" dirty="0">
                <a:solidFill>
                  <a:schemeClr val="bg1"/>
                </a:solidFill>
              </a:rPr>
              <a:t>Time on research questions &gt; time on AI feeds.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10BE7-5C3F-D266-79F7-3F8652D690C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9543B30-8F07-121D-2AAC-13F970C12838}"/>
              </a:ext>
            </a:extLst>
          </p:cNvPr>
          <p:cNvSpPr>
            <a:spLocks noGrp="1"/>
          </p:cNvSpPr>
          <p:nvPr>
            <p:ph type="body" sz="quarter" idx="12"/>
          </p:nvPr>
        </p:nvSpPr>
        <p:spPr/>
        <p:txBody>
          <a:bodyPr/>
          <a:lstStyle/>
          <a:p>
            <a:r>
              <a:t>Don't drown in it</a:t>
            </a:r>
          </a:p>
        </p:txBody>
      </p:sp>
      <p:sp>
        <p:nvSpPr>
          <p:cNvPr id="3" name="Text Placeholder 2">
            <a:extLst>
              <a:ext uri="{FF2B5EF4-FFF2-40B4-BE49-F238E27FC236}">
                <a16:creationId xmlns:a16="http://schemas.microsoft.com/office/drawing/2014/main" id="{7F415EF8-5C86-D43C-87C6-625150BE7F93}"/>
              </a:ext>
            </a:extLst>
          </p:cNvPr>
          <p:cNvSpPr>
            <a:spLocks noGrp="1"/>
          </p:cNvSpPr>
          <p:nvPr>
            <p:ph type="body" sz="quarter" idx="13"/>
          </p:nvPr>
        </p:nvSpPr>
        <p:spPr/>
        <p:txBody>
          <a:bodyPr/>
          <a:lstStyle/>
          <a:p>
            <a:r>
              <a:rPr lang="en-US" dirty="0"/>
              <a:t>A community, </a:t>
            </a:r>
            <a:br>
              <a:rPr lang="en-US" dirty="0"/>
            </a:br>
            <a:r>
              <a:rPr lang="en-US" dirty="0"/>
              <a:t>not a feed</a:t>
            </a:r>
          </a:p>
        </p:txBody>
      </p:sp>
      <p:sp>
        <p:nvSpPr>
          <p:cNvPr id="16" name="TextBox 15">
            <a:extLst>
              <a:ext uri="{FF2B5EF4-FFF2-40B4-BE49-F238E27FC236}">
                <a16:creationId xmlns:a16="http://schemas.microsoft.com/office/drawing/2014/main" id="{3894CC00-8F27-2A33-392A-C1E488AD3D48}"/>
              </a:ext>
            </a:extLst>
          </p:cNvPr>
          <p:cNvSpPr txBox="1"/>
          <p:nvPr/>
        </p:nvSpPr>
        <p:spPr>
          <a:xfrm>
            <a:off x="6172200" y="868680"/>
            <a:ext cx="5486400" cy="822960"/>
          </a:xfrm>
          <a:prstGeom prst="rect">
            <a:avLst/>
          </a:prstGeom>
          <a:noFill/>
        </p:spPr>
        <p:txBody>
          <a:bodyPr wrap="square" lIns="0" tIns="0" rIns="0" bIns="0" anchor="t">
            <a:spAutoFit/>
          </a:bodyPr>
          <a:lstStyle/>
          <a:p>
            <a:pPr algn="l"/>
            <a:r>
              <a:rPr sz="2200" b="1" i="0">
                <a:solidFill>
                  <a:schemeClr val="bg1"/>
                </a:solidFill>
              </a:rPr>
              <a:t>Share what works with people doing similar research.</a:t>
            </a:r>
          </a:p>
        </p:txBody>
      </p:sp>
      <p:sp>
        <p:nvSpPr>
          <p:cNvPr id="17" name="icon_FaTerminal_circle">
            <a:extLst>
              <a:ext uri="{FF2B5EF4-FFF2-40B4-BE49-F238E27FC236}">
                <a16:creationId xmlns:a16="http://schemas.microsoft.com/office/drawing/2014/main" id="{B3F6EA47-8E19-2495-C6AC-7953B3611AB6}"/>
              </a:ext>
            </a:extLst>
          </p:cNvPr>
          <p:cNvSpPr/>
          <p:nvPr/>
        </p:nvSpPr>
        <p:spPr>
          <a:xfrm>
            <a:off x="6172200" y="1920240"/>
            <a:ext cx="502920" cy="50292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FaTerminal_red.png">
            <a:extLst>
              <a:ext uri="{FF2B5EF4-FFF2-40B4-BE49-F238E27FC236}">
                <a16:creationId xmlns:a16="http://schemas.microsoft.com/office/drawing/2014/main" id="{580E49E8-E44A-45BD-AA7D-6977C3346CBC}"/>
              </a:ext>
            </a:extLst>
          </p:cNvPr>
          <p:cNvPicPr>
            <a:picLocks noChangeAspect="1"/>
          </p:cNvPicPr>
          <p:nvPr/>
        </p:nvPicPr>
        <p:blipFill>
          <a:blip r:embed="rId3"/>
          <a:stretch>
            <a:fillRect/>
          </a:stretch>
        </p:blipFill>
        <p:spPr>
          <a:xfrm>
            <a:off x="6297930" y="2045970"/>
            <a:ext cx="251460" cy="251460"/>
          </a:xfrm>
          <a:prstGeom prst="rect">
            <a:avLst/>
          </a:prstGeom>
        </p:spPr>
      </p:pic>
      <p:sp>
        <p:nvSpPr>
          <p:cNvPr id="19" name="TextBox 18">
            <a:extLst>
              <a:ext uri="{FF2B5EF4-FFF2-40B4-BE49-F238E27FC236}">
                <a16:creationId xmlns:a16="http://schemas.microsoft.com/office/drawing/2014/main" id="{4114B75D-487C-4821-C26D-732AAEF39D14}"/>
              </a:ext>
            </a:extLst>
          </p:cNvPr>
          <p:cNvSpPr txBox="1"/>
          <p:nvPr/>
        </p:nvSpPr>
        <p:spPr>
          <a:xfrm>
            <a:off x="6858000" y="1920240"/>
            <a:ext cx="4754880" cy="502920"/>
          </a:xfrm>
          <a:prstGeom prst="rect">
            <a:avLst/>
          </a:prstGeom>
          <a:noFill/>
        </p:spPr>
        <p:txBody>
          <a:bodyPr wrap="square" lIns="0" tIns="0" rIns="0" bIns="0" anchor="ctr">
            <a:spAutoFit/>
          </a:bodyPr>
          <a:lstStyle/>
          <a:p>
            <a:pPr algn="l"/>
            <a:r>
              <a:rPr sz="1700" b="0" i="0">
                <a:solidFill>
                  <a:schemeClr val="bg1"/>
                </a:solidFill>
              </a:rPr>
              <a:t>A prompt that worked</a:t>
            </a:r>
          </a:p>
        </p:txBody>
      </p:sp>
      <p:sp>
        <p:nvSpPr>
          <p:cNvPr id="20" name="icon_FaFileLines_circle">
            <a:extLst>
              <a:ext uri="{FF2B5EF4-FFF2-40B4-BE49-F238E27FC236}">
                <a16:creationId xmlns:a16="http://schemas.microsoft.com/office/drawing/2014/main" id="{B35E3CCB-DD16-8964-0826-B5A548D1FE6C}"/>
              </a:ext>
            </a:extLst>
          </p:cNvPr>
          <p:cNvSpPr/>
          <p:nvPr/>
        </p:nvSpPr>
        <p:spPr>
          <a:xfrm>
            <a:off x="6172200" y="2606040"/>
            <a:ext cx="502920" cy="50292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1" name="Picture 20" descr="FaFileLines_red.png">
            <a:extLst>
              <a:ext uri="{FF2B5EF4-FFF2-40B4-BE49-F238E27FC236}">
                <a16:creationId xmlns:a16="http://schemas.microsoft.com/office/drawing/2014/main" id="{7D988373-4371-0BC7-6E7D-81E9861726F8}"/>
              </a:ext>
            </a:extLst>
          </p:cNvPr>
          <p:cNvPicPr>
            <a:picLocks noChangeAspect="1"/>
          </p:cNvPicPr>
          <p:nvPr/>
        </p:nvPicPr>
        <p:blipFill>
          <a:blip r:embed="rId4"/>
          <a:stretch>
            <a:fillRect/>
          </a:stretch>
        </p:blipFill>
        <p:spPr>
          <a:xfrm>
            <a:off x="6297930" y="2731770"/>
            <a:ext cx="251460" cy="251460"/>
          </a:xfrm>
          <a:prstGeom prst="rect">
            <a:avLst/>
          </a:prstGeom>
        </p:spPr>
      </p:pic>
      <p:sp>
        <p:nvSpPr>
          <p:cNvPr id="22" name="TextBox 21">
            <a:extLst>
              <a:ext uri="{FF2B5EF4-FFF2-40B4-BE49-F238E27FC236}">
                <a16:creationId xmlns:a16="http://schemas.microsoft.com/office/drawing/2014/main" id="{268F4988-29ED-070F-6811-62E4837C8BC9}"/>
              </a:ext>
            </a:extLst>
          </p:cNvPr>
          <p:cNvSpPr txBox="1"/>
          <p:nvPr/>
        </p:nvSpPr>
        <p:spPr>
          <a:xfrm>
            <a:off x="6858000" y="2606040"/>
            <a:ext cx="4754880" cy="502920"/>
          </a:xfrm>
          <a:prstGeom prst="rect">
            <a:avLst/>
          </a:prstGeom>
          <a:noFill/>
        </p:spPr>
        <p:txBody>
          <a:bodyPr wrap="square" lIns="0" tIns="0" rIns="0" bIns="0" anchor="ctr">
            <a:spAutoFit/>
          </a:bodyPr>
          <a:lstStyle/>
          <a:p>
            <a:pPr algn="l"/>
            <a:r>
              <a:rPr sz="1700" b="0" i="0">
                <a:solidFill>
                  <a:schemeClr val="bg1"/>
                </a:solidFill>
              </a:rPr>
              <a:t>A CLAUDE.md rule that saved you time</a:t>
            </a:r>
          </a:p>
        </p:txBody>
      </p:sp>
      <p:sp>
        <p:nvSpPr>
          <p:cNvPr id="23" name="icon_FaBug_circle">
            <a:extLst>
              <a:ext uri="{FF2B5EF4-FFF2-40B4-BE49-F238E27FC236}">
                <a16:creationId xmlns:a16="http://schemas.microsoft.com/office/drawing/2014/main" id="{4B3B9BED-B620-7A9A-788C-CEC1AA62B343}"/>
              </a:ext>
            </a:extLst>
          </p:cNvPr>
          <p:cNvSpPr/>
          <p:nvPr/>
        </p:nvSpPr>
        <p:spPr>
          <a:xfrm>
            <a:off x="6172200" y="3291840"/>
            <a:ext cx="502920" cy="50292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FaBug_red.png">
            <a:extLst>
              <a:ext uri="{FF2B5EF4-FFF2-40B4-BE49-F238E27FC236}">
                <a16:creationId xmlns:a16="http://schemas.microsoft.com/office/drawing/2014/main" id="{908AA1A5-67DD-A244-6DB3-2E6C6994E234}"/>
              </a:ext>
            </a:extLst>
          </p:cNvPr>
          <p:cNvPicPr>
            <a:picLocks noChangeAspect="1"/>
          </p:cNvPicPr>
          <p:nvPr/>
        </p:nvPicPr>
        <p:blipFill>
          <a:blip r:embed="rId5"/>
          <a:stretch>
            <a:fillRect/>
          </a:stretch>
        </p:blipFill>
        <p:spPr>
          <a:xfrm>
            <a:off x="6297930" y="3417570"/>
            <a:ext cx="251460" cy="251460"/>
          </a:xfrm>
          <a:prstGeom prst="rect">
            <a:avLst/>
          </a:prstGeom>
        </p:spPr>
      </p:pic>
      <p:sp>
        <p:nvSpPr>
          <p:cNvPr id="25" name="TextBox 24">
            <a:extLst>
              <a:ext uri="{FF2B5EF4-FFF2-40B4-BE49-F238E27FC236}">
                <a16:creationId xmlns:a16="http://schemas.microsoft.com/office/drawing/2014/main" id="{C1040EC7-C10E-7A29-429A-93BAA450E56E}"/>
              </a:ext>
            </a:extLst>
          </p:cNvPr>
          <p:cNvSpPr txBox="1"/>
          <p:nvPr/>
        </p:nvSpPr>
        <p:spPr>
          <a:xfrm>
            <a:off x="6858000" y="3291840"/>
            <a:ext cx="4754880" cy="502920"/>
          </a:xfrm>
          <a:prstGeom prst="rect">
            <a:avLst/>
          </a:prstGeom>
          <a:noFill/>
        </p:spPr>
        <p:txBody>
          <a:bodyPr wrap="square" lIns="0" tIns="0" rIns="0" bIns="0" anchor="ctr">
            <a:spAutoFit/>
          </a:bodyPr>
          <a:lstStyle/>
          <a:p>
            <a:pPr algn="l"/>
            <a:r>
              <a:rPr sz="1700" b="0" i="0">
                <a:solidFill>
                  <a:schemeClr val="bg1"/>
                </a:solidFill>
              </a:rPr>
              <a:t>A mistake the agent made</a:t>
            </a:r>
          </a:p>
        </p:txBody>
      </p:sp>
      <p:sp>
        <p:nvSpPr>
          <p:cNvPr id="26" name="TextBox 25">
            <a:extLst>
              <a:ext uri="{FF2B5EF4-FFF2-40B4-BE49-F238E27FC236}">
                <a16:creationId xmlns:a16="http://schemas.microsoft.com/office/drawing/2014/main" id="{12BEBD8C-7AB9-C533-93A1-DA4111754DB3}"/>
              </a:ext>
            </a:extLst>
          </p:cNvPr>
          <p:cNvSpPr txBox="1"/>
          <p:nvPr/>
        </p:nvSpPr>
        <p:spPr>
          <a:xfrm>
            <a:off x="6172200" y="5349240"/>
            <a:ext cx="5486400" cy="640080"/>
          </a:xfrm>
          <a:prstGeom prst="rect">
            <a:avLst/>
          </a:prstGeom>
          <a:noFill/>
        </p:spPr>
        <p:txBody>
          <a:bodyPr wrap="square" lIns="0" tIns="0" rIns="0" bIns="0" anchor="t">
            <a:spAutoFit/>
          </a:bodyPr>
          <a:lstStyle/>
          <a:p>
            <a:pPr algn="l"/>
            <a:r>
              <a:rPr sz="1700" b="1" i="0">
                <a:solidFill>
                  <a:schemeClr val="bg1"/>
                </a:solidFill>
              </a:rPr>
              <a:t>Next: </a:t>
            </a:r>
            <a:r>
              <a:rPr sz="1700" b="0" i="0">
                <a:solidFill>
                  <a:schemeClr val="bg1"/>
                </a:solidFill>
              </a:rPr>
              <a:t>Part 2 — install the agent and give it a project to live in.</a:t>
            </a:r>
          </a:p>
        </p:txBody>
      </p:sp>
    </p:spTree>
    <p:extLst>
      <p:ext uri="{BB962C8B-B14F-4D97-AF65-F5344CB8AC3E}">
        <p14:creationId xmlns:p14="http://schemas.microsoft.com/office/powerpoint/2010/main" val="230866471"/>
      </p:ext>
    </p:extLst>
  </p:cSld>
  <p:clrMapOvr>
    <a:masterClrMapping/>
  </p:clrMapOvr>
</p:sld>
</file>

<file path=ppt/theme/theme1.xml><?xml version="1.0" encoding="utf-8"?>
<a:theme xmlns:a="http://schemas.openxmlformats.org/drawingml/2006/main" name="Office Theme">
  <a:themeElements>
    <a:clrScheme name="WashU Medicine">
      <a:dk1>
        <a:srgbClr val="000000"/>
      </a:dk1>
      <a:lt1>
        <a:srgbClr val="FFFFFF"/>
      </a:lt1>
      <a:dk2>
        <a:srgbClr val="BA0C2F"/>
      </a:dk2>
      <a:lt2>
        <a:srgbClr val="F5F2EE"/>
      </a:lt2>
      <a:accent1>
        <a:srgbClr val="971B2F"/>
      </a:accent1>
      <a:accent2>
        <a:srgbClr val="D9D9D6"/>
      </a:accent2>
      <a:accent3>
        <a:srgbClr val="215732"/>
      </a:accent3>
      <a:accent4>
        <a:srgbClr val="B5E3D8"/>
      </a:accent4>
      <a:accent5>
        <a:srgbClr val="13322B"/>
      </a:accent5>
      <a:accent6>
        <a:srgbClr val="007D8A"/>
      </a:accent6>
      <a:hlink>
        <a:srgbClr val="BA0C2F"/>
      </a:hlink>
      <a:folHlink>
        <a:srgbClr val="BA0C2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accent1"/>
          </a:solidFill>
        </a:ln>
      </a:spPr>
      <a:bodyPr/>
      <a:lstStyle/>
      <a:style>
        <a:lnRef idx="1">
          <a:schemeClr val="accent6"/>
        </a:lnRef>
        <a:fillRef idx="0">
          <a:schemeClr val="accent6"/>
        </a:fillRef>
        <a:effectRef idx="0">
          <a:schemeClr val="accent6"/>
        </a:effectRef>
        <a:fontRef idx="minor">
          <a:schemeClr val="tx1"/>
        </a:fontRef>
      </a:style>
    </a:lnDef>
  </a:objectDefaults>
  <a:extraClrSchemeLst/>
  <a:custClrLst>
    <a:custClr name="WashU Green">
      <a:srgbClr val="215732"/>
    </a:custClr>
    <a:custClr name="Dark Green">
      <a:srgbClr val="13322B"/>
    </a:custClr>
    <a:custClr name="Coral">
      <a:srgbClr val="FF6D6A"/>
    </a:custClr>
    <a:custClr name="Custom Color 4">
      <a:srgbClr val="F1B434"/>
    </a:custClr>
    <a:custClr name="Teal">
      <a:srgbClr val="007D8A"/>
    </a:custClr>
    <a:custClr name="Mint">
      <a:srgbClr val="B5E3D8"/>
    </a:custClr>
    <a:custClr name="Gray">
      <a:srgbClr val="D9D9D6"/>
    </a:custClr>
  </a:custClrLst>
  <a:extLst>
    <a:ext uri="{05A4C25C-085E-4340-85A3-A5531E510DB2}">
      <thm15:themeFamily xmlns:thm15="http://schemas.microsoft.com/office/thememl/2012/main" name="Office Theme" id="{67E72386-5798-4EAD-80CA-990DB467CECF}" vid="{42220F3D-D07F-48BC-873E-53EDB36425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14369</TotalTime>
  <Words>4209</Words>
  <Application>Microsoft Macintosh PowerPoint</Application>
  <PresentationFormat>Widescreen</PresentationFormat>
  <Paragraphs>309</Paragraphs>
  <Slides>15</Slides>
  <Notes>14</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Georgia</vt:lpstr>
      <vt:lpstr>Office Theme</vt:lpstr>
      <vt:lpstr>PowerPoint Presentation</vt:lpstr>
      <vt:lpstr>PowerPoint Presentation</vt:lpstr>
      <vt:lpstr>The browser-tab loop</vt:lpstr>
      <vt:lpstr>Chat-based vs. agent-based AI</vt:lpstr>
      <vt:lpstr>What changes</vt:lpstr>
      <vt:lpstr>Same task, two ways</vt:lpstr>
      <vt:lpstr>How researchers use AI now</vt:lpstr>
      <vt:lpstr>Where it helps, where it fails</vt:lpstr>
      <vt:lpstr>Three layers: platform → model → surface</vt:lpstr>
      <vt:lpstr>What WashU provides</vt:lpstr>
      <vt:lpstr>Models: tiers and cost</vt:lpstr>
      <vt:lpstr>Surfaces: where the agent runs</vt:lpstr>
      <vt:lpstr>Division of labor</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default</dc:creator>
  <cp:lastModifiedBy>Chun, Yung</cp:lastModifiedBy>
  <cp:revision>679</cp:revision>
  <dcterms:created xsi:type="dcterms:W3CDTF">2013-07-09T17:46:55Z</dcterms:created>
  <dcterms:modified xsi:type="dcterms:W3CDTF">2026-10-15T15:07:02Z</dcterms:modified>
</cp:coreProperties>
</file>