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dia/image15.svg" ContentType="image/svg+xml"/>
  <Override PartName="/ppt/media/image2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2" r:id="rId1"/>
  </p:sldMasterIdLst>
  <p:notesMasterIdLst>
    <p:notesMasterId r:id="rId3"/>
  </p:notesMasterIdLst>
  <p:sldIdLst>
    <p:sldId id="256" r:id="rId2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240647-945F-4420-2BF3-6A3F96553581}" name="Meghan Doil" initials="MD" userId="S::Meghan@notionpartners.com::a8ec7eb1-6349-4529-b98e-40f78974ff70" providerId="AD"/>
  <p188:author id="{68575DE0-E424-2A10-766E-B786959A84E9}" name="Michelle Markee" initials="" userId="S::Michelle@notionpartners.com::55fc8d82-3871-406d-994c-c40c9b164ad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242A"/>
    <a:srgbClr val="5C646B"/>
    <a:srgbClr val="8C979A"/>
    <a:srgbClr val="8FD1C9"/>
    <a:srgbClr val="C41039"/>
    <a:srgbClr val="EBE8E5"/>
    <a:srgbClr val="009999"/>
    <a:srgbClr val="C08782"/>
    <a:srgbClr val="E7E7E7"/>
    <a:srgbClr val="F4EE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60" autoAdjust="0"/>
    <p:restoredTop sz="90223" autoAdjust="0"/>
  </p:normalViewPr>
  <p:slideViewPr>
    <p:cSldViewPr snapToGrid="0" snapToObjects="1">
      <p:cViewPr>
        <p:scale>
          <a:sx n="130" d="100"/>
          <a:sy n="130" d="100"/>
        </p:scale>
        <p:origin x="808" y="624"/>
      </p:cViewPr>
      <p:guideLst/>
    </p:cSldViewPr>
  </p:slideViewPr>
  <p:outlineViewPr>
    <p:cViewPr>
      <p:scale>
        <a:sx n="33" d="100"/>
        <a:sy n="33" d="100"/>
      </p:scale>
      <p:origin x="0" y="-8563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4" d="100"/>
        <a:sy n="5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8/10/relationships/authors" Target="authors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E3AD09-9720-9047-BB14-484CD98DBB2F}" type="datetimeFigureOut">
              <a:rPr lang="en-US" smtClean="0"/>
              <a:t>9/25/25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80D64-6F43-4C4D-BE6A-3F3482AA5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39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6.jpeg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14.png"/><Relationship Id="rId4" Type="http://schemas.openxmlformats.org/officeDocument/2006/relationships/image" Target="../media/image15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Relationship Id="rId3" Type="http://schemas.openxmlformats.org/officeDocument/2006/relationships/image" Target="../media/image14.png"/><Relationship Id="rId4" Type="http://schemas.openxmlformats.org/officeDocument/2006/relationships/image" Target="../media/image15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7.emf"/><Relationship Id="rId4" Type="http://schemas.openxmlformats.org/officeDocument/2006/relationships/image" Target="../media/image14.png"/><Relationship Id="rId5" Type="http://schemas.openxmlformats.org/officeDocument/2006/relationships/image" Target="../media/image15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gif"/><Relationship Id="rId3" Type="http://schemas.openxmlformats.org/officeDocument/2006/relationships/image" Target="../media/image19.png"/><Relationship Id="rId4" Type="http://schemas.openxmlformats.org/officeDocument/2006/relationships/image" Target="../media/image14.png"/><Relationship Id="rId5" Type="http://schemas.openxmlformats.org/officeDocument/2006/relationships/image" Target="../media/image15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Relationship Id="rId3" Type="http://schemas.openxmlformats.org/officeDocument/2006/relationships/image" Target="../media/image19.png"/><Relationship Id="rId4" Type="http://schemas.openxmlformats.org/officeDocument/2006/relationships/image" Target="../media/image14.png"/><Relationship Id="rId5" Type="http://schemas.openxmlformats.org/officeDocument/2006/relationships/image" Target="../media/image15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4.png"/><Relationship Id="rId4" Type="http://schemas.openxmlformats.org/officeDocument/2006/relationships/image" Target="../media/image15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7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eg"/><Relationship Id="rId3" Type="http://schemas.openxmlformats.org/officeDocument/2006/relationships/image" Target="../media/image22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1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22548E1-D411-DEF1-E24E-40436650157F}"/>
              </a:ext>
            </a:extLst>
          </p:cNvPr>
          <p:cNvSpPr/>
          <p:nvPr userDrawn="1"/>
        </p:nvSpPr>
        <p:spPr>
          <a:xfrm>
            <a:off x="393539" y="6134100"/>
            <a:ext cx="4130040" cy="597535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22CF4B-9F6B-E5CF-44C0-5E3A7B34A6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0000"/>
          <a:stretch/>
        </p:blipFill>
        <p:spPr>
          <a:xfrm>
            <a:off x="0" y="0"/>
            <a:ext cx="299824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90864918-E79B-7A8B-4C60-23558A97CF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021"/>
          <a:stretch>
            <a:fillRect/>
          </a:stretch>
        </p:blipFill>
        <p:spPr>
          <a:xfrm>
            <a:off x="3660140" y="1720629"/>
            <a:ext cx="2435860" cy="562388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F7FAA7F-60A9-60B1-A86E-8747601130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140" y="2642024"/>
            <a:ext cx="8145780" cy="1797262"/>
          </a:xfrm>
        </p:spPr>
        <p:txBody>
          <a:bodyPr/>
          <a:lstStyle>
            <a:lvl1pPr>
              <a:defRPr sz="4400">
                <a:solidFill>
                  <a:schemeClr val="tx1"/>
                </a:solidFill>
              </a:defRPr>
            </a:lvl1pPr>
            <a:lvl2pPr>
              <a:spcBef>
                <a:spcPts val="6000"/>
              </a:spcBef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FA57CF-6C6E-168E-2F7F-1158C0BEE878}"/>
              </a:ext>
            </a:extLst>
          </p:cNvPr>
          <p:cNvCxnSpPr>
            <a:cxnSpLocks/>
          </p:cNvCxnSpPr>
          <p:nvPr userDrawn="1"/>
        </p:nvCxnSpPr>
        <p:spPr>
          <a:xfrm>
            <a:off x="3660140" y="3462220"/>
            <a:ext cx="203454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BFF417B7-BA1B-C990-93ED-20D10BD352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955F34C6-03B5-47CC-EAC6-3F5653F8C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49CDA-75A6-0E73-DBA8-3993E947D9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60140" y="4439285"/>
            <a:ext cx="3197225" cy="419100"/>
          </a:xfrm>
        </p:spPr>
        <p:txBody>
          <a:bodyPr/>
          <a:lstStyle>
            <a:lvl1pPr marL="0" indent="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None/>
              <a:tabLst/>
              <a:defRPr lang="en-US" sz="1400" b="0" i="0" kern="1200" dirty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Date goes here</a:t>
            </a:r>
          </a:p>
        </p:txBody>
      </p:sp>
    </p:spTree>
    <p:extLst>
      <p:ext uri="{BB962C8B-B14F-4D97-AF65-F5344CB8AC3E}">
        <p14:creationId xmlns:p14="http://schemas.microsoft.com/office/powerpoint/2010/main" val="2406599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6F10-6790-8294-12D4-3833019EFB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0000"/>
          <a:stretch/>
        </p:blipFill>
        <p:spPr>
          <a:xfrm flipH="1">
            <a:off x="9193760" y="0"/>
            <a:ext cx="2998240" cy="6858000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CBC87B14-0FFC-6198-5CA7-BB9431393B7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6238754"/>
            <a:ext cx="12192000" cy="619246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4EC3F75-69F9-2C08-F055-BD90C356C06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42140"/>
          <a:stretch>
            <a:fillRect/>
          </a:stretch>
        </p:blipFill>
        <p:spPr>
          <a:xfrm>
            <a:off x="802079" y="1041717"/>
            <a:ext cx="2408954" cy="566928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551975D7-9DC4-036D-19B5-9387903187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2079" y="2079636"/>
            <a:ext cx="8145780" cy="1455410"/>
          </a:xfrm>
        </p:spPr>
        <p:txBody>
          <a:bodyPr/>
          <a:lstStyle>
            <a:lvl1pPr>
              <a:defRPr sz="4400">
                <a:solidFill>
                  <a:schemeClr val="tx1"/>
                </a:solidFill>
              </a:defRPr>
            </a:lvl1pPr>
            <a:lvl2pPr>
              <a:spcBef>
                <a:spcPts val="3000"/>
              </a:spcBef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6552A6-AC76-4702-722D-4879A234F34C}"/>
              </a:ext>
            </a:extLst>
          </p:cNvPr>
          <p:cNvSpPr txBox="1"/>
          <p:nvPr userDrawn="1"/>
        </p:nvSpPr>
        <p:spPr>
          <a:xfrm>
            <a:off x="802079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8" name="Footer Placeholder 5">
            <a:extLst>
              <a:ext uri="{FF2B5EF4-FFF2-40B4-BE49-F238E27FC236}">
                <a16:creationId xmlns:a16="http://schemas.microsoft.com/office/drawing/2014/main" id="{09E0364A-5ACD-50B5-E100-9276E5A18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9" name="Slide Number Placeholder 6">
            <a:extLst>
              <a:ext uri="{FF2B5EF4-FFF2-40B4-BE49-F238E27FC236}">
                <a16:creationId xmlns:a16="http://schemas.microsoft.com/office/drawing/2014/main" id="{C65694F4-5083-6131-E4C6-96AFFC17B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066CD63-C27E-9D94-BFC5-3C2B52146A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2079" y="3535045"/>
            <a:ext cx="3197225" cy="419100"/>
          </a:xfrm>
        </p:spPr>
        <p:txBody>
          <a:bodyPr/>
          <a:lstStyle>
            <a:lvl1pPr marL="0" indent="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None/>
              <a:tabLst/>
              <a:defRPr lang="en-US" sz="1400" b="0" i="0" kern="1200" dirty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Date goes here</a:t>
            </a:r>
          </a:p>
        </p:txBody>
      </p:sp>
    </p:spTree>
    <p:extLst>
      <p:ext uri="{BB962C8B-B14F-4D97-AF65-F5344CB8AC3E}">
        <p14:creationId xmlns:p14="http://schemas.microsoft.com/office/powerpoint/2010/main" val="288306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9A143-75D6-42B0-B93D-4D5487BFC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71AC95-8698-5680-BA64-86571A8FF8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497D5A6A-7B14-D48F-CB02-107E77393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AAADD1CB-035A-F372-B750-3C92D6A1FB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51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and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FD4370C0-4089-AEA2-CC5A-49F16AA473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1950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99A143-75D6-42B0-B93D-4D5487BFCD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427" y="437444"/>
            <a:ext cx="11167811" cy="6141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Impact header slide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71AC95-8698-5680-BA64-86571A8FF8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placeholder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497D5A6A-7B14-D48F-CB02-107E77393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AAADD1CB-035A-F372-B750-3C92D6A1FB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461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56C9FE06-64EE-C25B-F18C-630C89E5E5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876FF27-5FCA-80F6-A141-CE82FE49E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386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, Header, Subhead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9C16F-506C-1F4E-84FA-6B66623E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708623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73B4726-A8F4-08FF-6507-4524E7544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322740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DE456-2FEC-6E8C-8BDC-0EB32B7352C0}"/>
              </a:ext>
            </a:extLst>
          </p:cNvPr>
          <p:cNvCxnSpPr>
            <a:cxnSpLocks/>
          </p:cNvCxnSpPr>
          <p:nvPr userDrawn="1"/>
        </p:nvCxnSpPr>
        <p:spPr>
          <a:xfrm>
            <a:off x="512763" y="619831"/>
            <a:ext cx="869901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C59531D-1141-BBE9-8A89-93DE69D59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1175" y="1996440"/>
            <a:ext cx="11171238" cy="40005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Footer Placeholder 5">
            <a:extLst>
              <a:ext uri="{FF2B5EF4-FFF2-40B4-BE49-F238E27FC236}">
                <a16:creationId xmlns:a16="http://schemas.microsoft.com/office/drawing/2014/main" id="{C91AEADF-3622-2AB3-401A-88D3A20DDC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6" name="Slide Number Placeholder 6">
            <a:extLst>
              <a:ext uri="{FF2B5EF4-FFF2-40B4-BE49-F238E27FC236}">
                <a16:creationId xmlns:a16="http://schemas.microsoft.com/office/drawing/2014/main" id="{A20AAE59-81C0-3F77-5EFF-205232CD6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7879DE5-46F4-5F51-D7AD-1FF2100F4F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305188"/>
            <a:ext cx="8631237" cy="314643"/>
          </a:xfrm>
        </p:spPr>
        <p:txBody>
          <a:bodyPr>
            <a:normAutofit/>
          </a:bodyPr>
          <a:lstStyle>
            <a:lvl1pPr>
              <a:defRPr sz="14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962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, Header,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9C16F-506C-1F4E-84FA-6B66623E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708623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73B4726-A8F4-08FF-6507-4524E7544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322740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DE456-2FEC-6E8C-8BDC-0EB32B7352C0}"/>
              </a:ext>
            </a:extLst>
          </p:cNvPr>
          <p:cNvCxnSpPr>
            <a:cxnSpLocks/>
          </p:cNvCxnSpPr>
          <p:nvPr userDrawn="1"/>
        </p:nvCxnSpPr>
        <p:spPr>
          <a:xfrm>
            <a:off x="512763" y="619831"/>
            <a:ext cx="869901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7879DE5-46F4-5F51-D7AD-1FF2100F4F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305188"/>
            <a:ext cx="8631237" cy="314643"/>
          </a:xfrm>
        </p:spPr>
        <p:txBody>
          <a:bodyPr>
            <a:normAutofit/>
          </a:bodyPr>
          <a:lstStyle>
            <a:lvl1pPr>
              <a:defRPr sz="14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0E89BBD-2DB3-5F60-B4AC-F04E8A8E8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030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E1F54-83F2-F09A-0540-B4F2FD1B5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31F7FA2B-4B6F-717B-2654-D8A994BCA1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899807B-0AFF-AB51-FFC9-AA3708B60E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1175" y="1714500"/>
            <a:ext cx="11168063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56CCB6A1-D661-D876-C30B-640D3FF67D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BBA0A6B3-6359-0588-6505-D6ACADE4B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0353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1C199-15AC-D14D-0AA6-CBE120306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38F124-4CF3-FF0E-022F-8601D0A20F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714500"/>
            <a:ext cx="5399560" cy="44196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D0020D2-7B92-3072-B9F5-1D6B5C920B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79678" y="1714500"/>
            <a:ext cx="5399560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19B4353-EEBD-5EA1-93A8-2494728D2F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FA790335-AB91-2292-A583-68F8ED88AE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D1373D57-1AFC-40C1-C22B-486A74BFB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73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14C5A-8BA0-81C6-0A5B-801985C8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0526CDC-D763-BB32-5B81-7D599455B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714500"/>
            <a:ext cx="3503645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B60661A-EDC7-0966-9BFE-A0BC07258B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45898" y="1714500"/>
            <a:ext cx="3503645" cy="359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66A65CEC-5869-5D52-EAAE-4CE2E8B8331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79034" y="1714500"/>
            <a:ext cx="3503645" cy="359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F947AB0C-C375-6941-8123-42C74C4D44D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C469125A-AA88-702A-7398-FB0D80AE48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447CDAC8-C02C-3859-3C4F-64D38BF4F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24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DE30A47-262F-DB0A-10B8-D0B96680B8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91438" y="0"/>
            <a:ext cx="4500562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71800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71786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22DF9E99-5AA7-9ED8-F61D-1D5954C3C2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26809" y="3962400"/>
            <a:ext cx="464312" cy="1818640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A7ADC5-3522-3180-74FA-1FD3E52E29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91438" y="3962400"/>
            <a:ext cx="4500562" cy="1819275"/>
          </a:xfrm>
          <a:solidFill>
            <a:schemeClr val="bg1"/>
          </a:solidFill>
        </p:spPr>
        <p:txBody>
          <a:bodyPr lIns="365760"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4665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F0E2021-1BFC-E013-D60B-D3C38949C163}"/>
              </a:ext>
            </a:extLst>
          </p:cNvPr>
          <p:cNvSpPr/>
          <p:nvPr userDrawn="1"/>
        </p:nvSpPr>
        <p:spPr>
          <a:xfrm>
            <a:off x="7691121" y="0"/>
            <a:ext cx="4500879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8" y="437444"/>
            <a:ext cx="6715382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6714047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A7ADC5-3522-3180-74FA-1FD3E52E29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26809" y="437444"/>
            <a:ext cx="4965191" cy="1819275"/>
          </a:xfrm>
          <a:blipFill dpi="0" rotWithShape="1">
            <a:blip r:embed="rId2"/>
            <a:srcRect/>
            <a:stretch>
              <a:fillRect/>
            </a:stretch>
          </a:blipFill>
        </p:spPr>
        <p:txBody>
          <a:bodyPr lIns="365760" anchor="ctr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C88AAD13-4032-E181-7A51-74A7C8DCE3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2CDA17C2-87F8-D622-C9C6-0DA48C2C31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19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DE30A47-262F-DB0A-10B8-D0B96680B8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058822" y="0"/>
            <a:ext cx="4623857" cy="577222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6547395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6546177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1C759DE5-C518-1864-07A2-605A29BED7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58820" y="5772223"/>
            <a:ext cx="4622583" cy="361877"/>
          </a:xfrm>
          <a:prstGeom prst="rect">
            <a:avLst/>
          </a:prstGeom>
        </p:spPr>
      </p:pic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5C587A4E-B51B-38B5-EABB-058A87A03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371DED4E-8776-2AD9-D89C-89D43DA7B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1879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93398-F58C-AA7E-2DE2-6E5364D5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8695FB8-5358-59F4-420C-D9E81C03C9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111664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493C24-4E3E-2A02-65ED-8191B454623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1175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C21240A8-93CA-CA86-87C8-2B6B05DCD8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08134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C626A78-D122-9B29-0498-A377DB541C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19357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19666AC-2D6E-A5A6-AFF6-FBCDB9C604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12763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5ECC9D67-89DD-AD94-3BE8-8AB77F93F3A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308134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11DEFB8-BA80-BB3D-C458-66465402BFD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19357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F0E166F0-F95F-1D05-A287-251A139C6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3497BD9B-3994-7C1E-50C9-AB457C7F0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DC396A-37C3-88E2-4F5B-E5AA818428C1}"/>
              </a:ext>
            </a:extLst>
          </p:cNvPr>
          <p:cNvSpPr/>
          <p:nvPr userDrawn="1"/>
        </p:nvSpPr>
        <p:spPr>
          <a:xfrm>
            <a:off x="512763" y="3378197"/>
            <a:ext cx="3218192" cy="1828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72BCF2-879C-41F5-074F-3C352C123100}"/>
              </a:ext>
            </a:extLst>
          </p:cNvPr>
          <p:cNvSpPr/>
          <p:nvPr userDrawn="1"/>
        </p:nvSpPr>
        <p:spPr>
          <a:xfrm>
            <a:off x="4308134" y="3378197"/>
            <a:ext cx="3218192" cy="1828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EA6AB-2EF1-6F7D-4247-F7254496D6EE}"/>
              </a:ext>
            </a:extLst>
          </p:cNvPr>
          <p:cNvSpPr/>
          <p:nvPr userDrawn="1"/>
        </p:nvSpPr>
        <p:spPr>
          <a:xfrm>
            <a:off x="8119357" y="3378197"/>
            <a:ext cx="3218192" cy="18288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9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Callout with Image_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25C47B-E583-4956-949C-9708AC0FABD9}"/>
              </a:ext>
            </a:extLst>
          </p:cNvPr>
          <p:cNvSpPr/>
          <p:nvPr userDrawn="1"/>
        </p:nvSpPr>
        <p:spPr>
          <a:xfrm>
            <a:off x="7095281" y="0"/>
            <a:ext cx="5096719" cy="58216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2C01F-DC33-1CEB-8BA5-A45DDDF93E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F7BBA-E6A9-3998-5CD9-E9BCC68334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D9C8231-0F06-C130-3B01-3C74B722BA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7094538" cy="582136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9F8F94-168E-A76F-2A9F-1D254041F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6042" y="903288"/>
            <a:ext cx="3714750" cy="395763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 sz="1600">
                <a:solidFill>
                  <a:schemeClr val="bg1"/>
                </a:solidFill>
              </a:defRPr>
            </a:lvl2pPr>
            <a:lvl3pPr marL="0" indent="0">
              <a:buNone/>
              <a:defRPr sz="1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692821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Callout with Image_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F572A1C8-8552-05CD-8DEF-01C2B53523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753"/>
          <a:stretch/>
        </p:blipFill>
        <p:spPr>
          <a:xfrm>
            <a:off x="7095280" y="0"/>
            <a:ext cx="5096719" cy="582168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2C01F-DC33-1CEB-8BA5-A45DDDF93E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F7BBA-E6A9-3998-5CD9-E9BCC68334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D9C8231-0F06-C130-3B01-3C74B722BA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7094538" cy="582136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9F8F94-168E-A76F-2A9F-1D254041F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6042" y="903288"/>
            <a:ext cx="3714750" cy="395763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 sz="1600">
                <a:solidFill>
                  <a:schemeClr val="bg1"/>
                </a:solidFill>
              </a:defRPr>
            </a:lvl2pPr>
            <a:lvl3pPr marL="0" indent="0">
              <a:buNone/>
              <a:defRPr sz="1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13092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o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5185-B6F2-DA27-97F5-A26100824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5E45AE-8CD3-04FD-8145-5F22A12DA9AD}"/>
              </a:ext>
            </a:extLst>
          </p:cNvPr>
          <p:cNvSpPr/>
          <p:nvPr userDrawn="1"/>
        </p:nvSpPr>
        <p:spPr>
          <a:xfrm>
            <a:off x="0" y="4220063"/>
            <a:ext cx="12192000" cy="1914037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D3821-B7C2-E329-9CF4-E787569C31B2}"/>
              </a:ext>
            </a:extLst>
          </p:cNvPr>
          <p:cNvSpPr/>
          <p:nvPr userDrawn="1"/>
        </p:nvSpPr>
        <p:spPr>
          <a:xfrm>
            <a:off x="1233708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B13CA-8DC4-867F-D557-D69CBB8B67DA}"/>
              </a:ext>
            </a:extLst>
          </p:cNvPr>
          <p:cNvSpPr/>
          <p:nvPr userDrawn="1"/>
        </p:nvSpPr>
        <p:spPr>
          <a:xfrm>
            <a:off x="4896883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147C2C-8AD5-4E0E-B86F-FB610E2E8D77}"/>
              </a:ext>
            </a:extLst>
          </p:cNvPr>
          <p:cNvSpPr/>
          <p:nvPr userDrawn="1"/>
        </p:nvSpPr>
        <p:spPr>
          <a:xfrm>
            <a:off x="8508434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152127-24A4-5B38-2225-CFB9E1AC963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33488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B1E2DD4-B1C2-7FB1-C1EA-A46F91A95F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96883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B101D83-A82D-5B8E-7FA6-80AB668E994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508434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2A3F5B9-E2E5-EC83-A97F-CE3D399986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2803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E3CD09CE-CBA6-D7B7-229E-1DC0D3426C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10882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0936DEA-0015-2C53-7764-81D237AA57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33080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Footer Placeholder 5">
            <a:extLst>
              <a:ext uri="{FF2B5EF4-FFF2-40B4-BE49-F238E27FC236}">
                <a16:creationId xmlns:a16="http://schemas.microsoft.com/office/drawing/2014/main" id="{35EEC88B-64D7-58A8-A6A3-BAE15852F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2" name="Slide Number Placeholder 6">
            <a:extLst>
              <a:ext uri="{FF2B5EF4-FFF2-40B4-BE49-F238E27FC236}">
                <a16:creationId xmlns:a16="http://schemas.microsoft.com/office/drawing/2014/main" id="{9DA960EC-7047-D992-6A0D-B2B2BF704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73B05B23-359F-5932-B1A5-F9056330233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2763" y="1051561"/>
            <a:ext cx="111664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420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27E08-94CF-6FA6-259A-D4B0215436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427" y="2357290"/>
            <a:ext cx="3593213" cy="980194"/>
          </a:xfrm>
        </p:spPr>
        <p:txBody>
          <a:bodyPr/>
          <a:lstStyle>
            <a:lvl1pPr>
              <a:defRPr sz="5400">
                <a:latin typeface="Georgia" panose="02040502050405020303" pitchFamily="18" charset="0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AF18C4-8E88-BC25-A282-A9E543495953}"/>
              </a:ext>
            </a:extLst>
          </p:cNvPr>
          <p:cNvSpPr/>
          <p:nvPr userDrawn="1"/>
        </p:nvSpPr>
        <p:spPr>
          <a:xfrm>
            <a:off x="4104640" y="619760"/>
            <a:ext cx="8087360" cy="51409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8F1CF70-BAC4-4070-0CC3-53C7E9D385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4641" y="5509548"/>
            <a:ext cx="8085245" cy="25117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1604BCD-BC3A-DE84-90AD-BB35133C98FF}"/>
              </a:ext>
            </a:extLst>
          </p:cNvPr>
          <p:cNvCxnSpPr>
            <a:cxnSpLocks/>
          </p:cNvCxnSpPr>
          <p:nvPr userDrawn="1"/>
        </p:nvCxnSpPr>
        <p:spPr>
          <a:xfrm>
            <a:off x="512763" y="1696519"/>
            <a:ext cx="1424596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7FF7787-EC31-5F16-15F3-D99D80060DC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217639"/>
            <a:ext cx="2977197" cy="402336"/>
          </a:xfrm>
        </p:spPr>
        <p:txBody>
          <a:bodyPr>
            <a:noAutofit/>
          </a:bodyPr>
          <a:lstStyle>
            <a:lvl1pPr>
              <a:defRPr sz="18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C4E4B447-5E78-26D1-11D4-9F10C5ADB4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DE2CBB75-E971-3468-55D8-59660AE2D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923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2017E2-0C1F-52A1-C0B6-4354EC8C665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134100"/>
          </a:xfrm>
          <a:solidFill>
            <a:schemeClr val="accent2"/>
          </a:solidFill>
        </p:spPr>
        <p:txBody>
          <a:bodyPr anchor="ctr"/>
          <a:lstStyle>
            <a:lvl1pPr algn="ctr"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Image only slide (click icon to add image)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9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_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22EF925-F91E-CF0B-2906-3149E56CD5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37" y="6134100"/>
            <a:ext cx="12189463" cy="723901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2017E2-0C1F-52A1-C0B6-4354EC8C665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134100"/>
          </a:xfrm>
          <a:solidFill>
            <a:schemeClr val="accent2"/>
          </a:solidFill>
        </p:spPr>
        <p:txBody>
          <a:bodyPr anchor="ctr"/>
          <a:lstStyle>
            <a:lvl1pPr algn="ctr"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Image only slide (click icon to add image)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E06A606-B049-1036-FB09-50B455B5BA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905"/>
          <a:stretch>
            <a:fillRect/>
          </a:stretch>
        </p:blipFill>
        <p:spPr>
          <a:xfrm>
            <a:off x="511426" y="6353070"/>
            <a:ext cx="1381169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114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, subhead and gradien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22EF925-F91E-CF0B-2906-3149E56CD5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6134099"/>
            <a:ext cx="12190732" cy="723901"/>
          </a:xfrm>
          <a:prstGeom prst="rect">
            <a:avLst/>
          </a:prstGeom>
        </p:spPr>
      </p:pic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588FC03-5CCE-0D86-8A3A-F91943577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2BE9C5B-C374-57E0-7BD7-2A01F8707B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0BD3B1-489B-2447-0D11-E1BF10A2A18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905"/>
          <a:stretch>
            <a:fillRect/>
          </a:stretch>
        </p:blipFill>
        <p:spPr>
          <a:xfrm>
            <a:off x="511426" y="6353070"/>
            <a:ext cx="1381169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476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, subhead and re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03525CB-3575-15ED-8355-4B7991B1D33D}"/>
              </a:ext>
            </a:extLst>
          </p:cNvPr>
          <p:cNvSpPr/>
          <p:nvPr userDrawn="1"/>
        </p:nvSpPr>
        <p:spPr>
          <a:xfrm>
            <a:off x="0" y="6134099"/>
            <a:ext cx="12192000" cy="729206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588FC03-5CCE-0D86-8A3A-F91943577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2BE9C5B-C374-57E0-7BD7-2A01F8707B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132C04-CB78-14F0-5958-754E3BF58D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2800"/>
          <a:stretch>
            <a:fillRect/>
          </a:stretch>
        </p:blipFill>
        <p:spPr>
          <a:xfrm>
            <a:off x="511426" y="6353070"/>
            <a:ext cx="1359904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26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0EE4CDF9-A3FF-60F3-225A-734B768931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750F60-94FB-79D6-0C78-BB344949A7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591" r="26918" b="32805"/>
          <a:stretch/>
        </p:blipFill>
        <p:spPr>
          <a:xfrm>
            <a:off x="5613242" y="0"/>
            <a:ext cx="6578757" cy="6858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9275B372-8BD2-273A-2BEE-315CE5994D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42466"/>
          <a:stretch>
            <a:fillRect/>
          </a:stretch>
        </p:blipFill>
        <p:spPr>
          <a:xfrm>
            <a:off x="512763" y="1500396"/>
            <a:ext cx="2377921" cy="562806"/>
          </a:xfrm>
          <a:prstGeom prst="rect">
            <a:avLst/>
          </a:prstGeom>
        </p:spPr>
      </p:pic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1298D4D4-817F-775A-F0A7-805017E618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2451633"/>
            <a:ext cx="5472849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C51F79-C1BF-23EE-E735-4465B3DB39B0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381766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hD in Social Work - Brown School at Washington University in St. Louis">
            <a:extLst>
              <a:ext uri="{FF2B5EF4-FFF2-40B4-BE49-F238E27FC236}">
                <a16:creationId xmlns:a16="http://schemas.microsoft.com/office/drawing/2014/main" id="{4F9A68E1-9E2A-544D-6695-F11E6951FED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04"/>
          <a:stretch>
            <a:fillRect/>
          </a:stretch>
        </p:blipFill>
        <p:spPr bwMode="auto">
          <a:xfrm>
            <a:off x="0" y="-1"/>
            <a:ext cx="5135880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41317"/>
          <a:stretch>
            <a:fillRect/>
          </a:stretch>
        </p:blipFill>
        <p:spPr>
          <a:xfrm>
            <a:off x="6979921" y="755694"/>
            <a:ext cx="1493519" cy="3465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2A41D4-AB3D-151D-66DD-4962AAC7904A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466E0752-FF39-E98C-C771-E737A49D9D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344416E3-AC56-3F3E-611F-87B839A4BD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3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Master of Social Work - Brown School at Washington University in St. Louis">
            <a:extLst>
              <a:ext uri="{FF2B5EF4-FFF2-40B4-BE49-F238E27FC236}">
                <a16:creationId xmlns:a16="http://schemas.microsoft.com/office/drawing/2014/main" id="{397DCBF1-43F9-4AFE-21A3-1A39F7F9B88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2" b="3202"/>
          <a:stretch>
            <a:fillRect/>
          </a:stretch>
        </p:blipFill>
        <p:spPr bwMode="auto">
          <a:xfrm>
            <a:off x="0" y="1"/>
            <a:ext cx="513588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42189"/>
          <a:stretch>
            <a:fillRect/>
          </a:stretch>
        </p:blipFill>
        <p:spPr>
          <a:xfrm>
            <a:off x="6979922" y="755694"/>
            <a:ext cx="1471352" cy="346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FFF015-5AA5-9FD6-BE0F-F0E14040F9A8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1CCE03-8C2C-223C-A359-11D05E7AE8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8CEF6-7196-D2B3-7D3B-ADF792888D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22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07E073C-A36B-F166-AFE6-5A5B30179E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267450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856"/>
          <a:stretch>
            <a:fillRect/>
          </a:stretch>
        </p:blipFill>
        <p:spPr>
          <a:xfrm>
            <a:off x="6979921" y="755694"/>
            <a:ext cx="1479793" cy="346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FFF015-5AA5-9FD6-BE0F-F0E14040F9A8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234E558C-D3AB-836C-0C04-164B11135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46EC1455-E1D2-32ED-96F9-1FB01D1ED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065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 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0EE4CDF9-A3FF-60F3-225A-734B768931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750F60-94FB-79D6-0C78-BB344949A7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591" r="26918" b="32805"/>
          <a:stretch/>
        </p:blipFill>
        <p:spPr>
          <a:xfrm>
            <a:off x="5613242" y="0"/>
            <a:ext cx="6578757" cy="685800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D28EA1-5C18-4BC9-D6AE-63A3D89C12B3}"/>
              </a:ext>
            </a:extLst>
          </p:cNvPr>
          <p:cNvCxnSpPr>
            <a:cxnSpLocks/>
          </p:cNvCxnSpPr>
          <p:nvPr userDrawn="1"/>
        </p:nvCxnSpPr>
        <p:spPr>
          <a:xfrm>
            <a:off x="512764" y="1159727"/>
            <a:ext cx="142459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21CCD9-6C33-1B29-15B6-F3FF2BB661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4" y="680847"/>
            <a:ext cx="4886555" cy="402336"/>
          </a:xfrm>
        </p:spPr>
        <p:txBody>
          <a:bodyPr>
            <a:noAutofit/>
          </a:bodyPr>
          <a:lstStyle>
            <a:lvl1pPr>
              <a:defRPr sz="180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56F3DC-9167-0BC6-E0AD-B6B4E6BDBD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1487665"/>
            <a:ext cx="5472849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BEF91C-6E18-2231-3C63-8D5E788FA7F9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254984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D9A7C88-DE74-6283-B4A4-1DD45AE677E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" b="4206"/>
          <a:stretch>
            <a:fillRect/>
          </a:stretch>
        </p:blipFill>
        <p:spPr bwMode="auto">
          <a:xfrm>
            <a:off x="-6893" y="1"/>
            <a:ext cx="1219889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672B93-86ED-2C39-6490-F7DF186BF3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03720" y="0"/>
            <a:ext cx="4634970" cy="54864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578ACD-6DBC-F910-C01D-E10BC66954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04038" y="549275"/>
            <a:ext cx="4635500" cy="3849688"/>
          </a:xfrm>
          <a:solidFill>
            <a:schemeClr val="bg1"/>
          </a:solidFill>
        </p:spPr>
        <p:txBody>
          <a:bodyPr lIns="548640" anchor="ctr"/>
          <a:lstStyle>
            <a:lvl1pPr>
              <a:defRPr sz="3200"/>
            </a:lvl1pPr>
            <a:lvl2pPr>
              <a:spcBef>
                <a:spcPts val="2500"/>
              </a:spcBef>
              <a:defRPr sz="16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847C79-CC1A-B80C-4F37-51F734C13046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1285567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7C4EBF34-8EB4-A4D6-7E35-2C97CE8F0B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3C86DE6-86C2-5AB7-06B8-F8A11E1456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2316"/>
          <a:stretch>
            <a:fillRect/>
          </a:stretch>
        </p:blipFill>
        <p:spPr>
          <a:xfrm>
            <a:off x="4398335" y="3028244"/>
            <a:ext cx="3395329" cy="80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7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1.xml"/><Relationship Id="rId31" Type="http://schemas.openxmlformats.org/officeDocument/2006/relationships/image" Target="../media/image1.png"/><Relationship Id="rId32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980194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426" y="1710372"/>
            <a:ext cx="11167811" cy="4423728"/>
          </a:xfrm>
          <a:prstGeom prst="rect">
            <a:avLst/>
          </a:prstGeom>
          <a:ln>
            <a:noFill/>
          </a:ln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011EB-C8DD-A0FA-332D-2345BA9928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15D9D-4496-53BC-5543-A7CD7127CB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A093176-96C9-BEE1-C4CD-B5CEAF9D7715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rcRect r="42790"/>
          <a:stretch>
            <a:fillRect/>
          </a:stretch>
        </p:blipFill>
        <p:spPr>
          <a:xfrm>
            <a:off x="509322" y="6326908"/>
            <a:ext cx="1360118" cy="32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11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51" r:id="rId3"/>
    <p:sldLayoutId id="2147483675" r:id="rId4"/>
    <p:sldLayoutId id="2147483670" r:id="rId5"/>
    <p:sldLayoutId id="2147483653" r:id="rId6"/>
    <p:sldLayoutId id="2147483654" r:id="rId7"/>
    <p:sldLayoutId id="2147483648" r:id="rId8"/>
    <p:sldLayoutId id="2147483652" r:id="rId9"/>
    <p:sldLayoutId id="2147483649" r:id="rId10"/>
    <p:sldLayoutId id="2147483659" r:id="rId11"/>
    <p:sldLayoutId id="2147483668" r:id="rId12"/>
    <p:sldLayoutId id="2147483660" r:id="rId13"/>
    <p:sldLayoutId id="2147483666" r:id="rId14"/>
    <p:sldLayoutId id="2147483672" r:id="rId15"/>
    <p:sldLayoutId id="2147483673" r:id="rId16"/>
    <p:sldLayoutId id="2147483663" r:id="rId17"/>
    <p:sldLayoutId id="2147483658" r:id="rId18"/>
    <p:sldLayoutId id="2147483669" r:id="rId19"/>
    <p:sldLayoutId id="2147483674" r:id="rId20"/>
    <p:sldLayoutId id="2147483676" r:id="rId21"/>
    <p:sldLayoutId id="2147483734" r:id="rId22"/>
    <p:sldLayoutId id="2147483655" r:id="rId23"/>
    <p:sldLayoutId id="2147483661" r:id="rId24"/>
    <p:sldLayoutId id="2147483662" r:id="rId25"/>
    <p:sldLayoutId id="2147483671" r:id="rId26"/>
    <p:sldLayoutId id="2147483656" r:id="rId27"/>
    <p:sldLayoutId id="2147483667" r:id="rId28"/>
    <p:sldLayoutId id="2147483657" r:id="rId2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457200" rtl="0" eaLnBrk="1" latinLnBrk="0" hangingPunct="1">
        <a:lnSpc>
          <a:spcPct val="85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Georgia" panose="02040502050405020303" pitchFamily="18" charset="0"/>
          <a:cs typeface="Times New Roman" charset="0"/>
        </a:defRPr>
      </a:lvl1pPr>
    </p:titleStyle>
    <p:bodyStyle>
      <a:lvl1pPr marL="0" indent="0" algn="l" defTabSz="457200" rtl="0" eaLnBrk="1" latinLnBrk="0" hangingPunct="1">
        <a:lnSpc>
          <a:spcPct val="90000"/>
        </a:lnSpc>
        <a:spcBef>
          <a:spcPct val="20000"/>
        </a:spcBef>
        <a:buFont typeface="Arial"/>
        <a:buNone/>
        <a:tabLst/>
        <a:defRPr sz="2200" b="1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0" indent="0" algn="l" defTabSz="457200" rtl="0" eaLnBrk="1" latinLnBrk="0" hangingPunct="1">
        <a:spcBef>
          <a:spcPts val="800"/>
        </a:spcBef>
        <a:buFont typeface="Arial" panose="020B0604020202020204" pitchFamily="34" charset="0"/>
        <a:buNone/>
        <a:tabLst/>
        <a:defRPr sz="18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39700" indent="-139700" algn="l" defTabSz="457200" rtl="0" eaLnBrk="1" latinLnBrk="0" hangingPunct="1">
        <a:spcBef>
          <a:spcPts val="1200"/>
        </a:spcBef>
        <a:buClr>
          <a:schemeClr val="accent3"/>
        </a:buClr>
        <a:buFont typeface="Arial" panose="020B0604020202020204" pitchFamily="34" charset="0"/>
        <a:buChar char="•"/>
        <a:tabLst/>
        <a:defRPr sz="18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482600" indent="-139700" algn="l" defTabSz="457200" rtl="0" eaLnBrk="1" latinLnBrk="0" hangingPunct="1">
        <a:spcBef>
          <a:spcPts val="800"/>
        </a:spcBef>
        <a:buClr>
          <a:schemeClr val="accent3"/>
        </a:buClr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974725" indent="-114300" algn="l" defTabSz="457200" rtl="0" eaLnBrk="1" latinLnBrk="0" hangingPunct="1">
        <a:spcBef>
          <a:spcPts val="800"/>
        </a:spcBef>
        <a:buClr>
          <a:schemeClr val="accent3"/>
        </a:buClr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57" userDrawn="1">
          <p15:clr>
            <a:srgbClr val="F26B43"/>
          </p15:clr>
        </p15:guide>
        <p15:guide id="2" pos="323" userDrawn="1">
          <p15:clr>
            <a:srgbClr val="F26B43"/>
          </p15:clr>
        </p15:guide>
        <p15:guide id="3" orient="horz" pos="1080" userDrawn="1">
          <p15:clr>
            <a:srgbClr val="F26B43"/>
          </p15:clr>
        </p15:guide>
        <p15:guide id="4" orient="horz" pos="386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Suit Is Not the Scientist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>
          <a:xfrm>
            <a:off x="3657600" y="4434840"/>
            <a:ext cx="8138160" cy="457200"/>
          </a:xfrm>
        </p:spPr>
        <p:txBody>
          <a:bodyPr/>
          <a:lstStyle/>
          <a:p>
            <a:r>
              <a:rPr sz="2400"/>
              <a:t>Part 4 · Ethics, disclosure, and data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498348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F5F5F"/>
                </a:solidFill>
              </a:rPr>
              <a:t>AI-Empowered Research · Yung Chun · CERP³ · 2026-10-16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532120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chemeClr val="tx1"/>
                </a:solidFill>
              </a:rPr>
              <a:t>From </a:t>
            </a:r>
            <a:r>
              <a:rPr sz="1900" b="0" i="1">
                <a:solidFill>
                  <a:schemeClr val="tx1"/>
                </a:solidFill>
              </a:rPr>
              <a:t>“who wrote this?”</a:t>
            </a:r>
            <a:r>
              <a:rPr sz="1900" b="0" i="0">
                <a:solidFill>
                  <a:schemeClr val="tx1"/>
                </a:solidFill>
              </a:rPr>
              <a:t> to </a:t>
            </a:r>
            <a:r>
              <a:rPr sz="1900" b="1" i="1">
                <a:solidFill>
                  <a:schemeClr val="tx2"/>
                </a:solidFill>
              </a:rPr>
              <a:t>“who answers for this?”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Match the data to the workspace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First question, every time: what tier is this data, and is this workspace approved for it?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 · Data tiers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2064" y="1810512"/>
          <a:ext cx="11164823" cy="29992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1840"/>
                <a:gridCol w="7872983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chemeClr val="bg1"/>
                          </a:solidFill>
                        </a:rPr>
                        <a:t>Data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chemeClr val="bg1"/>
                          </a:solidFill>
                        </a:rPr>
                        <a:t>Where it may go (WashU)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chemeClr val="tx1"/>
                          </a:solidFill>
                        </a:rPr>
                        <a:t>Public / published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chemeClr val="tx1"/>
                          </a:solidFill>
                        </a:rPr>
                        <a:t>Any tool, including Gemini and Claude Code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chemeClr val="tx1"/>
                          </a:solidFill>
                        </a:rPr>
                        <a:t>De-identified research data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chemeClr val="tx1"/>
                          </a:solidFill>
                        </a:rPr>
                        <a:t>WashU institutional workspaces (Gemini, Claude Edu); first confirm your data use terms allow it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chemeClr val="tx1"/>
                          </a:solidFill>
                        </a:rPr>
                        <a:t>FERPA records, institutional IP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chemeClr val="tx1"/>
                          </a:solidFill>
                        </a:rPr>
                        <a:t>WashU workspaces approved for FERPA: Claude Edu (incl. Claude Code), Claude Secure, Gemini, Copilot Chat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chemeClr val="tx1"/>
                          </a:solidFill>
                        </a:rPr>
                        <a:t>PHI</a:t>
                      </a:r>
                    </a:p>
                  </a:txBody>
                  <a:tcPr marL="91440" marR="91440"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chemeClr val="tx2"/>
                          </a:solidFill>
                        </a:rPr>
                        <a:t>Only a PHI-approved workspace (for Claude: Claude Secure). Never Claude Code or any agentic tool</a:t>
                      </a:r>
                    </a:p>
                  </a:txBody>
                  <a:tcPr marL="91440" marR="91440" marT="36576" marB="36576" anchor="ctr">
                    <a:solidFill>
                      <a:srgbClr val="F6E2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chemeClr val="tx1"/>
                          </a:solidFill>
                        </a:rPr>
                        <a:t>DUA-restricted, restricted-use federal files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chemeClr val="tx1"/>
                          </a:solidFill>
                        </a:rPr>
                        <a:t>Institutional review before any AI touches them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14" name="Picture 13" descr="FaUserShield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5074920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0704" y="5010912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Personal accounts </a:t>
            </a:r>
            <a:r>
              <a:rPr sz="1600" b="0" i="0">
                <a:solidFill>
                  <a:schemeClr val="tx1"/>
                </a:solidFill>
              </a:rPr>
              <a:t>(free, Pro, Max) carry no WashU data agreement. Keep university data out.</a:t>
            </a:r>
          </a:p>
        </p:txBody>
      </p:sp>
      <p:sp>
        <p:nvSpPr>
          <p:cNvPr id="16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Institutional and journal policies change quickly. This is a durable framework; check the current source before relying on any rule. WashU: ai.washu.edu/tools (accessed 2026-10-12).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red lines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Stated plainly, one per 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 · Red lines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6949440" cy="841248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94944" y="2121408"/>
            <a:ext cx="438912" cy="438912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212140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9304" y="1920240"/>
            <a:ext cx="60350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bg1"/>
                </a:solidFill>
              </a:rPr>
              <a:t>No PHI in Claude Code, Claude Edu, or any agentic tool.</a:t>
            </a:r>
          </a:p>
          <a:p>
            <a:pPr algn="l"/>
            <a:r>
              <a:rPr sz="1400" b="0" i="0">
                <a:solidFill>
                  <a:schemeClr val="bg1"/>
                </a:solidFill>
              </a:rPr>
              <a:t>PHI goes only into a PHI-approved workspace (for Claude: Claude Secure).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2889504"/>
            <a:ext cx="6949440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944" y="2971800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94944" y="297180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" y="2889504"/>
            <a:ext cx="6035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No citation you have not personally opened and verified.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" y="3621024"/>
            <a:ext cx="6949440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94944" y="3703320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4944" y="37033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9304" y="3621024"/>
            <a:ext cx="6035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No AI-only qualitative coding.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4352544"/>
            <a:ext cx="6949440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694944" y="4434840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94944" y="443484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9304" y="4352544"/>
            <a:ext cx="6035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No uploading manuscripts you are peer-reviewing.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2064" y="5084064"/>
            <a:ext cx="6949440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694944" y="5166359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94944" y="5166359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9304" y="5084064"/>
            <a:ext cx="6035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No credentials or secrets committed to a repository.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1920240"/>
            <a:ext cx="39044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.gitignore (project template)</a:t>
            </a:r>
          </a:p>
        </p:txBody>
      </p:sp>
      <p:sp>
        <p:nvSpPr>
          <p:cNvPr id="34" name="code_block"/>
          <p:cNvSpPr/>
          <p:nvPr/>
        </p:nvSpPr>
        <p:spPr>
          <a:xfrm>
            <a:off x="7772400" y="2331720"/>
            <a:ext cx="3904487" cy="20116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73568" y="2331720"/>
            <a:ext cx="3538727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ourier New"/>
              </a:rPr>
              <a:t>data_raw/*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ourier New"/>
              </a:rPr>
              <a:t>data_clean/*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ourier New"/>
              </a:rPr>
              <a:t>.Renviron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ourier New"/>
              </a:rPr>
              <a:t>.env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526280"/>
            <a:ext cx="390448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5F5F5F"/>
                </a:solidFill>
              </a:rPr>
              <a:t>Secrets go in .Renviron, read with Sys.getenv(). CLAUDE.md never contains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to disclose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 decision tree that holds up across most venues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 · Disclosure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303520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ChartColumn_circle"/>
          <p:cNvSpPr/>
          <p:nvPr/>
        </p:nvSpPr>
        <p:spPr>
          <a:xfrm>
            <a:off x="676656" y="2011680"/>
            <a:ext cx="438912" cy="43891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ChartColum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121408"/>
            <a:ext cx="219456" cy="2194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52728" y="1920240"/>
            <a:ext cx="4453127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AI touched analysis, data transformation, or results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2231136"/>
            <a:ext cx="457200" cy="0"/>
          </a:xfrm>
          <a:prstGeom prst="line">
            <a:avLst/>
          </a:prstGeom>
          <a:ln w="3175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37960" y="1920240"/>
            <a:ext cx="5138928" cy="621792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0840" y="1920240"/>
            <a:ext cx="4846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bg1"/>
                </a:solidFill>
              </a:rPr>
              <a:t>Disclose in Methods: tool, version, date, what it did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2670048"/>
            <a:ext cx="5303520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_FaPenNib_circle"/>
          <p:cNvSpPr/>
          <p:nvPr/>
        </p:nvSpPr>
        <p:spPr>
          <a:xfrm>
            <a:off x="676656" y="2761488"/>
            <a:ext cx="438912" cy="43891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PenNi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2871216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52728" y="2670048"/>
            <a:ext cx="4453127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AI generated or substantially revised prose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0" y="2980944"/>
            <a:ext cx="457200" cy="0"/>
          </a:xfrm>
          <a:prstGeom prst="line">
            <a:avLst/>
          </a:prstGeom>
          <a:ln w="3175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37960" y="2670048"/>
            <a:ext cx="5138928" cy="621792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720840" y="2670048"/>
            <a:ext cx="4846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Disclose per venue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419856"/>
            <a:ext cx="5303520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con_FaMagnifyingGlass_circle"/>
          <p:cNvSpPr/>
          <p:nvPr/>
        </p:nvSpPr>
        <p:spPr>
          <a:xfrm>
            <a:off x="676656" y="3511296"/>
            <a:ext cx="438912" cy="43891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MagnifyingGlas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621024"/>
            <a:ext cx="219456" cy="21945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52728" y="3419856"/>
            <a:ext cx="4453127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AI helped with literature search or ideas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0" y="3730752"/>
            <a:ext cx="457200" cy="0"/>
          </a:xfrm>
          <a:prstGeom prst="line">
            <a:avLst/>
          </a:prstGeom>
          <a:ln w="3175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37960" y="3419856"/>
            <a:ext cx="5138928" cy="621792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720840" y="3419856"/>
            <a:ext cx="4846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Increasingly expected; check the venue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2064" y="4169664"/>
            <a:ext cx="5303520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icon_FaCheck_circle"/>
          <p:cNvSpPr/>
          <p:nvPr/>
        </p:nvSpPr>
        <p:spPr>
          <a:xfrm>
            <a:off x="676656" y="4261104"/>
            <a:ext cx="438912" cy="43891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Fa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4370832"/>
            <a:ext cx="219456" cy="21945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4169664"/>
            <a:ext cx="4453127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Grammar, spelling, formatting only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4480560"/>
            <a:ext cx="457200" cy="0"/>
          </a:xfrm>
          <a:prstGeom prst="line">
            <a:avLst/>
          </a:prstGeom>
          <a:ln w="3175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537960" y="4169664"/>
            <a:ext cx="5138928" cy="621792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20840" y="4169664"/>
            <a:ext cx="4846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Often exempt, but not everywhere (APA, Taylor &amp; Francis, ICMJE journals: disclose)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2064" y="4983480"/>
            <a:ext cx="11164824" cy="6858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FaRobo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5120640"/>
            <a:ext cx="41148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26464" y="4983480"/>
            <a:ext cx="997610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i="0">
                <a:solidFill>
                  <a:schemeClr val="bg1"/>
                </a:solidFill>
              </a:rPr>
              <a:t>AI cannot be an author. </a:t>
            </a:r>
            <a:r>
              <a:rPr sz="1900" b="0" i="0">
                <a:solidFill>
                  <a:schemeClr val="bg1"/>
                </a:solidFill>
              </a:rPr>
              <a:t>A person answers for every claim.</a:t>
            </a:r>
          </a:p>
        </p:txBody>
      </p:sp>
      <p:sp>
        <p:nvSpPr>
          <p:cNvPr id="44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Institutional and journal policies change quickly. This is a durable framework; check the current source before relying on any rule. Sources in the speaker notes (ICMJE, COPE, APA, AERA, Elsevier, Springer Nature, T&amp;F, Wiley, SAGE, NIH, NSF; accessed 2026-10-12).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statements you can adapt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Each says what the machine did and what the author did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 · Disclosure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3538728" cy="384048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ChartColumn_circle"/>
          <p:cNvSpPr/>
          <p:nvPr/>
        </p:nvSpPr>
        <p:spPr>
          <a:xfrm>
            <a:off x="740664" y="2148840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ChartColum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2286000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26464" y="210312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Analysis assistance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450592"/>
            <a:ext cx="24871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chemeClr val="tx2"/>
                </a:solidFill>
              </a:rPr>
              <a:t>Methods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2926080"/>
            <a:ext cx="3081528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chemeClr val="tx1"/>
                </a:solidFill>
              </a:rPr>
              <a:t>“Data cleaning and estimation code were drafted with Claude Code ([version], Anthropic) between [dates]. The author specified the cleaning rules and the research design, reviewed every script, re-ran the full pipeline, and verified all reported estimates against the output files.”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5112" y="1920240"/>
            <a:ext cx="3538728" cy="38404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_FaPenNib_circle"/>
          <p:cNvSpPr/>
          <p:nvPr/>
        </p:nvSpPr>
        <p:spPr>
          <a:xfrm>
            <a:off x="4553712" y="2148840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PenNi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286000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39512" y="210312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Writing assistance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9512" y="2450592"/>
            <a:ext cx="24871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chemeClr val="tx2"/>
                </a:solidFill>
              </a:rPr>
              <a:t>Acknowledgments or as the venue requires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926080"/>
            <a:ext cx="3081528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chemeClr val="tx1"/>
                </a:solidFill>
              </a:rPr>
              <a:t>“[Tool] was used to [edit for clarity / draft an initial version of section X]. The author revised the text and takes full responsibility for its content.”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1920240"/>
            <a:ext cx="3538728" cy="38404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icon_FaSitemap_circle"/>
          <p:cNvSpPr/>
          <p:nvPr/>
        </p:nvSpPr>
        <p:spPr>
          <a:xfrm>
            <a:off x="8366760" y="2148840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Site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2286000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052560" y="210312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Pipeline description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50592"/>
            <a:ext cx="24871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chemeClr val="tx2"/>
                </a:solidFill>
              </a:rPr>
              <a:t>Methods / replication note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926080"/>
            <a:ext cx="3081528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chemeClr val="tx1"/>
                </a:solidFill>
              </a:rPr>
              <a:t>“Analysis followed a scripted pipeline (import → cleaning → descriptives → models); all scripts, logs, and outputs are in the replication package. An AI coding agent drafted scripts under written project rules; the author approved each step and made all design decisions.”</a:t>
            </a:r>
          </a:p>
        </p:txBody>
      </p:sp>
      <p:sp>
        <p:nvSpPr>
          <p:cNvPr id="31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Templates, not legal language. Adapt to the venue.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 this a contribution statement?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The AI-use disclosure Claude drafted in Part 3, step 05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 · Making responsibility explicit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paste_disclosure_here"/>
          <p:cNvSpPr/>
          <p:nvPr/>
        </p:nvSpPr>
        <p:spPr>
          <a:xfrm>
            <a:off x="512064" y="1920240"/>
            <a:ext cx="7315200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7824" y="1920240"/>
            <a:ext cx="6583680" cy="3794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chemeClr val="tx2"/>
                </a:solidFill>
              </a:rPr>
              <a:t>[Paste the “AI-use disclosure (draft)” section from Part 3's writing/manuscript_brief.md here. Copy it during step 05 (about 11:02–11:04); paste as Part 4 opens.]</a:t>
            </a:r>
          </a:p>
          <a:p>
            <a:pPr algn="l">
              <a:spcAft>
                <a:spcPts val="1000"/>
              </a:spcAft>
            </a:pPr>
            <a:r>
              <a:rPr sz="1700" b="0" i="1">
                <a:solidFill>
                  <a:srgbClr val="5F5F5F"/>
                </a:solidFill>
              </a:rPr>
              <a:t>No disclosure from the live run? Use the analysis-assistance statement on Slide 5.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538727" cy="37947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icon_FaQuestion_circle"/>
          <p:cNvSpPr/>
          <p:nvPr/>
        </p:nvSpPr>
        <p:spPr>
          <a:xfrm>
            <a:off x="8412480" y="2194560"/>
            <a:ext cx="594360" cy="59436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aQuestion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070" y="2343150"/>
            <a:ext cx="297180" cy="2971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0" y="2971800"/>
            <a:ext cx="2990087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chemeClr val="bg1"/>
                </a:solidFill>
              </a:rPr>
              <a:t>Does it say plainly what </a:t>
            </a:r>
            <a:r>
              <a:rPr sz="1800" b="1" i="0">
                <a:solidFill>
                  <a:schemeClr val="bg1"/>
                </a:solidFill>
              </a:rPr>
              <a:t>the author</a:t>
            </a:r>
            <a:r>
              <a:rPr sz="1800" b="0" i="0">
                <a:solidFill>
                  <a:schemeClr val="bg1"/>
                </a:solidFill>
              </a:rPr>
              <a:t> did and what </a:t>
            </a:r>
            <a:r>
              <a:rPr sz="1800" b="1" i="0">
                <a:solidFill>
                  <a:schemeClr val="bg1"/>
                </a:solidFill>
              </a:rPr>
              <a:t>the machine</a:t>
            </a:r>
            <a:r>
              <a:rPr sz="1800" b="0" i="0">
                <a:solidFill>
                  <a:schemeClr val="bg1"/>
                </a:solidFill>
              </a:rPr>
              <a:t> did?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chemeClr val="bg1"/>
                </a:solidFill>
              </a:rPr>
              <a:t>Who answers for each claim?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pipeline that can be re-run can be defended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The structure from Parts 2–3 is an auditable trail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E · Pre-flight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4206240" cy="53035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" y="1920240"/>
            <a:ext cx="3840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Folder contract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15184" y="2450592"/>
            <a:ext cx="0" cy="128016"/>
          </a:xfrm>
          <a:prstGeom prst="line">
            <a:avLst/>
          </a:prstGeom>
          <a:ln w="2540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2064" y="2578608"/>
            <a:ext cx="4206240" cy="53035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40664" y="2578608"/>
            <a:ext cx="3840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4-digit scripts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15184" y="3108960"/>
            <a:ext cx="0" cy="128016"/>
          </a:xfrm>
          <a:prstGeom prst="line">
            <a:avLst/>
          </a:prstGeom>
          <a:ln w="2540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2064" y="3236976"/>
            <a:ext cx="4206240" cy="53035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0664" y="3236976"/>
            <a:ext cx="3840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CLAUDE.md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767328"/>
            <a:ext cx="0" cy="128016"/>
          </a:xfrm>
          <a:prstGeom prst="line">
            <a:avLst/>
          </a:prstGeom>
          <a:ln w="2540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2064" y="3895344"/>
            <a:ext cx="4206240" cy="53035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0664" y="3895344"/>
            <a:ext cx="3840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Cleaning log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15184" y="4425696"/>
            <a:ext cx="0" cy="128016"/>
          </a:xfrm>
          <a:prstGeom prst="line">
            <a:avLst/>
          </a:prstGeom>
          <a:ln w="2540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12064" y="4553712"/>
            <a:ext cx="4206240" cy="53035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40664" y="4553712"/>
            <a:ext cx="3840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Courier New"/>
              </a:rPr>
              <a:t>&lt;!-- source --&gt; on every number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" y="525780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1">
                <a:solidFill>
                  <a:schemeClr val="tx2"/>
                </a:solidFill>
              </a:rPr>
              <a:t>→ what the machine did, and what you decided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74920" y="1920240"/>
            <a:ext cx="6601968" cy="37947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_FaClipboardCheck_circle"/>
          <p:cNvSpPr/>
          <p:nvPr/>
        </p:nvSpPr>
        <p:spPr>
          <a:xfrm>
            <a:off x="5349240" y="2148840"/>
            <a:ext cx="548640" cy="5486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lipboard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286000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80760" y="2148840"/>
            <a:ext cx="541324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chemeClr val="bg1"/>
                </a:solidFill>
              </a:rPr>
              <a:t>Pre-flight: five questions</a:t>
            </a:r>
          </a:p>
        </p:txBody>
      </p:sp>
      <p:sp>
        <p:nvSpPr>
          <p:cNvPr id="32" name="Oval 31"/>
          <p:cNvSpPr/>
          <p:nvPr/>
        </p:nvSpPr>
        <p:spPr>
          <a:xfrm>
            <a:off x="5349240" y="2916936"/>
            <a:ext cx="384048" cy="38404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349240" y="29169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2880360"/>
            <a:ext cx="5596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bg1"/>
                </a:solidFill>
              </a:rPr>
              <a:t>What tier is this data, and is this workspace approved for it?</a:t>
            </a:r>
          </a:p>
        </p:txBody>
      </p:sp>
      <p:sp>
        <p:nvSpPr>
          <p:cNvPr id="35" name="Oval 34"/>
          <p:cNvSpPr/>
          <p:nvPr/>
        </p:nvSpPr>
        <p:spPr>
          <a:xfrm>
            <a:off x="5349240" y="3465576"/>
            <a:ext cx="384048" cy="38404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349240" y="34655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429000"/>
            <a:ext cx="5596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bg1"/>
                </a:solidFill>
              </a:rPr>
              <a:t>Have I opened and verified every citation?</a:t>
            </a:r>
          </a:p>
        </p:txBody>
      </p:sp>
      <p:sp>
        <p:nvSpPr>
          <p:cNvPr id="38" name="Oval 37"/>
          <p:cNvSpPr/>
          <p:nvPr/>
        </p:nvSpPr>
        <p:spPr>
          <a:xfrm>
            <a:off x="5349240" y="4014216"/>
            <a:ext cx="384048" cy="38404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349240" y="40142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3977640"/>
            <a:ext cx="5596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bg1"/>
                </a:solidFill>
              </a:rPr>
              <a:t>Can every number be re-run from a script?</a:t>
            </a:r>
          </a:p>
        </p:txBody>
      </p:sp>
      <p:sp>
        <p:nvSpPr>
          <p:cNvPr id="41" name="Oval 40"/>
          <p:cNvSpPr/>
          <p:nvPr/>
        </p:nvSpPr>
        <p:spPr>
          <a:xfrm>
            <a:off x="5349240" y="4562856"/>
            <a:ext cx="384048" cy="38404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349240" y="45628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97880" y="4526280"/>
            <a:ext cx="5596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chemeClr val="bg1"/>
                </a:solidFill>
              </a:rPr>
              <a:t>Can I explain and defend each research decision myself?</a:t>
            </a:r>
          </a:p>
        </p:txBody>
      </p:sp>
      <p:sp>
        <p:nvSpPr>
          <p:cNvPr id="44" name="Oval 43"/>
          <p:cNvSpPr/>
          <p:nvPr/>
        </p:nvSpPr>
        <p:spPr>
          <a:xfrm>
            <a:off x="5349240" y="5111496"/>
            <a:ext cx="384048" cy="38404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349240" y="51114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5074920"/>
            <a:ext cx="5596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bg1"/>
                </a:solidFill>
              </a:rPr>
              <a:t>What will I disclose, and where?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F · The argument (if time allows)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“…this time, in the shape of a Möbius strip. Inverted, please.”</a:t>
            </a:r>
          </a:p>
        </p:txBody>
      </p:sp>
      <p:sp>
        <p:nvSpPr>
          <p:cNvPr id="4" name="icon_FaUserTie_circle"/>
          <p:cNvSpPr/>
          <p:nvPr/>
        </p:nvSpPr>
        <p:spPr>
          <a:xfrm>
            <a:off x="6172200" y="914400"/>
            <a:ext cx="685800" cy="6858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aUserTie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085850"/>
            <a:ext cx="342900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192024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chemeClr val="bg1"/>
                </a:solidFill>
              </a:rPr>
              <a:t>The machine ran the simulation.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88036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chemeClr val="bg1"/>
                </a:solidFill>
              </a:rPr>
              <a:t>Stark thought of the shape, and Stark paid for the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484632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chemeClr val="bg1"/>
                </a:solidFill>
              </a:rPr>
              <a:t>Avengers: Endgame, as read in Chun (2026)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different things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Universities have spent years confusing them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 · The argument (if time allows)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445252" cy="23317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Brain_circle"/>
          <p:cNvSpPr/>
          <p:nvPr/>
        </p:nvSpPr>
        <p:spPr>
          <a:xfrm>
            <a:off x="877824" y="2286000"/>
            <a:ext cx="777240" cy="7772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rai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134" y="2480310"/>
            <a:ext cx="388620" cy="3886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83664" y="228600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chemeClr val="tx1"/>
                </a:solidFill>
              </a:rPr>
              <a:t>Understanding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329184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chemeClr val="tx1"/>
                </a:solidFill>
              </a:rPr>
              <a:t>Whose grasp of the problem produced the result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1920240"/>
            <a:ext cx="5445252" cy="23317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_FaSignature_circle"/>
          <p:cNvSpPr/>
          <p:nvPr/>
        </p:nvSpPr>
        <p:spPr>
          <a:xfrm>
            <a:off x="6597396" y="2286000"/>
            <a:ext cx="777240" cy="7772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Signature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1706" y="2480310"/>
            <a:ext cx="388620" cy="3886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03236" y="228600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chemeClr val="bg1"/>
                </a:solidFill>
              </a:rPr>
              <a:t>Responsibility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7396" y="329184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chemeClr val="bg1"/>
                </a:solidFill>
              </a:rPr>
              <a:t>Who answers for the result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" y="4526280"/>
            <a:ext cx="11164824" cy="118872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QuoteLef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84632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63624" y="4526280"/>
            <a:ext cx="9793224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1">
                <a:solidFill>
                  <a:schemeClr val="bg1"/>
                </a:solidFill>
              </a:rPr>
              <a:t>“We have built an elaborate apparatus for policing the first and almost nothing for demanding the second.”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proxy broke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Appointment, promotion, and tenure run on counts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 · The argument (if time allows)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3749039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ChartColumn_circle"/>
          <p:cNvSpPr/>
          <p:nvPr/>
        </p:nvSpPr>
        <p:spPr>
          <a:xfrm>
            <a:off x="676656" y="2011680"/>
            <a:ext cx="420624" cy="42062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ChartColum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2116836"/>
            <a:ext cx="210312" cy="2103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34440" y="1920240"/>
            <a:ext cx="29169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Publication counts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2670048"/>
            <a:ext cx="3749039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icon_FaChartColumn_circle"/>
          <p:cNvSpPr/>
          <p:nvPr/>
        </p:nvSpPr>
        <p:spPr>
          <a:xfrm>
            <a:off x="676656" y="2761488"/>
            <a:ext cx="420624" cy="42062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ChartColum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2866644"/>
            <a:ext cx="210312" cy="210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34440" y="2670048"/>
            <a:ext cx="29169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Journal placements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" y="3419856"/>
            <a:ext cx="3749039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con_FaChartColumn_circle"/>
          <p:cNvSpPr/>
          <p:nvPr/>
        </p:nvSpPr>
        <p:spPr>
          <a:xfrm>
            <a:off x="676656" y="3511296"/>
            <a:ext cx="420624" cy="42062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ChartColum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3616452"/>
            <a:ext cx="210312" cy="2103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3419856"/>
            <a:ext cx="29169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Citation 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4251960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5F5F5F"/>
                </a:solidFill>
              </a:rPr>
              <a:t>Proxies, used because reading everything doesn't scale.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34840" y="3017520"/>
            <a:ext cx="822960" cy="0"/>
          </a:xfrm>
          <a:prstGeom prst="line">
            <a:avLst/>
          </a:prstGeom>
          <a:ln w="38100">
            <a:solidFill>
              <a:schemeClr val="tx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486400" y="1920240"/>
            <a:ext cx="6190488" cy="21945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806440" y="1920240"/>
            <a:ext cx="55778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chemeClr val="bg1"/>
                </a:solidFill>
              </a:rPr>
              <a:t>“A competent paper is no longer costly to generate, and a proxy stops measuring the moment the thing it measures gets cheap.”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4343400"/>
            <a:ext cx="619048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06440" y="4343400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chemeClr val="tx1"/>
                </a:solidFill>
              </a:rPr>
              <a:t>Mechanical AI use isn't defection; it answers the incentive system correctly.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chemeClr val="tx1"/>
                </a:solidFill>
              </a:rPr>
              <a:t>It's </a:t>
            </a:r>
            <a:r>
              <a:rPr sz="1700" b="1" i="0">
                <a:solidFill>
                  <a:schemeClr val="tx2"/>
                </a:solidFill>
              </a:rPr>
              <a:t>“an equilibrium,”</a:t>
            </a:r>
            <a:r>
              <a:rPr sz="1700" b="0" i="0">
                <a:solidFill>
                  <a:schemeClr val="tx1"/>
                </a:solidFill>
              </a:rPr>
              <a:t> not </a:t>
            </a:r>
            <a:r>
              <a:rPr sz="1700" b="1" i="0">
                <a:solidFill>
                  <a:schemeClr val="tx2"/>
                </a:solidFill>
              </a:rPr>
              <a:t>“a lapse.”</a:t>
            </a:r>
          </a:p>
        </p:txBody>
      </p:sp>
      <p:sp>
        <p:nvSpPr>
          <p:cNvPr id="31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Chun (2026), The Suit Is Not the Scientist · yungchun.substack.com/p/the-suit-is-not-the-scientist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hard case is correct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Detectors, disclosure forms, and watermarks aim at text that is false or borrowed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 · The argument (if time allows)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445252" cy="175564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DoorClosed_circle"/>
          <p:cNvSpPr/>
          <p:nvPr/>
        </p:nvSpPr>
        <p:spPr>
          <a:xfrm>
            <a:off x="786384" y="2176272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DoorClose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2313432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17904" y="2176272"/>
            <a:ext cx="421081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</a:rPr>
              <a:t>Searle (1980)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834640"/>
            <a:ext cx="489661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The Chinese Room's output is correct. The right symbols tell you nothing about whether anyone grasped why they were right.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1920240"/>
            <a:ext cx="5445252" cy="1755648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_FaFileCircleCheck_circle"/>
          <p:cNvSpPr/>
          <p:nvPr/>
        </p:nvSpPr>
        <p:spPr>
          <a:xfrm>
            <a:off x="6505955" y="2176272"/>
            <a:ext cx="548640" cy="5486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FileCircleChec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2313432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37475" y="2176272"/>
            <a:ext cx="421081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i="0">
                <a:solidFill>
                  <a:schemeClr val="bg1"/>
                </a:solidFill>
              </a:rPr>
              <a:t>The hard 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5955" y="2834640"/>
            <a:ext cx="489661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bg1"/>
                </a:solidFill>
              </a:rPr>
              <a:t>Text that is “accurate, novel, well-evidenced, properly cited,” produced by a process that bypassed its author's grasp.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" y="3858768"/>
            <a:ext cx="5445252" cy="175564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_FaUserGraduate_circle"/>
          <p:cNvSpPr/>
          <p:nvPr/>
        </p:nvSpPr>
        <p:spPr>
          <a:xfrm>
            <a:off x="786384" y="4114800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UserGraduat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251960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17904" y="4114800"/>
            <a:ext cx="421081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</a:rPr>
              <a:t>Fan et al. (2025)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773168"/>
            <a:ext cx="489661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Better essays, no greater gain in knowledge or transfer: “metacognitive laziness.”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3858768"/>
            <a:ext cx="5445252" cy="175564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_FaRuler_circle"/>
          <p:cNvSpPr/>
          <p:nvPr/>
        </p:nvSpPr>
        <p:spPr>
          <a:xfrm>
            <a:off x="6505955" y="4114800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Rule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251960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37475" y="4114800"/>
            <a:ext cx="421081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</a:rPr>
              <a:t>Dawson et al.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5955" y="4773168"/>
            <a:ext cx="489661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Validity matters more than cheating. It is a measurement problem, not an integrity problem.</a:t>
            </a:r>
          </a:p>
        </p:txBody>
      </p:sp>
      <p:sp>
        <p:nvSpPr>
          <p:cNvPr id="33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Searle (1980), Behavioral and Brain Sciences · Fan et al. (2025), BJET · Dawson et al. (2024), Assessment &amp; Evaluation in Higher Education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Demand what can be demanded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Understanding can't be read off a page. Responsibility can be required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 · The argument (if time allows)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445252" cy="16002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2104" y="21031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chemeClr val="tx1"/>
                </a:solidFill>
              </a:rPr>
              <a:t>Understanding is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56032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We inferred it from texts, and “that instrument is the one that broke.”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1920240"/>
            <a:ext cx="5445252" cy="160020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chemeClr val="tx2"/>
                </a:solidFill>
              </a:rPr>
              <a:t>Responsibility is a relation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56032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between a person and a claim, and “an institution can demand it without inspecting anybody's mind.”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" y="3749039"/>
            <a:ext cx="3538728" cy="1600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86384" y="3931920"/>
            <a:ext cx="502920" cy="5029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6384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3931920"/>
            <a:ext cx="244144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chemeClr val="bg1"/>
                </a:solidFill>
              </a:rPr>
              <a:t>Contribution statements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572000"/>
            <a:ext cx="29900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bg1"/>
                </a:solidFill>
              </a:rPr>
              <a:t>what the author did, what the machine did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5112" y="3749039"/>
            <a:ext cx="3538728" cy="16002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599432" y="3931920"/>
            <a:ext cx="502920" cy="50292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99432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9512" y="3931920"/>
            <a:ext cx="244144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Readable dossiers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572000"/>
            <a:ext cx="29900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“so that judgment replaces counting”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3749039"/>
            <a:ext cx="3538728" cy="16002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412480" y="3931920"/>
            <a:ext cx="502920" cy="50292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41248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931920"/>
            <a:ext cx="244144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Burden on the signer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572000"/>
            <a:ext cx="29900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when a claim is challenged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" y="5486400"/>
            <a:ext cx="11164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chemeClr val="accent1"/>
                </a:solidFill>
              </a:rPr>
              <a:t>“None of that measures anyone's grasp. All of it is enforceable.”  Number 1 is what we just practiced (Slide 6).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“I am Iron Man”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72200" y="9144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chemeClr val="bg1"/>
                </a:solidFill>
              </a:rPr>
              <a:t>Said twice, eleven years apart:</a:t>
            </a:r>
          </a:p>
        </p:txBody>
      </p:sp>
      <p:sp>
        <p:nvSpPr>
          <p:cNvPr id="4" name="Oval 3"/>
          <p:cNvSpPr/>
          <p:nvPr/>
        </p:nvSpPr>
        <p:spPr>
          <a:xfrm>
            <a:off x="6172200" y="1554480"/>
            <a:ext cx="457200" cy="4572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722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50876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bg1"/>
                </a:solidFill>
              </a:rPr>
              <a:t>First, at the podium: </a:t>
            </a:r>
            <a:r>
              <a:rPr sz="1700" b="0" i="0">
                <a:solidFill>
                  <a:schemeClr val="bg1"/>
                </a:solidFill>
              </a:rPr>
              <a:t>a claim about location</a:t>
            </a:r>
          </a:p>
        </p:txBody>
      </p:sp>
      <p:sp>
        <p:nvSpPr>
          <p:cNvPr id="7" name="Oval 6"/>
          <p:cNvSpPr/>
          <p:nvPr/>
        </p:nvSpPr>
        <p:spPr>
          <a:xfrm>
            <a:off x="6172200" y="2331720"/>
            <a:ext cx="457200" cy="4572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72200" y="23317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28600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bg1"/>
                </a:solidFill>
              </a:rPr>
              <a:t>Last, at the end of Endgame: </a:t>
            </a:r>
            <a:r>
              <a:rPr sz="1700" b="0" i="0">
                <a:solidFill>
                  <a:schemeClr val="bg1"/>
                </a:solidFill>
              </a:rPr>
              <a:t>a claim about responsibility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324612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1">
                <a:solidFill>
                  <a:schemeClr val="bg1"/>
                </a:solidFill>
              </a:rPr>
              <a:t>“The first claim is the one we can no longer read off a page. The second is the one we can still demand.”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4846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Chun (2026) · yungchun.substack.com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34924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chemeClr val="bg1"/>
                </a:solidFill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WashU Medicine">
      <a:dk1>
        <a:srgbClr val="000000"/>
      </a:dk1>
      <a:lt1>
        <a:srgbClr val="FFFFFF"/>
      </a:lt1>
      <a:dk2>
        <a:srgbClr val="BA0C2F"/>
      </a:dk2>
      <a:lt2>
        <a:srgbClr val="F5F2EE"/>
      </a:lt2>
      <a:accent1>
        <a:srgbClr val="971B2F"/>
      </a:accent1>
      <a:accent2>
        <a:srgbClr val="D9D9D6"/>
      </a:accent2>
      <a:accent3>
        <a:srgbClr val="215732"/>
      </a:accent3>
      <a:accent4>
        <a:srgbClr val="B5E3D8"/>
      </a:accent4>
      <a:accent5>
        <a:srgbClr val="13322B"/>
      </a:accent5>
      <a:accent6>
        <a:srgbClr val="007D8A"/>
      </a:accent6>
      <a:hlink>
        <a:srgbClr val="BA0C2F"/>
      </a:hlink>
      <a:folHlink>
        <a:srgbClr val="BA0C2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6"/>
        </a:lnRef>
        <a:fillRef idx="0">
          <a:schemeClr val="accent6"/>
        </a:fillRef>
        <a:effectRef idx="0">
          <a:schemeClr val="accent6"/>
        </a:effectRef>
        <a:fontRef idx="minor">
          <a:schemeClr val="tx1"/>
        </a:fontRef>
      </a:style>
    </a:lnDef>
  </a:objectDefaults>
  <a:extraClrSchemeLst/>
  <a:custClrLst>
    <a:custClr name="WashU Green">
      <a:srgbClr val="215732"/>
    </a:custClr>
    <a:custClr name="Dark Green">
      <a:srgbClr val="13322B"/>
    </a:custClr>
    <a:custClr name="Coral">
      <a:srgbClr val="FF6D6A"/>
    </a:custClr>
    <a:custClr name="Custom Color 4">
      <a:srgbClr val="F1B434"/>
    </a:custClr>
    <a:custClr name="Teal">
      <a:srgbClr val="007D8A"/>
    </a:custClr>
    <a:custClr name="Mint">
      <a:srgbClr val="B5E3D8"/>
    </a:custClr>
    <a:custClr name="Gray">
      <a:srgbClr val="D9D9D6"/>
    </a:custClr>
  </a:custClrLst>
  <a:extLst>
    <a:ext uri="{05A4C25C-085E-4340-85A3-A5531E510DB2}">
      <thm15:themeFamily xmlns:thm15="http://schemas.microsoft.com/office/thememl/2012/main" name="Office Theme" id="{67E72386-5798-4EAD-80CA-990DB467CECF}" vid="{42220F3D-D07F-48BC-873E-53EDB36425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14349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default</dc:creator>
  <cp:lastModifiedBy>Chun, Yung</cp:lastModifiedBy>
  <cp:revision>679</cp:revision>
  <dcterms:created xsi:type="dcterms:W3CDTF">2013-07-09T17:46:55Z</dcterms:created>
  <dcterms:modified xsi:type="dcterms:W3CDTF">2025-09-25T16:12:24Z</dcterms:modified>
</cp:coreProperties>
</file>