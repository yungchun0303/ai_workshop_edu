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media/image15.svg" ContentType="image/svg+xml"/>
  <Override PartName="/ppt/media/image2.svg" ContentType="image/svg+xml"/>
  <Override PartName="/ppt/media/image5.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1"/>
  </p:sldMasterIdLst>
  <p:notesMasterIdLst>
    <p:notesMasterId r:id="rId3"/>
  </p:notesMasterIdLst>
  <p:sldIdLst>
    <p:sldId id="256" r:id="rId2"/>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240647-945F-4420-2BF3-6A3F96553581}" name="Meghan Doil" initials="MD" userId="S::Meghan@notionpartners.com::a8ec7eb1-6349-4529-b98e-40f78974ff70" providerId="AD"/>
  <p188:author id="{68575DE0-E424-2A10-766E-B786959A84E9}" name="Michelle Markee" initials="" userId="S::Michelle@notionpartners.com::55fc8d82-3871-406d-994c-c40c9b164ad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242A"/>
    <a:srgbClr val="5C646B"/>
    <a:srgbClr val="8C979A"/>
    <a:srgbClr val="8FD1C9"/>
    <a:srgbClr val="C41039"/>
    <a:srgbClr val="EBE8E5"/>
    <a:srgbClr val="009999"/>
    <a:srgbClr val="C08782"/>
    <a:srgbClr val="E7E7E7"/>
    <a:srgbClr val="F4EEE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60" autoAdjust="0"/>
    <p:restoredTop sz="90223" autoAdjust="0"/>
  </p:normalViewPr>
  <p:slideViewPr>
    <p:cSldViewPr snapToGrid="0" snapToObjects="1">
      <p:cViewPr>
        <p:scale>
          <a:sx n="130" d="100"/>
          <a:sy n="130" d="100"/>
        </p:scale>
        <p:origin x="808" y="624"/>
      </p:cViewPr>
      <p:guideLst/>
    </p:cSldViewPr>
  </p:slideViewPr>
  <p:outlineViewPr>
    <p:cViewPr>
      <p:scale>
        <a:sx n="33" d="100"/>
        <a:sy n="33" d="100"/>
      </p:scale>
      <p:origin x="0" y="-8563"/>
    </p:cViewPr>
  </p:outlineViewPr>
  <p:notesTextViewPr>
    <p:cViewPr>
      <p:scale>
        <a:sx n="100" d="100"/>
        <a:sy n="100" d="100"/>
      </p:scale>
      <p:origin x="0" y="0"/>
    </p:cViewPr>
  </p:notesTextViewPr>
  <p:sorterViewPr>
    <p:cViewPr>
      <p:scale>
        <a:sx n="54" d="100"/>
        <a:sy n="54"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8/10/relationships/authors" Target="authors.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E3AD09-9720-9047-BB14-484CD98DBB2F}" type="datetimeFigureOut">
              <a:rPr lang="en-US" smtClean="0"/>
              <a:t>9/25/25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380D64-6F43-4C4D-BE6A-3F3482AA5165}" type="slidenum">
              <a:rPr lang="en-US" smtClean="0"/>
              <a:t>‹#›</a:t>
            </a:fld>
            <a:endParaRPr lang="en-US"/>
          </a:p>
        </p:txBody>
      </p:sp>
    </p:spTree>
    <p:extLst>
      <p:ext uri="{BB962C8B-B14F-4D97-AF65-F5344CB8AC3E}">
        <p14:creationId xmlns:p14="http://schemas.microsoft.com/office/powerpoint/2010/main" val="4252390013"/>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and Goals (0.5 min)]</a:t>
            </a:r>
          </a:p>
          <a:p/>
          <a:p>
            <a:r>
              <a:t>Four goals, one per block. If an install fails, the person keeps going with the folder and CLAUDE.md work (which needs no install) and gets help during the break.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[Access First (1.5 min)]</a:t>
            </a:r>
          </a:p>
          <a:p/>
          <a:p>
            <a:r>
              <a:t>Sources: https://it.washu.edu/claude-for-education/ (accessed 2026-10-12); https://code.claude.com/docs/en/setup ("Claude Code requires a Pro, Max, Team, Enterprise, or Console account. The free claude.ai plan does not include Claude Code access."). Students: WashU's page describes Claude Code for faculty and staff, so confirm with WashU IT that your free Claude Edu seat includes it. A callback to Part 1, Slide 9: Claude Code means Claude Edu, and Claude Edu means no PHI.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on macOS (2 min)]</a:t>
            </a:r>
          </a:p>
          <a:p/>
          <a:p>
            <a:r>
              <a:t>From setup_guide_macos.md §1. Open Terminal (Cmd+Space, type "Terminal"). The native installer is the default. Homebrew is fine for people who already use it, but they must upgrade by hand. npm still works but is no longer the recommended path; don't use sudo with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on Windows (3 min)]</a:t>
            </a:r>
          </a:p>
          <a:p/>
          <a:p>
            <a:r>
              <a:t>From setup_guide_windows.md §1–2. The most common error in the room will be 'irm' is not recognized, which means a PowerShell command was run in CMD. Nothing is broken; use the CMD line or open PowerShell. The reverse error is The token '&amp;&amp;' is not a valid statement separator.</a:t>
            </a:r>
          </a:p>
          <a:p/>
          <a:p>
            <a:r>
              <a:t>Git for Windows (https://git-scm.com/install/windows, or winget install --id Git.Git -e --source winget) gives Claude a Bash shell. Without it, Claude falls back to PowerShell, which works but is less common in online R and shell examples. WinGet installs don't auto-update (winget upgrade Anthropic.ClaudeCode).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[Verify and Sign In (2 min)]</a:t>
            </a:r>
          </a:p>
          <a:p/>
          <a:p>
            <a:r>
              <a:t>From both guides (macOS §1 Step 2; Windows §2 Steps 4–5). Older online advice tells people to rm ~/.local/bin/claude as a "conflicting binary," which uninstalls Claude Code. If claude doctor reports a conflict, read its output; it names the fix.</a:t>
            </a:r>
          </a:p>
          <a:p/>
          <a:p>
            <a:r>
              <a:t>The R check matters on Windows because the R installer never adds R to PATH (CRAN rw-FAQ). Fix it now if needed (guide §2 Step 5), because the R connection in block B depends on it.</a:t>
            </a:r>
          </a:p>
          <a:p/>
          <a:p>
            <a:r>
              <a:t>Room check: ask for a show of hands for "claude --version works." Note who doesn't have it and pair them with a neighbor.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 vs. PC: Things to Know (1.5 min)]</a:t>
            </a:r>
          </a:p>
          <a:p/>
          <a:p>
            <a:r>
              <a:t>From setup_guide_windows.md §3 and §5c. Backslashes in R strings cause the \U error; here::here() avoids the issue entirely, which is why it's in every CLAUDE.md today. Box and OneDrive "on-demand" placeholders can look like empty files to Claude: right-click the folder and choose Always keep on this device.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[Permission Modes: How Much It Does Without Asking (2 min)]</a:t>
            </a:r>
          </a:p>
          <a:p/>
          <a:p>
            <a:r>
              <a:t>Source: https://code.claude.com/docs/en/permission-modes (accessed 2026-10-12); setup guides §6 (macOS) and §7 (Windows). Since v2.1.283, auto mode is the default starting mode where it's available, so a fresh session may act without asking. For the workshop and for learning, switch to Manual (Shift+Tab once from auto) or start with claude --permission-mode default. Plan mode is what we use in Part 3, step 03, to choose a research design: Claude can think but not touch files. Connect this to Part 1: "you check the work." Manual mode is how you see each step.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It Didn't Work: The Top Five (2.5 min)]</a:t>
            </a:r>
          </a:p>
          <a:p/>
          <a:p>
            <a:r>
              <a:t>Drawn from setup_guide_windows.md §10 and setup_guide_macos.md §1. Keep this slide up while people fix installs; it's the reference slide for block A. Have a TA or neighbor-pairing plan. Don't debug one machine at the front of the room for more than a minute.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Is MCP? (1.5 min)]</a:t>
            </a:r>
          </a:p>
          <a:p/>
          <a:p>
            <a:r>
              <a:t>Sources (accessed 2026-10-15): https://modelcontextprotocol.io/docs/getting-started/intro ("MCP (Model Context Protocol) is an open-source standard for connecting AI applications to external systems"); https://code.claude.com/docs/en/mcp (claude mcp add, scopes, project servers need approval); Codex codex mcp add (https://learn.chatgpt.com/docs/extend/mcp); Gemini CLI gemini mcp add (https://geminicli.com/docs/tools/mcp-server/). Setup details for R, Zotero, and Obsidian are in the setup guides (§3–5 macOS, §4–6 Windows).</a:t>
            </a:r>
          </a:p>
          <a:p/>
          <a:p>
            <a:r>
              <a:t>Part 1 said an agent is a model given tools. MCP is the standard way to give it more of them: a plug, like USB for software. Instead of each AI tool writing its own connector to RStudio or Zotero, the program offers an MCP "server" once, and any MCP-capable agent can use it. That's also why it transfers: the same server works in Claude Code, Codex CLI, and Gemini CLI (Part 1, Slide 13).</a:t>
            </a:r>
          </a:p>
          <a:p/>
          <a:p>
            <a:r>
              <a:t>For researchers, three useful examples: your live R session (next slide), your Zotero library, and your Obsidian notes. Registering one is a single command, claude mcp add, and /mcp lists what's connected.</a:t>
            </a:r>
          </a:p>
          <a:p/>
          <a:p>
            <a:r>
              <a:t>The caution matters: a connected tool is something the agent can read, and whatever it reads goes to the model. Connect only what a project needs, use servers from sources you trust (Posit's mcptools is on CRAN), and never connect a source holding data your workspace isn't approved for. Project-scoped servers shared in a repository ask for approval the first time.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Claude to R: mcptools (2.5 min)]</a:t>
            </a:r>
          </a:p>
          <a:p/>
          <a:p>
            <a:r>
              <a:t>From the setup guides (§3a macOS, §4a Windows). mcptools is Posit's package (CRAN 1.0.3, 2026-09-18). It replaces the older community rstudiomcp. Step 2 registers the server once for all your projects (-s user). Step 3 is the one people miss: without it, Claude's R runs in a separate background process and can't see the data frames in your RStudio environment.</a:t>
            </a:r>
          </a:p>
          <a:p/>
          <a:p>
            <a:r>
              <a:t>Windows: if step 2 fails because Rscript isn't found, either fix PATH or register with the full path to Rscript.exe (guide §4a). There's no firewall prompt, because mcptools talks over local named pipes, not network ports.</a:t>
            </a:r>
          </a:p>
          <a:p/>
          <a:p>
            <a:r>
              <a:t>Optional: this connection isn't required for Part 3. Claude can run R scripts directly with Rscript. The connection matters when you want Claude to look at objects in your live session.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 Work in VS Code (1.5 min)]</a:t>
            </a:r>
          </a:p>
          <a:p/>
          <a:p>
            <a:r>
              <a:t>From the setup guides (§3b macOS, §4b Windows); https://code.claude.com/docs/en/vs-code (accessed 2026-10-12). Older guides recommend Cline with an API key. That's obsolete here, and it bills separately from your subscription. The extension reads the same CLAUDE.md and settings as the CLI, so everything in block D carries over. Same idea as Part 1, Slide 11: same agent, different surface.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Tool Stack That Helps (1.5 min)]</a:t>
            </a:r>
          </a:p>
          <a:p/>
          <a:p>
            <a:r>
              <a:t>Checked 2026-10-12 (warp.dev/pricing, typora.io/store, obsidian.md/pricing); install commands are in setup guide §8 (macOS) and §9 (Windows). Why these matter for an agent workflow: Claude's work lands as Markdown and scripts, so a good Markdown reader makes reviewing it pleasant, and that's where you'll spend your time.</a:t>
            </a:r>
          </a:p>
          <a:p/>
          <a:p>
            <a:r>
              <a:t>Warp caveats (say them): Warp has its own AI agent, separate from Claude Code, so type claude at the prompt as usual. It collects product analytics by default (turn off under Settings → Privacy). Some users report display glitches with Claude Code; if you see them, use the built-in terminal. Don't send research data to Warp's AI.</a:t>
            </a:r>
          </a:p>
          <a:p/>
          <a:p>
            <a:r>
              <a:t>Typora vs. Obsidian: Typora for one document at a time, like a word processor; Obsidian for many linked notes. Both open plain .md files, so nothing is locked 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Project Folder (3 min)]</a:t>
            </a:r>
          </a:p>
          <a:p/>
          <a:p>
            <a:r>
              <a:t>Walk the tree. Two rules carry most of the weight: data_raw/ is never modified (so you can always rebuild from the source), and only cleaning scripts write to data_clean/ (so you always know where a clean file came from). The .gitignore keeps data_raw/, data_clean/, and .Renviron out of Git. Participants copy the template now; they'll fill in its CLAUDE.md in block 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[Names an Agent Can Follow (2.5 min)]</a:t>
            </a:r>
          </a:p>
          <a:p/>
          <a:p>
            <a:r>
              <a:t>The gaps are the point: 1500_merge_waves.Rmd fits between cleaning and descriptives without renumbering anything. Scripts run in numeric order, and each reads only from earlier stages. Lowercase names with no spaces avoid quoting problems in the terminal on both platforms.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Structure Matters to an Agent (2.5 min)]</a:t>
            </a:r>
          </a:p>
          <a:p/>
          <a:p>
            <a:r>
              <a:t>A callback to Part 1, Slide 4: the agent's work ends up as files. Without a folder contract, an agent saves cleaned_final.csv to the project root, overwrites last week's version, and nobody can tell which script made it. With one, everything has an address. That same record is what Part 4 needs for disclosure.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[CLAUDE.md: Memory at Two Levels (2 min)]</a:t>
            </a:r>
          </a:p>
          <a:p/>
          <a:p>
            <a:r>
              <a:t>From claude_md_guide.md §1–3 (Anthropic memory docs, accessed 2026-10-12). User-level and project-level files are both loaded and combined, broad to specific. There's also CLAUDE.local.md for personal notes on one project, and subfolder files; mention them, but today we use two levels. Anthropic: CLAUDE.md is "context, not enforced configuration."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User-Level Rule Worth Stealing: Ask Before Acting (2.5 min)]</a:t>
            </a:r>
          </a:p>
          <a:p/>
          <a:p>
            <a:r>
              <a:t>Full text in claude_md_guide.md §3. This is the author's real global CLAUDE.md, and it shaped every workshop file: each deliverable began with three to five numbered questions (who reads it, where it goes, how long it is) answered as "1A, 2B, 3A." Why it works: an agent that guesses fills every gap with the most common choice, which is often not yours. An agent that asks turns hidden decisions into deliberate ones, and multiple-choice questions take seconds to answer. It belongs at the user level because it describes how you work, in every project. It's the same principle as the checkpoints in Part 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[Anatomy of a Project CLAUDE.md, and Rules That Work (2.5 min)]</a:t>
            </a:r>
          </a:p>
          <a:p/>
          <a:p>
            <a:r>
              <a:t>Template: part2_setup/project_template/CLAUDE.md; completed example: part3_live_workflow/CLAUDE.md. Anthropic's guidance (memory and best-practices docs, accessed 2026-10-12): write instructions "concrete enough to verify"; "target under 200 lines per CLAUDE.md file. Longer files consume more context and reduce adherence"; and "For each line, ask: 'Would removing this cause Claude to make mistakes?' If not, cut it." More pairs are in the handout, claude_md_guide.md §5.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Never Goes In, and How to Draft It (1 min)]</a:t>
            </a:r>
          </a:p>
          <a:p/>
          <a:p>
            <a:r>
              <a:t>CLAUDE.md is often committed and shared, so treat it as publishable. Secrets go in .Renviron (git-ignored), read with Sys.getenv(). The Gemini step is the Part 1 division of labor: free for drafting prose, then Claude for the in-repo version. Paste no data into either.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Write Your CLAUDE.md (7 min)]</a:t>
            </a:r>
          </a:p>
          <a:p/>
          <a:p>
            <a:r>
              <a:t>Timed walkthrough in lecture_note_part2.md. The instructor fills in a template on screen at the same time (a toy project: survey of teacher retention), narrating each choice. People still installing do steps 1–2 in any text editor and step 3 after the break. Step 3 is the test: if Claude's summary is wrong or vague, the rule isn't clear enough. End at 10:10 sharp; the break gives install stragglers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4.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emf"/><Relationship Id="rId3" Type="http://schemas.openxmlformats.org/officeDocument/2006/relationships/image" Target="../media/image6.jpeg"/><Relationship Id="rId4" Type="http://schemas.openxmlformats.org/officeDocument/2006/relationships/image" Target="../media/image4.png"/><Relationship Id="rId5" Type="http://schemas.openxmlformats.org/officeDocument/2006/relationships/image" Target="../media/image5.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e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e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e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gif"/><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eg"/><Relationship Id="rId3" Type="http://schemas.openxmlformats.org/officeDocument/2006/relationships/image" Target="../media/image19.png"/><Relationship Id="rId4" Type="http://schemas.openxmlformats.org/officeDocument/2006/relationships/image" Target="../media/image14.png"/><Relationship Id="rId5" Type="http://schemas.openxmlformats.org/officeDocument/2006/relationships/image" Target="../media/image15.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4.png"/><Relationship Id="rId4" Type="http://schemas.openxmlformats.org/officeDocument/2006/relationships/image" Target="../media/image15.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7.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jpeg"/><Relationship Id="rId3" Type="http://schemas.openxmlformats.org/officeDocument/2006/relationships/image" Target="../media/image22.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4.png"/><Relationship Id="rId4" Type="http://schemas.openxmlformats.org/officeDocument/2006/relationships/image" Target="../media/image15.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1">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22548E1-D411-DEF1-E24E-40436650157F}"/>
              </a:ext>
            </a:extLst>
          </p:cNvPr>
          <p:cNvSpPr/>
          <p:nvPr userDrawn="1"/>
        </p:nvSpPr>
        <p:spPr>
          <a:xfrm>
            <a:off x="393539" y="6134100"/>
            <a:ext cx="4130040" cy="597535"/>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6422CF4B-9F6B-E5CF-44C0-5E3A7B34A6F4}"/>
              </a:ext>
            </a:extLst>
          </p:cNvPr>
          <p:cNvPicPr>
            <a:picLocks noChangeAspect="1"/>
          </p:cNvPicPr>
          <p:nvPr userDrawn="1"/>
        </p:nvPicPr>
        <p:blipFill>
          <a:blip r:embed="rId2"/>
          <a:srcRect l="50000"/>
          <a:stretch/>
        </p:blipFill>
        <p:spPr>
          <a:xfrm>
            <a:off x="0" y="0"/>
            <a:ext cx="2998240" cy="6858000"/>
          </a:xfrm>
          <a:prstGeom prst="rect">
            <a:avLst/>
          </a:prstGeom>
        </p:spPr>
      </p:pic>
      <p:pic>
        <p:nvPicPr>
          <p:cNvPr id="6" name="Graphic 5">
            <a:extLst>
              <a:ext uri="{FF2B5EF4-FFF2-40B4-BE49-F238E27FC236}">
                <a16:creationId xmlns:a16="http://schemas.microsoft.com/office/drawing/2014/main" id="{90864918-E79B-7A8B-4C60-23558A97CF83}"/>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021"/>
          <a:stretch>
            <a:fillRect/>
          </a:stretch>
        </p:blipFill>
        <p:spPr>
          <a:xfrm>
            <a:off x="3660140" y="1720629"/>
            <a:ext cx="2435860" cy="562388"/>
          </a:xfrm>
          <a:prstGeom prst="rect">
            <a:avLst/>
          </a:prstGeom>
        </p:spPr>
      </p:pic>
      <p:sp>
        <p:nvSpPr>
          <p:cNvPr id="8" name="Text Placeholder 15">
            <a:extLst>
              <a:ext uri="{FF2B5EF4-FFF2-40B4-BE49-F238E27FC236}">
                <a16:creationId xmlns:a16="http://schemas.microsoft.com/office/drawing/2014/main" id="{CF7FAA7F-60A9-60B1-A86E-874760113022}"/>
              </a:ext>
            </a:extLst>
          </p:cNvPr>
          <p:cNvSpPr>
            <a:spLocks noGrp="1"/>
          </p:cNvSpPr>
          <p:nvPr>
            <p:ph type="body" sz="quarter" idx="13"/>
          </p:nvPr>
        </p:nvSpPr>
        <p:spPr>
          <a:xfrm>
            <a:off x="3660140" y="2642024"/>
            <a:ext cx="8145780" cy="1797262"/>
          </a:xfrm>
        </p:spPr>
        <p:txBody>
          <a:bodyPr/>
          <a:lstStyle>
            <a:lvl1pPr>
              <a:defRPr sz="4400">
                <a:solidFill>
                  <a:schemeClr val="tx1"/>
                </a:solidFill>
              </a:defRPr>
            </a:lvl1pPr>
            <a:lvl2pPr>
              <a:spcBef>
                <a:spcPts val="6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cxnSp>
        <p:nvCxnSpPr>
          <p:cNvPr id="10" name="Straight Connector 9">
            <a:extLst>
              <a:ext uri="{FF2B5EF4-FFF2-40B4-BE49-F238E27FC236}">
                <a16:creationId xmlns:a16="http://schemas.microsoft.com/office/drawing/2014/main" id="{94FA57CF-6C6E-168E-2F7F-1158C0BEE878}"/>
              </a:ext>
            </a:extLst>
          </p:cNvPr>
          <p:cNvCxnSpPr>
            <a:cxnSpLocks/>
          </p:cNvCxnSpPr>
          <p:nvPr userDrawn="1"/>
        </p:nvCxnSpPr>
        <p:spPr>
          <a:xfrm>
            <a:off x="3660140" y="3462220"/>
            <a:ext cx="2034540"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7" name="Footer Placeholder 5">
            <a:extLst>
              <a:ext uri="{FF2B5EF4-FFF2-40B4-BE49-F238E27FC236}">
                <a16:creationId xmlns:a16="http://schemas.microsoft.com/office/drawing/2014/main" id="{BFF417B7-BA1B-C990-93ED-20D10BD3523F}"/>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8" name="Slide Number Placeholder 6">
            <a:extLst>
              <a:ext uri="{FF2B5EF4-FFF2-40B4-BE49-F238E27FC236}">
                <a16:creationId xmlns:a16="http://schemas.microsoft.com/office/drawing/2014/main" id="{955F34C6-03B5-47CC-EAC6-3F5653F8CFB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Text Placeholder 2">
            <a:extLst>
              <a:ext uri="{FF2B5EF4-FFF2-40B4-BE49-F238E27FC236}">
                <a16:creationId xmlns:a16="http://schemas.microsoft.com/office/drawing/2014/main" id="{CC049CDA-75A6-0E73-DBA8-3993E947D961}"/>
              </a:ext>
            </a:extLst>
          </p:cNvPr>
          <p:cNvSpPr>
            <a:spLocks noGrp="1"/>
          </p:cNvSpPr>
          <p:nvPr>
            <p:ph type="body" sz="quarter" idx="14" hasCustomPrompt="1"/>
          </p:nvPr>
        </p:nvSpPr>
        <p:spPr>
          <a:xfrm>
            <a:off x="3660140" y="443928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406599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9716F10-6790-8294-12D4-3833019EFBFB}"/>
              </a:ext>
            </a:extLst>
          </p:cNvPr>
          <p:cNvPicPr>
            <a:picLocks noChangeAspect="1"/>
          </p:cNvPicPr>
          <p:nvPr userDrawn="1"/>
        </p:nvPicPr>
        <p:blipFill>
          <a:blip r:embed="rId2"/>
          <a:srcRect l="50000"/>
          <a:stretch/>
        </p:blipFill>
        <p:spPr>
          <a:xfrm flipH="1">
            <a:off x="9193760" y="0"/>
            <a:ext cx="2998240" cy="6858000"/>
          </a:xfrm>
          <a:prstGeom prst="rect">
            <a:avLst/>
          </a:prstGeom>
        </p:spPr>
      </p:pic>
      <p:pic>
        <p:nvPicPr>
          <p:cNvPr id="15" name="Content Placeholder 4">
            <a:extLst>
              <a:ext uri="{FF2B5EF4-FFF2-40B4-BE49-F238E27FC236}">
                <a16:creationId xmlns:a16="http://schemas.microsoft.com/office/drawing/2014/main" id="{CBC87B14-0FFC-6198-5CA7-BB9431393B7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 y="6238754"/>
            <a:ext cx="12192000" cy="619246"/>
          </a:xfrm>
          <a:prstGeom prst="rect">
            <a:avLst/>
          </a:prstGeom>
        </p:spPr>
      </p:pic>
      <p:pic>
        <p:nvPicPr>
          <p:cNvPr id="7" name="Graphic 6">
            <a:extLst>
              <a:ext uri="{FF2B5EF4-FFF2-40B4-BE49-F238E27FC236}">
                <a16:creationId xmlns:a16="http://schemas.microsoft.com/office/drawing/2014/main" id="{E4EC3F75-69F9-2C08-F055-BD90C356C06E}"/>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140"/>
          <a:stretch>
            <a:fillRect/>
          </a:stretch>
        </p:blipFill>
        <p:spPr>
          <a:xfrm>
            <a:off x="802079" y="1041717"/>
            <a:ext cx="2408954" cy="566928"/>
          </a:xfrm>
          <a:prstGeom prst="rect">
            <a:avLst/>
          </a:prstGeom>
        </p:spPr>
      </p:pic>
      <p:sp>
        <p:nvSpPr>
          <p:cNvPr id="8" name="Text Placeholder 15">
            <a:extLst>
              <a:ext uri="{FF2B5EF4-FFF2-40B4-BE49-F238E27FC236}">
                <a16:creationId xmlns:a16="http://schemas.microsoft.com/office/drawing/2014/main" id="{551975D7-9DC4-036D-19B5-938790318739}"/>
              </a:ext>
            </a:extLst>
          </p:cNvPr>
          <p:cNvSpPr>
            <a:spLocks noGrp="1"/>
          </p:cNvSpPr>
          <p:nvPr>
            <p:ph type="body" sz="quarter" idx="13"/>
          </p:nvPr>
        </p:nvSpPr>
        <p:spPr>
          <a:xfrm>
            <a:off x="802079" y="2079636"/>
            <a:ext cx="8145780" cy="1455410"/>
          </a:xfrm>
        </p:spPr>
        <p:txBody>
          <a:bodyPr/>
          <a:lstStyle>
            <a:lvl1pPr>
              <a:defRPr sz="4400">
                <a:solidFill>
                  <a:schemeClr val="tx1"/>
                </a:solidFill>
              </a:defRPr>
            </a:lvl1pPr>
            <a:lvl2pPr>
              <a:spcBef>
                <a:spcPts val="3000"/>
              </a:spcBef>
              <a:defRPr sz="1800" b="1">
                <a:solidFill>
                  <a:schemeClr val="tx1">
                    <a:lumMod val="65000"/>
                    <a:lumOff val="35000"/>
                  </a:schemeClr>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806552A6-AC76-4702-722D-4879A234F34C}"/>
              </a:ext>
            </a:extLst>
          </p:cNvPr>
          <p:cNvSpPr txBox="1"/>
          <p:nvPr userDrawn="1"/>
        </p:nvSpPr>
        <p:spPr>
          <a:xfrm>
            <a:off x="802079"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8" name="Footer Placeholder 5">
            <a:extLst>
              <a:ext uri="{FF2B5EF4-FFF2-40B4-BE49-F238E27FC236}">
                <a16:creationId xmlns:a16="http://schemas.microsoft.com/office/drawing/2014/main" id="{09E0364A-5ACD-50B5-E100-9276E5A1876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9" name="Slide Number Placeholder 6">
            <a:extLst>
              <a:ext uri="{FF2B5EF4-FFF2-40B4-BE49-F238E27FC236}">
                <a16:creationId xmlns:a16="http://schemas.microsoft.com/office/drawing/2014/main" id="{C65694F4-5083-6131-E4C6-96AFFC17BED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2" name="Text Placeholder 2">
            <a:extLst>
              <a:ext uri="{FF2B5EF4-FFF2-40B4-BE49-F238E27FC236}">
                <a16:creationId xmlns:a16="http://schemas.microsoft.com/office/drawing/2014/main" id="{A066CD63-C27E-9D94-BFC5-3C2B52146AA2}"/>
              </a:ext>
            </a:extLst>
          </p:cNvPr>
          <p:cNvSpPr>
            <a:spLocks noGrp="1"/>
          </p:cNvSpPr>
          <p:nvPr>
            <p:ph type="body" sz="quarter" idx="14" hasCustomPrompt="1"/>
          </p:nvPr>
        </p:nvSpPr>
        <p:spPr>
          <a:xfrm>
            <a:off x="802079" y="3535045"/>
            <a:ext cx="3197225" cy="419100"/>
          </a:xfrm>
        </p:spPr>
        <p:txBody>
          <a:bodyPr/>
          <a:lstStyle>
            <a:lvl1pPr marL="0" indent="0" algn="l" defTabSz="457200" rtl="0" eaLnBrk="1" latinLnBrk="0" hangingPunct="1">
              <a:lnSpc>
                <a:spcPct val="90000"/>
              </a:lnSpc>
              <a:spcBef>
                <a:spcPct val="20000"/>
              </a:spcBef>
              <a:buFont typeface="Arial"/>
              <a:buNone/>
              <a:tabLst/>
              <a:defRPr lang="en-US" sz="1400" b="0" i="0" kern="1200" dirty="0">
                <a:solidFill>
                  <a:schemeClr val="accent5"/>
                </a:solidFill>
                <a:latin typeface="+mn-lt"/>
                <a:ea typeface="+mn-ea"/>
                <a:cs typeface="+mn-cs"/>
              </a:defRPr>
            </a:lvl1pPr>
          </a:lstStyle>
          <a:p>
            <a:pPr lvl="0"/>
            <a:r>
              <a:rPr lang="en-US" dirty="0"/>
              <a:t>Date goes here</a:t>
            </a:r>
          </a:p>
        </p:txBody>
      </p:sp>
    </p:spTree>
    <p:extLst>
      <p:ext uri="{BB962C8B-B14F-4D97-AF65-F5344CB8AC3E}">
        <p14:creationId xmlns:p14="http://schemas.microsoft.com/office/powerpoint/2010/main" val="2883060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Header and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9A143-75D6-42B0-B93D-4D5487BFCDF2}"/>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4751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Header and Subhead Only">
    <p:spTree>
      <p:nvGrpSpPr>
        <p:cNvPr id="1" name=""/>
        <p:cNvGrpSpPr/>
        <p:nvPr/>
      </p:nvGrpSpPr>
      <p:grpSpPr>
        <a:xfrm>
          <a:off x="0" y="0"/>
          <a:ext cx="0" cy="0"/>
          <a:chOff x="0" y="0"/>
          <a:chExt cx="0" cy="0"/>
        </a:xfrm>
      </p:grpSpPr>
      <p:pic>
        <p:nvPicPr>
          <p:cNvPr id="3" name="Content Placeholder 4" descr="A red and green background&#10;&#10;AI-generated content may be incorrect.">
            <a:extLst>
              <a:ext uri="{FF2B5EF4-FFF2-40B4-BE49-F238E27FC236}">
                <a16:creationId xmlns:a16="http://schemas.microsoft.com/office/drawing/2014/main" id="{FD4370C0-4089-AEA2-CC5A-49F16AA4731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1950720"/>
          </a:xfrm>
          <a:prstGeom prst="rect">
            <a:avLst/>
          </a:prstGeom>
        </p:spPr>
      </p:pic>
      <p:sp>
        <p:nvSpPr>
          <p:cNvPr id="2" name="Title 1">
            <a:extLst>
              <a:ext uri="{FF2B5EF4-FFF2-40B4-BE49-F238E27FC236}">
                <a16:creationId xmlns:a16="http://schemas.microsoft.com/office/drawing/2014/main" id="{EB99A143-75D6-42B0-B93D-4D5487BFCDF2}"/>
              </a:ext>
            </a:extLst>
          </p:cNvPr>
          <p:cNvSpPr>
            <a:spLocks noGrp="1"/>
          </p:cNvSpPr>
          <p:nvPr>
            <p:ph type="title" hasCustomPrompt="1"/>
          </p:nvPr>
        </p:nvSpPr>
        <p:spPr>
          <a:xfrm>
            <a:off x="511427" y="437444"/>
            <a:ext cx="11167811" cy="614116"/>
          </a:xfrm>
        </p:spPr>
        <p:txBody>
          <a:bodyPr/>
          <a:lstStyle>
            <a:lvl1pPr>
              <a:defRPr>
                <a:solidFill>
                  <a:schemeClr val="bg1"/>
                </a:solidFill>
              </a:defRPr>
            </a:lvl1pPr>
          </a:lstStyle>
          <a:p>
            <a:r>
              <a:rPr lang="en-US" dirty="0"/>
              <a:t>Impact header slide</a:t>
            </a:r>
          </a:p>
        </p:txBody>
      </p:sp>
      <p:sp>
        <p:nvSpPr>
          <p:cNvPr id="6" name="Text Placeholder 5">
            <a:extLst>
              <a:ext uri="{FF2B5EF4-FFF2-40B4-BE49-F238E27FC236}">
                <a16:creationId xmlns:a16="http://schemas.microsoft.com/office/drawing/2014/main" id="{6671AC95-8698-5680-BA64-86571A8FF86B}"/>
              </a:ext>
            </a:extLst>
          </p:cNvPr>
          <p:cNvSpPr>
            <a:spLocks noGrp="1"/>
          </p:cNvSpPr>
          <p:nvPr>
            <p:ph type="body" sz="quarter" idx="12" hasCustomPrompt="1"/>
          </p:nvPr>
        </p:nvSpPr>
        <p:spPr>
          <a:xfrm>
            <a:off x="512763" y="1051561"/>
            <a:ext cx="11169916" cy="413346"/>
          </a:xfrm>
        </p:spPr>
        <p:txBody>
          <a:bodyPr>
            <a:normAutofit/>
          </a:bodyPr>
          <a:lstStyle>
            <a:lvl1pPr>
              <a:defRPr sz="1800">
                <a:solidFill>
                  <a:schemeClr val="bg1"/>
                </a:solidFill>
              </a:defRPr>
            </a:lvl1pPr>
          </a:lstStyle>
          <a:p>
            <a:pPr lvl="0"/>
            <a:r>
              <a:rPr lang="en-US" dirty="0"/>
              <a:t>Subhead placeholder</a:t>
            </a:r>
          </a:p>
        </p:txBody>
      </p:sp>
      <p:sp>
        <p:nvSpPr>
          <p:cNvPr id="12" name="Footer Placeholder 5">
            <a:extLst>
              <a:ext uri="{FF2B5EF4-FFF2-40B4-BE49-F238E27FC236}">
                <a16:creationId xmlns:a16="http://schemas.microsoft.com/office/drawing/2014/main" id="{497D5A6A-7B14-D48F-CB02-107E7739309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AAADD1CB-035A-F372-B750-3C92D6A1FB2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49461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8" name="Footer Placeholder 5">
            <a:extLst>
              <a:ext uri="{FF2B5EF4-FFF2-40B4-BE49-F238E27FC236}">
                <a16:creationId xmlns:a16="http://schemas.microsoft.com/office/drawing/2014/main" id="{56C9FE06-64EE-C25B-F18C-630C89E5E5A4}"/>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9" name="Slide Number Placeholder 6">
            <a:extLst>
              <a:ext uri="{FF2B5EF4-FFF2-40B4-BE49-F238E27FC236}">
                <a16:creationId xmlns:a16="http://schemas.microsoft.com/office/drawing/2014/main" id="{0876FF27-5FCA-80F6-A141-CE82FE49E4D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72438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Eyebrow, Header, Subhead and Bod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4" name="Text Placeholder 13">
            <a:extLst>
              <a:ext uri="{FF2B5EF4-FFF2-40B4-BE49-F238E27FC236}">
                <a16:creationId xmlns:a16="http://schemas.microsoft.com/office/drawing/2014/main" id="{FC59531D-1141-BBE9-8A89-93DE69D59CE5}"/>
              </a:ext>
            </a:extLst>
          </p:cNvPr>
          <p:cNvSpPr>
            <a:spLocks noGrp="1"/>
          </p:cNvSpPr>
          <p:nvPr>
            <p:ph type="body" sz="quarter" idx="13"/>
          </p:nvPr>
        </p:nvSpPr>
        <p:spPr>
          <a:xfrm>
            <a:off x="511175" y="1996440"/>
            <a:ext cx="11171238" cy="40005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Footer Placeholder 5">
            <a:extLst>
              <a:ext uri="{FF2B5EF4-FFF2-40B4-BE49-F238E27FC236}">
                <a16:creationId xmlns:a16="http://schemas.microsoft.com/office/drawing/2014/main" id="{C91AEADF-3622-2AB3-401A-88D3A20DDC8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6" name="Slide Number Placeholder 6">
            <a:extLst>
              <a:ext uri="{FF2B5EF4-FFF2-40B4-BE49-F238E27FC236}">
                <a16:creationId xmlns:a16="http://schemas.microsoft.com/office/drawing/2014/main" id="{A20AAE59-81C0-3F77-5EFF-205232CD68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Tree>
    <p:extLst>
      <p:ext uri="{BB962C8B-B14F-4D97-AF65-F5344CB8AC3E}">
        <p14:creationId xmlns:p14="http://schemas.microsoft.com/office/powerpoint/2010/main" val="141962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yebrow, Header, Subhead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09C16F-506C-1F4E-84FA-6B66623EDF47}"/>
              </a:ext>
            </a:extLst>
          </p:cNvPr>
          <p:cNvSpPr>
            <a:spLocks noGrp="1"/>
          </p:cNvSpPr>
          <p:nvPr>
            <p:ph type="title"/>
          </p:nvPr>
        </p:nvSpPr>
        <p:spPr>
          <a:xfrm>
            <a:off x="511427" y="708623"/>
            <a:ext cx="11167811" cy="614117"/>
          </a:xfrm>
        </p:spPr>
        <p:txBody>
          <a:bodyPr/>
          <a:lstStyle/>
          <a:p>
            <a:r>
              <a:rPr lang="en-US" dirty="0"/>
              <a:t>Click to edit Master title style</a:t>
            </a:r>
          </a:p>
        </p:txBody>
      </p:sp>
      <p:sp>
        <p:nvSpPr>
          <p:cNvPr id="5" name="Text Placeholder 5">
            <a:extLst>
              <a:ext uri="{FF2B5EF4-FFF2-40B4-BE49-F238E27FC236}">
                <a16:creationId xmlns:a16="http://schemas.microsoft.com/office/drawing/2014/main" id="{073B4726-A8F4-08FF-6507-4524E7544D20}"/>
              </a:ext>
            </a:extLst>
          </p:cNvPr>
          <p:cNvSpPr>
            <a:spLocks noGrp="1"/>
          </p:cNvSpPr>
          <p:nvPr>
            <p:ph type="body" sz="quarter" idx="12"/>
          </p:nvPr>
        </p:nvSpPr>
        <p:spPr>
          <a:xfrm>
            <a:off x="512763" y="1322740"/>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1DADE456-2FEC-6E8C-8BDC-0EB32B7352C0}"/>
              </a:ext>
            </a:extLst>
          </p:cNvPr>
          <p:cNvCxnSpPr>
            <a:cxnSpLocks/>
          </p:cNvCxnSpPr>
          <p:nvPr userDrawn="1"/>
        </p:nvCxnSpPr>
        <p:spPr>
          <a:xfrm>
            <a:off x="512763" y="619831"/>
            <a:ext cx="869901"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18" name="Text Placeholder 16">
            <a:extLst>
              <a:ext uri="{FF2B5EF4-FFF2-40B4-BE49-F238E27FC236}">
                <a16:creationId xmlns:a16="http://schemas.microsoft.com/office/drawing/2014/main" id="{F7879DE5-46F4-5F51-D7AD-1FF2100F4FEC}"/>
              </a:ext>
            </a:extLst>
          </p:cNvPr>
          <p:cNvSpPr>
            <a:spLocks noGrp="1"/>
          </p:cNvSpPr>
          <p:nvPr>
            <p:ph type="body" sz="quarter" idx="14"/>
          </p:nvPr>
        </p:nvSpPr>
        <p:spPr>
          <a:xfrm>
            <a:off x="512763" y="305188"/>
            <a:ext cx="8631237" cy="314643"/>
          </a:xfrm>
        </p:spPr>
        <p:txBody>
          <a:bodyPr>
            <a:normAutofit/>
          </a:bodyPr>
          <a:lstStyle>
            <a:lvl1pPr>
              <a:defRPr sz="1400" i="0">
                <a:solidFill>
                  <a:schemeClr val="tx2"/>
                </a:solidFill>
              </a:defRPr>
            </a:lvl1pPr>
          </a:lstStyle>
          <a:p>
            <a:pPr lvl="0"/>
            <a:r>
              <a:rPr lang="en-US" dirty="0"/>
              <a:t>Click to edit Master text styles</a:t>
            </a:r>
          </a:p>
        </p:txBody>
      </p:sp>
      <p:sp>
        <p:nvSpPr>
          <p:cNvPr id="10" name="Footer Placeholder 5">
            <a:extLst>
              <a:ext uri="{FF2B5EF4-FFF2-40B4-BE49-F238E27FC236}">
                <a16:creationId xmlns:a16="http://schemas.microsoft.com/office/drawing/2014/main" id="{40E89BBD-2DB3-5F60-B4AC-F04E8A8E897B}"/>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9730306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E1F54-83F2-F09A-0540-B4F2FD1B513A}"/>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10" name="Text Placeholder 5">
            <a:extLst>
              <a:ext uri="{FF2B5EF4-FFF2-40B4-BE49-F238E27FC236}">
                <a16:creationId xmlns:a16="http://schemas.microsoft.com/office/drawing/2014/main" id="{31F7FA2B-4B6F-717B-2654-D8A994BCA176}"/>
              </a:ext>
            </a:extLst>
          </p:cNvPr>
          <p:cNvSpPr>
            <a:spLocks noGrp="1"/>
          </p:cNvSpPr>
          <p:nvPr>
            <p:ph type="body" sz="quarter" idx="13"/>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Text Placeholder 13">
            <a:extLst>
              <a:ext uri="{FF2B5EF4-FFF2-40B4-BE49-F238E27FC236}">
                <a16:creationId xmlns:a16="http://schemas.microsoft.com/office/drawing/2014/main" id="{6899807B-0AFF-AB51-FFC9-AA3708B60EC7}"/>
              </a:ext>
            </a:extLst>
          </p:cNvPr>
          <p:cNvSpPr>
            <a:spLocks noGrp="1"/>
          </p:cNvSpPr>
          <p:nvPr>
            <p:ph type="body" sz="quarter" idx="14"/>
          </p:nvPr>
        </p:nvSpPr>
        <p:spPr>
          <a:xfrm>
            <a:off x="511175" y="1714500"/>
            <a:ext cx="11168063"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Footer Placeholder 5">
            <a:extLst>
              <a:ext uri="{FF2B5EF4-FFF2-40B4-BE49-F238E27FC236}">
                <a16:creationId xmlns:a16="http://schemas.microsoft.com/office/drawing/2014/main" id="{56CCB6A1-D661-D876-C30B-640D3FF67D63}"/>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BBA0A6B3-6359-0588-6505-D6ACADE4B648}"/>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32203532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C199-15AC-D14D-0AA6-CBE1203062E3}"/>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8E38F124-4CF3-FF0E-022F-8601D0A20F45}"/>
              </a:ext>
            </a:extLst>
          </p:cNvPr>
          <p:cNvSpPr>
            <a:spLocks noGrp="1"/>
          </p:cNvSpPr>
          <p:nvPr>
            <p:ph type="body" sz="quarter" idx="12"/>
          </p:nvPr>
        </p:nvSpPr>
        <p:spPr>
          <a:xfrm>
            <a:off x="512763" y="1714500"/>
            <a:ext cx="5399560" cy="44196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0D0020D2-7B92-3072-B9F5-1D6B5C920B52}"/>
              </a:ext>
            </a:extLst>
          </p:cNvPr>
          <p:cNvSpPr>
            <a:spLocks noGrp="1"/>
          </p:cNvSpPr>
          <p:nvPr>
            <p:ph type="body" sz="quarter" idx="13"/>
          </p:nvPr>
        </p:nvSpPr>
        <p:spPr>
          <a:xfrm>
            <a:off x="6279678" y="1714500"/>
            <a:ext cx="539956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D19B4353-EEBD-5EA1-93A8-2494728D2F2D}"/>
              </a:ext>
            </a:extLst>
          </p:cNvPr>
          <p:cNvSpPr>
            <a:spLocks noGrp="1"/>
          </p:cNvSpPr>
          <p:nvPr>
            <p:ph type="body" sz="quarter" idx="14"/>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FA790335-AB91-2292-A583-68F8ED88AE61}"/>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D1373D57-1AFC-40C1-C22B-486A74BFB23E}"/>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09739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14C5A-8BA0-81C6-0A5B-801985C85265}"/>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6" name="Text Placeholder 5">
            <a:extLst>
              <a:ext uri="{FF2B5EF4-FFF2-40B4-BE49-F238E27FC236}">
                <a16:creationId xmlns:a16="http://schemas.microsoft.com/office/drawing/2014/main" id="{60526CDC-D763-BB32-5B81-7D599455BF38}"/>
              </a:ext>
            </a:extLst>
          </p:cNvPr>
          <p:cNvSpPr>
            <a:spLocks noGrp="1"/>
          </p:cNvSpPr>
          <p:nvPr>
            <p:ph type="body" sz="quarter" idx="12"/>
          </p:nvPr>
        </p:nvSpPr>
        <p:spPr>
          <a:xfrm>
            <a:off x="512763" y="1714500"/>
            <a:ext cx="3503645"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5">
            <a:extLst>
              <a:ext uri="{FF2B5EF4-FFF2-40B4-BE49-F238E27FC236}">
                <a16:creationId xmlns:a16="http://schemas.microsoft.com/office/drawing/2014/main" id="{1B60661A-EDC7-0966-9BFE-A0BC07258B87}"/>
              </a:ext>
            </a:extLst>
          </p:cNvPr>
          <p:cNvSpPr>
            <a:spLocks noGrp="1"/>
          </p:cNvSpPr>
          <p:nvPr>
            <p:ph type="body" sz="quarter" idx="13"/>
          </p:nvPr>
        </p:nvSpPr>
        <p:spPr>
          <a:xfrm>
            <a:off x="4345898"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5">
            <a:extLst>
              <a:ext uri="{FF2B5EF4-FFF2-40B4-BE49-F238E27FC236}">
                <a16:creationId xmlns:a16="http://schemas.microsoft.com/office/drawing/2014/main" id="{66A65CEC-5869-5D52-EAAE-4CE2E8B83312}"/>
              </a:ext>
            </a:extLst>
          </p:cNvPr>
          <p:cNvSpPr>
            <a:spLocks noGrp="1"/>
          </p:cNvSpPr>
          <p:nvPr>
            <p:ph type="body" sz="quarter" idx="14"/>
          </p:nvPr>
        </p:nvSpPr>
        <p:spPr>
          <a:xfrm>
            <a:off x="8179034" y="1714500"/>
            <a:ext cx="3503645" cy="3594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F947AB0C-C375-6941-8123-42C74C4D44D6}"/>
              </a:ext>
            </a:extLst>
          </p:cNvPr>
          <p:cNvSpPr>
            <a:spLocks noGrp="1"/>
          </p:cNvSpPr>
          <p:nvPr>
            <p:ph type="body" sz="quarter" idx="15"/>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4" name="Footer Placeholder 5">
            <a:extLst>
              <a:ext uri="{FF2B5EF4-FFF2-40B4-BE49-F238E27FC236}">
                <a16:creationId xmlns:a16="http://schemas.microsoft.com/office/drawing/2014/main" id="{C469125A-AA88-702A-7398-FB0D80AE487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447CDAC8-C02C-3859-3C4F-64D38BF4F482}"/>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224246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mage with Callou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691438" y="0"/>
            <a:ext cx="4500562" cy="6858000"/>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7180011"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71786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9" name="Content Placeholder 4" descr="A red and green background&#10;&#10;AI-generated content may be incorrect.">
            <a:extLst>
              <a:ext uri="{FF2B5EF4-FFF2-40B4-BE49-F238E27FC236}">
                <a16:creationId xmlns:a16="http://schemas.microsoft.com/office/drawing/2014/main" id="{22DF9E99-5AA7-9ED8-F61D-1D5954C3C293}"/>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226809" y="3962400"/>
            <a:ext cx="464312" cy="1818640"/>
          </a:xfrm>
          <a:prstGeom prst="rect">
            <a:avLst/>
          </a:prstGeom>
        </p:spPr>
      </p:pic>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691438" y="3962400"/>
            <a:ext cx="4500562" cy="1819275"/>
          </a:xfrm>
          <a:solidFill>
            <a:schemeClr val="bg1"/>
          </a:solidFill>
        </p:spPr>
        <p:txBody>
          <a:bodyPr lIns="365760" anchor="ct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4665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with Call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F0E2021-1BFC-E013-D60B-D3C38949C163}"/>
              </a:ext>
            </a:extLst>
          </p:cNvPr>
          <p:cNvSpPr/>
          <p:nvPr userDrawn="1"/>
        </p:nvSpPr>
        <p:spPr>
          <a:xfrm>
            <a:off x="7691121" y="0"/>
            <a:ext cx="4500879" cy="68580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8" y="437444"/>
            <a:ext cx="6715382"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71404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1" name="Text Placeholder 10">
            <a:extLst>
              <a:ext uri="{FF2B5EF4-FFF2-40B4-BE49-F238E27FC236}">
                <a16:creationId xmlns:a16="http://schemas.microsoft.com/office/drawing/2014/main" id="{2EA7ADC5-3522-3180-74FA-1FD3E52E293E}"/>
              </a:ext>
            </a:extLst>
          </p:cNvPr>
          <p:cNvSpPr>
            <a:spLocks noGrp="1"/>
          </p:cNvSpPr>
          <p:nvPr>
            <p:ph type="body" sz="quarter" idx="16"/>
          </p:nvPr>
        </p:nvSpPr>
        <p:spPr>
          <a:xfrm>
            <a:off x="7226809" y="437444"/>
            <a:ext cx="4965191" cy="1819275"/>
          </a:xfrm>
          <a:blipFill dpi="0" rotWithShape="1">
            <a:blip r:embed="rId2"/>
            <a:srcRect/>
            <a:stretch>
              <a:fillRect/>
            </a:stretch>
          </a:blipFill>
        </p:spPr>
        <p:txBody>
          <a:bodyPr lIns="365760" anchor="ctr"/>
          <a:lstStyle>
            <a:lvl1pPr>
              <a:defRPr>
                <a:solidFill>
                  <a:schemeClr val="bg1"/>
                </a:solidFill>
              </a:defRPr>
            </a:lvl1pPr>
            <a:lvl2pPr>
              <a:defRPr>
                <a:solidFill>
                  <a:schemeClr val="bg1"/>
                </a:solidFill>
              </a:defRPr>
            </a:lvl2pPr>
          </a:lstStyle>
          <a:p>
            <a:pPr lvl="0"/>
            <a:r>
              <a:rPr lang="en-US" dirty="0"/>
              <a:t>Click to edit Master text styles</a:t>
            </a:r>
          </a:p>
          <a:p>
            <a:pPr lvl="1"/>
            <a:r>
              <a:rPr lang="en-US" dirty="0"/>
              <a:t>Second level</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5">
            <a:extLst>
              <a:ext uri="{FF2B5EF4-FFF2-40B4-BE49-F238E27FC236}">
                <a16:creationId xmlns:a16="http://schemas.microsoft.com/office/drawing/2014/main" id="{C88AAD13-4032-E181-7A51-74A7C8DCE327}"/>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2CDA17C2-87F8-D622-C9C6-0DA48C2C31F7}"/>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561190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ayout with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DE30A47-262F-DB0A-10B8-D0B96680B8E6}"/>
              </a:ext>
            </a:extLst>
          </p:cNvPr>
          <p:cNvSpPr>
            <a:spLocks noGrp="1"/>
          </p:cNvSpPr>
          <p:nvPr>
            <p:ph type="pic" sz="quarter" idx="12"/>
          </p:nvPr>
        </p:nvSpPr>
        <p:spPr>
          <a:xfrm>
            <a:off x="7058822" y="0"/>
            <a:ext cx="4623857" cy="5772223"/>
          </a:xfrm>
          <a:solidFill>
            <a:schemeClr val="accent2"/>
          </a:solidFill>
        </p:spPr>
        <p:txBody>
          <a:bodyPr anchor="ctr"/>
          <a:lstStyle>
            <a:lvl1pPr algn="ctr">
              <a:defRPr/>
            </a:lvl1pPr>
          </a:lstStyle>
          <a:p>
            <a:endParaRPr lang="en-US"/>
          </a:p>
        </p:txBody>
      </p:sp>
      <p:sp>
        <p:nvSpPr>
          <p:cNvPr id="2" name="Title 1">
            <a:extLst>
              <a:ext uri="{FF2B5EF4-FFF2-40B4-BE49-F238E27FC236}">
                <a16:creationId xmlns:a16="http://schemas.microsoft.com/office/drawing/2014/main" id="{3E7FE8F8-1FA2-6E20-363F-519BE59B64B6}"/>
              </a:ext>
            </a:extLst>
          </p:cNvPr>
          <p:cNvSpPr>
            <a:spLocks noGrp="1"/>
          </p:cNvSpPr>
          <p:nvPr>
            <p:ph type="title"/>
          </p:nvPr>
        </p:nvSpPr>
        <p:spPr>
          <a:xfrm>
            <a:off x="511427" y="437444"/>
            <a:ext cx="6547395" cy="614117"/>
          </a:xfrm>
        </p:spPr>
        <p:txBody>
          <a:bodyPr/>
          <a:lstStyle/>
          <a:p>
            <a:r>
              <a:rPr lang="en-US" dirty="0"/>
              <a:t>Click to edit Master title style</a:t>
            </a:r>
          </a:p>
        </p:txBody>
      </p:sp>
      <p:sp>
        <p:nvSpPr>
          <p:cNvPr id="8" name="Text Placeholder 5">
            <a:extLst>
              <a:ext uri="{FF2B5EF4-FFF2-40B4-BE49-F238E27FC236}">
                <a16:creationId xmlns:a16="http://schemas.microsoft.com/office/drawing/2014/main" id="{E20B35FB-3664-0B4D-6249-F782CED7DAB2}"/>
              </a:ext>
            </a:extLst>
          </p:cNvPr>
          <p:cNvSpPr>
            <a:spLocks noGrp="1"/>
          </p:cNvSpPr>
          <p:nvPr>
            <p:ph type="body" sz="quarter" idx="15"/>
          </p:nvPr>
        </p:nvSpPr>
        <p:spPr>
          <a:xfrm>
            <a:off x="512763" y="1051561"/>
            <a:ext cx="6546177"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2" name="Text Placeholder 5">
            <a:extLst>
              <a:ext uri="{FF2B5EF4-FFF2-40B4-BE49-F238E27FC236}">
                <a16:creationId xmlns:a16="http://schemas.microsoft.com/office/drawing/2014/main" id="{02D98FAF-0F57-636C-D186-EDD6EA7CA7FC}"/>
              </a:ext>
            </a:extLst>
          </p:cNvPr>
          <p:cNvSpPr>
            <a:spLocks noGrp="1"/>
          </p:cNvSpPr>
          <p:nvPr>
            <p:ph type="body" sz="quarter" idx="17"/>
          </p:nvPr>
        </p:nvSpPr>
        <p:spPr>
          <a:xfrm>
            <a:off x="512763" y="1714500"/>
            <a:ext cx="6025197" cy="35941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6" name="Content Placeholder 4">
            <a:extLst>
              <a:ext uri="{FF2B5EF4-FFF2-40B4-BE49-F238E27FC236}">
                <a16:creationId xmlns:a16="http://schemas.microsoft.com/office/drawing/2014/main" id="{1C759DE5-C518-1864-07A2-605A29BED704}"/>
              </a:ext>
            </a:extLst>
          </p:cNvPr>
          <p:cNvPicPr>
            <a:picLocks noChangeAspect="1"/>
          </p:cNvPicPr>
          <p:nvPr userDrawn="1"/>
        </p:nvPicPr>
        <p:blipFill>
          <a:blip r:embed="rId2" cstate="print">
            <a:extLst>
              <a:ext uri="{28A0092B-C50C-407E-A947-70E740481C1C}">
                <a14:useLocalDpi xmlns:a14="http://schemas.microsoft.com/office/drawing/2010/main"/>
              </a:ext>
            </a:extLst>
          </a:blip>
          <a:srcRect/>
          <a:stretch/>
        </p:blipFill>
        <p:spPr>
          <a:xfrm>
            <a:off x="7058820" y="5772223"/>
            <a:ext cx="4622583" cy="361877"/>
          </a:xfrm>
          <a:prstGeom prst="rect">
            <a:avLst/>
          </a:prstGeom>
        </p:spPr>
      </p:pic>
      <p:sp>
        <p:nvSpPr>
          <p:cNvPr id="15" name="Footer Placeholder 5">
            <a:extLst>
              <a:ext uri="{FF2B5EF4-FFF2-40B4-BE49-F238E27FC236}">
                <a16:creationId xmlns:a16="http://schemas.microsoft.com/office/drawing/2014/main" id="{5C587A4E-B51B-38B5-EABB-058A87A0394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6" name="Slide Number Placeholder 6">
            <a:extLst>
              <a:ext uri="{FF2B5EF4-FFF2-40B4-BE49-F238E27FC236}">
                <a16:creationId xmlns:a16="http://schemas.microsoft.com/office/drawing/2014/main" id="{371DED4E-8776-2AD9-D89C-89D43DA7BC5A}"/>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6918790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 with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93398-F58C-AA7E-2DE2-6E5364D58DBF}"/>
              </a:ext>
            </a:extLst>
          </p:cNvPr>
          <p:cNvSpPr>
            <a:spLocks noGrp="1"/>
          </p:cNvSpPr>
          <p:nvPr>
            <p:ph type="title"/>
          </p:nvPr>
        </p:nvSpPr>
        <p:spPr>
          <a:xfrm>
            <a:off x="511427" y="437444"/>
            <a:ext cx="11167811" cy="614117"/>
          </a:xfrm>
        </p:spPr>
        <p:txBody>
          <a:bodyPr/>
          <a:lstStyle/>
          <a:p>
            <a:r>
              <a:rPr lang="en-US"/>
              <a:t>Click to edit Master title style</a:t>
            </a:r>
          </a:p>
        </p:txBody>
      </p:sp>
      <p:sp>
        <p:nvSpPr>
          <p:cNvPr id="8" name="Text Placeholder 5">
            <a:extLst>
              <a:ext uri="{FF2B5EF4-FFF2-40B4-BE49-F238E27FC236}">
                <a16:creationId xmlns:a16="http://schemas.microsoft.com/office/drawing/2014/main" id="{B8695FB8-5358-59F4-420C-D9E81C03C922}"/>
              </a:ext>
            </a:extLst>
          </p:cNvPr>
          <p:cNvSpPr>
            <a:spLocks noGrp="1"/>
          </p:cNvSpPr>
          <p:nvPr>
            <p:ph type="body" sz="quarter" idx="15"/>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
        <p:nvSpPr>
          <p:cNvPr id="10" name="Text Placeholder 9">
            <a:extLst>
              <a:ext uri="{FF2B5EF4-FFF2-40B4-BE49-F238E27FC236}">
                <a16:creationId xmlns:a16="http://schemas.microsoft.com/office/drawing/2014/main" id="{0D493C24-4E3E-2A02-65ED-8191B4546237}"/>
              </a:ext>
            </a:extLst>
          </p:cNvPr>
          <p:cNvSpPr>
            <a:spLocks noGrp="1"/>
          </p:cNvSpPr>
          <p:nvPr>
            <p:ph type="body" sz="quarter" idx="16"/>
          </p:nvPr>
        </p:nvSpPr>
        <p:spPr>
          <a:xfrm>
            <a:off x="511175"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1" name="Text Placeholder 9">
            <a:extLst>
              <a:ext uri="{FF2B5EF4-FFF2-40B4-BE49-F238E27FC236}">
                <a16:creationId xmlns:a16="http://schemas.microsoft.com/office/drawing/2014/main" id="{C21240A8-93CA-CA86-87C8-2B6B05DCD856}"/>
              </a:ext>
            </a:extLst>
          </p:cNvPr>
          <p:cNvSpPr>
            <a:spLocks noGrp="1"/>
          </p:cNvSpPr>
          <p:nvPr>
            <p:ph type="body" sz="quarter" idx="17"/>
          </p:nvPr>
        </p:nvSpPr>
        <p:spPr>
          <a:xfrm>
            <a:off x="4308134"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2" name="Text Placeholder 9">
            <a:extLst>
              <a:ext uri="{FF2B5EF4-FFF2-40B4-BE49-F238E27FC236}">
                <a16:creationId xmlns:a16="http://schemas.microsoft.com/office/drawing/2014/main" id="{4C626A78-D122-9B29-0498-A377DB541C30}"/>
              </a:ext>
            </a:extLst>
          </p:cNvPr>
          <p:cNvSpPr>
            <a:spLocks noGrp="1"/>
          </p:cNvSpPr>
          <p:nvPr>
            <p:ph type="body" sz="quarter" idx="18"/>
          </p:nvPr>
        </p:nvSpPr>
        <p:spPr>
          <a:xfrm>
            <a:off x="8119357" y="3708400"/>
            <a:ext cx="3217863" cy="1219200"/>
          </a:xfrm>
        </p:spPr>
        <p:txBody>
          <a:bodyPr/>
          <a:lstStyle>
            <a:lvl1pPr>
              <a:defRPr sz="1800"/>
            </a:lvl1pPr>
            <a:lvl2pPr>
              <a:defRPr sz="1600"/>
            </a:lvl2pPr>
            <a:lvl3pPr>
              <a:defRPr sz="1400"/>
            </a:lvl3pPr>
          </a:lstStyle>
          <a:p>
            <a:pPr lvl="0"/>
            <a:r>
              <a:rPr lang="en-US" dirty="0"/>
              <a:t>Click to edit Master text styles</a:t>
            </a:r>
          </a:p>
          <a:p>
            <a:pPr lvl="1"/>
            <a:r>
              <a:rPr lang="en-US" dirty="0"/>
              <a:t>Second level</a:t>
            </a:r>
          </a:p>
          <a:p>
            <a:pPr lvl="2"/>
            <a:r>
              <a:rPr lang="en-US" dirty="0"/>
              <a:t>Third level</a:t>
            </a:r>
          </a:p>
        </p:txBody>
      </p:sp>
      <p:sp>
        <p:nvSpPr>
          <p:cNvPr id="14" name="Picture Placeholder 13">
            <a:extLst>
              <a:ext uri="{FF2B5EF4-FFF2-40B4-BE49-F238E27FC236}">
                <a16:creationId xmlns:a16="http://schemas.microsoft.com/office/drawing/2014/main" id="{F19666AC-2D6E-A5A6-AFF6-FBCDB9C60461}"/>
              </a:ext>
            </a:extLst>
          </p:cNvPr>
          <p:cNvSpPr>
            <a:spLocks noGrp="1"/>
          </p:cNvSpPr>
          <p:nvPr>
            <p:ph type="pic" sz="quarter" idx="19"/>
          </p:nvPr>
        </p:nvSpPr>
        <p:spPr>
          <a:xfrm>
            <a:off x="512763" y="1714500"/>
            <a:ext cx="3218192" cy="1663700"/>
          </a:xfrm>
          <a:solidFill>
            <a:schemeClr val="accent2"/>
          </a:solidFill>
        </p:spPr>
        <p:txBody>
          <a:bodyPr anchor="ctr"/>
          <a:lstStyle>
            <a:lvl1pPr algn="ctr">
              <a:defRPr/>
            </a:lvl1pPr>
          </a:lstStyle>
          <a:p>
            <a:endParaRPr lang="en-US"/>
          </a:p>
        </p:txBody>
      </p:sp>
      <p:sp>
        <p:nvSpPr>
          <p:cNvPr id="15" name="Picture Placeholder 13">
            <a:extLst>
              <a:ext uri="{FF2B5EF4-FFF2-40B4-BE49-F238E27FC236}">
                <a16:creationId xmlns:a16="http://schemas.microsoft.com/office/drawing/2014/main" id="{5ECC9D67-89DD-AD94-3BE8-8AB77F93F3AC}"/>
              </a:ext>
            </a:extLst>
          </p:cNvPr>
          <p:cNvSpPr>
            <a:spLocks noGrp="1"/>
          </p:cNvSpPr>
          <p:nvPr>
            <p:ph type="pic" sz="quarter" idx="20"/>
          </p:nvPr>
        </p:nvSpPr>
        <p:spPr>
          <a:xfrm>
            <a:off x="4308134" y="1714500"/>
            <a:ext cx="3218192" cy="1663700"/>
          </a:xfrm>
          <a:solidFill>
            <a:schemeClr val="accent2"/>
          </a:solidFill>
        </p:spPr>
        <p:txBody>
          <a:bodyPr anchor="ctr"/>
          <a:lstStyle>
            <a:lvl1pPr algn="ctr">
              <a:defRPr/>
            </a:lvl1pPr>
          </a:lstStyle>
          <a:p>
            <a:endParaRPr lang="en-US"/>
          </a:p>
        </p:txBody>
      </p:sp>
      <p:sp>
        <p:nvSpPr>
          <p:cNvPr id="16" name="Picture Placeholder 13">
            <a:extLst>
              <a:ext uri="{FF2B5EF4-FFF2-40B4-BE49-F238E27FC236}">
                <a16:creationId xmlns:a16="http://schemas.microsoft.com/office/drawing/2014/main" id="{F11DEFB8-BA80-BB3D-C458-66465402BFDC}"/>
              </a:ext>
            </a:extLst>
          </p:cNvPr>
          <p:cNvSpPr>
            <a:spLocks noGrp="1"/>
          </p:cNvSpPr>
          <p:nvPr>
            <p:ph type="pic" sz="quarter" idx="21"/>
          </p:nvPr>
        </p:nvSpPr>
        <p:spPr>
          <a:xfrm>
            <a:off x="8119357" y="1714500"/>
            <a:ext cx="3218192" cy="1663700"/>
          </a:xfrm>
          <a:solidFill>
            <a:schemeClr val="accent2"/>
          </a:solidFill>
        </p:spPr>
        <p:txBody>
          <a:bodyPr anchor="ctr"/>
          <a:lstStyle>
            <a:lvl1pPr algn="ctr">
              <a:defRPr/>
            </a:lvl1pPr>
          </a:lstStyle>
          <a:p>
            <a:endParaRPr lang="en-US"/>
          </a:p>
        </p:txBody>
      </p:sp>
      <p:sp>
        <p:nvSpPr>
          <p:cNvPr id="20" name="Footer Placeholder 5">
            <a:extLst>
              <a:ext uri="{FF2B5EF4-FFF2-40B4-BE49-F238E27FC236}">
                <a16:creationId xmlns:a16="http://schemas.microsoft.com/office/drawing/2014/main" id="{F0E166F0-F95F-1D05-A287-251A139C6CA2}"/>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1" name="Slide Number Placeholder 6">
            <a:extLst>
              <a:ext uri="{FF2B5EF4-FFF2-40B4-BE49-F238E27FC236}">
                <a16:creationId xmlns:a16="http://schemas.microsoft.com/office/drawing/2014/main" id="{3497BD9B-3994-7C1E-50C9-AB457C7F02B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3" name="Rectangle 2">
            <a:extLst>
              <a:ext uri="{FF2B5EF4-FFF2-40B4-BE49-F238E27FC236}">
                <a16:creationId xmlns:a16="http://schemas.microsoft.com/office/drawing/2014/main" id="{20DC396A-37C3-88E2-4F5B-E5AA818428C1}"/>
              </a:ext>
            </a:extLst>
          </p:cNvPr>
          <p:cNvSpPr/>
          <p:nvPr userDrawn="1"/>
        </p:nvSpPr>
        <p:spPr>
          <a:xfrm>
            <a:off x="512763" y="3378197"/>
            <a:ext cx="3218192" cy="1828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9F72BCF2-879C-41F5-074F-3C352C123100}"/>
              </a:ext>
            </a:extLst>
          </p:cNvPr>
          <p:cNvSpPr/>
          <p:nvPr userDrawn="1"/>
        </p:nvSpPr>
        <p:spPr>
          <a:xfrm>
            <a:off x="4308134" y="3378197"/>
            <a:ext cx="3218192" cy="182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96EA6AB-2EF1-6F7D-4247-F7254496D6EE}"/>
              </a:ext>
            </a:extLst>
          </p:cNvPr>
          <p:cNvSpPr/>
          <p:nvPr userDrawn="1"/>
        </p:nvSpPr>
        <p:spPr>
          <a:xfrm>
            <a:off x="8119357" y="3378197"/>
            <a:ext cx="3218192" cy="18288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03091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arge Callout with Image_RE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225C47B-E583-4956-949C-9708AC0FABD9}"/>
              </a:ext>
            </a:extLst>
          </p:cNvPr>
          <p:cNvSpPr/>
          <p:nvPr userDrawn="1"/>
        </p:nvSpPr>
        <p:spPr>
          <a:xfrm>
            <a:off x="7095281" y="0"/>
            <a:ext cx="5096719" cy="58216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1692821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arge Callout with Image_ GRADIENT">
    <p:spTree>
      <p:nvGrpSpPr>
        <p:cNvPr id="1" name=""/>
        <p:cNvGrpSpPr/>
        <p:nvPr/>
      </p:nvGrpSpPr>
      <p:grpSpPr>
        <a:xfrm>
          <a:off x="0" y="0"/>
          <a:ext cx="0" cy="0"/>
          <a:chOff x="0" y="0"/>
          <a:chExt cx="0" cy="0"/>
        </a:xfrm>
      </p:grpSpPr>
      <p:pic>
        <p:nvPicPr>
          <p:cNvPr id="2" name="Content Placeholder 4" descr="A red and green background&#10;&#10;AI-generated content may be incorrect.">
            <a:extLst>
              <a:ext uri="{FF2B5EF4-FFF2-40B4-BE49-F238E27FC236}">
                <a16:creationId xmlns:a16="http://schemas.microsoft.com/office/drawing/2014/main" id="{F572A1C8-8552-05CD-8DEF-01C2B53523B7}"/>
              </a:ext>
            </a:extLst>
          </p:cNvPr>
          <p:cNvPicPr>
            <a:picLocks noChangeAspect="1"/>
          </p:cNvPicPr>
          <p:nvPr userDrawn="1"/>
        </p:nvPicPr>
        <p:blipFill>
          <a:blip r:embed="rId2" cstate="email">
            <a:extLst>
              <a:ext uri="{28A0092B-C50C-407E-A947-70E740481C1C}">
                <a14:useLocalDpi xmlns:a14="http://schemas.microsoft.com/office/drawing/2010/main"/>
              </a:ext>
            </a:extLst>
          </a:blip>
          <a:srcRect l="50753"/>
          <a:stretch/>
        </p:blipFill>
        <p:spPr>
          <a:xfrm>
            <a:off x="7095280" y="0"/>
            <a:ext cx="5096719" cy="5821680"/>
          </a:xfrm>
          <a:prstGeom prst="rect">
            <a:avLst/>
          </a:prstGeom>
        </p:spPr>
      </p:pic>
      <p:sp>
        <p:nvSpPr>
          <p:cNvPr id="3" name="Footer Placeholder 2">
            <a:extLst>
              <a:ext uri="{FF2B5EF4-FFF2-40B4-BE49-F238E27FC236}">
                <a16:creationId xmlns:a16="http://schemas.microsoft.com/office/drawing/2014/main" id="{9772C01F-DC33-1CEB-8BA5-A45DDDF93E90}"/>
              </a:ext>
            </a:extLst>
          </p:cNvPr>
          <p:cNvSpPr>
            <a:spLocks noGrp="1"/>
          </p:cNvSpPr>
          <p:nvPr>
            <p:ph type="ftr" sz="quarter" idx="10"/>
          </p:nvPr>
        </p:nvSpPr>
        <p:spPr/>
        <p:txBody>
          <a:bodyPr/>
          <a:lstStyle/>
          <a:p>
            <a:pPr>
              <a:lnSpc>
                <a:spcPct val="85000"/>
              </a:lnSpc>
              <a:spcBef>
                <a:spcPct val="20000"/>
              </a:spcBef>
            </a:pPr>
            <a:r>
              <a:rPr lang="en-US"/>
              <a:t>DEPARTMENT PLACEHOLDER</a:t>
            </a:r>
            <a:endParaRPr lang="en-US" dirty="0"/>
          </a:p>
        </p:txBody>
      </p:sp>
      <p:sp>
        <p:nvSpPr>
          <p:cNvPr id="4" name="Slide Number Placeholder 3">
            <a:extLst>
              <a:ext uri="{FF2B5EF4-FFF2-40B4-BE49-F238E27FC236}">
                <a16:creationId xmlns:a16="http://schemas.microsoft.com/office/drawing/2014/main" id="{5EAF7BBA-E6A9-3998-5CD9-E9BCC6833413}"/>
              </a:ext>
            </a:extLst>
          </p:cNvPr>
          <p:cNvSpPr>
            <a:spLocks noGrp="1"/>
          </p:cNvSpPr>
          <p:nvPr>
            <p:ph type="sldNum" sz="quarter" idx="11"/>
          </p:nvPr>
        </p:nvSpPr>
        <p:spPr/>
        <p:txBody>
          <a:bodyPr/>
          <a:lstStyle/>
          <a:p>
            <a:fld id="{E2C19600-1FA6-49A4-BAD8-DAC77A900071}" type="slidenum">
              <a:rPr lang="en-US" smtClean="0"/>
              <a:pPr/>
              <a:t>‹#›</a:t>
            </a:fld>
            <a:endParaRPr lang="en-US" dirty="0"/>
          </a:p>
        </p:txBody>
      </p:sp>
      <p:sp>
        <p:nvSpPr>
          <p:cNvPr id="7" name="Picture Placeholder 6">
            <a:extLst>
              <a:ext uri="{FF2B5EF4-FFF2-40B4-BE49-F238E27FC236}">
                <a16:creationId xmlns:a16="http://schemas.microsoft.com/office/drawing/2014/main" id="{AD9C8231-0F06-C130-3B01-3C74B722BA27}"/>
              </a:ext>
            </a:extLst>
          </p:cNvPr>
          <p:cNvSpPr>
            <a:spLocks noGrp="1"/>
          </p:cNvSpPr>
          <p:nvPr>
            <p:ph type="pic" sz="quarter" idx="12"/>
          </p:nvPr>
        </p:nvSpPr>
        <p:spPr>
          <a:xfrm>
            <a:off x="0" y="0"/>
            <a:ext cx="7094538" cy="5821363"/>
          </a:xfrm>
          <a:solidFill>
            <a:schemeClr val="accent2"/>
          </a:solidFill>
        </p:spPr>
        <p:txBody>
          <a:bodyPr anchor="ctr"/>
          <a:lstStyle>
            <a:lvl1pPr algn="ctr">
              <a:defRPr/>
            </a:lvl1pPr>
          </a:lstStyle>
          <a:p>
            <a:endParaRPr lang="en-US"/>
          </a:p>
        </p:txBody>
      </p:sp>
      <p:sp>
        <p:nvSpPr>
          <p:cNvPr id="9" name="Text Placeholder 8">
            <a:extLst>
              <a:ext uri="{FF2B5EF4-FFF2-40B4-BE49-F238E27FC236}">
                <a16:creationId xmlns:a16="http://schemas.microsoft.com/office/drawing/2014/main" id="{119F8F94-168E-A76F-2A9F-1D254041F57B}"/>
              </a:ext>
            </a:extLst>
          </p:cNvPr>
          <p:cNvSpPr>
            <a:spLocks noGrp="1"/>
          </p:cNvSpPr>
          <p:nvPr>
            <p:ph type="body" sz="quarter" idx="13"/>
          </p:nvPr>
        </p:nvSpPr>
        <p:spPr>
          <a:xfrm>
            <a:off x="7866042" y="903288"/>
            <a:ext cx="3714750" cy="3957637"/>
          </a:xfrm>
        </p:spPr>
        <p:txBody>
          <a:bodyPr/>
          <a:lstStyle>
            <a:lvl1pPr>
              <a:defRPr sz="2400">
                <a:solidFill>
                  <a:schemeClr val="bg1"/>
                </a:solidFill>
              </a:defRPr>
            </a:lvl1pPr>
            <a:lvl2pPr>
              <a:spcBef>
                <a:spcPts val="1800"/>
              </a:spcBef>
              <a:defRPr sz="1600">
                <a:solidFill>
                  <a:schemeClr val="bg1"/>
                </a:solidFill>
              </a:defRPr>
            </a:lvl2pPr>
            <a:lvl3pPr marL="0" indent="0">
              <a:buNone/>
              <a:defRPr sz="1400">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p:txBody>
      </p:sp>
    </p:spTree>
    <p:extLst>
      <p:ext uri="{BB962C8B-B14F-4D97-AF65-F5344CB8AC3E}">
        <p14:creationId xmlns:p14="http://schemas.microsoft.com/office/powerpoint/2010/main" val="2813092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rio 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95185-B6F2-DA27-97F5-A261008249C0}"/>
              </a:ext>
            </a:extLst>
          </p:cNvPr>
          <p:cNvSpPr>
            <a:spLocks noGrp="1"/>
          </p:cNvSpPr>
          <p:nvPr>
            <p:ph type="title"/>
          </p:nvPr>
        </p:nvSpPr>
        <p:spPr>
          <a:xfrm>
            <a:off x="511427" y="437444"/>
            <a:ext cx="11167811" cy="614117"/>
          </a:xfrm>
        </p:spPr>
        <p:txBody>
          <a:bodyPr/>
          <a:lstStyle/>
          <a:p>
            <a:r>
              <a:rPr lang="en-US" dirty="0"/>
              <a:t>Click to edit Master title style</a:t>
            </a:r>
          </a:p>
        </p:txBody>
      </p:sp>
      <p:sp>
        <p:nvSpPr>
          <p:cNvPr id="5" name="Rectangle 4">
            <a:extLst>
              <a:ext uri="{FF2B5EF4-FFF2-40B4-BE49-F238E27FC236}">
                <a16:creationId xmlns:a16="http://schemas.microsoft.com/office/drawing/2014/main" id="{895E45AE-8CD3-04FD-8145-5F22A12DA9AD}"/>
              </a:ext>
            </a:extLst>
          </p:cNvPr>
          <p:cNvSpPr/>
          <p:nvPr userDrawn="1"/>
        </p:nvSpPr>
        <p:spPr>
          <a:xfrm>
            <a:off x="0" y="4220063"/>
            <a:ext cx="12192000" cy="191403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43D3821-B7C2-E329-9CF4-E787569C31B2}"/>
              </a:ext>
            </a:extLst>
          </p:cNvPr>
          <p:cNvSpPr/>
          <p:nvPr userDrawn="1"/>
        </p:nvSpPr>
        <p:spPr>
          <a:xfrm>
            <a:off x="1233708"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19B13CA-8DC4-867F-D557-D69CBB8B67DA}"/>
              </a:ext>
            </a:extLst>
          </p:cNvPr>
          <p:cNvSpPr/>
          <p:nvPr userDrawn="1"/>
        </p:nvSpPr>
        <p:spPr>
          <a:xfrm>
            <a:off x="4896883"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B147C2C-8AD5-4E0E-B86F-FB610E2E8D77}"/>
              </a:ext>
            </a:extLst>
          </p:cNvPr>
          <p:cNvSpPr/>
          <p:nvPr userDrawn="1"/>
        </p:nvSpPr>
        <p:spPr>
          <a:xfrm>
            <a:off x="8508434" y="4220063"/>
            <a:ext cx="2398235" cy="19026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Picture Placeholder 9">
            <a:extLst>
              <a:ext uri="{FF2B5EF4-FFF2-40B4-BE49-F238E27FC236}">
                <a16:creationId xmlns:a16="http://schemas.microsoft.com/office/drawing/2014/main" id="{77152127-24A4-5B38-2225-CFB9E1AC963F}"/>
              </a:ext>
            </a:extLst>
          </p:cNvPr>
          <p:cNvSpPr>
            <a:spLocks noGrp="1"/>
          </p:cNvSpPr>
          <p:nvPr>
            <p:ph type="pic" sz="quarter" idx="12"/>
          </p:nvPr>
        </p:nvSpPr>
        <p:spPr>
          <a:xfrm>
            <a:off x="1233488" y="1567448"/>
            <a:ext cx="2398712" cy="2652615"/>
          </a:xfrm>
          <a:solidFill>
            <a:schemeClr val="accent2"/>
          </a:solidFill>
        </p:spPr>
        <p:txBody>
          <a:bodyPr anchor="ctr"/>
          <a:lstStyle>
            <a:lvl1pPr algn="ctr">
              <a:defRPr/>
            </a:lvl1pPr>
          </a:lstStyle>
          <a:p>
            <a:endParaRPr lang="en-US"/>
          </a:p>
        </p:txBody>
      </p:sp>
      <p:sp>
        <p:nvSpPr>
          <p:cNvPr id="12" name="Picture Placeholder 9">
            <a:extLst>
              <a:ext uri="{FF2B5EF4-FFF2-40B4-BE49-F238E27FC236}">
                <a16:creationId xmlns:a16="http://schemas.microsoft.com/office/drawing/2014/main" id="{4B1E2DD4-B1C2-7FB1-C1EA-A46F91A95F78}"/>
              </a:ext>
            </a:extLst>
          </p:cNvPr>
          <p:cNvSpPr>
            <a:spLocks noGrp="1"/>
          </p:cNvSpPr>
          <p:nvPr>
            <p:ph type="pic" sz="quarter" idx="13"/>
          </p:nvPr>
        </p:nvSpPr>
        <p:spPr>
          <a:xfrm>
            <a:off x="4896883" y="1567448"/>
            <a:ext cx="2398712" cy="2652615"/>
          </a:xfrm>
          <a:solidFill>
            <a:schemeClr val="accent2"/>
          </a:solidFill>
        </p:spPr>
        <p:txBody>
          <a:bodyPr anchor="ctr"/>
          <a:lstStyle>
            <a:lvl1pPr algn="ctr">
              <a:defRPr/>
            </a:lvl1pPr>
          </a:lstStyle>
          <a:p>
            <a:endParaRPr lang="en-US" dirty="0"/>
          </a:p>
        </p:txBody>
      </p:sp>
      <p:sp>
        <p:nvSpPr>
          <p:cNvPr id="13" name="Picture Placeholder 9">
            <a:extLst>
              <a:ext uri="{FF2B5EF4-FFF2-40B4-BE49-F238E27FC236}">
                <a16:creationId xmlns:a16="http://schemas.microsoft.com/office/drawing/2014/main" id="{5B101D83-A82D-5B8E-7FA6-80AB668E9941}"/>
              </a:ext>
            </a:extLst>
          </p:cNvPr>
          <p:cNvSpPr>
            <a:spLocks noGrp="1"/>
          </p:cNvSpPr>
          <p:nvPr>
            <p:ph type="pic" sz="quarter" idx="14"/>
          </p:nvPr>
        </p:nvSpPr>
        <p:spPr>
          <a:xfrm>
            <a:off x="8508434" y="1567448"/>
            <a:ext cx="2398712" cy="2652615"/>
          </a:xfrm>
          <a:solidFill>
            <a:schemeClr val="accent2"/>
          </a:solidFill>
        </p:spPr>
        <p:txBody>
          <a:bodyPr anchor="ctr"/>
          <a:lstStyle>
            <a:lvl1pPr algn="ctr">
              <a:defRPr/>
            </a:lvl1pPr>
          </a:lstStyle>
          <a:p>
            <a:endParaRPr lang="en-US" dirty="0"/>
          </a:p>
        </p:txBody>
      </p:sp>
      <p:sp>
        <p:nvSpPr>
          <p:cNvPr id="15" name="Text Placeholder 14">
            <a:extLst>
              <a:ext uri="{FF2B5EF4-FFF2-40B4-BE49-F238E27FC236}">
                <a16:creationId xmlns:a16="http://schemas.microsoft.com/office/drawing/2014/main" id="{02A3F5B9-E2E5-EC83-A97F-CE3D39998690}"/>
              </a:ext>
            </a:extLst>
          </p:cNvPr>
          <p:cNvSpPr>
            <a:spLocks noGrp="1"/>
          </p:cNvSpPr>
          <p:nvPr>
            <p:ph type="body" sz="quarter" idx="15"/>
          </p:nvPr>
        </p:nvSpPr>
        <p:spPr>
          <a:xfrm>
            <a:off x="832803"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6" name="Text Placeholder 14">
            <a:extLst>
              <a:ext uri="{FF2B5EF4-FFF2-40B4-BE49-F238E27FC236}">
                <a16:creationId xmlns:a16="http://schemas.microsoft.com/office/drawing/2014/main" id="{E3CD09CE-CBA6-D7B7-229E-1DC0D3426C35}"/>
              </a:ext>
            </a:extLst>
          </p:cNvPr>
          <p:cNvSpPr>
            <a:spLocks noGrp="1"/>
          </p:cNvSpPr>
          <p:nvPr>
            <p:ph type="body" sz="quarter" idx="16"/>
          </p:nvPr>
        </p:nvSpPr>
        <p:spPr>
          <a:xfrm>
            <a:off x="4510882"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17" name="Text Placeholder 14">
            <a:extLst>
              <a:ext uri="{FF2B5EF4-FFF2-40B4-BE49-F238E27FC236}">
                <a16:creationId xmlns:a16="http://schemas.microsoft.com/office/drawing/2014/main" id="{50936DEA-0015-2C53-7764-81D237AA5780}"/>
              </a:ext>
            </a:extLst>
          </p:cNvPr>
          <p:cNvSpPr>
            <a:spLocks noGrp="1"/>
          </p:cNvSpPr>
          <p:nvPr>
            <p:ph type="body" sz="quarter" idx="17"/>
          </p:nvPr>
        </p:nvSpPr>
        <p:spPr>
          <a:xfrm>
            <a:off x="8133080" y="4729251"/>
            <a:ext cx="3170237" cy="1147762"/>
          </a:xfrm>
        </p:spPr>
        <p:txBody>
          <a:bodyPr/>
          <a:lstStyle>
            <a:lvl1pPr algn="ctr">
              <a:defRPr>
                <a:solidFill>
                  <a:schemeClr val="bg1"/>
                </a:solidFill>
              </a:defRPr>
            </a:lvl1pPr>
            <a:lvl2pPr algn="ctr">
              <a:defRPr>
                <a:solidFill>
                  <a:schemeClr val="bg1"/>
                </a:solidFill>
              </a:defRPr>
            </a:lvl2pPr>
            <a:lvl3pPr marL="0" indent="0" algn="ctr">
              <a:buNone/>
              <a:defRPr/>
            </a:lvl3pPr>
            <a:lvl4pPr algn="ctr">
              <a:defRPr/>
            </a:lvl4pPr>
            <a:lvl5pPr algn="ctr">
              <a:defRPr/>
            </a:lvl5pPr>
          </a:lstStyle>
          <a:p>
            <a:pPr lvl="0"/>
            <a:r>
              <a:rPr lang="en-US" dirty="0"/>
              <a:t>Click to edit Master text styles</a:t>
            </a:r>
          </a:p>
          <a:p>
            <a:pPr lvl="1"/>
            <a:r>
              <a:rPr lang="en-US" dirty="0"/>
              <a:t>Second level</a:t>
            </a:r>
          </a:p>
        </p:txBody>
      </p:sp>
      <p:sp>
        <p:nvSpPr>
          <p:cNvPr id="21" name="Footer Placeholder 5">
            <a:extLst>
              <a:ext uri="{FF2B5EF4-FFF2-40B4-BE49-F238E27FC236}">
                <a16:creationId xmlns:a16="http://schemas.microsoft.com/office/drawing/2014/main" id="{35EEC88B-64D7-58A8-A6A3-BAE15852FF3D}"/>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22" name="Slide Number Placeholder 6">
            <a:extLst>
              <a:ext uri="{FF2B5EF4-FFF2-40B4-BE49-F238E27FC236}">
                <a16:creationId xmlns:a16="http://schemas.microsoft.com/office/drawing/2014/main" id="{9DA960EC-7047-D992-6A0D-B2B2BF704DDC}"/>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23" name="Text Placeholder 5">
            <a:extLst>
              <a:ext uri="{FF2B5EF4-FFF2-40B4-BE49-F238E27FC236}">
                <a16:creationId xmlns:a16="http://schemas.microsoft.com/office/drawing/2014/main" id="{73B05B23-359F-5932-B1A5-F90563302333}"/>
              </a:ext>
            </a:extLst>
          </p:cNvPr>
          <p:cNvSpPr>
            <a:spLocks noGrp="1"/>
          </p:cNvSpPr>
          <p:nvPr>
            <p:ph type="body" sz="quarter" idx="18"/>
          </p:nvPr>
        </p:nvSpPr>
        <p:spPr>
          <a:xfrm>
            <a:off x="512763" y="1051561"/>
            <a:ext cx="11166475"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spTree>
    <p:extLst>
      <p:ext uri="{BB962C8B-B14F-4D97-AF65-F5344CB8AC3E}">
        <p14:creationId xmlns:p14="http://schemas.microsoft.com/office/powerpoint/2010/main" val="101420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27E08-94CF-6FA6-259A-D4B0215436A1}"/>
              </a:ext>
            </a:extLst>
          </p:cNvPr>
          <p:cNvSpPr>
            <a:spLocks noGrp="1"/>
          </p:cNvSpPr>
          <p:nvPr>
            <p:ph type="title" hasCustomPrompt="1"/>
          </p:nvPr>
        </p:nvSpPr>
        <p:spPr>
          <a:xfrm>
            <a:off x="511427" y="2357290"/>
            <a:ext cx="3593213" cy="980194"/>
          </a:xfrm>
        </p:spPr>
        <p:txBody>
          <a:bodyPr/>
          <a:lstStyle>
            <a:lvl1pPr>
              <a:defRPr sz="5400">
                <a:latin typeface="Georgia" panose="02040502050405020303" pitchFamily="18" charset="0"/>
              </a:defRPr>
            </a:lvl1pPr>
          </a:lstStyle>
          <a:p>
            <a:r>
              <a:rPr lang="en-US" dirty="0"/>
              <a:t>Agenda</a:t>
            </a:r>
          </a:p>
        </p:txBody>
      </p:sp>
      <p:sp>
        <p:nvSpPr>
          <p:cNvPr id="5" name="Rectangle 4">
            <a:extLst>
              <a:ext uri="{FF2B5EF4-FFF2-40B4-BE49-F238E27FC236}">
                <a16:creationId xmlns:a16="http://schemas.microsoft.com/office/drawing/2014/main" id="{4FAF18C4-8E88-BC25-A282-A9E543495953}"/>
              </a:ext>
            </a:extLst>
          </p:cNvPr>
          <p:cNvSpPr/>
          <p:nvPr userDrawn="1"/>
        </p:nvSpPr>
        <p:spPr>
          <a:xfrm>
            <a:off x="4104640" y="619760"/>
            <a:ext cx="8087360" cy="514096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6" name="Content Placeholder 4">
            <a:extLst>
              <a:ext uri="{FF2B5EF4-FFF2-40B4-BE49-F238E27FC236}">
                <a16:creationId xmlns:a16="http://schemas.microsoft.com/office/drawing/2014/main" id="{98F1CF70-BAC4-4070-0CC3-53C7E9D3856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4104641" y="5509548"/>
            <a:ext cx="8085245" cy="251171"/>
          </a:xfrm>
          <a:prstGeom prst="rect">
            <a:avLst/>
          </a:prstGeom>
        </p:spPr>
      </p:pic>
      <p:cxnSp>
        <p:nvCxnSpPr>
          <p:cNvPr id="7" name="Straight Connector 6">
            <a:extLst>
              <a:ext uri="{FF2B5EF4-FFF2-40B4-BE49-F238E27FC236}">
                <a16:creationId xmlns:a16="http://schemas.microsoft.com/office/drawing/2014/main" id="{81604BCD-BC3A-DE84-90AD-BB35133C98FF}"/>
              </a:ext>
            </a:extLst>
          </p:cNvPr>
          <p:cNvCxnSpPr>
            <a:cxnSpLocks/>
          </p:cNvCxnSpPr>
          <p:nvPr userDrawn="1"/>
        </p:nvCxnSpPr>
        <p:spPr>
          <a:xfrm>
            <a:off x="512763" y="1696519"/>
            <a:ext cx="1424596" cy="0"/>
          </a:xfrm>
          <a:prstGeom prst="line">
            <a:avLst/>
          </a:prstGeom>
          <a:ln w="57150">
            <a:solidFill>
              <a:schemeClr val="tx2"/>
            </a:solidFill>
          </a:ln>
        </p:spPr>
        <p:style>
          <a:lnRef idx="1">
            <a:schemeClr val="accent6"/>
          </a:lnRef>
          <a:fillRef idx="0">
            <a:schemeClr val="accent6"/>
          </a:fillRef>
          <a:effectRef idx="0">
            <a:schemeClr val="accent6"/>
          </a:effectRef>
          <a:fontRef idx="minor">
            <a:schemeClr val="tx1"/>
          </a:fontRef>
        </p:style>
      </p:cxnSp>
      <p:sp>
        <p:nvSpPr>
          <p:cNvPr id="8" name="Text Placeholder 10">
            <a:extLst>
              <a:ext uri="{FF2B5EF4-FFF2-40B4-BE49-F238E27FC236}">
                <a16:creationId xmlns:a16="http://schemas.microsoft.com/office/drawing/2014/main" id="{F7FF7787-EC31-5F16-15F3-D99D80060DCB}"/>
              </a:ext>
            </a:extLst>
          </p:cNvPr>
          <p:cNvSpPr>
            <a:spLocks noGrp="1"/>
          </p:cNvSpPr>
          <p:nvPr>
            <p:ph type="body" sz="quarter" idx="12"/>
          </p:nvPr>
        </p:nvSpPr>
        <p:spPr>
          <a:xfrm>
            <a:off x="512763" y="1217639"/>
            <a:ext cx="2977197" cy="402336"/>
          </a:xfrm>
        </p:spPr>
        <p:txBody>
          <a:bodyPr>
            <a:noAutofit/>
          </a:bodyPr>
          <a:lstStyle>
            <a:lvl1pPr>
              <a:defRPr sz="1800" i="0">
                <a:solidFill>
                  <a:schemeClr val="tx2"/>
                </a:solidFill>
              </a:defRPr>
            </a:lvl1pPr>
          </a:lstStyle>
          <a:p>
            <a:pPr lvl="0"/>
            <a:r>
              <a:rPr lang="en-US" dirty="0"/>
              <a:t>Click to edit Master text styles</a:t>
            </a:r>
          </a:p>
        </p:txBody>
      </p:sp>
      <p:sp>
        <p:nvSpPr>
          <p:cNvPr id="13" name="Footer Placeholder 5">
            <a:extLst>
              <a:ext uri="{FF2B5EF4-FFF2-40B4-BE49-F238E27FC236}">
                <a16:creationId xmlns:a16="http://schemas.microsoft.com/office/drawing/2014/main" id="{C4E4B447-5E78-26D1-11D4-9F10C5ADB49A}"/>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4" name="Slide Number Placeholder 6">
            <a:extLst>
              <a:ext uri="{FF2B5EF4-FFF2-40B4-BE49-F238E27FC236}">
                <a16:creationId xmlns:a16="http://schemas.microsoft.com/office/drawing/2014/main" id="{DE2CBB75-E971-3468-55D8-59660AE2DE5D}"/>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8409239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mage Only">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4006429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mage Only_GRADIENT">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537" y="6134100"/>
            <a:ext cx="12189463" cy="723901"/>
          </a:xfrm>
          <a:prstGeom prst="rect">
            <a:avLst/>
          </a:prstGeom>
        </p:spPr>
      </p:pic>
      <p:sp>
        <p:nvSpPr>
          <p:cNvPr id="6" name="Picture Placeholder 5">
            <a:extLst>
              <a:ext uri="{FF2B5EF4-FFF2-40B4-BE49-F238E27FC236}">
                <a16:creationId xmlns:a16="http://schemas.microsoft.com/office/drawing/2014/main" id="{C32017E2-0C1F-52A1-C0B6-4354EC8C6656}"/>
              </a:ext>
            </a:extLst>
          </p:cNvPr>
          <p:cNvSpPr>
            <a:spLocks noGrp="1"/>
          </p:cNvSpPr>
          <p:nvPr>
            <p:ph type="pic" sz="quarter" idx="12" hasCustomPrompt="1"/>
          </p:nvPr>
        </p:nvSpPr>
        <p:spPr>
          <a:xfrm>
            <a:off x="0" y="0"/>
            <a:ext cx="12192000" cy="6134100"/>
          </a:xfrm>
          <a:solidFill>
            <a:schemeClr val="accent2"/>
          </a:solidFill>
        </p:spPr>
        <p:txBody>
          <a:bodyPr anchor="ctr"/>
          <a:lstStyle>
            <a:lvl1pPr algn="ctr">
              <a:defRPr b="0">
                <a:solidFill>
                  <a:schemeClr val="tx1">
                    <a:lumMod val="65000"/>
                    <a:lumOff val="35000"/>
                  </a:schemeClr>
                </a:solidFill>
              </a:defRPr>
            </a:lvl1pPr>
          </a:lstStyle>
          <a:p>
            <a:r>
              <a:rPr lang="en-US" dirty="0"/>
              <a:t>Image only slide (click icon to add image)</a:t>
            </a:r>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pic>
        <p:nvPicPr>
          <p:cNvPr id="3" name="Graphic 2">
            <a:extLst>
              <a:ext uri="{FF2B5EF4-FFF2-40B4-BE49-F238E27FC236}">
                <a16:creationId xmlns:a16="http://schemas.microsoft.com/office/drawing/2014/main" id="{FE06A606-B049-1036-FB09-50B455B5BAA2}"/>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8521149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Header, subhead and gradient footer">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822EF925-F91E-CF0B-2906-3149E56CD56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0" y="6134099"/>
            <a:ext cx="12190732" cy="723901"/>
          </a:xfrm>
          <a:prstGeom prst="rect">
            <a:avLst/>
          </a:prstGeom>
        </p:spPr>
      </p:pic>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6" name="Graphic 5">
            <a:extLst>
              <a:ext uri="{FF2B5EF4-FFF2-40B4-BE49-F238E27FC236}">
                <a16:creationId xmlns:a16="http://schemas.microsoft.com/office/drawing/2014/main" id="{E90BD3B1-489B-2447-0D11-E1BF10A2A188}"/>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905"/>
          <a:stretch>
            <a:fillRect/>
          </a:stretch>
        </p:blipFill>
        <p:spPr>
          <a:xfrm>
            <a:off x="511426" y="6353070"/>
            <a:ext cx="1381169" cy="323734"/>
          </a:xfrm>
          <a:prstGeom prst="rect">
            <a:avLst/>
          </a:prstGeom>
        </p:spPr>
      </p:pic>
    </p:spTree>
    <p:extLst>
      <p:ext uri="{BB962C8B-B14F-4D97-AF65-F5344CB8AC3E}">
        <p14:creationId xmlns:p14="http://schemas.microsoft.com/office/powerpoint/2010/main" val="37134765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subhead and red footer">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03525CB-3575-15ED-8355-4B7991B1D33D}"/>
              </a:ext>
            </a:extLst>
          </p:cNvPr>
          <p:cNvSpPr/>
          <p:nvPr userDrawn="1"/>
        </p:nvSpPr>
        <p:spPr>
          <a:xfrm>
            <a:off x="0" y="6134099"/>
            <a:ext cx="12192000" cy="72920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Footer Placeholder 5">
            <a:extLst>
              <a:ext uri="{FF2B5EF4-FFF2-40B4-BE49-F238E27FC236}">
                <a16:creationId xmlns:a16="http://schemas.microsoft.com/office/drawing/2014/main" id="{477122EF-EC77-5683-5F0C-EEB6518DB36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1" name="Slide Number Placeholder 6">
            <a:extLst>
              <a:ext uri="{FF2B5EF4-FFF2-40B4-BE49-F238E27FC236}">
                <a16:creationId xmlns:a16="http://schemas.microsoft.com/office/drawing/2014/main" id="{62C41F0B-5AAD-8344-8A22-63D161AC280B}"/>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
        <p:nvSpPr>
          <p:cNvPr id="5" name="Title 1">
            <a:extLst>
              <a:ext uri="{FF2B5EF4-FFF2-40B4-BE49-F238E27FC236}">
                <a16:creationId xmlns:a16="http://schemas.microsoft.com/office/drawing/2014/main" id="{7588FC03-5CCE-0D86-8A3A-F919435777AE}"/>
              </a:ext>
            </a:extLst>
          </p:cNvPr>
          <p:cNvSpPr>
            <a:spLocks noGrp="1"/>
          </p:cNvSpPr>
          <p:nvPr>
            <p:ph type="title"/>
          </p:nvPr>
        </p:nvSpPr>
        <p:spPr>
          <a:xfrm>
            <a:off x="511427" y="437444"/>
            <a:ext cx="11167811" cy="614116"/>
          </a:xfrm>
        </p:spPr>
        <p:txBody>
          <a:bodyPr/>
          <a:lstStyle/>
          <a:p>
            <a:r>
              <a:rPr lang="en-US" dirty="0"/>
              <a:t>Click to edit Master title style</a:t>
            </a:r>
          </a:p>
        </p:txBody>
      </p:sp>
      <p:sp>
        <p:nvSpPr>
          <p:cNvPr id="7" name="Text Placeholder 5">
            <a:extLst>
              <a:ext uri="{FF2B5EF4-FFF2-40B4-BE49-F238E27FC236}">
                <a16:creationId xmlns:a16="http://schemas.microsoft.com/office/drawing/2014/main" id="{A2BE9C5B-C374-57E0-7BD7-2A01F8707B02}"/>
              </a:ext>
            </a:extLst>
          </p:cNvPr>
          <p:cNvSpPr>
            <a:spLocks noGrp="1"/>
          </p:cNvSpPr>
          <p:nvPr>
            <p:ph type="body" sz="quarter" idx="12"/>
          </p:nvPr>
        </p:nvSpPr>
        <p:spPr>
          <a:xfrm>
            <a:off x="512763" y="1051561"/>
            <a:ext cx="11169916" cy="413346"/>
          </a:xfrm>
        </p:spPr>
        <p:txBody>
          <a:bodyPr>
            <a:normAutofit/>
          </a:bodyPr>
          <a:lstStyle>
            <a:lvl1pPr>
              <a:defRPr sz="1800">
                <a:solidFill>
                  <a:schemeClr val="tx1">
                    <a:lumMod val="65000"/>
                    <a:lumOff val="35000"/>
                  </a:schemeClr>
                </a:solidFill>
              </a:defRPr>
            </a:lvl1pPr>
          </a:lstStyle>
          <a:p>
            <a:pPr lvl="0"/>
            <a:r>
              <a:rPr lang="en-US" dirty="0"/>
              <a:t>Click to edit Master text styles</a:t>
            </a:r>
          </a:p>
        </p:txBody>
      </p:sp>
      <p:pic>
        <p:nvPicPr>
          <p:cNvPr id="2" name="Graphic 1">
            <a:extLst>
              <a:ext uri="{FF2B5EF4-FFF2-40B4-BE49-F238E27FC236}">
                <a16:creationId xmlns:a16="http://schemas.microsoft.com/office/drawing/2014/main" id="{DA132C04-CB78-14F0-5958-754E3BF58D22}"/>
              </a:ext>
            </a:extLst>
          </p:cNvPr>
          <p:cNvPicPr>
            <a:picLocks noChangeAspect="1"/>
          </p:cNvPicPr>
          <p:nvPr userDrawn="1"/>
        </p:nvPicPr>
        <p:blipFill>
          <a:blip r:embed="rId2">
            <a:extLst>
              <a:ext uri="{96DAC541-7B7A-43D3-8B79-37D633B846F1}">
                <asvg:svgBlip xmlns:asvg="http://schemas.microsoft.com/office/drawing/2016/SVG/main" r:embed="rId3"/>
              </a:ext>
            </a:extLst>
          </a:blip>
          <a:srcRect r="42800"/>
          <a:stretch>
            <a:fillRect/>
          </a:stretch>
        </p:blipFill>
        <p:spPr>
          <a:xfrm>
            <a:off x="511426" y="6353070"/>
            <a:ext cx="1359904" cy="323734"/>
          </a:xfrm>
          <a:prstGeom prst="rect">
            <a:avLst/>
          </a:prstGeom>
        </p:spPr>
      </p:pic>
    </p:spTree>
    <p:extLst>
      <p:ext uri="{BB962C8B-B14F-4D97-AF65-F5344CB8AC3E}">
        <p14:creationId xmlns:p14="http://schemas.microsoft.com/office/powerpoint/2010/main" val="3685026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reaker 1">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pic>
        <p:nvPicPr>
          <p:cNvPr id="10" name="Graphic 9">
            <a:extLst>
              <a:ext uri="{FF2B5EF4-FFF2-40B4-BE49-F238E27FC236}">
                <a16:creationId xmlns:a16="http://schemas.microsoft.com/office/drawing/2014/main" id="{9275B372-8BD2-273A-2BEE-315CE5994D44}"/>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466"/>
          <a:stretch>
            <a:fillRect/>
          </a:stretch>
        </p:blipFill>
        <p:spPr>
          <a:xfrm>
            <a:off x="512763" y="1500396"/>
            <a:ext cx="2377921" cy="562806"/>
          </a:xfrm>
          <a:prstGeom prst="rect">
            <a:avLst/>
          </a:prstGeom>
        </p:spPr>
      </p:pic>
      <p:sp>
        <p:nvSpPr>
          <p:cNvPr id="12" name="Text Placeholder 15">
            <a:extLst>
              <a:ext uri="{FF2B5EF4-FFF2-40B4-BE49-F238E27FC236}">
                <a16:creationId xmlns:a16="http://schemas.microsoft.com/office/drawing/2014/main" id="{1298D4D4-817F-775A-F0A7-805017E61827}"/>
              </a:ext>
            </a:extLst>
          </p:cNvPr>
          <p:cNvSpPr>
            <a:spLocks noGrp="1"/>
          </p:cNvSpPr>
          <p:nvPr>
            <p:ph type="body" sz="quarter" idx="13"/>
          </p:nvPr>
        </p:nvSpPr>
        <p:spPr>
          <a:xfrm>
            <a:off x="512763" y="2451633"/>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3" name="TextBox 12">
            <a:extLst>
              <a:ext uri="{FF2B5EF4-FFF2-40B4-BE49-F238E27FC236}">
                <a16:creationId xmlns:a16="http://schemas.microsoft.com/office/drawing/2014/main" id="{CDC51F79-C1BF-23EE-E735-4465B3DB39B0}"/>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3817666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reaker 2">
    <p:spTree>
      <p:nvGrpSpPr>
        <p:cNvPr id="1" name=""/>
        <p:cNvGrpSpPr/>
        <p:nvPr/>
      </p:nvGrpSpPr>
      <p:grpSpPr>
        <a:xfrm>
          <a:off x="0" y="0"/>
          <a:ext cx="0" cy="0"/>
          <a:chOff x="0" y="0"/>
          <a:chExt cx="0" cy="0"/>
        </a:xfrm>
      </p:grpSpPr>
      <p:pic>
        <p:nvPicPr>
          <p:cNvPr id="3074" name="Picture 2" descr="PhD in Social Work - Brown School at Washington University in St. Louis">
            <a:extLst>
              <a:ext uri="{FF2B5EF4-FFF2-40B4-BE49-F238E27FC236}">
                <a16:creationId xmlns:a16="http://schemas.microsoft.com/office/drawing/2014/main" id="{4F9A68E1-9E2A-544D-6695-F11E6951FED4}"/>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b="6404"/>
          <a:stretch>
            <a:fillRect/>
          </a:stretch>
        </p:blipFill>
        <p:spPr bwMode="auto">
          <a:xfrm>
            <a:off x="0" y="-1"/>
            <a:ext cx="5135880" cy="6858001"/>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4">
            <a:extLst>
              <a:ext uri="{96DAC541-7B7A-43D3-8B79-37D633B846F1}">
                <asvg:svgBlip xmlns:asvg="http://schemas.microsoft.com/office/drawing/2016/SVG/main" r:embed="rId5"/>
              </a:ext>
            </a:extLst>
          </a:blip>
          <a:srcRect r="41317"/>
          <a:stretch>
            <a:fillRect/>
          </a:stretch>
        </p:blipFill>
        <p:spPr>
          <a:xfrm>
            <a:off x="6979921" y="755694"/>
            <a:ext cx="1493519" cy="346564"/>
          </a:xfrm>
          <a:prstGeom prst="rect">
            <a:avLst/>
          </a:prstGeom>
        </p:spPr>
      </p:pic>
      <p:sp>
        <p:nvSpPr>
          <p:cNvPr id="13" name="TextBox 12">
            <a:extLst>
              <a:ext uri="{FF2B5EF4-FFF2-40B4-BE49-F238E27FC236}">
                <a16:creationId xmlns:a16="http://schemas.microsoft.com/office/drawing/2014/main" id="{BA2A41D4-AB3D-151D-66DD-4962AAC7904A}"/>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4" name="Footer Placeholder 5">
            <a:extLst>
              <a:ext uri="{FF2B5EF4-FFF2-40B4-BE49-F238E27FC236}">
                <a16:creationId xmlns:a16="http://schemas.microsoft.com/office/drawing/2014/main" id="{466E0752-FF39-E98C-C771-E737A49D9DAE}"/>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5" name="Slide Number Placeholder 6">
            <a:extLst>
              <a:ext uri="{FF2B5EF4-FFF2-40B4-BE49-F238E27FC236}">
                <a16:creationId xmlns:a16="http://schemas.microsoft.com/office/drawing/2014/main" id="{344416E3-AC56-3F3E-611F-87B839A4BD81}"/>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1009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reaker 3">
    <p:spTree>
      <p:nvGrpSpPr>
        <p:cNvPr id="1" name=""/>
        <p:cNvGrpSpPr/>
        <p:nvPr/>
      </p:nvGrpSpPr>
      <p:grpSpPr>
        <a:xfrm>
          <a:off x="0" y="0"/>
          <a:ext cx="0" cy="0"/>
          <a:chOff x="0" y="0"/>
          <a:chExt cx="0" cy="0"/>
        </a:xfrm>
      </p:grpSpPr>
      <p:pic>
        <p:nvPicPr>
          <p:cNvPr id="2052" name="Picture 4" descr="Master of Social Work - Brown School at Washington University in St. Louis">
            <a:extLst>
              <a:ext uri="{FF2B5EF4-FFF2-40B4-BE49-F238E27FC236}">
                <a16:creationId xmlns:a16="http://schemas.microsoft.com/office/drawing/2014/main" id="{397DCBF1-43F9-4AFE-21A3-1A39F7F9B886}"/>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3202" b="3202"/>
          <a:stretch>
            <a:fillRect/>
          </a:stretch>
        </p:blipFill>
        <p:spPr bwMode="auto">
          <a:xfrm>
            <a:off x="0" y="1"/>
            <a:ext cx="5135880"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4">
            <a:extLst>
              <a:ext uri="{96DAC541-7B7A-43D3-8B79-37D633B846F1}">
                <asvg:svgBlip xmlns:asvg="http://schemas.microsoft.com/office/drawing/2016/SVG/main" r:embed="rId5"/>
              </a:ext>
            </a:extLst>
          </a:blip>
          <a:srcRect r="42189"/>
          <a:stretch>
            <a:fillRect/>
          </a:stretch>
        </p:blipFill>
        <p:spPr>
          <a:xfrm>
            <a:off x="6979922" y="755694"/>
            <a:ext cx="1471352"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6" name="Footer Placeholder 5">
            <a:extLst>
              <a:ext uri="{FF2B5EF4-FFF2-40B4-BE49-F238E27FC236}">
                <a16:creationId xmlns:a16="http://schemas.microsoft.com/office/drawing/2014/main" id="{A51CCE03-8C2C-223C-A359-11D05E7AE85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B298CEF6-7196-D2B3-7D3B-ADF792888D5F}"/>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236022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reaker 4">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8F956D9F-0A69-EE76-C183-A385E517B76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35880" y="0"/>
            <a:ext cx="7056120" cy="6858000"/>
          </a:xfrm>
          <a:prstGeom prst="rect">
            <a:avLst/>
          </a:prstGeom>
        </p:spPr>
      </p:pic>
      <p:sp>
        <p:nvSpPr>
          <p:cNvPr id="9" name="Picture Placeholder 6">
            <a:extLst>
              <a:ext uri="{FF2B5EF4-FFF2-40B4-BE49-F238E27FC236}">
                <a16:creationId xmlns:a16="http://schemas.microsoft.com/office/drawing/2014/main" id="{A07E073C-A36B-F166-AFE6-5A5B30179E5D}"/>
              </a:ext>
            </a:extLst>
          </p:cNvPr>
          <p:cNvSpPr>
            <a:spLocks noGrp="1"/>
          </p:cNvSpPr>
          <p:nvPr>
            <p:ph type="pic" sz="quarter" idx="14"/>
          </p:nvPr>
        </p:nvSpPr>
        <p:spPr>
          <a:xfrm>
            <a:off x="0" y="0"/>
            <a:ext cx="6267450" cy="6858000"/>
          </a:xfrm>
          <a:solidFill>
            <a:schemeClr val="accent2"/>
          </a:solidFill>
        </p:spPr>
        <p:txBody>
          <a:bodyPr anchor="ctr"/>
          <a:lstStyle>
            <a:lvl1pPr algn="ctr">
              <a:defRPr/>
            </a:lvl1pPr>
          </a:lstStyle>
          <a:p>
            <a:endParaRPr lang="en-US"/>
          </a:p>
        </p:txBody>
      </p:sp>
      <p:sp>
        <p:nvSpPr>
          <p:cNvPr id="8" name="Text Placeholder 15">
            <a:extLst>
              <a:ext uri="{FF2B5EF4-FFF2-40B4-BE49-F238E27FC236}">
                <a16:creationId xmlns:a16="http://schemas.microsoft.com/office/drawing/2014/main" id="{302A3209-7CC7-A2A4-5597-06B82D23E37E}"/>
              </a:ext>
            </a:extLst>
          </p:cNvPr>
          <p:cNvSpPr>
            <a:spLocks noGrp="1"/>
          </p:cNvSpPr>
          <p:nvPr>
            <p:ph type="body" sz="quarter" idx="13"/>
          </p:nvPr>
        </p:nvSpPr>
        <p:spPr>
          <a:xfrm>
            <a:off x="6979921" y="1487665"/>
            <a:ext cx="4699317"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pic>
        <p:nvPicPr>
          <p:cNvPr id="10" name="Graphic 9">
            <a:extLst>
              <a:ext uri="{FF2B5EF4-FFF2-40B4-BE49-F238E27FC236}">
                <a16:creationId xmlns:a16="http://schemas.microsoft.com/office/drawing/2014/main" id="{32F57A4A-EAEE-8F7F-EA10-43FBDD977B97}"/>
              </a:ext>
            </a:extLst>
          </p:cNvPr>
          <p:cNvPicPr>
            <a:picLocks noChangeAspect="1"/>
          </p:cNvPicPr>
          <p:nvPr userDrawn="1"/>
        </p:nvPicPr>
        <p:blipFill>
          <a:blip r:embed="rId3">
            <a:extLst>
              <a:ext uri="{96DAC541-7B7A-43D3-8B79-37D633B846F1}">
                <asvg:svgBlip xmlns:asvg="http://schemas.microsoft.com/office/drawing/2016/SVG/main" r:embed="rId4"/>
              </a:ext>
            </a:extLst>
          </a:blip>
          <a:srcRect r="41856"/>
          <a:stretch>
            <a:fillRect/>
          </a:stretch>
        </p:blipFill>
        <p:spPr>
          <a:xfrm>
            <a:off x="6979921" y="755694"/>
            <a:ext cx="1479793" cy="346564"/>
          </a:xfrm>
          <a:prstGeom prst="rect">
            <a:avLst/>
          </a:prstGeom>
        </p:spPr>
      </p:pic>
      <p:sp>
        <p:nvSpPr>
          <p:cNvPr id="2" name="TextBox 1">
            <a:extLst>
              <a:ext uri="{FF2B5EF4-FFF2-40B4-BE49-F238E27FC236}">
                <a16:creationId xmlns:a16="http://schemas.microsoft.com/office/drawing/2014/main" id="{F1FFF015-5AA5-9FD6-BE0F-F0E14040F9A8}"/>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
        <p:nvSpPr>
          <p:cNvPr id="11" name="Footer Placeholder 5">
            <a:extLst>
              <a:ext uri="{FF2B5EF4-FFF2-40B4-BE49-F238E27FC236}">
                <a16:creationId xmlns:a16="http://schemas.microsoft.com/office/drawing/2014/main" id="{234E558C-D3AB-836C-0C04-164B11135378}"/>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13" name="Slide Number Placeholder 6">
            <a:extLst>
              <a:ext uri="{FF2B5EF4-FFF2-40B4-BE49-F238E27FC236}">
                <a16:creationId xmlns:a16="http://schemas.microsoft.com/office/drawing/2014/main" id="{46EC1455-E1D2-32ED-96F9-1FB01D1EDCE4}"/>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bg1"/>
                </a:solidFill>
              </a:defRPr>
            </a:lvl1pPr>
          </a:lstStyle>
          <a:p>
            <a:fld id="{E2C19600-1FA6-49A4-BAD8-DAC77A900071}" type="slidenum">
              <a:rPr lang="en-US" smtClean="0"/>
              <a:pPr/>
              <a:t>‹#›</a:t>
            </a:fld>
            <a:endParaRPr lang="en-US" dirty="0"/>
          </a:p>
        </p:txBody>
      </p:sp>
    </p:spTree>
    <p:extLst>
      <p:ext uri="{BB962C8B-B14F-4D97-AF65-F5344CB8AC3E}">
        <p14:creationId xmlns:p14="http://schemas.microsoft.com/office/powerpoint/2010/main" val="8410654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arge Statement with Eyebrow">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0EE4CDF9-A3FF-60F3-225A-734B7689318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42750F60-94FB-79D6-0C78-BB344949A7FA}"/>
              </a:ext>
            </a:extLst>
          </p:cNvPr>
          <p:cNvPicPr>
            <a:picLocks noChangeAspect="1"/>
          </p:cNvPicPr>
          <p:nvPr userDrawn="1"/>
        </p:nvPicPr>
        <p:blipFill>
          <a:blip r:embed="rId3"/>
          <a:srcRect t="591" r="26918" b="32805"/>
          <a:stretch/>
        </p:blipFill>
        <p:spPr>
          <a:xfrm>
            <a:off x="5613242" y="0"/>
            <a:ext cx="6578757" cy="6858000"/>
          </a:xfrm>
          <a:prstGeom prst="rect">
            <a:avLst/>
          </a:prstGeom>
        </p:spPr>
      </p:pic>
      <p:cxnSp>
        <p:nvCxnSpPr>
          <p:cNvPr id="7" name="Straight Connector 6">
            <a:extLst>
              <a:ext uri="{FF2B5EF4-FFF2-40B4-BE49-F238E27FC236}">
                <a16:creationId xmlns:a16="http://schemas.microsoft.com/office/drawing/2014/main" id="{20D28EA1-5C18-4BC9-D6AE-63A3D89C12B3}"/>
              </a:ext>
            </a:extLst>
          </p:cNvPr>
          <p:cNvCxnSpPr>
            <a:cxnSpLocks/>
          </p:cNvCxnSpPr>
          <p:nvPr userDrawn="1"/>
        </p:nvCxnSpPr>
        <p:spPr>
          <a:xfrm>
            <a:off x="512764" y="1159727"/>
            <a:ext cx="1424596" cy="0"/>
          </a:xfrm>
          <a:prstGeom prst="line">
            <a:avLst/>
          </a:prstGeom>
          <a:ln w="57150">
            <a:solidFill>
              <a:schemeClr val="bg1"/>
            </a:solidFill>
          </a:ln>
        </p:spPr>
        <p:style>
          <a:lnRef idx="1">
            <a:schemeClr val="accent6"/>
          </a:lnRef>
          <a:fillRef idx="0">
            <a:schemeClr val="accent6"/>
          </a:fillRef>
          <a:effectRef idx="0">
            <a:schemeClr val="accent6"/>
          </a:effectRef>
          <a:fontRef idx="minor">
            <a:schemeClr val="tx1"/>
          </a:fontRef>
        </p:style>
      </p:cxnSp>
      <p:sp>
        <p:nvSpPr>
          <p:cNvPr id="11" name="Text Placeholder 10">
            <a:extLst>
              <a:ext uri="{FF2B5EF4-FFF2-40B4-BE49-F238E27FC236}">
                <a16:creationId xmlns:a16="http://schemas.microsoft.com/office/drawing/2014/main" id="{8021CCD9-6C33-1B29-15B6-F3FF2BB661CD}"/>
              </a:ext>
            </a:extLst>
          </p:cNvPr>
          <p:cNvSpPr>
            <a:spLocks noGrp="1"/>
          </p:cNvSpPr>
          <p:nvPr>
            <p:ph type="body" sz="quarter" idx="12"/>
          </p:nvPr>
        </p:nvSpPr>
        <p:spPr>
          <a:xfrm>
            <a:off x="512764" y="680847"/>
            <a:ext cx="4886555" cy="402336"/>
          </a:xfrm>
        </p:spPr>
        <p:txBody>
          <a:bodyPr>
            <a:noAutofit/>
          </a:bodyPr>
          <a:lstStyle>
            <a:lvl1pPr>
              <a:defRPr sz="1800" i="0">
                <a:solidFill>
                  <a:schemeClr val="bg1"/>
                </a:solidFill>
              </a:defRPr>
            </a:lvl1pPr>
          </a:lstStyle>
          <a:p>
            <a:pPr lvl="0"/>
            <a:r>
              <a:rPr lang="en-US" dirty="0"/>
              <a:t>Click to edit Master text styles</a:t>
            </a:r>
          </a:p>
        </p:txBody>
      </p:sp>
      <p:sp>
        <p:nvSpPr>
          <p:cNvPr id="16" name="Text Placeholder 15">
            <a:extLst>
              <a:ext uri="{FF2B5EF4-FFF2-40B4-BE49-F238E27FC236}">
                <a16:creationId xmlns:a16="http://schemas.microsoft.com/office/drawing/2014/main" id="{6E56F3DC-9167-0BC6-E0AD-B6B4E6BDBD8E}"/>
              </a:ext>
            </a:extLst>
          </p:cNvPr>
          <p:cNvSpPr>
            <a:spLocks noGrp="1"/>
          </p:cNvSpPr>
          <p:nvPr>
            <p:ph type="body" sz="quarter" idx="13"/>
          </p:nvPr>
        </p:nvSpPr>
        <p:spPr>
          <a:xfrm>
            <a:off x="512763" y="1487665"/>
            <a:ext cx="5472849" cy="2511425"/>
          </a:xfrm>
        </p:spPr>
        <p:txBody>
          <a:bodyPr/>
          <a:lstStyle>
            <a:lvl1pPr>
              <a:defRPr sz="4400">
                <a:solidFill>
                  <a:schemeClr val="bg1"/>
                </a:solidFill>
              </a:defRPr>
            </a:lvl1pPr>
            <a:lvl2pPr>
              <a:spcBef>
                <a:spcPts val="2400"/>
              </a:spcBef>
              <a:defRPr sz="2400">
                <a:solidFill>
                  <a:schemeClr val="bg1"/>
                </a:solidFill>
              </a:defRPr>
            </a:lvl2pPr>
          </a:lstStyle>
          <a:p>
            <a:pPr lvl="0"/>
            <a:r>
              <a:rPr lang="en-US" dirty="0"/>
              <a:t>Click to edit Master text styles</a:t>
            </a:r>
          </a:p>
          <a:p>
            <a:pPr lvl="1"/>
            <a:r>
              <a:rPr lang="en-US" dirty="0"/>
              <a:t>Second level</a:t>
            </a:r>
          </a:p>
        </p:txBody>
      </p:sp>
      <p:sp>
        <p:nvSpPr>
          <p:cNvPr id="17" name="TextBox 16">
            <a:extLst>
              <a:ext uri="{FF2B5EF4-FFF2-40B4-BE49-F238E27FC236}">
                <a16:creationId xmlns:a16="http://schemas.microsoft.com/office/drawing/2014/main" id="{B7BEF91C-6E18-2231-3C63-8D5E788FA7F9}"/>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2549844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arge Statement 2">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6D9A7C88-DE74-6283-B4A4-1DD45AE677E9}"/>
              </a:ext>
            </a:extLst>
          </p:cNvPr>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t="5196" b="4206"/>
          <a:stretch>
            <a:fillRect/>
          </a:stretch>
        </p:blipFill>
        <p:spPr bwMode="auto">
          <a:xfrm>
            <a:off x="-6893" y="1"/>
            <a:ext cx="1219889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5" name="Content Placeholder 4">
            <a:extLst>
              <a:ext uri="{FF2B5EF4-FFF2-40B4-BE49-F238E27FC236}">
                <a16:creationId xmlns:a16="http://schemas.microsoft.com/office/drawing/2014/main" id="{07672B93-86ED-2C39-6490-F7DF186BF34A}"/>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6903720" y="0"/>
            <a:ext cx="4634970" cy="548640"/>
          </a:xfrm>
          <a:prstGeom prst="rect">
            <a:avLst/>
          </a:prstGeom>
        </p:spPr>
      </p:pic>
      <p:sp>
        <p:nvSpPr>
          <p:cNvPr id="7" name="Text Placeholder 6">
            <a:extLst>
              <a:ext uri="{FF2B5EF4-FFF2-40B4-BE49-F238E27FC236}">
                <a16:creationId xmlns:a16="http://schemas.microsoft.com/office/drawing/2014/main" id="{A6578ACD-6DBC-F910-C01D-E10BC6695467}"/>
              </a:ext>
            </a:extLst>
          </p:cNvPr>
          <p:cNvSpPr>
            <a:spLocks noGrp="1"/>
          </p:cNvSpPr>
          <p:nvPr>
            <p:ph type="body" sz="quarter" idx="12"/>
          </p:nvPr>
        </p:nvSpPr>
        <p:spPr>
          <a:xfrm>
            <a:off x="6904038" y="549275"/>
            <a:ext cx="4635500" cy="3849688"/>
          </a:xfrm>
          <a:solidFill>
            <a:schemeClr val="bg1"/>
          </a:solidFill>
        </p:spPr>
        <p:txBody>
          <a:bodyPr lIns="548640" anchor="ctr"/>
          <a:lstStyle>
            <a:lvl1pPr>
              <a:defRPr sz="3200"/>
            </a:lvl1pPr>
            <a:lvl2pPr>
              <a:spcBef>
                <a:spcPts val="2500"/>
              </a:spcBef>
              <a:defRPr sz="1600"/>
            </a:lvl2pPr>
          </a:lstStyle>
          <a:p>
            <a:pPr lvl="0"/>
            <a:r>
              <a:rPr lang="en-US" dirty="0"/>
              <a:t>Click to edit Master text styles</a:t>
            </a:r>
          </a:p>
          <a:p>
            <a:pPr lvl="1"/>
            <a:r>
              <a:rPr lang="en-US" dirty="0"/>
              <a:t>Second level</a:t>
            </a:r>
          </a:p>
        </p:txBody>
      </p:sp>
      <p:sp>
        <p:nvSpPr>
          <p:cNvPr id="14" name="TextBox 13">
            <a:extLst>
              <a:ext uri="{FF2B5EF4-FFF2-40B4-BE49-F238E27FC236}">
                <a16:creationId xmlns:a16="http://schemas.microsoft.com/office/drawing/2014/main" id="{7E847C79-CC1A-B80C-4F37-51F734C13046}"/>
              </a:ext>
            </a:extLst>
          </p:cNvPr>
          <p:cNvSpPr txBox="1"/>
          <p:nvPr userDrawn="1"/>
        </p:nvSpPr>
        <p:spPr>
          <a:xfrm>
            <a:off x="512763" y="6429823"/>
            <a:ext cx="1908386" cy="246221"/>
          </a:xfrm>
          <a:prstGeom prst="rect">
            <a:avLst/>
          </a:prstGeom>
          <a:noFill/>
        </p:spPr>
        <p:txBody>
          <a:bodyPr wrap="square" lIns="0">
            <a:spAutoFit/>
          </a:bodyPr>
          <a:lstStyle/>
          <a:p>
            <a:r>
              <a:rPr lang="en-US" sz="1000" kern="1200" dirty="0">
                <a:solidFill>
                  <a:schemeClr val="bg1"/>
                </a:solidFill>
                <a:latin typeface="+mn-lt"/>
                <a:ea typeface="+mn-ea"/>
                <a:cs typeface="+mn-cs"/>
              </a:rPr>
              <a:t>©2025 WashU</a:t>
            </a:r>
          </a:p>
        </p:txBody>
      </p:sp>
    </p:spTree>
    <p:extLst>
      <p:ext uri="{BB962C8B-B14F-4D97-AF65-F5344CB8AC3E}">
        <p14:creationId xmlns:p14="http://schemas.microsoft.com/office/powerpoint/2010/main" val="1285567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pic>
        <p:nvPicPr>
          <p:cNvPr id="5" name="Content Placeholder 4" descr="A red and green background&#10;&#10;AI-generated content may be incorrect.">
            <a:extLst>
              <a:ext uri="{FF2B5EF4-FFF2-40B4-BE49-F238E27FC236}">
                <a16:creationId xmlns:a16="http://schemas.microsoft.com/office/drawing/2014/main" id="{7C4EBF34-8EB4-A4D6-7E35-2C97CE8F0BE2}"/>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6" name="Graphic 5">
            <a:extLst>
              <a:ext uri="{FF2B5EF4-FFF2-40B4-BE49-F238E27FC236}">
                <a16:creationId xmlns:a16="http://schemas.microsoft.com/office/drawing/2014/main" id="{E3C86DE6-86C2-5AB7-06B8-F8A11E14561F}"/>
              </a:ext>
            </a:extLst>
          </p:cNvPr>
          <p:cNvPicPr>
            <a:picLocks noChangeAspect="1"/>
          </p:cNvPicPr>
          <p:nvPr userDrawn="1"/>
        </p:nvPicPr>
        <p:blipFill>
          <a:blip r:embed="rId3">
            <a:extLst>
              <a:ext uri="{96DAC541-7B7A-43D3-8B79-37D633B846F1}">
                <asvg:svgBlip xmlns:asvg="http://schemas.microsoft.com/office/drawing/2016/SVG/main" r:embed="rId4"/>
              </a:ext>
            </a:extLst>
          </a:blip>
          <a:srcRect r="42316"/>
          <a:stretch>
            <a:fillRect/>
          </a:stretch>
        </p:blipFill>
        <p:spPr>
          <a:xfrm>
            <a:off x="4398335" y="3028244"/>
            <a:ext cx="3395329" cy="801511"/>
          </a:xfrm>
          <a:prstGeom prst="rect">
            <a:avLst/>
          </a:prstGeom>
        </p:spPr>
      </p:pic>
    </p:spTree>
    <p:extLst>
      <p:ext uri="{BB962C8B-B14F-4D97-AF65-F5344CB8AC3E}">
        <p14:creationId xmlns:p14="http://schemas.microsoft.com/office/powerpoint/2010/main" val="34451749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theme" Target="../theme/theme1.xml"/><Relationship Id="rId31" Type="http://schemas.openxmlformats.org/officeDocument/2006/relationships/image" Target="../media/image1.png"/><Relationship Id="rId32" Type="http://schemas.openxmlformats.org/officeDocument/2006/relationships/image" Target="../media/image2.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1427" y="437444"/>
            <a:ext cx="11167811" cy="980194"/>
          </a:xfrm>
          <a:prstGeom prst="rect">
            <a:avLst/>
          </a:prstGeom>
        </p:spPr>
        <p:txBody>
          <a:bodyPr vert="horz" lIns="0" tIns="45720" rIns="91440" bIns="45720" rtlCol="0" anchor="t">
            <a:noAutofit/>
          </a:bodyPr>
          <a:lstStyle/>
          <a:p>
            <a:r>
              <a:rPr lang="en-US" dirty="0"/>
              <a:t>Click to edit Master title style</a:t>
            </a:r>
          </a:p>
        </p:txBody>
      </p:sp>
      <p:sp>
        <p:nvSpPr>
          <p:cNvPr id="3" name="Text Placeholder 2"/>
          <p:cNvSpPr>
            <a:spLocks noGrp="1"/>
          </p:cNvSpPr>
          <p:nvPr>
            <p:ph type="body" idx="1"/>
          </p:nvPr>
        </p:nvSpPr>
        <p:spPr>
          <a:xfrm>
            <a:off x="511426" y="1710372"/>
            <a:ext cx="11167811" cy="4423728"/>
          </a:xfrm>
          <a:prstGeom prst="rect">
            <a:avLst/>
          </a:prstGeom>
          <a:ln>
            <a:noFill/>
          </a:ln>
        </p:spPr>
        <p:txBody>
          <a:bodyPr vert="horz" lIns="0" tIns="45720" rIns="91440" bIns="4572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a:extLst>
              <a:ext uri="{FF2B5EF4-FFF2-40B4-BE49-F238E27FC236}">
                <a16:creationId xmlns:a16="http://schemas.microsoft.com/office/drawing/2014/main" id="{0EC011EB-C8DD-A0FA-332D-2345BA9928D0}"/>
              </a:ext>
            </a:extLst>
          </p:cNvPr>
          <p:cNvSpPr>
            <a:spLocks noGrp="1"/>
          </p:cNvSpPr>
          <p:nvPr>
            <p:ph type="ftr" sz="quarter" idx="3"/>
          </p:nvPr>
        </p:nvSpPr>
        <p:spPr>
          <a:xfrm>
            <a:off x="8755810" y="6385172"/>
            <a:ext cx="2668094" cy="365125"/>
          </a:xfrm>
          <a:prstGeom prst="rect">
            <a:avLst/>
          </a:prstGeom>
        </p:spPr>
        <p:txBody>
          <a:bodyPr vert="horz" lIns="91440" tIns="45720" rIns="182880" bIns="45720" rtlCol="0" anchor="ctr"/>
          <a:lstStyle>
            <a:lvl1pPr algn="r">
              <a:defRPr lang="en-US" sz="1000" b="1" i="0" kern="1200" cap="all" spc="20" baseline="0" smtClean="0">
                <a:solidFill>
                  <a:schemeClr val="tx1"/>
                </a:solidFill>
                <a:latin typeface="Calibri" panose="020F0502020204030204" pitchFamily="34" charset="0"/>
                <a:ea typeface="Calibri" panose="020F0502020204030204" pitchFamily="34" charset="0"/>
                <a:cs typeface="Calibri" panose="020F0502020204030204" pitchFamily="34" charset="0"/>
              </a:defRPr>
            </a:lvl1pPr>
          </a:lstStyle>
          <a:p>
            <a:pPr>
              <a:lnSpc>
                <a:spcPct val="85000"/>
              </a:lnSpc>
              <a:spcBef>
                <a:spcPct val="20000"/>
              </a:spcBef>
            </a:pPr>
            <a:r>
              <a:rPr lang="en-US"/>
              <a:t>DEPARTMENT PLACEHOLDER</a:t>
            </a:r>
            <a:endParaRPr lang="en-US" dirty="0"/>
          </a:p>
        </p:txBody>
      </p:sp>
      <p:sp>
        <p:nvSpPr>
          <p:cNvPr id="7" name="Slide Number Placeholder 6">
            <a:extLst>
              <a:ext uri="{FF2B5EF4-FFF2-40B4-BE49-F238E27FC236}">
                <a16:creationId xmlns:a16="http://schemas.microsoft.com/office/drawing/2014/main" id="{C7015D9D-4496-53BC-5543-A7CD7127CBC5}"/>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pic>
        <p:nvPicPr>
          <p:cNvPr id="10" name="Graphic 9">
            <a:extLst>
              <a:ext uri="{FF2B5EF4-FFF2-40B4-BE49-F238E27FC236}">
                <a16:creationId xmlns:a16="http://schemas.microsoft.com/office/drawing/2014/main" id="{5A093176-96C9-BEE1-C4CD-B5CEAF9D7715}"/>
              </a:ext>
            </a:extLst>
          </p:cNvPr>
          <p:cNvPicPr>
            <a:picLocks noChangeAspect="1"/>
          </p:cNvPicPr>
          <p:nvPr userDrawn="1"/>
        </p:nvPicPr>
        <p:blipFill>
          <a:blip r:embed="rId31">
            <a:extLst>
              <a:ext uri="{96DAC541-7B7A-43D3-8B79-37D633B846F1}">
                <asvg:svgBlip xmlns:asvg="http://schemas.microsoft.com/office/drawing/2016/SVG/main" r:embed="rId32"/>
              </a:ext>
            </a:extLst>
          </a:blip>
          <a:srcRect r="42790"/>
          <a:stretch>
            <a:fillRect/>
          </a:stretch>
        </p:blipFill>
        <p:spPr>
          <a:xfrm>
            <a:off x="509322" y="6326908"/>
            <a:ext cx="1360118" cy="323736"/>
          </a:xfrm>
          <a:prstGeom prst="rect">
            <a:avLst/>
          </a:prstGeom>
        </p:spPr>
      </p:pic>
    </p:spTree>
    <p:extLst>
      <p:ext uri="{BB962C8B-B14F-4D97-AF65-F5344CB8AC3E}">
        <p14:creationId xmlns:p14="http://schemas.microsoft.com/office/powerpoint/2010/main" val="673511293"/>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51" r:id="rId3"/>
    <p:sldLayoutId id="2147483675" r:id="rId4"/>
    <p:sldLayoutId id="2147483670" r:id="rId5"/>
    <p:sldLayoutId id="2147483653" r:id="rId6"/>
    <p:sldLayoutId id="2147483654" r:id="rId7"/>
    <p:sldLayoutId id="2147483648" r:id="rId8"/>
    <p:sldLayoutId id="2147483652" r:id="rId9"/>
    <p:sldLayoutId id="2147483649" r:id="rId10"/>
    <p:sldLayoutId id="2147483659" r:id="rId11"/>
    <p:sldLayoutId id="2147483668" r:id="rId12"/>
    <p:sldLayoutId id="2147483660" r:id="rId13"/>
    <p:sldLayoutId id="2147483666" r:id="rId14"/>
    <p:sldLayoutId id="2147483672" r:id="rId15"/>
    <p:sldLayoutId id="2147483673" r:id="rId16"/>
    <p:sldLayoutId id="2147483663" r:id="rId17"/>
    <p:sldLayoutId id="2147483658" r:id="rId18"/>
    <p:sldLayoutId id="2147483669" r:id="rId19"/>
    <p:sldLayoutId id="2147483674" r:id="rId20"/>
    <p:sldLayoutId id="2147483676" r:id="rId21"/>
    <p:sldLayoutId id="2147483734" r:id="rId22"/>
    <p:sldLayoutId id="2147483655" r:id="rId23"/>
    <p:sldLayoutId id="2147483661" r:id="rId24"/>
    <p:sldLayoutId id="2147483662" r:id="rId25"/>
    <p:sldLayoutId id="2147483671" r:id="rId26"/>
    <p:sldLayoutId id="2147483656" r:id="rId27"/>
    <p:sldLayoutId id="2147483667" r:id="rId28"/>
    <p:sldLayoutId id="2147483657"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457200" rtl="0" eaLnBrk="1" latinLnBrk="0" hangingPunct="1">
        <a:lnSpc>
          <a:spcPct val="85000"/>
        </a:lnSpc>
        <a:spcBef>
          <a:spcPct val="0"/>
        </a:spcBef>
        <a:buNone/>
        <a:defRPr sz="3600" b="1" kern="1200">
          <a:solidFill>
            <a:schemeClr val="tx1"/>
          </a:solidFill>
          <a:latin typeface="+mj-lt"/>
          <a:ea typeface="Georgia" panose="02040502050405020303" pitchFamily="18" charset="0"/>
          <a:cs typeface="Times New Roman" charset="0"/>
        </a:defRPr>
      </a:lvl1pPr>
    </p:titleStyle>
    <p:bodyStyle>
      <a:lvl1pPr marL="0" indent="0" algn="l" defTabSz="457200" rtl="0" eaLnBrk="1" latinLnBrk="0" hangingPunct="1">
        <a:lnSpc>
          <a:spcPct val="90000"/>
        </a:lnSpc>
        <a:spcBef>
          <a:spcPct val="20000"/>
        </a:spcBef>
        <a:buFont typeface="Arial"/>
        <a:buNone/>
        <a:tabLst/>
        <a:defRPr sz="2200" b="1" i="0" kern="1200">
          <a:solidFill>
            <a:schemeClr val="tx1"/>
          </a:solidFill>
          <a:latin typeface="Calibri" panose="020F0502020204030204" pitchFamily="34" charset="0"/>
          <a:ea typeface="Calibri" panose="020F0502020204030204" pitchFamily="34" charset="0"/>
          <a:cs typeface="Calibri" panose="020F0502020204030204" pitchFamily="34" charset="0"/>
        </a:defRPr>
      </a:lvl1pPr>
      <a:lvl2pPr marL="0" indent="0" algn="l" defTabSz="457200" rtl="0" eaLnBrk="1" latinLnBrk="0" hangingPunct="1">
        <a:spcBef>
          <a:spcPts val="800"/>
        </a:spcBef>
        <a:buFont typeface="Arial" panose="020B0604020202020204" pitchFamily="34" charset="0"/>
        <a:buNone/>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2pPr>
      <a:lvl3pPr marL="139700" indent="-139700" algn="l" defTabSz="457200" rtl="0" eaLnBrk="1" latinLnBrk="0" hangingPunct="1">
        <a:spcBef>
          <a:spcPts val="1200"/>
        </a:spcBef>
        <a:buClr>
          <a:schemeClr val="accent3"/>
        </a:buClr>
        <a:buFont typeface="Arial" panose="020B0604020202020204" pitchFamily="34" charset="0"/>
        <a:buChar char="•"/>
        <a:tabLst/>
        <a:defRPr sz="18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3pPr>
      <a:lvl4pPr marL="482600" indent="-139700" algn="l" defTabSz="457200" rtl="0" eaLnBrk="1" latinLnBrk="0" hangingPunct="1">
        <a:spcBef>
          <a:spcPts val="800"/>
        </a:spcBef>
        <a:buClr>
          <a:schemeClr val="accent3"/>
        </a:buClr>
        <a:buFont typeface="Arial" panose="020B0604020202020204" pitchFamily="34" charset="0"/>
        <a:buChar char="•"/>
        <a:tabLst/>
        <a:defRPr sz="16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4pPr>
      <a:lvl5pPr marL="974725" indent="-114300" algn="l" defTabSz="457200" rtl="0" eaLnBrk="1" latinLnBrk="0" hangingPunct="1">
        <a:spcBef>
          <a:spcPts val="800"/>
        </a:spcBef>
        <a:buClr>
          <a:schemeClr val="accent3"/>
        </a:buClr>
        <a:buFont typeface="Arial" panose="020B0604020202020204" pitchFamily="34" charset="0"/>
        <a:buChar char="•"/>
        <a:tabLst/>
        <a:defRPr sz="1400" b="0" i="0" kern="1200">
          <a:solidFill>
            <a:schemeClr val="tx1"/>
          </a:solidFill>
          <a:latin typeface="Calibri" panose="020F0502020204030204" pitchFamily="34" charset="0"/>
          <a:ea typeface="Calibri" panose="020F0502020204030204" pitchFamily="34" charset="0"/>
          <a:cs typeface="Calibri" panose="020F0502020204030204" pitchFamily="34" charset="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57" userDrawn="1">
          <p15:clr>
            <a:srgbClr val="F26B43"/>
          </p15:clr>
        </p15:guide>
        <p15:guide id="2" pos="323" userDrawn="1">
          <p15:clr>
            <a:srgbClr val="F26B43"/>
          </p15:clr>
        </p15:guide>
        <p15:guide id="3" orient="horz" pos="1080" userDrawn="1">
          <p15:clr>
            <a:srgbClr val="F26B43"/>
          </p15:clr>
        </p15:guide>
        <p15:guide id="4" orient="horz" pos="386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2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3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4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44.png"/><Relationship Id="rId7" Type="http://schemas.openxmlformats.org/officeDocument/2006/relationships/image" Target="../media/image4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0.png"/><Relationship Id="rId4" Type="http://schemas.openxmlformats.org/officeDocument/2006/relationships/image" Target="../media/image51.png"/><Relationship Id="rId5" Type="http://schemas.openxmlformats.org/officeDocument/2006/relationships/image" Target="../media/image4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2.png"/><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4.png"/><Relationship Id="rId4" Type="http://schemas.openxmlformats.org/officeDocument/2006/relationships/image" Target="../media/image5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56.png"/><Relationship Id="rId4" Type="http://schemas.openxmlformats.org/officeDocument/2006/relationships/image" Target="../media/image57.png"/><Relationship Id="rId5" Type="http://schemas.openxmlformats.org/officeDocument/2006/relationships/image" Target="../media/image58.png"/><Relationship Id="rId6" Type="http://schemas.openxmlformats.org/officeDocument/2006/relationships/image" Target="../media/image59.png"/><Relationship Id="rId7" Type="http://schemas.openxmlformats.org/officeDocument/2006/relationships/image" Target="../media/image28.png"/><Relationship Id="rId8" Type="http://schemas.openxmlformats.org/officeDocument/2006/relationships/image" Target="../media/image6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61.png"/><Relationship Id="rId4" Type="http://schemas.openxmlformats.org/officeDocument/2006/relationships/image" Target="../media/image6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6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32.png"/><Relationship Id="rId4" Type="http://schemas.openxmlformats.org/officeDocument/2006/relationships/image" Target="../media/image64.png"/><Relationship Id="rId5" Type="http://schemas.openxmlformats.org/officeDocument/2006/relationships/image" Target="../media/image6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66.png"/><Relationship Id="rId4" Type="http://schemas.openxmlformats.org/officeDocument/2006/relationships/image" Target="../media/image4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AI-Empowered Research</a:t>
            </a:r>
          </a:p>
        </p:txBody>
      </p:sp>
      <p:sp>
        <p:nvSpPr>
          <p:cNvPr id="3" name="Text Placeholder 2"/>
          <p:cNvSpPr>
            <a:spLocks noGrp="1"/>
          </p:cNvSpPr>
          <p:nvPr>
            <p:ph type="body" idx="14" sz="quarter"/>
          </p:nvPr>
        </p:nvSpPr>
        <p:spPr>
          <a:xfrm>
            <a:off x="3657600" y="4434840"/>
            <a:ext cx="8138160" cy="457200"/>
          </a:xfrm>
        </p:spPr>
        <p:txBody>
          <a:bodyPr/>
          <a:lstStyle/>
          <a:p>
            <a:r>
              <a:rPr sz="2400"/>
              <a:t>Part 2 · Setup: Claude CLI, R &amp; the Project Folder</a:t>
            </a:r>
          </a:p>
        </p:txBody>
      </p:sp>
      <p:sp>
        <p:nvSpPr>
          <p:cNvPr id="4" name="TextBox 3"/>
          <p:cNvSpPr txBox="1"/>
          <p:nvPr/>
        </p:nvSpPr>
        <p:spPr>
          <a:xfrm>
            <a:off x="3657600" y="4983480"/>
            <a:ext cx="8138160" cy="365760"/>
          </a:xfrm>
          <a:prstGeom prst="rect">
            <a:avLst/>
          </a:prstGeom>
          <a:noFill/>
        </p:spPr>
        <p:txBody>
          <a:bodyPr wrap="square" lIns="0" rIns="0" tIns="0" bIns="0" anchor="t">
            <a:spAutoFit/>
          </a:bodyPr>
          <a:lstStyle/>
          <a:p>
            <a:pPr algn="l"/>
            <a:r>
              <a:rPr sz="1600" b="0" i="0">
                <a:solidFill>
                  <a:srgbClr val="5F5F5F"/>
                </a:solidFill>
              </a:rPr>
              <a:t>Yung Chun · CERP³ · Hillman Hall 130 · 2026-10-16</a:t>
            </a:r>
          </a:p>
        </p:txBody>
      </p:sp>
      <p:sp>
        <p:nvSpPr>
          <p:cNvPr id="5" name="TextBox 4"/>
          <p:cNvSpPr txBox="1"/>
          <p:nvPr/>
        </p:nvSpPr>
        <p:spPr>
          <a:xfrm>
            <a:off x="3657600" y="5486400"/>
            <a:ext cx="2743200" cy="365760"/>
          </a:xfrm>
          <a:prstGeom prst="rect">
            <a:avLst/>
          </a:prstGeom>
          <a:noFill/>
        </p:spPr>
        <p:txBody>
          <a:bodyPr wrap="square" lIns="0" rIns="0" tIns="0" bIns="0" anchor="t">
            <a:spAutoFit/>
          </a:bodyPr>
          <a:lstStyle/>
          <a:p>
            <a:pPr algn="l"/>
            <a:r>
              <a:rPr sz="1500" b="1" i="0">
                <a:solidFill>
                  <a:schemeClr val="tx2"/>
                </a:solidFill>
              </a:rPr>
              <a:t>By 10:10 you will have:</a:t>
            </a:r>
          </a:p>
        </p:txBody>
      </p:sp>
      <p:pic>
        <p:nvPicPr>
          <p:cNvPr id="6" name="Picture 5" descr="FaCircleCheck_red.png"/>
          <p:cNvPicPr>
            <a:picLocks noChangeAspect="1"/>
          </p:cNvPicPr>
          <p:nvPr/>
        </p:nvPicPr>
        <p:blipFill>
          <a:blip r:embed="rId3"/>
          <a:stretch>
            <a:fillRect/>
          </a:stretch>
        </p:blipFill>
        <p:spPr>
          <a:xfrm>
            <a:off x="3657600" y="5925312"/>
            <a:ext cx="274320" cy="274320"/>
          </a:xfrm>
          <a:prstGeom prst="rect">
            <a:avLst/>
          </a:prstGeom>
        </p:spPr>
      </p:pic>
      <p:sp>
        <p:nvSpPr>
          <p:cNvPr id="7" name="TextBox 6"/>
          <p:cNvSpPr txBox="1"/>
          <p:nvPr/>
        </p:nvSpPr>
        <p:spPr>
          <a:xfrm>
            <a:off x="4005072" y="5879592"/>
            <a:ext cx="1783080" cy="365760"/>
          </a:xfrm>
          <a:prstGeom prst="rect">
            <a:avLst/>
          </a:prstGeom>
          <a:noFill/>
        </p:spPr>
        <p:txBody>
          <a:bodyPr wrap="square" lIns="0" rIns="0" tIns="0" bIns="0" anchor="ctr">
            <a:spAutoFit/>
          </a:bodyPr>
          <a:lstStyle/>
          <a:p>
            <a:pPr algn="l"/>
            <a:r>
              <a:rPr sz="1400" b="0" i="0">
                <a:solidFill>
                  <a:schemeClr val="tx1"/>
                </a:solidFill>
              </a:rPr>
              <a:t>Claude CLI running</a:t>
            </a:r>
          </a:p>
        </p:txBody>
      </p:sp>
      <p:pic>
        <p:nvPicPr>
          <p:cNvPr id="8" name="Picture 7" descr="FaCircleCheck_red.png"/>
          <p:cNvPicPr>
            <a:picLocks noChangeAspect="1"/>
          </p:cNvPicPr>
          <p:nvPr/>
        </p:nvPicPr>
        <p:blipFill>
          <a:blip r:embed="rId3"/>
          <a:stretch>
            <a:fillRect/>
          </a:stretch>
        </p:blipFill>
        <p:spPr>
          <a:xfrm>
            <a:off x="5760720" y="5925312"/>
            <a:ext cx="274320" cy="274320"/>
          </a:xfrm>
          <a:prstGeom prst="rect">
            <a:avLst/>
          </a:prstGeom>
        </p:spPr>
      </p:pic>
      <p:sp>
        <p:nvSpPr>
          <p:cNvPr id="9" name="TextBox 8"/>
          <p:cNvSpPr txBox="1"/>
          <p:nvPr/>
        </p:nvSpPr>
        <p:spPr>
          <a:xfrm>
            <a:off x="6108192" y="5879592"/>
            <a:ext cx="1417320" cy="365760"/>
          </a:xfrm>
          <a:prstGeom prst="rect">
            <a:avLst/>
          </a:prstGeom>
          <a:noFill/>
        </p:spPr>
        <p:txBody>
          <a:bodyPr wrap="square" lIns="0" rIns="0" tIns="0" bIns="0" anchor="ctr">
            <a:spAutoFit/>
          </a:bodyPr>
          <a:lstStyle/>
          <a:p>
            <a:pPr algn="l"/>
            <a:r>
              <a:rPr sz="1400" b="0" i="0">
                <a:solidFill>
                  <a:schemeClr val="tx1"/>
                </a:solidFill>
              </a:rPr>
              <a:t>R connected</a:t>
            </a:r>
          </a:p>
        </p:txBody>
      </p:sp>
      <p:pic>
        <p:nvPicPr>
          <p:cNvPr id="10" name="Picture 9" descr="FaCircleCheck_red.png"/>
          <p:cNvPicPr>
            <a:picLocks noChangeAspect="1"/>
          </p:cNvPicPr>
          <p:nvPr/>
        </p:nvPicPr>
        <p:blipFill>
          <a:blip r:embed="rId3"/>
          <a:stretch>
            <a:fillRect/>
          </a:stretch>
        </p:blipFill>
        <p:spPr>
          <a:xfrm>
            <a:off x="7498079" y="5925312"/>
            <a:ext cx="274320" cy="274320"/>
          </a:xfrm>
          <a:prstGeom prst="rect">
            <a:avLst/>
          </a:prstGeom>
        </p:spPr>
      </p:pic>
      <p:sp>
        <p:nvSpPr>
          <p:cNvPr id="11" name="TextBox 10"/>
          <p:cNvSpPr txBox="1"/>
          <p:nvPr/>
        </p:nvSpPr>
        <p:spPr>
          <a:xfrm>
            <a:off x="7845552" y="5879592"/>
            <a:ext cx="1554480" cy="365760"/>
          </a:xfrm>
          <a:prstGeom prst="rect">
            <a:avLst/>
          </a:prstGeom>
          <a:noFill/>
        </p:spPr>
        <p:txBody>
          <a:bodyPr wrap="square" lIns="0" rIns="0" tIns="0" bIns="0" anchor="ctr">
            <a:spAutoFit/>
          </a:bodyPr>
          <a:lstStyle/>
          <a:p>
            <a:pPr algn="l"/>
            <a:r>
              <a:rPr sz="1400" b="0" i="0">
                <a:solidFill>
                  <a:schemeClr val="tx1"/>
                </a:solidFill>
              </a:rPr>
              <a:t>A project folder</a:t>
            </a:r>
          </a:p>
        </p:txBody>
      </p:sp>
      <p:pic>
        <p:nvPicPr>
          <p:cNvPr id="12" name="Picture 11" descr="FaCircleCheck_red.png"/>
          <p:cNvPicPr>
            <a:picLocks noChangeAspect="1"/>
          </p:cNvPicPr>
          <p:nvPr/>
        </p:nvPicPr>
        <p:blipFill>
          <a:blip r:embed="rId3"/>
          <a:stretch>
            <a:fillRect/>
          </a:stretch>
        </p:blipFill>
        <p:spPr>
          <a:xfrm>
            <a:off x="9372600" y="5925312"/>
            <a:ext cx="274320" cy="274320"/>
          </a:xfrm>
          <a:prstGeom prst="rect">
            <a:avLst/>
          </a:prstGeom>
        </p:spPr>
      </p:pic>
      <p:sp>
        <p:nvSpPr>
          <p:cNvPr id="13" name="TextBox 12"/>
          <p:cNvSpPr txBox="1"/>
          <p:nvPr/>
        </p:nvSpPr>
        <p:spPr>
          <a:xfrm>
            <a:off x="9720072" y="5879592"/>
            <a:ext cx="2286000" cy="365760"/>
          </a:xfrm>
          <a:prstGeom prst="rect">
            <a:avLst/>
          </a:prstGeom>
          <a:noFill/>
        </p:spPr>
        <p:txBody>
          <a:bodyPr wrap="square" lIns="0" rIns="0" tIns="0" bIns="0" anchor="ctr">
            <a:spAutoFit/>
          </a:bodyPr>
          <a:lstStyle/>
          <a:p>
            <a:pPr algn="l"/>
            <a:r>
              <a:rPr sz="1400" b="0" i="0">
                <a:solidFill>
                  <a:schemeClr val="tx1"/>
                </a:solidFill>
              </a:rPr>
              <a:t>Your first CLAUDE.md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Access first</a:t>
            </a:r>
          </a:p>
        </p:txBody>
      </p:sp>
      <p:sp>
        <p:nvSpPr>
          <p:cNvPr id="3" name="Text Placeholder 2"/>
          <p:cNvSpPr>
            <a:spLocks noGrp="1"/>
          </p:cNvSpPr>
          <p:nvPr>
            <p:ph type="body" idx="12" sz="quarter"/>
          </p:nvPr>
        </p:nvSpPr>
        <p:spPr/>
        <p:txBody>
          <a:bodyPr/>
          <a:lstStyle/>
          <a:p>
            <a:r>
              <a:t>Your account decides what you may do, before any command</a:t>
            </a:r>
          </a:p>
        </p:txBody>
      </p:sp>
      <p:sp>
        <p:nvSpPr>
          <p:cNvPr id="4" name="Text Placeholder 3"/>
          <p:cNvSpPr>
            <a:spLocks noGrp="1"/>
          </p:cNvSpPr>
          <p:nvPr>
            <p:ph type="body" idx="14" sz="quarter"/>
          </p:nvPr>
        </p:nvSpPr>
        <p:spPr/>
        <p:txBody>
          <a:bodyPr/>
          <a:lstStyle/>
          <a:p>
            <a:r>
              <a:t>A · Install and verify</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graphicFrame>
        <p:nvGraphicFramePr>
          <p:cNvPr id="13" name="Table 12"/>
          <p:cNvGraphicFramePr>
            <a:graphicFrameLocks noGrp="1"/>
          </p:cNvGraphicFramePr>
          <p:nvPr/>
        </p:nvGraphicFramePr>
        <p:xfrm>
          <a:off x="512064" y="1920240"/>
          <a:ext cx="7406640" cy="2633472"/>
        </p:xfrm>
        <a:graphic>
          <a:graphicData uri="http://schemas.openxmlformats.org/drawingml/2006/table">
            <a:tbl>
              <a:tblPr firstRow="1">
                <a:tableStyleId>{5C22544A-7EE6-4342-B048-85BDC9FD1C3A}</a:tableStyleId>
              </a:tblPr>
              <a:tblGrid>
                <a:gridCol w="2743200"/>
                <a:gridCol w="1737360"/>
                <a:gridCol w="2926080"/>
              </a:tblGrid>
              <a:tr h="438912">
                <a:tc>
                  <a:txBody>
                    <a:bodyPr wrap="square"/>
                    <a:lstStyle/>
                    <a:p>
                      <a:r>
                        <a:rPr sz="1600" b="1">
                          <a:solidFill>
                            <a:schemeClr val="bg1"/>
                          </a:solidFill>
                        </a:rPr>
                        <a:t>Account</a:t>
                      </a:r>
                    </a:p>
                  </a:txBody>
                  <a:tcPr marL="91440" marR="91440" marT="36576" marB="36576" anchor="ctr">
                    <a:solidFill>
                      <a:schemeClr val="tx2"/>
                    </a:solidFill>
                  </a:tcPr>
                </a:tc>
                <a:tc>
                  <a:txBody>
                    <a:bodyPr wrap="square"/>
                    <a:lstStyle/>
                    <a:p>
                      <a:r>
                        <a:rPr sz="1600" b="1">
                          <a:solidFill>
                            <a:schemeClr val="bg1"/>
                          </a:solidFill>
                        </a:rPr>
                        <a:t>Claude Code?</a:t>
                      </a:r>
                    </a:p>
                  </a:txBody>
                  <a:tcPr marL="91440" marR="91440" marT="36576" marB="36576" anchor="ctr">
                    <a:solidFill>
                      <a:schemeClr val="tx2"/>
                    </a:solidFill>
                  </a:tcPr>
                </a:tc>
                <a:tc>
                  <a:txBody>
                    <a:bodyPr wrap="square"/>
                    <a:lstStyle/>
                    <a:p>
                      <a:r>
                        <a:rPr sz="1600" b="1">
                          <a:solidFill>
                            <a:schemeClr val="bg1"/>
                          </a:solidFill>
                        </a:rPr>
                        <a:t>Approved data</a:t>
                      </a:r>
                    </a:p>
                  </a:txBody>
                  <a:tcPr marL="91440" marR="91440" marT="36576" marB="36576" anchor="ctr">
                    <a:solidFill>
                      <a:schemeClr val="tx2"/>
                    </a:solidFill>
                  </a:tcPr>
                </a:tc>
              </a:tr>
              <a:tr h="548640">
                <a:tc>
                  <a:txBody>
                    <a:bodyPr wrap="square"/>
                    <a:lstStyle/>
                    <a:p>
                      <a:r>
                        <a:rPr sz="1600" b="1">
                          <a:solidFill>
                            <a:schemeClr val="tx1"/>
                          </a:solidFill>
                        </a:rPr>
                        <a:t>Claude Edu (WashU)</a:t>
                      </a:r>
                    </a:p>
                  </a:txBody>
                  <a:tcPr marL="91440" marR="91440" marT="36576" marB="36576" anchor="ctr">
                    <a:solidFill>
                      <a:srgbClr val="F6E2E6"/>
                    </a:solidFill>
                  </a:tcPr>
                </a:tc>
                <a:tc>
                  <a:txBody>
                    <a:bodyPr wrap="square"/>
                    <a:lstStyle/>
                    <a:p>
                      <a:r>
                        <a:rPr sz="1600" b="1">
                          <a:solidFill>
                            <a:schemeClr val="tx2"/>
                          </a:solidFill>
                        </a:rPr>
                        <a:t>✔ Yes</a:t>
                      </a:r>
                    </a:p>
                  </a:txBody>
                  <a:tcPr marL="91440" marR="91440" marT="36576" marB="36576" anchor="ctr">
                    <a:solidFill>
                      <a:srgbClr val="F6E2E6"/>
                    </a:solidFill>
                  </a:tcPr>
                </a:tc>
                <a:tc>
                  <a:txBody>
                    <a:bodyPr wrap="square"/>
                    <a:lstStyle/>
                    <a:p>
                      <a:r>
                        <a:rPr sz="1600" b="1">
                          <a:solidFill>
                            <a:schemeClr val="tx2"/>
                          </a:solidFill>
                        </a:rPr>
                        <a:t>FERPA, institutional IP. Not PHI</a:t>
                      </a:r>
                    </a:p>
                  </a:txBody>
                  <a:tcPr marL="91440" marR="91440" marT="36576" marB="36576" anchor="ctr">
                    <a:solidFill>
                      <a:srgbClr val="F6E2E6"/>
                    </a:solidFill>
                  </a:tcPr>
                </a:tc>
              </a:tr>
              <a:tr h="548640">
                <a:tc>
                  <a:txBody>
                    <a:bodyPr wrap="square"/>
                    <a:lstStyle/>
                    <a:p>
                      <a:r>
                        <a:rPr sz="1600" b="1">
                          <a:solidFill>
                            <a:schemeClr val="tx1"/>
                          </a:solidFill>
                        </a:rPr>
                        <a:t>Claude Secure (WashU)</a:t>
                      </a:r>
                    </a:p>
                  </a:txBody>
                  <a:tcPr marL="91440" marR="91440" marT="36576" marB="36576" anchor="ctr">
                    <a:solidFill>
                      <a:schemeClr val="bg1"/>
                    </a:solidFill>
                  </a:tcPr>
                </a:tc>
                <a:tc>
                  <a:txBody>
                    <a:bodyPr wrap="square"/>
                    <a:lstStyle/>
                    <a:p>
                      <a:r>
                        <a:rPr sz="1600" b="0">
                          <a:solidFill>
                            <a:schemeClr val="tx1"/>
                          </a:solidFill>
                        </a:rPr>
                        <a:t>✘ No</a:t>
                      </a:r>
                    </a:p>
                  </a:txBody>
                  <a:tcPr marL="91440" marR="91440" marT="36576" marB="36576" anchor="ctr">
                    <a:solidFill>
                      <a:schemeClr val="bg1"/>
                    </a:solidFill>
                  </a:tcPr>
                </a:tc>
                <a:tc>
                  <a:txBody>
                    <a:bodyPr wrap="square"/>
                    <a:lstStyle/>
                    <a:p>
                      <a:r>
                        <a:rPr sz="1600" b="0">
                          <a:solidFill>
                            <a:schemeClr val="tx1"/>
                          </a:solidFill>
                        </a:rPr>
                        <a:t>PHI and FERPA</a:t>
                      </a:r>
                    </a:p>
                  </a:txBody>
                  <a:tcPr marL="91440" marR="91440" marT="36576" marB="36576" anchor="ctr">
                    <a:solidFill>
                      <a:schemeClr val="bg1"/>
                    </a:solidFill>
                  </a:tcPr>
                </a:tc>
              </a:tr>
              <a:tr h="548640">
                <a:tc>
                  <a:txBody>
                    <a:bodyPr wrap="square"/>
                    <a:lstStyle/>
                    <a:p>
                      <a:r>
                        <a:rPr sz="1600" b="1">
                          <a:solidFill>
                            <a:schemeClr val="tx1"/>
                          </a:solidFill>
                        </a:rPr>
                        <a:t>Personal Pro / Max</a:t>
                      </a:r>
                    </a:p>
                  </a:txBody>
                  <a:tcPr marL="91440" marR="91440" marT="36576" marB="36576" anchor="ctr">
                    <a:solidFill>
                      <a:schemeClr val="bg1"/>
                    </a:solidFill>
                  </a:tcPr>
                </a:tc>
                <a:tc>
                  <a:txBody>
                    <a:bodyPr wrap="square"/>
                    <a:lstStyle/>
                    <a:p>
                      <a:r>
                        <a:rPr sz="1600" b="0">
                          <a:solidFill>
                            <a:schemeClr val="tx1"/>
                          </a:solidFill>
                        </a:rPr>
                        <a:t>✔ Yes</a:t>
                      </a:r>
                    </a:p>
                  </a:txBody>
                  <a:tcPr marL="91440" marR="91440" marT="36576" marB="36576" anchor="ctr">
                    <a:solidFill>
                      <a:schemeClr val="bg1"/>
                    </a:solidFill>
                  </a:tcPr>
                </a:tc>
                <a:tc>
                  <a:txBody>
                    <a:bodyPr wrap="square"/>
                    <a:lstStyle/>
                    <a:p>
                      <a:r>
                        <a:rPr sz="1600" b="0">
                          <a:solidFill>
                            <a:schemeClr val="tx1"/>
                          </a:solidFill>
                        </a:rPr>
                        <a:t>Personal account: no WashU data agreement</a:t>
                      </a:r>
                    </a:p>
                  </a:txBody>
                  <a:tcPr marL="91440" marR="91440" marT="36576" marB="36576" anchor="ctr">
                    <a:solidFill>
                      <a:schemeClr val="bg1"/>
                    </a:solidFill>
                  </a:tcPr>
                </a:tc>
              </a:tr>
              <a:tr h="548640">
                <a:tc>
                  <a:txBody>
                    <a:bodyPr wrap="square"/>
                    <a:lstStyle/>
                    <a:p>
                      <a:r>
                        <a:rPr sz="1600" b="1">
                          <a:solidFill>
                            <a:schemeClr val="tx1"/>
                          </a:solidFill>
                        </a:rPr>
                        <a:t>Free claude.ai</a:t>
                      </a:r>
                    </a:p>
                  </a:txBody>
                  <a:tcPr marL="91440" marR="91440" marT="36576" marB="36576" anchor="ctr">
                    <a:solidFill>
                      <a:schemeClr val="bg1"/>
                    </a:solidFill>
                  </a:tcPr>
                </a:tc>
                <a:tc>
                  <a:txBody>
                    <a:bodyPr wrap="square"/>
                    <a:lstStyle/>
                    <a:p>
                      <a:r>
                        <a:rPr sz="1600" b="0">
                          <a:solidFill>
                            <a:schemeClr val="tx1"/>
                          </a:solidFill>
                        </a:rPr>
                        <a:t>✘ No</a:t>
                      </a:r>
                    </a:p>
                  </a:txBody>
                  <a:tcPr marL="91440" marR="91440" marT="36576" marB="36576" anchor="ctr">
                    <a:solidFill>
                      <a:schemeClr val="bg1"/>
                    </a:solidFill>
                  </a:tcPr>
                </a:tc>
                <a:tc>
                  <a:txBody>
                    <a:bodyPr wrap="square"/>
                    <a:lstStyle/>
                    <a:p>
                      <a:r>
                        <a:rPr sz="1600" b="0">
                          <a:solidFill>
                            <a:schemeClr val="tx1"/>
                          </a:solidFill>
                        </a:rPr>
                        <a:t>—</a:t>
                      </a:r>
                    </a:p>
                  </a:txBody>
                  <a:tcPr marL="91440" marR="91440" marT="36576" marB="36576" anchor="ctr">
                    <a:solidFill>
                      <a:schemeClr val="bg1"/>
                    </a:solidFill>
                  </a:tcPr>
                </a:tc>
              </a:tr>
            </a:tbl>
          </a:graphicData>
        </a:graphic>
      </p:graphicFrame>
      <p:sp>
        <p:nvSpPr>
          <p:cNvPr id="14" name="Rounded Rectangle 13"/>
          <p:cNvSpPr/>
          <p:nvPr/>
        </p:nvSpPr>
        <p:spPr>
          <a:xfrm>
            <a:off x="8229600" y="1920240"/>
            <a:ext cx="3447287" cy="31546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icon_FaRightToBracket_circle"/>
          <p:cNvSpPr/>
          <p:nvPr/>
        </p:nvSpPr>
        <p:spPr>
          <a:xfrm>
            <a:off x="8503920" y="2194560"/>
            <a:ext cx="566928" cy="5669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Picture 15" descr="FaRightToBracket_red.png"/>
          <p:cNvPicPr>
            <a:picLocks noChangeAspect="1"/>
          </p:cNvPicPr>
          <p:nvPr/>
        </p:nvPicPr>
        <p:blipFill>
          <a:blip r:embed="rId3"/>
          <a:stretch>
            <a:fillRect/>
          </a:stretch>
        </p:blipFill>
        <p:spPr>
          <a:xfrm>
            <a:off x="8645652" y="2336291"/>
            <a:ext cx="283464" cy="283464"/>
          </a:xfrm>
          <a:prstGeom prst="rect">
            <a:avLst/>
          </a:prstGeom>
        </p:spPr>
      </p:pic>
      <p:sp>
        <p:nvSpPr>
          <p:cNvPr id="17" name="TextBox 16"/>
          <p:cNvSpPr txBox="1"/>
          <p:nvPr/>
        </p:nvSpPr>
        <p:spPr>
          <a:xfrm>
            <a:off x="8503920" y="2926080"/>
            <a:ext cx="2898647" cy="365760"/>
          </a:xfrm>
          <a:prstGeom prst="rect">
            <a:avLst/>
          </a:prstGeom>
          <a:noFill/>
        </p:spPr>
        <p:txBody>
          <a:bodyPr wrap="square" lIns="0" rIns="0" tIns="0" bIns="0" anchor="t">
            <a:spAutoFit/>
          </a:bodyPr>
          <a:lstStyle/>
          <a:p>
            <a:pPr algn="l"/>
            <a:r>
              <a:rPr sz="1900" b="1" i="0">
                <a:solidFill>
                  <a:schemeClr val="bg1"/>
                </a:solidFill>
              </a:rPr>
              <a:t>Sign in with WashU</a:t>
            </a:r>
          </a:p>
        </p:txBody>
      </p:sp>
      <p:sp>
        <p:nvSpPr>
          <p:cNvPr id="18" name="TextBox 17"/>
          <p:cNvSpPr txBox="1"/>
          <p:nvPr/>
        </p:nvSpPr>
        <p:spPr>
          <a:xfrm>
            <a:off x="8503920" y="3383280"/>
            <a:ext cx="2898647" cy="1554480"/>
          </a:xfrm>
          <a:prstGeom prst="rect">
            <a:avLst/>
          </a:prstGeom>
          <a:noFill/>
        </p:spPr>
        <p:txBody>
          <a:bodyPr wrap="square" lIns="0" rIns="0" tIns="0" bIns="0" anchor="t">
            <a:spAutoFit/>
          </a:bodyPr>
          <a:lstStyle/>
          <a:p>
            <a:pPr algn="l">
              <a:spcAft>
                <a:spcPts val="800"/>
              </a:spcAft>
            </a:pPr>
            <a:r>
              <a:rPr sz="1600" b="0" i="0">
                <a:solidFill>
                  <a:schemeClr val="bg1"/>
                </a:solidFill>
              </a:rPr>
              <a:t>claude.ai → WashU email → Continue with SSO</a:t>
            </a:r>
          </a:p>
          <a:p>
            <a:pPr algn="l">
              <a:spcAft>
                <a:spcPts val="800"/>
              </a:spcAft>
            </a:pPr>
            <a:r>
              <a:rPr sz="1600" b="0" i="0">
                <a:solidFill>
                  <a:schemeClr val="bg1"/>
                </a:solidFill>
              </a:rPr>
              <a:t>Your workspace name appears in the lower-left sidebar.</a:t>
            </a:r>
          </a:p>
        </p:txBody>
      </p:sp>
      <p:pic>
        <p:nvPicPr>
          <p:cNvPr id="19" name="Picture 18" descr="FaCircleInfo_red.png"/>
          <p:cNvPicPr>
            <a:picLocks noChangeAspect="1"/>
          </p:cNvPicPr>
          <p:nvPr/>
        </p:nvPicPr>
        <p:blipFill>
          <a:blip r:embed="rId4"/>
          <a:stretch>
            <a:fillRect/>
          </a:stretch>
        </p:blipFill>
        <p:spPr>
          <a:xfrm>
            <a:off x="512064" y="5303520"/>
            <a:ext cx="347472" cy="347472"/>
          </a:xfrm>
          <a:prstGeom prst="rect">
            <a:avLst/>
          </a:prstGeom>
        </p:spPr>
      </p:pic>
      <p:sp>
        <p:nvSpPr>
          <p:cNvPr id="20" name="TextBox 19"/>
          <p:cNvSpPr txBox="1"/>
          <p:nvPr/>
        </p:nvSpPr>
        <p:spPr>
          <a:xfrm>
            <a:off x="1014984" y="5230368"/>
            <a:ext cx="10607040" cy="502920"/>
          </a:xfrm>
          <a:prstGeom prst="rect">
            <a:avLst/>
          </a:prstGeom>
          <a:noFill/>
        </p:spPr>
        <p:txBody>
          <a:bodyPr wrap="square" lIns="0" rIns="0" tIns="0" bIns="0" anchor="ctr">
            <a:spAutoFit/>
          </a:bodyPr>
          <a:lstStyle/>
          <a:p>
            <a:pPr algn="l"/>
            <a:r>
              <a:rPr sz="1600" b="0" i="0">
                <a:solidFill>
                  <a:schemeClr val="tx1"/>
                </a:solidFill>
              </a:rPr>
              <a:t>Students: confirm with WashU IT that your free Claude Edu seat includes Claude 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 on macOS</a:t>
            </a:r>
          </a:p>
        </p:txBody>
      </p:sp>
      <p:sp>
        <p:nvSpPr>
          <p:cNvPr id="3" name="Text Placeholder 2"/>
          <p:cNvSpPr>
            <a:spLocks noGrp="1"/>
          </p:cNvSpPr>
          <p:nvPr>
            <p:ph type="body" idx="12" sz="quarter"/>
          </p:nvPr>
        </p:nvSpPr>
        <p:spPr/>
        <p:txBody>
          <a:bodyPr/>
          <a:lstStyle/>
          <a:p>
            <a:r>
              <a:t>Open Terminal: Cmd+Space, type “Terminal”</a:t>
            </a:r>
          </a:p>
        </p:txBody>
      </p:sp>
      <p:sp>
        <p:nvSpPr>
          <p:cNvPr id="4" name="Text Placeholder 3"/>
          <p:cNvSpPr>
            <a:spLocks noGrp="1"/>
          </p:cNvSpPr>
          <p:nvPr>
            <p:ph type="body" idx="14" sz="quarter"/>
          </p:nvPr>
        </p:nvSpPr>
        <p:spPr/>
        <p:txBody>
          <a:bodyPr/>
          <a:lstStyle/>
          <a:p>
            <a:r>
              <a:t>A · Install and verify</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TextBox 12"/>
          <p:cNvSpPr txBox="1"/>
          <p:nvPr/>
        </p:nvSpPr>
        <p:spPr>
          <a:xfrm>
            <a:off x="512064" y="1920240"/>
            <a:ext cx="6949440" cy="292608"/>
          </a:xfrm>
          <a:prstGeom prst="rect">
            <a:avLst/>
          </a:prstGeom>
          <a:noFill/>
        </p:spPr>
        <p:txBody>
          <a:bodyPr wrap="square" lIns="0" rIns="0" tIns="0" bIns="0" anchor="t">
            <a:spAutoFit/>
          </a:bodyPr>
          <a:lstStyle/>
          <a:p>
            <a:pPr algn="l"/>
            <a:r>
              <a:rPr sz="1400" b="1" i="0">
                <a:solidFill>
                  <a:schemeClr val="tx2"/>
                </a:solidFill>
              </a:rPr>
              <a:t>Native installer (recommended; updates itself)</a:t>
            </a:r>
          </a:p>
        </p:txBody>
      </p:sp>
      <p:sp>
        <p:nvSpPr>
          <p:cNvPr id="14" name="code_block"/>
          <p:cNvSpPr/>
          <p:nvPr/>
        </p:nvSpPr>
        <p:spPr>
          <a:xfrm>
            <a:off x="512064" y="2249424"/>
            <a:ext cx="6949440" cy="64008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13232" y="2249424"/>
            <a:ext cx="6583679" cy="64008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curl -fsSL https://claude.ai/install.sh | bash</a:t>
            </a:r>
          </a:p>
        </p:txBody>
      </p:sp>
      <p:sp>
        <p:nvSpPr>
          <p:cNvPr id="16" name="TextBox 15"/>
          <p:cNvSpPr txBox="1"/>
          <p:nvPr/>
        </p:nvSpPr>
        <p:spPr>
          <a:xfrm>
            <a:off x="512064" y="3209544"/>
            <a:ext cx="6949440" cy="292608"/>
          </a:xfrm>
          <a:prstGeom prst="rect">
            <a:avLst/>
          </a:prstGeom>
          <a:noFill/>
        </p:spPr>
        <p:txBody>
          <a:bodyPr wrap="square" lIns="0" rIns="0" tIns="0" bIns="0" anchor="t">
            <a:spAutoFit/>
          </a:bodyPr>
          <a:lstStyle/>
          <a:p>
            <a:pPr algn="l"/>
            <a:r>
              <a:rPr sz="1400" b="1" i="0">
                <a:solidFill>
                  <a:schemeClr val="tx1"/>
                </a:solidFill>
              </a:rPr>
              <a:t>Or Homebrew (does not auto-update)</a:t>
            </a:r>
          </a:p>
        </p:txBody>
      </p:sp>
      <p:sp>
        <p:nvSpPr>
          <p:cNvPr id="17" name="code_block"/>
          <p:cNvSpPr/>
          <p:nvPr/>
        </p:nvSpPr>
        <p:spPr>
          <a:xfrm>
            <a:off x="512064" y="3538728"/>
            <a:ext cx="6949440" cy="91440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13232" y="3538728"/>
            <a:ext cx="6583679" cy="91440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brew install --cask claude-code</a:t>
            </a:r>
          </a:p>
          <a:p>
            <a:pPr algn="l">
              <a:spcAft>
                <a:spcPts val="200"/>
              </a:spcAft>
            </a:pPr>
            <a:r>
              <a:rPr sz="1500" b="0" i="0">
                <a:solidFill>
                  <a:srgbClr val="FFFFFF"/>
                </a:solidFill>
                <a:latin typeface="Courier New"/>
              </a:rPr>
              <a:t>brew upgrade claude-code</a:t>
            </a:r>
            <a:r>
              <a:rPr sz="1500" b="0" i="0">
                <a:solidFill>
                  <a:srgbClr val="9FD3C7"/>
                </a:solidFill>
                <a:latin typeface="Courier New"/>
              </a:rPr>
              <a:t>  # later, by hand</a:t>
            </a:r>
          </a:p>
        </p:txBody>
      </p:sp>
      <p:pic>
        <p:nvPicPr>
          <p:cNvPr id="19" name="Picture 18" descr="FaTriangleExclamation_red.png"/>
          <p:cNvPicPr>
            <a:picLocks noChangeAspect="1"/>
          </p:cNvPicPr>
          <p:nvPr/>
        </p:nvPicPr>
        <p:blipFill>
          <a:blip r:embed="rId3"/>
          <a:stretch>
            <a:fillRect/>
          </a:stretch>
        </p:blipFill>
        <p:spPr>
          <a:xfrm>
            <a:off x="512064" y="5349240"/>
            <a:ext cx="329184" cy="329184"/>
          </a:xfrm>
          <a:prstGeom prst="rect">
            <a:avLst/>
          </a:prstGeom>
        </p:spPr>
      </p:pic>
      <p:sp>
        <p:nvSpPr>
          <p:cNvPr id="20" name="TextBox 19"/>
          <p:cNvSpPr txBox="1"/>
          <p:nvPr/>
        </p:nvSpPr>
        <p:spPr>
          <a:xfrm>
            <a:off x="1014984" y="5285232"/>
            <a:ext cx="6400800" cy="457200"/>
          </a:xfrm>
          <a:prstGeom prst="rect">
            <a:avLst/>
          </a:prstGeom>
          <a:noFill/>
        </p:spPr>
        <p:txBody>
          <a:bodyPr wrap="square" lIns="0" rIns="0" tIns="0" bIns="0" anchor="ctr">
            <a:spAutoFit/>
          </a:bodyPr>
          <a:lstStyle/>
          <a:p>
            <a:pPr algn="l"/>
            <a:r>
              <a:rPr sz="1600" b="0" i="0">
                <a:solidFill>
                  <a:schemeClr val="tx1"/>
                </a:solidFill>
              </a:rPr>
              <a:t>npm still works but is no longer recommended. Never use sudo.</a:t>
            </a:r>
          </a:p>
        </p:txBody>
      </p:sp>
      <p:sp>
        <p:nvSpPr>
          <p:cNvPr id="21" name="icon_FaApple_circle"/>
          <p:cNvSpPr/>
          <p:nvPr/>
        </p:nvSpPr>
        <p:spPr>
          <a:xfrm>
            <a:off x="9290304" y="2011680"/>
            <a:ext cx="1097280" cy="10972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Apple_dark.png"/>
          <p:cNvPicPr>
            <a:picLocks noChangeAspect="1"/>
          </p:cNvPicPr>
          <p:nvPr/>
        </p:nvPicPr>
        <p:blipFill>
          <a:blip r:embed="rId4"/>
          <a:stretch>
            <a:fillRect/>
          </a:stretch>
        </p:blipFill>
        <p:spPr>
          <a:xfrm>
            <a:off x="9564624" y="2286000"/>
            <a:ext cx="548640" cy="548640"/>
          </a:xfrm>
          <a:prstGeom prst="rect">
            <a:avLst/>
          </a:prstGeom>
        </p:spPr>
      </p:pic>
      <p:sp>
        <p:nvSpPr>
          <p:cNvPr id="23" name="Rounded Rectangle 22"/>
          <p:cNvSpPr/>
          <p:nvPr/>
        </p:nvSpPr>
        <p:spPr>
          <a:xfrm>
            <a:off x="8001000" y="3429000"/>
            <a:ext cx="3675887"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con_FaCheck_circle"/>
          <p:cNvSpPr/>
          <p:nvPr/>
        </p:nvSpPr>
        <p:spPr>
          <a:xfrm>
            <a:off x="8165592" y="3520440"/>
            <a:ext cx="438912" cy="438912"/>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Check_white.png"/>
          <p:cNvPicPr>
            <a:picLocks noChangeAspect="1"/>
          </p:cNvPicPr>
          <p:nvPr/>
        </p:nvPicPr>
        <p:blipFill>
          <a:blip r:embed="rId5"/>
          <a:stretch>
            <a:fillRect/>
          </a:stretch>
        </p:blipFill>
        <p:spPr>
          <a:xfrm>
            <a:off x="8275319" y="3630168"/>
            <a:ext cx="219456" cy="219456"/>
          </a:xfrm>
          <a:prstGeom prst="rect">
            <a:avLst/>
          </a:prstGeom>
        </p:spPr>
      </p:pic>
      <p:sp>
        <p:nvSpPr>
          <p:cNvPr id="26" name="TextBox 25"/>
          <p:cNvSpPr txBox="1"/>
          <p:nvPr/>
        </p:nvSpPr>
        <p:spPr>
          <a:xfrm>
            <a:off x="8741664" y="3429000"/>
            <a:ext cx="2825495" cy="621792"/>
          </a:xfrm>
          <a:prstGeom prst="rect">
            <a:avLst/>
          </a:prstGeom>
          <a:noFill/>
        </p:spPr>
        <p:txBody>
          <a:bodyPr wrap="square" lIns="0" rIns="0" tIns="0" bIns="0" anchor="ctr">
            <a:spAutoFit/>
          </a:bodyPr>
          <a:lstStyle/>
          <a:p>
            <a:pPr algn="l"/>
            <a:r>
              <a:rPr sz="1600" b="0" i="0">
                <a:solidFill>
                  <a:schemeClr val="tx1"/>
                </a:solidFill>
              </a:rPr>
              <a:t>macOS 13 or later</a:t>
            </a:r>
          </a:p>
        </p:txBody>
      </p:sp>
      <p:sp>
        <p:nvSpPr>
          <p:cNvPr id="27" name="Rounded Rectangle 26"/>
          <p:cNvSpPr/>
          <p:nvPr/>
        </p:nvSpPr>
        <p:spPr>
          <a:xfrm>
            <a:off x="8001000" y="4206240"/>
            <a:ext cx="3675887"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Check_circle"/>
          <p:cNvSpPr/>
          <p:nvPr/>
        </p:nvSpPr>
        <p:spPr>
          <a:xfrm>
            <a:off x="8165592" y="4297679"/>
            <a:ext cx="438912" cy="438912"/>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Check_white.png"/>
          <p:cNvPicPr>
            <a:picLocks noChangeAspect="1"/>
          </p:cNvPicPr>
          <p:nvPr/>
        </p:nvPicPr>
        <p:blipFill>
          <a:blip r:embed="rId5"/>
          <a:stretch>
            <a:fillRect/>
          </a:stretch>
        </p:blipFill>
        <p:spPr>
          <a:xfrm>
            <a:off x="8275319" y="4407407"/>
            <a:ext cx="219456" cy="219456"/>
          </a:xfrm>
          <a:prstGeom prst="rect">
            <a:avLst/>
          </a:prstGeom>
        </p:spPr>
      </p:pic>
      <p:sp>
        <p:nvSpPr>
          <p:cNvPr id="30" name="TextBox 29"/>
          <p:cNvSpPr txBox="1"/>
          <p:nvPr/>
        </p:nvSpPr>
        <p:spPr>
          <a:xfrm>
            <a:off x="8741664" y="4206240"/>
            <a:ext cx="2825495" cy="621792"/>
          </a:xfrm>
          <a:prstGeom prst="rect">
            <a:avLst/>
          </a:prstGeom>
          <a:noFill/>
        </p:spPr>
        <p:txBody>
          <a:bodyPr wrap="square" lIns="0" rIns="0" tIns="0" bIns="0" anchor="ctr">
            <a:spAutoFit/>
          </a:bodyPr>
          <a:lstStyle/>
          <a:p>
            <a:pPr algn="l"/>
            <a:r>
              <a:rPr sz="1600" b="0" i="0">
                <a:solidFill>
                  <a:schemeClr val="tx1"/>
                </a:solidFill>
              </a:rPr>
              <a:t>Apple Silicon or Intel</a:t>
            </a:r>
          </a:p>
        </p:txBody>
      </p:sp>
      <p:sp>
        <p:nvSpPr>
          <p:cNvPr id="31" name="Rounded Rectangle 30"/>
          <p:cNvSpPr/>
          <p:nvPr/>
        </p:nvSpPr>
        <p:spPr>
          <a:xfrm>
            <a:off x="8001000" y="4983480"/>
            <a:ext cx="3675887" cy="621792"/>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con_FaCheck_circle"/>
          <p:cNvSpPr/>
          <p:nvPr/>
        </p:nvSpPr>
        <p:spPr>
          <a:xfrm>
            <a:off x="8165592" y="5074920"/>
            <a:ext cx="438912" cy="438912"/>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aCheck_white.png"/>
          <p:cNvPicPr>
            <a:picLocks noChangeAspect="1"/>
          </p:cNvPicPr>
          <p:nvPr/>
        </p:nvPicPr>
        <p:blipFill>
          <a:blip r:embed="rId5"/>
          <a:stretch>
            <a:fillRect/>
          </a:stretch>
        </p:blipFill>
        <p:spPr>
          <a:xfrm>
            <a:off x="8275319" y="5184648"/>
            <a:ext cx="219456" cy="219456"/>
          </a:xfrm>
          <a:prstGeom prst="rect">
            <a:avLst/>
          </a:prstGeom>
        </p:spPr>
      </p:pic>
      <p:sp>
        <p:nvSpPr>
          <p:cNvPr id="34" name="TextBox 33"/>
          <p:cNvSpPr txBox="1"/>
          <p:nvPr/>
        </p:nvSpPr>
        <p:spPr>
          <a:xfrm>
            <a:off x="8741664" y="4983480"/>
            <a:ext cx="2825495" cy="621792"/>
          </a:xfrm>
          <a:prstGeom prst="rect">
            <a:avLst/>
          </a:prstGeom>
          <a:noFill/>
        </p:spPr>
        <p:txBody>
          <a:bodyPr wrap="square" lIns="0" rIns="0" tIns="0" bIns="0" anchor="ctr">
            <a:spAutoFit/>
          </a:bodyPr>
          <a:lstStyle/>
          <a:p>
            <a:pPr algn="l"/>
            <a:r>
              <a:rPr sz="1600" b="0" i="0">
                <a:solidFill>
                  <a:schemeClr val="tx1"/>
                </a:solidFill>
              </a:rPr>
              <a:t>4 GB RAM or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Install on Windows</a:t>
            </a:r>
          </a:p>
        </p:txBody>
      </p:sp>
      <p:sp>
        <p:nvSpPr>
          <p:cNvPr id="3" name="Text Placeholder 2"/>
          <p:cNvSpPr>
            <a:spLocks noGrp="1"/>
          </p:cNvSpPr>
          <p:nvPr>
            <p:ph type="body" idx="12" sz="quarter"/>
          </p:nvPr>
        </p:nvSpPr>
        <p:spPr/>
        <p:txBody>
          <a:bodyPr/>
          <a:lstStyle/>
          <a:p>
            <a:r>
              <a:t>Runs natively. WSL is optional</a:t>
            </a:r>
          </a:p>
        </p:txBody>
      </p:sp>
      <p:sp>
        <p:nvSpPr>
          <p:cNvPr id="4" name="Text Placeholder 3"/>
          <p:cNvSpPr>
            <a:spLocks noGrp="1"/>
          </p:cNvSpPr>
          <p:nvPr>
            <p:ph type="body" idx="14" sz="quarter"/>
          </p:nvPr>
        </p:nvSpPr>
        <p:spPr/>
        <p:txBody>
          <a:bodyPr/>
          <a:lstStyle/>
          <a:p>
            <a:r>
              <a:t>A · Install and verify</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TextBox 12"/>
          <p:cNvSpPr txBox="1"/>
          <p:nvPr/>
        </p:nvSpPr>
        <p:spPr>
          <a:xfrm>
            <a:off x="512064" y="1920240"/>
            <a:ext cx="3657600" cy="320040"/>
          </a:xfrm>
          <a:prstGeom prst="rect">
            <a:avLst/>
          </a:prstGeom>
          <a:noFill/>
        </p:spPr>
        <p:txBody>
          <a:bodyPr wrap="square" lIns="0" rIns="0" tIns="0" bIns="0" anchor="t">
            <a:spAutoFit/>
          </a:bodyPr>
          <a:lstStyle/>
          <a:p>
            <a:pPr algn="l"/>
            <a:r>
              <a:rPr sz="1600" b="1" i="0">
                <a:solidFill>
                  <a:schemeClr val="tx2"/>
                </a:solidFill>
              </a:rPr>
              <a:t>Which shell am I in?</a:t>
            </a:r>
          </a:p>
        </p:txBody>
      </p:sp>
      <p:sp>
        <p:nvSpPr>
          <p:cNvPr id="14" name="Rounded Rectangle 13"/>
          <p:cNvSpPr/>
          <p:nvPr/>
        </p:nvSpPr>
        <p:spPr>
          <a:xfrm>
            <a:off x="2514600" y="1874520"/>
            <a:ext cx="4434840" cy="457200"/>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651760" y="1874520"/>
            <a:ext cx="4206240" cy="457200"/>
          </a:xfrm>
          <a:prstGeom prst="rect">
            <a:avLst/>
          </a:prstGeom>
          <a:noFill/>
        </p:spPr>
        <p:txBody>
          <a:bodyPr wrap="square" lIns="0" rIns="0" tIns="0" bIns="0" anchor="ctr">
            <a:spAutoFit/>
          </a:bodyPr>
          <a:lstStyle/>
          <a:p>
            <a:pPr algn="l"/>
            <a:r>
              <a:rPr sz="1500" b="0" i="0">
                <a:solidFill>
                  <a:srgbClr val="FFFFFF"/>
                </a:solidFill>
                <a:latin typeface="Courier New"/>
              </a:rPr>
              <a:t>PS C:\Users\you&gt;</a:t>
            </a:r>
            <a:r>
              <a:rPr sz="1500" b="1" i="0">
                <a:solidFill>
                  <a:srgbClr val="9FD3C7"/>
                </a:solidFill>
              </a:rPr>
              <a:t>  = PowerShell</a:t>
            </a:r>
          </a:p>
        </p:txBody>
      </p:sp>
      <p:sp>
        <p:nvSpPr>
          <p:cNvPr id="16" name="Rounded Rectangle 15"/>
          <p:cNvSpPr/>
          <p:nvPr/>
        </p:nvSpPr>
        <p:spPr>
          <a:xfrm>
            <a:off x="7178040" y="1874520"/>
            <a:ext cx="4498848" cy="457200"/>
          </a:xfrm>
          <a:prstGeom prst="roundRect">
            <a:avLst>
              <a:gd name="adj" fmla="val 10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315200" y="1874520"/>
            <a:ext cx="4297680" cy="457200"/>
          </a:xfrm>
          <a:prstGeom prst="rect">
            <a:avLst/>
          </a:prstGeom>
          <a:noFill/>
        </p:spPr>
        <p:txBody>
          <a:bodyPr wrap="square" lIns="0" rIns="0" tIns="0" bIns="0" anchor="ctr">
            <a:spAutoFit/>
          </a:bodyPr>
          <a:lstStyle/>
          <a:p>
            <a:pPr algn="l"/>
            <a:r>
              <a:rPr sz="1500" b="0" i="0">
                <a:solidFill>
                  <a:srgbClr val="FFFFFF"/>
                </a:solidFill>
                <a:latin typeface="Courier New"/>
              </a:rPr>
              <a:t>C:\Users\you&gt;</a:t>
            </a:r>
            <a:r>
              <a:rPr sz="1500" b="1" i="0">
                <a:solidFill>
                  <a:srgbClr val="9FD3C7"/>
                </a:solidFill>
              </a:rPr>
              <a:t>  = Command Prompt</a:t>
            </a:r>
          </a:p>
        </p:txBody>
      </p:sp>
      <p:sp>
        <p:nvSpPr>
          <p:cNvPr id="18" name="TextBox 17"/>
          <p:cNvSpPr txBox="1"/>
          <p:nvPr/>
        </p:nvSpPr>
        <p:spPr>
          <a:xfrm>
            <a:off x="512064" y="2514600"/>
            <a:ext cx="1920240" cy="502920"/>
          </a:xfrm>
          <a:prstGeom prst="rect">
            <a:avLst/>
          </a:prstGeom>
          <a:noFill/>
        </p:spPr>
        <p:txBody>
          <a:bodyPr wrap="square" lIns="0" rIns="0" tIns="0" bIns="0" anchor="ctr">
            <a:spAutoFit/>
          </a:bodyPr>
          <a:lstStyle/>
          <a:p>
            <a:pPr algn="l"/>
            <a:r>
              <a:rPr sz="1500" b="1" i="0">
                <a:solidFill>
                  <a:schemeClr val="tx2"/>
                </a:solidFill>
              </a:rPr>
              <a:t>PowerShell</a:t>
            </a:r>
          </a:p>
          <a:p>
            <a:pPr algn="l"/>
            <a:r>
              <a:rPr sz="1200" b="0" i="0">
                <a:solidFill>
                  <a:srgbClr val="5F5F5F"/>
                </a:solidFill>
              </a:rPr>
              <a:t>recommended</a:t>
            </a:r>
          </a:p>
        </p:txBody>
      </p:sp>
      <p:sp>
        <p:nvSpPr>
          <p:cNvPr id="19" name="Rounded Rectangle 18"/>
          <p:cNvSpPr/>
          <p:nvPr/>
        </p:nvSpPr>
        <p:spPr>
          <a:xfrm>
            <a:off x="2514600" y="2514600"/>
            <a:ext cx="9162288" cy="502920"/>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624328" y="2514600"/>
            <a:ext cx="9006840" cy="502920"/>
          </a:xfrm>
          <a:prstGeom prst="rect">
            <a:avLst/>
          </a:prstGeom>
          <a:noFill/>
        </p:spPr>
        <p:txBody>
          <a:bodyPr wrap="square" lIns="0" rIns="0" tIns="0" bIns="0" anchor="ctr">
            <a:spAutoFit/>
          </a:bodyPr>
          <a:lstStyle/>
          <a:p>
            <a:pPr algn="l"/>
            <a:r>
              <a:rPr sz="1500" b="0" i="0">
                <a:solidFill>
                  <a:srgbClr val="FFFFFF"/>
                </a:solidFill>
                <a:latin typeface="Courier New"/>
              </a:rPr>
              <a:t>irm https://claude.ai/install.ps1 | iex</a:t>
            </a:r>
          </a:p>
        </p:txBody>
      </p:sp>
      <p:sp>
        <p:nvSpPr>
          <p:cNvPr id="21" name="TextBox 20"/>
          <p:cNvSpPr txBox="1"/>
          <p:nvPr/>
        </p:nvSpPr>
        <p:spPr>
          <a:xfrm>
            <a:off x="512064" y="3172968"/>
            <a:ext cx="1920240" cy="502920"/>
          </a:xfrm>
          <a:prstGeom prst="rect">
            <a:avLst/>
          </a:prstGeom>
          <a:noFill/>
        </p:spPr>
        <p:txBody>
          <a:bodyPr wrap="square" lIns="0" rIns="0" tIns="0" bIns="0" anchor="ctr">
            <a:spAutoFit/>
          </a:bodyPr>
          <a:lstStyle/>
          <a:p>
            <a:pPr algn="l"/>
            <a:r>
              <a:rPr sz="1500" b="1" i="0">
                <a:solidFill>
                  <a:schemeClr val="tx1"/>
                </a:solidFill>
              </a:rPr>
              <a:t>Command Prompt</a:t>
            </a:r>
          </a:p>
        </p:txBody>
      </p:sp>
      <p:sp>
        <p:nvSpPr>
          <p:cNvPr id="22" name="Rounded Rectangle 21"/>
          <p:cNvSpPr/>
          <p:nvPr/>
        </p:nvSpPr>
        <p:spPr>
          <a:xfrm>
            <a:off x="2514600" y="3172968"/>
            <a:ext cx="9162288" cy="502920"/>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2624328" y="3172968"/>
            <a:ext cx="9006840" cy="502920"/>
          </a:xfrm>
          <a:prstGeom prst="rect">
            <a:avLst/>
          </a:prstGeom>
          <a:noFill/>
        </p:spPr>
        <p:txBody>
          <a:bodyPr wrap="square" lIns="0" rIns="0" tIns="0" bIns="0" anchor="ctr">
            <a:spAutoFit/>
          </a:bodyPr>
          <a:lstStyle/>
          <a:p>
            <a:pPr algn="l"/>
            <a:r>
              <a:rPr sz="1300" b="0" i="0">
                <a:solidFill>
                  <a:srgbClr val="FFFFFF"/>
                </a:solidFill>
                <a:latin typeface="Courier New"/>
              </a:rPr>
              <a:t>curl -fsSL https://claude.ai/install.cmd -o install.cmd &amp;&amp; install.cmd &amp;&amp; del install.cmd</a:t>
            </a:r>
          </a:p>
        </p:txBody>
      </p:sp>
      <p:sp>
        <p:nvSpPr>
          <p:cNvPr id="24" name="TextBox 23"/>
          <p:cNvSpPr txBox="1"/>
          <p:nvPr/>
        </p:nvSpPr>
        <p:spPr>
          <a:xfrm>
            <a:off x="512064" y="3831335"/>
            <a:ext cx="1920240" cy="502920"/>
          </a:xfrm>
          <a:prstGeom prst="rect">
            <a:avLst/>
          </a:prstGeom>
          <a:noFill/>
        </p:spPr>
        <p:txBody>
          <a:bodyPr wrap="square" lIns="0" rIns="0" tIns="0" bIns="0" anchor="ctr">
            <a:spAutoFit/>
          </a:bodyPr>
          <a:lstStyle/>
          <a:p>
            <a:pPr algn="l"/>
            <a:r>
              <a:rPr sz="1500" b="1" i="0">
                <a:solidFill>
                  <a:schemeClr val="tx1"/>
                </a:solidFill>
              </a:rPr>
              <a:t>WinGet</a:t>
            </a:r>
          </a:p>
          <a:p>
            <a:pPr algn="l"/>
            <a:r>
              <a:rPr sz="1200" b="0" i="0">
                <a:solidFill>
                  <a:srgbClr val="5F5F5F"/>
                </a:solidFill>
              </a:rPr>
              <a:t>no auto-update</a:t>
            </a:r>
          </a:p>
        </p:txBody>
      </p:sp>
      <p:sp>
        <p:nvSpPr>
          <p:cNvPr id="25" name="Rounded Rectangle 24"/>
          <p:cNvSpPr/>
          <p:nvPr/>
        </p:nvSpPr>
        <p:spPr>
          <a:xfrm>
            <a:off x="2514600" y="3831335"/>
            <a:ext cx="9162288" cy="502920"/>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2624328" y="3831335"/>
            <a:ext cx="9006840" cy="502920"/>
          </a:xfrm>
          <a:prstGeom prst="rect">
            <a:avLst/>
          </a:prstGeom>
          <a:noFill/>
        </p:spPr>
        <p:txBody>
          <a:bodyPr wrap="square" lIns="0" rIns="0" tIns="0" bIns="0" anchor="ctr">
            <a:spAutoFit/>
          </a:bodyPr>
          <a:lstStyle/>
          <a:p>
            <a:pPr algn="l"/>
            <a:r>
              <a:rPr sz="1500" b="0" i="0">
                <a:solidFill>
                  <a:srgbClr val="FFFFFF"/>
                </a:solidFill>
                <a:latin typeface="Courier New"/>
              </a:rPr>
              <a:t>winget install Anthropic.ClaudeCode</a:t>
            </a:r>
          </a:p>
        </p:txBody>
      </p:sp>
      <p:sp>
        <p:nvSpPr>
          <p:cNvPr id="27" name="Rounded Rectangle 26"/>
          <p:cNvSpPr/>
          <p:nvPr/>
        </p:nvSpPr>
        <p:spPr>
          <a:xfrm>
            <a:off x="512064" y="4572000"/>
            <a:ext cx="3538728"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Windows_circle"/>
          <p:cNvSpPr/>
          <p:nvPr/>
        </p:nvSpPr>
        <p:spPr>
          <a:xfrm>
            <a:off x="676656" y="468630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Windows_white.png"/>
          <p:cNvPicPr>
            <a:picLocks noChangeAspect="1"/>
          </p:cNvPicPr>
          <p:nvPr/>
        </p:nvPicPr>
        <p:blipFill>
          <a:blip r:embed="rId3"/>
          <a:stretch>
            <a:fillRect/>
          </a:stretch>
        </p:blipFill>
        <p:spPr>
          <a:xfrm>
            <a:off x="790956" y="4800600"/>
            <a:ext cx="228600" cy="228600"/>
          </a:xfrm>
          <a:prstGeom prst="rect">
            <a:avLst/>
          </a:prstGeom>
        </p:spPr>
      </p:pic>
      <p:sp>
        <p:nvSpPr>
          <p:cNvPr id="30" name="TextBox 29"/>
          <p:cNvSpPr txBox="1"/>
          <p:nvPr/>
        </p:nvSpPr>
        <p:spPr>
          <a:xfrm>
            <a:off x="1271016" y="4572000"/>
            <a:ext cx="2670048" cy="685800"/>
          </a:xfrm>
          <a:prstGeom prst="rect">
            <a:avLst/>
          </a:prstGeom>
          <a:noFill/>
        </p:spPr>
        <p:txBody>
          <a:bodyPr wrap="square" lIns="0" rIns="0" tIns="0" bIns="0" anchor="ctr">
            <a:spAutoFit/>
          </a:bodyPr>
          <a:lstStyle/>
          <a:p>
            <a:pPr algn="l"/>
            <a:r>
              <a:rPr sz="1600" b="0" i="0">
                <a:solidFill>
                  <a:schemeClr val="tx1"/>
                </a:solidFill>
              </a:rPr>
              <a:t>Runs natively; WSL is optional</a:t>
            </a:r>
          </a:p>
        </p:txBody>
      </p:sp>
      <p:sp>
        <p:nvSpPr>
          <p:cNvPr id="31" name="Rounded Rectangle 30"/>
          <p:cNvSpPr/>
          <p:nvPr/>
        </p:nvSpPr>
        <p:spPr>
          <a:xfrm>
            <a:off x="4325112" y="4572000"/>
            <a:ext cx="3538728"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con_FaUserGear_circle"/>
          <p:cNvSpPr/>
          <p:nvPr/>
        </p:nvSpPr>
        <p:spPr>
          <a:xfrm>
            <a:off x="4489704" y="468630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aUserGear_white.png"/>
          <p:cNvPicPr>
            <a:picLocks noChangeAspect="1"/>
          </p:cNvPicPr>
          <p:nvPr/>
        </p:nvPicPr>
        <p:blipFill>
          <a:blip r:embed="rId4"/>
          <a:stretch>
            <a:fillRect/>
          </a:stretch>
        </p:blipFill>
        <p:spPr>
          <a:xfrm>
            <a:off x="4604004" y="4800600"/>
            <a:ext cx="228600" cy="228600"/>
          </a:xfrm>
          <a:prstGeom prst="rect">
            <a:avLst/>
          </a:prstGeom>
        </p:spPr>
      </p:pic>
      <p:sp>
        <p:nvSpPr>
          <p:cNvPr id="34" name="TextBox 33"/>
          <p:cNvSpPr txBox="1"/>
          <p:nvPr/>
        </p:nvSpPr>
        <p:spPr>
          <a:xfrm>
            <a:off x="5084064" y="4572000"/>
            <a:ext cx="2670048" cy="685800"/>
          </a:xfrm>
          <a:prstGeom prst="rect">
            <a:avLst/>
          </a:prstGeom>
          <a:noFill/>
        </p:spPr>
        <p:txBody>
          <a:bodyPr wrap="square" lIns="0" rIns="0" tIns="0" bIns="0" anchor="ctr">
            <a:spAutoFit/>
          </a:bodyPr>
          <a:lstStyle/>
          <a:p>
            <a:pPr algn="l"/>
            <a:r>
              <a:rPr sz="1600" b="0" i="0">
                <a:solidFill>
                  <a:schemeClr val="tx1"/>
                </a:solidFill>
              </a:rPr>
              <a:t>No Administrator rights needed</a:t>
            </a:r>
          </a:p>
        </p:txBody>
      </p:sp>
      <p:sp>
        <p:nvSpPr>
          <p:cNvPr id="35" name="Rounded Rectangle 34"/>
          <p:cNvSpPr/>
          <p:nvPr/>
        </p:nvSpPr>
        <p:spPr>
          <a:xfrm>
            <a:off x="8138160" y="4572000"/>
            <a:ext cx="3538728"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con_FaGitAlt_circle"/>
          <p:cNvSpPr/>
          <p:nvPr/>
        </p:nvSpPr>
        <p:spPr>
          <a:xfrm>
            <a:off x="8302752" y="468630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aGitAlt_white.png"/>
          <p:cNvPicPr>
            <a:picLocks noChangeAspect="1"/>
          </p:cNvPicPr>
          <p:nvPr/>
        </p:nvPicPr>
        <p:blipFill>
          <a:blip r:embed="rId5"/>
          <a:stretch>
            <a:fillRect/>
          </a:stretch>
        </p:blipFill>
        <p:spPr>
          <a:xfrm>
            <a:off x="8417052" y="4800600"/>
            <a:ext cx="228600" cy="228600"/>
          </a:xfrm>
          <a:prstGeom prst="rect">
            <a:avLst/>
          </a:prstGeom>
        </p:spPr>
      </p:pic>
      <p:sp>
        <p:nvSpPr>
          <p:cNvPr id="38" name="TextBox 37"/>
          <p:cNvSpPr txBox="1"/>
          <p:nvPr/>
        </p:nvSpPr>
        <p:spPr>
          <a:xfrm>
            <a:off x="8897112" y="4572000"/>
            <a:ext cx="2670048" cy="685800"/>
          </a:xfrm>
          <a:prstGeom prst="rect">
            <a:avLst/>
          </a:prstGeom>
          <a:noFill/>
        </p:spPr>
        <p:txBody>
          <a:bodyPr wrap="square" lIns="0" rIns="0" tIns="0" bIns="0" anchor="ctr">
            <a:spAutoFit/>
          </a:bodyPr>
          <a:lstStyle/>
          <a:p>
            <a:pPr algn="l"/>
            <a:r>
              <a:rPr sz="1600" b="0" i="0">
                <a:solidFill>
                  <a:schemeClr val="tx1"/>
                </a:solidFill>
              </a:rPr>
              <a:t>Git for Windows recommended</a:t>
            </a:r>
          </a:p>
        </p:txBody>
      </p:sp>
      <p:sp>
        <p:nvSpPr>
          <p:cNvPr id="39" name="TextBox 38"/>
          <p:cNvSpPr txBox="1"/>
          <p:nvPr/>
        </p:nvSpPr>
        <p:spPr>
          <a:xfrm>
            <a:off x="512064" y="5440680"/>
            <a:ext cx="11164824" cy="365760"/>
          </a:xfrm>
          <a:prstGeom prst="rect">
            <a:avLst/>
          </a:prstGeom>
          <a:noFill/>
        </p:spPr>
        <p:txBody>
          <a:bodyPr wrap="square" lIns="0" rIns="0" tIns="0" bIns="0" anchor="t">
            <a:spAutoFit/>
          </a:bodyPr>
          <a:lstStyle/>
          <a:p>
            <a:pPr algn="l"/>
            <a:r>
              <a:rPr sz="1500" b="1" i="0">
                <a:solidFill>
                  <a:schemeClr val="tx2"/>
                </a:solidFill>
                <a:latin typeface="Courier New"/>
              </a:rPr>
              <a:t>'irm' is not recognized</a:t>
            </a:r>
            <a:r>
              <a:rPr sz="1500" b="0" i="0">
                <a:solidFill>
                  <a:schemeClr val="tx1"/>
                </a:solidFill>
              </a:rPr>
              <a:t>  means you're in Command Prompt. Nothing is broken; use the matching line.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Verify and sign in</a:t>
            </a:r>
          </a:p>
        </p:txBody>
      </p:sp>
      <p:sp>
        <p:nvSpPr>
          <p:cNvPr id="3" name="Text Placeholder 2"/>
          <p:cNvSpPr>
            <a:spLocks noGrp="1"/>
          </p:cNvSpPr>
          <p:nvPr>
            <p:ph type="body" idx="12" sz="quarter"/>
          </p:nvPr>
        </p:nvSpPr>
        <p:spPr/>
        <p:txBody>
          <a:bodyPr/>
          <a:lstStyle/>
          <a:p>
            <a:r>
              <a:t>Three commands, then a show of hands</a:t>
            </a:r>
          </a:p>
        </p:txBody>
      </p:sp>
      <p:sp>
        <p:nvSpPr>
          <p:cNvPr id="4" name="Text Placeholder 3"/>
          <p:cNvSpPr>
            <a:spLocks noGrp="1"/>
          </p:cNvSpPr>
          <p:nvPr>
            <p:ph type="body" idx="14" sz="quarter"/>
          </p:nvPr>
        </p:nvSpPr>
        <p:spPr/>
        <p:txBody>
          <a:bodyPr/>
          <a:lstStyle/>
          <a:p>
            <a:r>
              <a:t>A · Install and verify</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code_block"/>
          <p:cNvSpPr/>
          <p:nvPr/>
        </p:nvSpPr>
        <p:spPr>
          <a:xfrm>
            <a:off x="512064" y="1920240"/>
            <a:ext cx="6675120" cy="14173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13232" y="1920240"/>
            <a:ext cx="6309359" cy="14173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claude --version</a:t>
            </a:r>
            <a:r>
              <a:rPr sz="1500" b="0" i="0">
                <a:solidFill>
                  <a:srgbClr val="9FD3C7"/>
                </a:solidFill>
                <a:latin typeface="Courier New"/>
              </a:rPr>
              <a:t>  # e.g., 2.1.284 (Claude Code)</a:t>
            </a:r>
          </a:p>
          <a:p>
            <a:pPr algn="l">
              <a:spcAft>
                <a:spcPts val="200"/>
              </a:spcAft>
            </a:pPr>
            <a:r>
              <a:rPr sz="1500" b="0" i="0">
                <a:solidFill>
                  <a:srgbClr val="FFFFFF"/>
                </a:solidFill>
                <a:latin typeface="Courier New"/>
              </a:rPr>
              <a:t>claude doctor   </a:t>
            </a:r>
            <a:r>
              <a:rPr sz="1500" b="0" i="0">
                <a:solidFill>
                  <a:srgbClr val="9FD3C7"/>
                </a:solidFill>
                <a:latin typeface="Courier New"/>
              </a:rPr>
              <a:t>  # read-only health check</a:t>
            </a:r>
          </a:p>
          <a:p>
            <a:pPr algn="l">
              <a:spcAft>
                <a:spcPts val="200"/>
              </a:spcAft>
            </a:pPr>
            <a:r>
              <a:rPr sz="1500" b="0" i="0">
                <a:solidFill>
                  <a:srgbClr val="FFFFFF"/>
                </a:solidFill>
                <a:latin typeface="Courier New"/>
              </a:rPr>
              <a:t>claude          </a:t>
            </a:r>
            <a:r>
              <a:rPr sz="1500" b="0" i="0">
                <a:solidFill>
                  <a:srgbClr val="9FD3C7"/>
                </a:solidFill>
                <a:latin typeface="Courier New"/>
              </a:rPr>
              <a:t>  # first run: browser sign-in</a:t>
            </a:r>
          </a:p>
        </p:txBody>
      </p:sp>
      <p:sp>
        <p:nvSpPr>
          <p:cNvPr id="15" name="Rounded Rectangle 14"/>
          <p:cNvSpPr/>
          <p:nvPr/>
        </p:nvSpPr>
        <p:spPr>
          <a:xfrm>
            <a:off x="512064" y="3611880"/>
            <a:ext cx="6675120" cy="109728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_FaBan_circle"/>
          <p:cNvSpPr/>
          <p:nvPr/>
        </p:nvSpPr>
        <p:spPr>
          <a:xfrm>
            <a:off x="768096" y="3886200"/>
            <a:ext cx="548640" cy="54864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Ban_red.png"/>
          <p:cNvPicPr>
            <a:picLocks noChangeAspect="1"/>
          </p:cNvPicPr>
          <p:nvPr/>
        </p:nvPicPr>
        <p:blipFill>
          <a:blip r:embed="rId3"/>
          <a:stretch>
            <a:fillRect/>
          </a:stretch>
        </p:blipFill>
        <p:spPr>
          <a:xfrm>
            <a:off x="905256" y="4023360"/>
            <a:ext cx="274320" cy="274320"/>
          </a:xfrm>
          <a:prstGeom prst="rect">
            <a:avLst/>
          </a:prstGeom>
        </p:spPr>
      </p:pic>
      <p:sp>
        <p:nvSpPr>
          <p:cNvPr id="18" name="TextBox 17"/>
          <p:cNvSpPr txBox="1"/>
          <p:nvPr/>
        </p:nvSpPr>
        <p:spPr>
          <a:xfrm>
            <a:off x="1517904" y="3611880"/>
            <a:ext cx="5486400" cy="1097280"/>
          </a:xfrm>
          <a:prstGeom prst="rect">
            <a:avLst/>
          </a:prstGeom>
          <a:noFill/>
        </p:spPr>
        <p:txBody>
          <a:bodyPr wrap="square" lIns="0" rIns="0" tIns="0" bIns="0" anchor="ctr">
            <a:spAutoFit/>
          </a:bodyPr>
          <a:lstStyle/>
          <a:p>
            <a:pPr algn="l"/>
            <a:r>
              <a:rPr sz="1700" b="1" i="0">
                <a:solidFill>
                  <a:schemeClr val="bg1"/>
                </a:solidFill>
              </a:rPr>
              <a:t>Never delete </a:t>
            </a:r>
            <a:r>
              <a:rPr sz="1700" b="1" i="0">
                <a:solidFill>
                  <a:schemeClr val="bg1"/>
                </a:solidFill>
                <a:latin typeface="Courier New"/>
              </a:rPr>
              <a:t>~/.local/bin/claude</a:t>
            </a:r>
            <a:r>
              <a:rPr sz="1700" b="1" i="0">
                <a:solidFill>
                  <a:schemeClr val="bg1"/>
                </a:solidFill>
              </a:rPr>
              <a:t>. It is Claude Code (the launcher the native installer manages).</a:t>
            </a:r>
          </a:p>
        </p:txBody>
      </p:sp>
      <p:sp>
        <p:nvSpPr>
          <p:cNvPr id="19" name="Rounded Rectangle 18"/>
          <p:cNvSpPr/>
          <p:nvPr/>
        </p:nvSpPr>
        <p:spPr>
          <a:xfrm>
            <a:off x="7498079" y="1920240"/>
            <a:ext cx="4178808" cy="278892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con_FaWindows_circle"/>
          <p:cNvSpPr/>
          <p:nvPr/>
        </p:nvSpPr>
        <p:spPr>
          <a:xfrm>
            <a:off x="7772400" y="2194560"/>
            <a:ext cx="548640" cy="54864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Windows_dark.png"/>
          <p:cNvPicPr>
            <a:picLocks noChangeAspect="1"/>
          </p:cNvPicPr>
          <p:nvPr/>
        </p:nvPicPr>
        <p:blipFill>
          <a:blip r:embed="rId4"/>
          <a:stretch>
            <a:fillRect/>
          </a:stretch>
        </p:blipFill>
        <p:spPr>
          <a:xfrm>
            <a:off x="7909560" y="2331720"/>
            <a:ext cx="274320" cy="274320"/>
          </a:xfrm>
          <a:prstGeom prst="rect">
            <a:avLst/>
          </a:prstGeom>
        </p:spPr>
      </p:pic>
      <p:sp>
        <p:nvSpPr>
          <p:cNvPr id="22" name="TextBox 21"/>
          <p:cNvSpPr txBox="1"/>
          <p:nvPr/>
        </p:nvSpPr>
        <p:spPr>
          <a:xfrm>
            <a:off x="8458200" y="2194560"/>
            <a:ext cx="2990088" cy="548640"/>
          </a:xfrm>
          <a:prstGeom prst="rect">
            <a:avLst/>
          </a:prstGeom>
          <a:noFill/>
        </p:spPr>
        <p:txBody>
          <a:bodyPr wrap="square" lIns="0" rIns="0" tIns="0" bIns="0" anchor="ctr">
            <a:spAutoFit/>
          </a:bodyPr>
          <a:lstStyle/>
          <a:p>
            <a:pPr algn="l"/>
            <a:r>
              <a:rPr sz="1700" b="1" i="0">
                <a:solidFill>
                  <a:schemeClr val="tx1"/>
                </a:solidFill>
              </a:rPr>
              <a:t>Windows: one more check</a:t>
            </a:r>
          </a:p>
        </p:txBody>
      </p:sp>
      <p:sp>
        <p:nvSpPr>
          <p:cNvPr id="23" name="code_block"/>
          <p:cNvSpPr/>
          <p:nvPr/>
        </p:nvSpPr>
        <p:spPr>
          <a:xfrm>
            <a:off x="7772400" y="2926080"/>
            <a:ext cx="3630168" cy="50292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973568" y="2926080"/>
            <a:ext cx="3264408" cy="50292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Rscript --version</a:t>
            </a:r>
          </a:p>
        </p:txBody>
      </p:sp>
      <p:sp>
        <p:nvSpPr>
          <p:cNvPr id="25" name="TextBox 24"/>
          <p:cNvSpPr txBox="1"/>
          <p:nvPr/>
        </p:nvSpPr>
        <p:spPr>
          <a:xfrm>
            <a:off x="7772400" y="3611880"/>
            <a:ext cx="3630168" cy="1005840"/>
          </a:xfrm>
          <a:prstGeom prst="rect">
            <a:avLst/>
          </a:prstGeom>
          <a:noFill/>
        </p:spPr>
        <p:txBody>
          <a:bodyPr wrap="square" lIns="0" rIns="0" tIns="0" bIns="0" anchor="t">
            <a:spAutoFit/>
          </a:bodyPr>
          <a:lstStyle/>
          <a:p>
            <a:pPr algn="l"/>
            <a:r>
              <a:rPr sz="1500" b="0" i="0">
                <a:solidFill>
                  <a:schemeClr val="tx1"/>
                </a:solidFill>
              </a:rPr>
              <a:t>“Not recognized” means R isn't on your PATH yet. The installer never adds it (setup guide §2, Step 5).</a:t>
            </a:r>
          </a:p>
        </p:txBody>
      </p:sp>
      <p:sp>
        <p:nvSpPr>
          <p:cNvPr id="26" name="icon_FaUsers_circle"/>
          <p:cNvSpPr/>
          <p:nvPr/>
        </p:nvSpPr>
        <p:spPr>
          <a:xfrm>
            <a:off x="512064" y="5120640"/>
            <a:ext cx="457200" cy="457200"/>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Picture 26" descr="FaUsers_white.png"/>
          <p:cNvPicPr>
            <a:picLocks noChangeAspect="1"/>
          </p:cNvPicPr>
          <p:nvPr/>
        </p:nvPicPr>
        <p:blipFill>
          <a:blip r:embed="rId5"/>
          <a:stretch>
            <a:fillRect/>
          </a:stretch>
        </p:blipFill>
        <p:spPr>
          <a:xfrm>
            <a:off x="626364" y="5234940"/>
            <a:ext cx="228600" cy="228600"/>
          </a:xfrm>
          <a:prstGeom prst="rect">
            <a:avLst/>
          </a:prstGeom>
        </p:spPr>
      </p:pic>
      <p:sp>
        <p:nvSpPr>
          <p:cNvPr id="28" name="TextBox 27"/>
          <p:cNvSpPr txBox="1"/>
          <p:nvPr/>
        </p:nvSpPr>
        <p:spPr>
          <a:xfrm>
            <a:off x="1152144" y="5074920"/>
            <a:ext cx="10515600" cy="548640"/>
          </a:xfrm>
          <a:prstGeom prst="rect">
            <a:avLst/>
          </a:prstGeom>
          <a:noFill/>
        </p:spPr>
        <p:txBody>
          <a:bodyPr wrap="square" lIns="0" rIns="0" tIns="0" bIns="0" anchor="ctr">
            <a:spAutoFit/>
          </a:bodyPr>
          <a:lstStyle/>
          <a:p>
            <a:pPr algn="l"/>
            <a:r>
              <a:rPr sz="1600" b="0" i="0">
                <a:solidFill>
                  <a:schemeClr val="tx1"/>
                </a:solidFill>
              </a:rPr>
              <a:t>Room check: hands up if claude --version printed a number. No number? Pair up with a neighbor for now.</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Mac vs. PC: things to know</a:t>
            </a:r>
          </a:p>
        </p:txBody>
      </p:sp>
      <p:sp>
        <p:nvSpPr>
          <p:cNvPr id="3" name="Text Placeholder 2"/>
          <p:cNvSpPr>
            <a:spLocks noGrp="1"/>
          </p:cNvSpPr>
          <p:nvPr>
            <p:ph type="body" idx="12" sz="quarter"/>
          </p:nvPr>
        </p:nvSpPr>
        <p:spPr/>
        <p:txBody>
          <a:bodyPr/>
          <a:lstStyle/>
          <a:p>
            <a:r>
              <a:t>Both platforms are fully supported. These are differences, not reasons to switch</a:t>
            </a:r>
          </a:p>
        </p:txBody>
      </p:sp>
      <p:sp>
        <p:nvSpPr>
          <p:cNvPr id="4" name="Text Placeholder 3"/>
          <p:cNvSpPr>
            <a:spLocks noGrp="1"/>
          </p:cNvSpPr>
          <p:nvPr>
            <p:ph type="body" idx="14" sz="quarter"/>
          </p:nvPr>
        </p:nvSpPr>
        <p:spPr/>
        <p:txBody>
          <a:bodyPr/>
          <a:lstStyle/>
          <a:p>
            <a:r>
              <a:t>A · Install and verify</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graphicFrame>
        <p:nvGraphicFramePr>
          <p:cNvPr id="13" name="Table 12"/>
          <p:cNvGraphicFramePr>
            <a:graphicFrameLocks noGrp="1"/>
          </p:cNvGraphicFramePr>
          <p:nvPr/>
        </p:nvGraphicFramePr>
        <p:xfrm>
          <a:off x="512064" y="1920240"/>
          <a:ext cx="11164824" cy="3273552"/>
        </p:xfrm>
        <a:graphic>
          <a:graphicData uri="http://schemas.openxmlformats.org/drawingml/2006/table">
            <a:tbl>
              <a:tblPr firstRow="1">
                <a:tableStyleId>{5C22544A-7EE6-4342-B048-85BDC9FD1C3A}</a:tableStyleId>
              </a:tblPr>
              <a:tblGrid>
                <a:gridCol w="2377440"/>
                <a:gridCol w="3840480"/>
                <a:gridCol w="4946904"/>
              </a:tblGrid>
              <a:tr h="438912">
                <a:tc>
                  <a:txBody>
                    <a:bodyPr wrap="square"/>
                    <a:lstStyle/>
                    <a:p>
                      <a:r>
                        <a:rPr sz="1600" b="1">
                          <a:solidFill>
                            <a:schemeClr val="bg1"/>
                          </a:solidFill>
                        </a:rPr>
                        <a:t/>
                      </a:r>
                    </a:p>
                  </a:txBody>
                  <a:tcPr marL="91440" marR="91440" marT="36576" marB="36576" anchor="ctr">
                    <a:solidFill>
                      <a:schemeClr val="tx2"/>
                    </a:solidFill>
                  </a:tcPr>
                </a:tc>
                <a:tc>
                  <a:txBody>
                    <a:bodyPr wrap="square"/>
                    <a:lstStyle/>
                    <a:p>
                      <a:r>
                        <a:rPr sz="1600" b="1">
                          <a:solidFill>
                            <a:schemeClr val="bg1"/>
                          </a:solidFill>
                        </a:rPr>
                        <a:t>macOS</a:t>
                      </a:r>
                    </a:p>
                  </a:txBody>
                  <a:tcPr marL="91440" marR="91440" marT="36576" marB="36576" anchor="ctr">
                    <a:solidFill>
                      <a:schemeClr val="tx2"/>
                    </a:solidFill>
                  </a:tcPr>
                </a:tc>
                <a:tc>
                  <a:txBody>
                    <a:bodyPr wrap="square"/>
                    <a:lstStyle/>
                    <a:p>
                      <a:r>
                        <a:rPr sz="1600" b="1">
                          <a:solidFill>
                            <a:schemeClr val="bg1"/>
                          </a:solidFill>
                        </a:rPr>
                        <a:t>Windows</a:t>
                      </a:r>
                    </a:p>
                  </a:txBody>
                  <a:tcPr marL="91440" marR="91440" marT="36576" marB="36576" anchor="ctr">
                    <a:solidFill>
                      <a:schemeClr val="tx2"/>
                    </a:solidFill>
                  </a:tcPr>
                </a:tc>
              </a:tr>
              <a:tr h="566928">
                <a:tc>
                  <a:txBody>
                    <a:bodyPr wrap="square"/>
                    <a:lstStyle/>
                    <a:p>
                      <a:r>
                        <a:rPr sz="1600" b="1">
                          <a:solidFill>
                            <a:schemeClr val="tx1"/>
                          </a:solidFill>
                        </a:rPr>
                        <a:t>Terminal</a:t>
                      </a:r>
                    </a:p>
                  </a:txBody>
                  <a:tcPr marL="91440" marR="91440" marT="36576" marB="36576" anchor="ctr">
                    <a:solidFill>
                      <a:schemeClr val="bg1"/>
                    </a:solidFill>
                  </a:tcPr>
                </a:tc>
                <a:tc>
                  <a:txBody>
                    <a:bodyPr wrap="square"/>
                    <a:lstStyle/>
                    <a:p>
                      <a:r>
                        <a:rPr sz="1600" b="0">
                          <a:solidFill>
                            <a:schemeClr val="tx1"/>
                          </a:solidFill>
                        </a:rPr>
                        <a:t>Terminal (or Warp)</a:t>
                      </a:r>
                    </a:p>
                  </a:txBody>
                  <a:tcPr marL="91440" marR="91440" marT="36576" marB="36576" anchor="ctr">
                    <a:solidFill>
                      <a:schemeClr val="bg1"/>
                    </a:solidFill>
                  </a:tcPr>
                </a:tc>
                <a:tc>
                  <a:txBody>
                    <a:bodyPr wrap="square"/>
                    <a:lstStyle/>
                    <a:p>
                      <a:r>
                        <a:rPr sz="1600" b="0">
                          <a:solidFill>
                            <a:schemeClr val="tx1"/>
                          </a:solidFill>
                        </a:rPr>
                        <a:t>Windows Terminal + PowerShell (or Warp)</a:t>
                      </a:r>
                    </a:p>
                  </a:txBody>
                  <a:tcPr marL="91440" marR="91440" marT="36576" marB="36576" anchor="ctr">
                    <a:solidFill>
                      <a:schemeClr val="bg1"/>
                    </a:solidFill>
                  </a:tcPr>
                </a:tc>
              </a:tr>
              <a:tr h="566928">
                <a:tc>
                  <a:txBody>
                    <a:bodyPr wrap="square"/>
                    <a:lstStyle/>
                    <a:p>
                      <a:r>
                        <a:rPr sz="1600" b="1">
                          <a:solidFill>
                            <a:schemeClr val="tx1"/>
                          </a:solidFill>
                        </a:rPr>
                        <a:t>Paths</a:t>
                      </a:r>
                    </a:p>
                  </a:txBody>
                  <a:tcPr marL="91440" marR="91440" marT="36576" marB="36576" anchor="ctr">
                    <a:solidFill>
                      <a:schemeClr val="bg1"/>
                    </a:solidFill>
                  </a:tcPr>
                </a:tc>
                <a:tc>
                  <a:txBody>
                    <a:bodyPr wrap="square"/>
                    <a:lstStyle/>
                    <a:p>
                      <a:r>
                        <a:rPr sz="1600" b="0">
                          <a:solidFill>
                            <a:schemeClr val="tx1"/>
                          </a:solidFill>
                        </a:rPr>
                        <a:t>/Users/you/project</a:t>
                      </a:r>
                    </a:p>
                  </a:txBody>
                  <a:tcPr marL="91440" marR="91440" marT="36576" marB="36576" anchor="ctr">
                    <a:solidFill>
                      <a:schemeClr val="bg1"/>
                    </a:solidFill>
                  </a:tcPr>
                </a:tc>
                <a:tc>
                  <a:txBody>
                    <a:bodyPr wrap="square"/>
                    <a:lstStyle/>
                    <a:p>
                      <a:r>
                        <a:rPr sz="1600" b="0">
                          <a:solidFill>
                            <a:schemeClr val="tx1"/>
                          </a:solidFill>
                        </a:rPr>
                        <a:t>C:\Users\you\project</a:t>
                      </a:r>
                    </a:p>
                  </a:txBody>
                  <a:tcPr marL="91440" marR="91440" marT="36576" marB="36576" anchor="ctr">
                    <a:solidFill>
                      <a:schemeClr val="bg1"/>
                    </a:solidFill>
                  </a:tcPr>
                </a:tc>
              </a:tr>
              <a:tr h="566928">
                <a:tc>
                  <a:txBody>
                    <a:bodyPr wrap="square"/>
                    <a:lstStyle/>
                    <a:p>
                      <a:r>
                        <a:rPr sz="1600" b="1">
                          <a:solidFill>
                            <a:schemeClr val="tx1"/>
                          </a:solidFill>
                        </a:rPr>
                        <a:t>In R, always</a:t>
                      </a:r>
                    </a:p>
                  </a:txBody>
                  <a:tcPr marL="91440" marR="91440" marT="36576" marB="36576" anchor="ctr">
                    <a:solidFill>
                      <a:schemeClr val="bg1"/>
                    </a:solidFill>
                  </a:tcPr>
                </a:tc>
                <a:tc>
                  <a:txBody>
                    <a:bodyPr wrap="square"/>
                    <a:lstStyle/>
                    <a:p>
                      <a:r>
                        <a:rPr sz="1600" b="0">
                          <a:solidFill>
                            <a:schemeClr val="tx1"/>
                          </a:solidFill>
                        </a:rPr>
                        <a:t>here::here("data_raw", "file.csv")</a:t>
                      </a:r>
                    </a:p>
                  </a:txBody>
                  <a:tcPr marL="91440" marR="91440" marT="36576" marB="36576" anchor="ctr">
                    <a:solidFill>
                      <a:schemeClr val="bg1"/>
                    </a:solidFill>
                  </a:tcPr>
                </a:tc>
                <a:tc>
                  <a:txBody>
                    <a:bodyPr wrap="square"/>
                    <a:lstStyle/>
                    <a:p>
                      <a:r>
                        <a:rPr sz="1600" b="0">
                          <a:solidFill>
                            <a:schemeClr val="tx1"/>
                          </a:solidFill>
                        </a:rPr>
                        <a:t>Same; never a bare \ in R strings</a:t>
                      </a:r>
                    </a:p>
                  </a:txBody>
                  <a:tcPr marL="91440" marR="91440" marT="36576" marB="36576" anchor="ctr">
                    <a:solidFill>
                      <a:schemeClr val="bg1"/>
                    </a:solidFill>
                  </a:tcPr>
                </a:tc>
              </a:tr>
              <a:tr h="566928">
                <a:tc>
                  <a:txBody>
                    <a:bodyPr wrap="square"/>
                    <a:lstStyle/>
                    <a:p>
                      <a:r>
                        <a:rPr sz="1600" b="1">
                          <a:solidFill>
                            <a:schemeClr val="tx1"/>
                          </a:solidFill>
                        </a:rPr>
                        <a:t>Line endings</a:t>
                      </a:r>
                    </a:p>
                  </a:txBody>
                  <a:tcPr marL="91440" marR="91440" marT="36576" marB="36576" anchor="ctr">
                    <a:solidFill>
                      <a:schemeClr val="bg1"/>
                    </a:solidFill>
                  </a:tcPr>
                </a:tc>
                <a:tc>
                  <a:txBody>
                    <a:bodyPr wrap="square"/>
                    <a:lstStyle/>
                    <a:p>
                      <a:r>
                        <a:rPr sz="1600" b="0">
                          <a:solidFill>
                            <a:schemeClr val="tx1"/>
                          </a:solidFill>
                        </a:rPr>
                        <a:t>LF</a:t>
                      </a:r>
                    </a:p>
                  </a:txBody>
                  <a:tcPr marL="91440" marR="91440" marT="36576" marB="36576" anchor="ctr">
                    <a:solidFill>
                      <a:schemeClr val="bg1"/>
                    </a:solidFill>
                  </a:tcPr>
                </a:tc>
                <a:tc>
                  <a:txBody>
                    <a:bodyPr wrap="square"/>
                    <a:lstStyle/>
                    <a:p>
                      <a:r>
                        <a:rPr sz="1600" b="0">
                          <a:solidFill>
                            <a:schemeClr val="tx1"/>
                          </a:solidFill>
                        </a:rPr>
                        <a:t>CRLF → git config --global core.autocrlf true</a:t>
                      </a:r>
                    </a:p>
                  </a:txBody>
                  <a:tcPr marL="91440" marR="91440" marT="36576" marB="36576" anchor="ctr">
                    <a:solidFill>
                      <a:schemeClr val="bg1"/>
                    </a:solidFill>
                  </a:tcPr>
                </a:tc>
              </a:tr>
              <a:tr h="566928">
                <a:tc>
                  <a:txBody>
                    <a:bodyPr wrap="square"/>
                    <a:lstStyle/>
                    <a:p>
                      <a:r>
                        <a:rPr sz="1600" b="1">
                          <a:solidFill>
                            <a:schemeClr val="tx1"/>
                          </a:solidFill>
                        </a:rPr>
                        <a:t>Box / OneDrive</a:t>
                      </a:r>
                    </a:p>
                  </a:txBody>
                  <a:tcPr marL="91440" marR="91440" marT="36576" marB="36576" anchor="ctr">
                    <a:solidFill>
                      <a:schemeClr val="bg1"/>
                    </a:solidFill>
                  </a:tcPr>
                </a:tc>
                <a:tc>
                  <a:txBody>
                    <a:bodyPr wrap="square"/>
                    <a:lstStyle/>
                    <a:p>
                      <a:r>
                        <a:rPr sz="1600" b="0">
                          <a:solidFill>
                            <a:schemeClr val="tx1"/>
                          </a:solidFill>
                        </a:rPr>
                        <a:t>Always keep on this device</a:t>
                      </a:r>
                    </a:p>
                  </a:txBody>
                  <a:tcPr marL="91440" marR="91440" marT="36576" marB="36576" anchor="ctr">
                    <a:solidFill>
                      <a:schemeClr val="bg1"/>
                    </a:solidFill>
                  </a:tcPr>
                </a:tc>
                <a:tc>
                  <a:txBody>
                    <a:bodyPr wrap="square"/>
                    <a:lstStyle/>
                    <a:p>
                      <a:r>
                        <a:rPr sz="1600" b="0">
                          <a:solidFill>
                            <a:schemeClr val="tx1"/>
                          </a:solidFill>
                        </a:rPr>
                        <a:t>Always keep on this device; avoid very deep paths</a:t>
                      </a:r>
                    </a:p>
                  </a:txBody>
                  <a:tcPr marL="91440" marR="91440" marT="36576" marB="36576" anchor="ctr">
                    <a:solidFill>
                      <a:schemeClr val="bg1"/>
                    </a:solidFill>
                  </a:tcPr>
                </a:tc>
              </a:tr>
            </a:tbl>
          </a:graphicData>
        </a:graphic>
      </p:graphicFrame>
      <p:pic>
        <p:nvPicPr>
          <p:cNvPr id="14" name="Picture 13" descr="FaLightbulb_red.png"/>
          <p:cNvPicPr>
            <a:picLocks noChangeAspect="1"/>
          </p:cNvPicPr>
          <p:nvPr/>
        </p:nvPicPr>
        <p:blipFill>
          <a:blip r:embed="rId3"/>
          <a:stretch>
            <a:fillRect/>
          </a:stretch>
        </p:blipFill>
        <p:spPr>
          <a:xfrm>
            <a:off x="512064" y="5349240"/>
            <a:ext cx="365760" cy="365760"/>
          </a:xfrm>
          <a:prstGeom prst="rect">
            <a:avLst/>
          </a:prstGeom>
        </p:spPr>
      </p:pic>
      <p:sp>
        <p:nvSpPr>
          <p:cNvPr id="15" name="TextBox 14"/>
          <p:cNvSpPr txBox="1"/>
          <p:nvPr/>
        </p:nvSpPr>
        <p:spPr>
          <a:xfrm>
            <a:off x="1060704" y="5285232"/>
            <a:ext cx="10515600" cy="502920"/>
          </a:xfrm>
          <a:prstGeom prst="rect">
            <a:avLst/>
          </a:prstGeom>
          <a:noFill/>
        </p:spPr>
        <p:txBody>
          <a:bodyPr wrap="square" lIns="0" rIns="0" tIns="0" bIns="0" anchor="ctr">
            <a:spAutoFit/>
          </a:bodyPr>
          <a:lstStyle/>
          <a:p>
            <a:pPr algn="l"/>
            <a:r>
              <a:rPr sz="1600" b="0" i="0">
                <a:solidFill>
                  <a:schemeClr val="tx1"/>
                </a:solidFill>
              </a:rPr>
              <a:t>here::here() makes the path difference disappear. That's why it's a rule in every CLAUDE.md today.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Permission modes: how much it does without asking</a:t>
            </a:r>
          </a:p>
        </p:txBody>
      </p:sp>
      <p:sp>
        <p:nvSpPr>
          <p:cNvPr id="3" name="Text Placeholder 2"/>
          <p:cNvSpPr>
            <a:spLocks noGrp="1"/>
          </p:cNvSpPr>
          <p:nvPr>
            <p:ph type="body" idx="12" sz="quarter"/>
          </p:nvPr>
        </p:nvSpPr>
        <p:spPr/>
        <p:txBody>
          <a:bodyPr/>
          <a:lstStyle/>
          <a:p>
            <a:r>
              <a:t>Shift+Tab cycles the modes; the current one shows at the bottom of the terminal</a:t>
            </a:r>
          </a:p>
        </p:txBody>
      </p:sp>
      <p:sp>
        <p:nvSpPr>
          <p:cNvPr id="4" name="Text Placeholder 3"/>
          <p:cNvSpPr>
            <a:spLocks noGrp="1"/>
          </p:cNvSpPr>
          <p:nvPr>
            <p:ph type="body" idx="14" sz="quarter"/>
          </p:nvPr>
        </p:nvSpPr>
        <p:spPr/>
        <p:txBody>
          <a:bodyPr/>
          <a:lstStyle/>
          <a:p>
            <a:r>
              <a:t>A · Install and verify</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2585466" cy="24688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WandMagicSparkles_circle"/>
          <p:cNvSpPr/>
          <p:nvPr/>
        </p:nvSpPr>
        <p:spPr>
          <a:xfrm>
            <a:off x="786384" y="2194560"/>
            <a:ext cx="640080" cy="6400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WandMagicSparkles_dark.png"/>
          <p:cNvPicPr>
            <a:picLocks noChangeAspect="1"/>
          </p:cNvPicPr>
          <p:nvPr/>
        </p:nvPicPr>
        <p:blipFill>
          <a:blip r:embed="rId3"/>
          <a:stretch>
            <a:fillRect/>
          </a:stretch>
        </p:blipFill>
        <p:spPr>
          <a:xfrm>
            <a:off x="946404" y="2354579"/>
            <a:ext cx="320040" cy="320040"/>
          </a:xfrm>
          <a:prstGeom prst="rect">
            <a:avLst/>
          </a:prstGeom>
        </p:spPr>
      </p:pic>
      <p:sp>
        <p:nvSpPr>
          <p:cNvPr id="16" name="TextBox 15"/>
          <p:cNvSpPr txBox="1"/>
          <p:nvPr/>
        </p:nvSpPr>
        <p:spPr>
          <a:xfrm>
            <a:off x="786384" y="2971800"/>
            <a:ext cx="2036826" cy="411480"/>
          </a:xfrm>
          <a:prstGeom prst="rect">
            <a:avLst/>
          </a:prstGeom>
          <a:noFill/>
        </p:spPr>
        <p:txBody>
          <a:bodyPr wrap="square" lIns="0" rIns="0" tIns="0" bIns="0" anchor="t">
            <a:spAutoFit/>
          </a:bodyPr>
          <a:lstStyle/>
          <a:p>
            <a:pPr algn="l"/>
            <a:r>
              <a:rPr sz="2000" b="1" i="0">
                <a:solidFill>
                  <a:schemeClr val="tx1"/>
                </a:solidFill>
              </a:rPr>
              <a:t>Auto</a:t>
            </a:r>
            <a:r>
              <a:rPr sz="1400" b="0" i="0">
                <a:solidFill>
                  <a:srgbClr val="5F5F5F"/>
                </a:solidFill>
              </a:rPr>
              <a:t>  (default)</a:t>
            </a:r>
          </a:p>
        </p:txBody>
      </p:sp>
      <p:sp>
        <p:nvSpPr>
          <p:cNvPr id="17" name="TextBox 16"/>
          <p:cNvSpPr txBox="1"/>
          <p:nvPr/>
        </p:nvSpPr>
        <p:spPr>
          <a:xfrm>
            <a:off x="786384" y="3429000"/>
            <a:ext cx="2036826" cy="914400"/>
          </a:xfrm>
          <a:prstGeom prst="rect">
            <a:avLst/>
          </a:prstGeom>
          <a:noFill/>
        </p:spPr>
        <p:txBody>
          <a:bodyPr wrap="square" lIns="0" rIns="0" tIns="0" bIns="0" anchor="t">
            <a:spAutoFit/>
          </a:bodyPr>
          <a:lstStyle/>
          <a:p>
            <a:pPr algn="l"/>
            <a:r>
              <a:rPr sz="1500" b="0" i="0">
                <a:solidFill>
                  <a:schemeClr val="tx1"/>
                </a:solidFill>
              </a:rPr>
              <a:t>Decides which actions are safe to run without asking</a:t>
            </a:r>
          </a:p>
        </p:txBody>
      </p:sp>
      <p:sp>
        <p:nvSpPr>
          <p:cNvPr id="18" name="Rounded Rectangle 17"/>
          <p:cNvSpPr/>
          <p:nvPr/>
        </p:nvSpPr>
        <p:spPr>
          <a:xfrm>
            <a:off x="3371850" y="1920240"/>
            <a:ext cx="2585466" cy="246888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_FaHand_circle"/>
          <p:cNvSpPr/>
          <p:nvPr/>
        </p:nvSpPr>
        <p:spPr>
          <a:xfrm>
            <a:off x="3646170"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Hand_white.png"/>
          <p:cNvPicPr>
            <a:picLocks noChangeAspect="1"/>
          </p:cNvPicPr>
          <p:nvPr/>
        </p:nvPicPr>
        <p:blipFill>
          <a:blip r:embed="rId4"/>
          <a:stretch>
            <a:fillRect/>
          </a:stretch>
        </p:blipFill>
        <p:spPr>
          <a:xfrm>
            <a:off x="3806189" y="2354579"/>
            <a:ext cx="320040" cy="320040"/>
          </a:xfrm>
          <a:prstGeom prst="rect">
            <a:avLst/>
          </a:prstGeom>
        </p:spPr>
      </p:pic>
      <p:sp>
        <p:nvSpPr>
          <p:cNvPr id="21" name="TextBox 20"/>
          <p:cNvSpPr txBox="1"/>
          <p:nvPr/>
        </p:nvSpPr>
        <p:spPr>
          <a:xfrm>
            <a:off x="3646170" y="2971800"/>
            <a:ext cx="2036826" cy="411480"/>
          </a:xfrm>
          <a:prstGeom prst="rect">
            <a:avLst/>
          </a:prstGeom>
          <a:noFill/>
        </p:spPr>
        <p:txBody>
          <a:bodyPr wrap="square" lIns="0" rIns="0" tIns="0" bIns="0" anchor="t">
            <a:spAutoFit/>
          </a:bodyPr>
          <a:lstStyle/>
          <a:p>
            <a:pPr algn="l"/>
            <a:r>
              <a:rPr sz="2000" b="1" i="0">
                <a:solidFill>
                  <a:schemeClr val="tx1"/>
                </a:solidFill>
              </a:rPr>
              <a:t>Manual</a:t>
            </a:r>
            <a:r>
              <a:rPr sz="1400" b="0" i="0">
                <a:solidFill>
                  <a:srgbClr val="5F5F5F"/>
                </a:solidFill>
              </a:rPr>
              <a:t>  </a:t>
            </a:r>
          </a:p>
        </p:txBody>
      </p:sp>
      <p:sp>
        <p:nvSpPr>
          <p:cNvPr id="22" name="TextBox 21"/>
          <p:cNvSpPr txBox="1"/>
          <p:nvPr/>
        </p:nvSpPr>
        <p:spPr>
          <a:xfrm>
            <a:off x="3646170" y="3429000"/>
            <a:ext cx="2036826" cy="914400"/>
          </a:xfrm>
          <a:prstGeom prst="rect">
            <a:avLst/>
          </a:prstGeom>
          <a:noFill/>
        </p:spPr>
        <p:txBody>
          <a:bodyPr wrap="square" lIns="0" rIns="0" tIns="0" bIns="0" anchor="t">
            <a:spAutoFit/>
          </a:bodyPr>
          <a:lstStyle/>
          <a:p>
            <a:pPr algn="l"/>
            <a:r>
              <a:rPr sz="1500" b="0" i="0">
                <a:solidFill>
                  <a:schemeClr val="tx1"/>
                </a:solidFill>
              </a:rPr>
              <a:t>Asks before every edit and command</a:t>
            </a:r>
          </a:p>
        </p:txBody>
      </p:sp>
      <p:sp>
        <p:nvSpPr>
          <p:cNvPr id="23" name="Rounded Rectangle 22"/>
          <p:cNvSpPr/>
          <p:nvPr/>
        </p:nvSpPr>
        <p:spPr>
          <a:xfrm>
            <a:off x="6231636" y="1920240"/>
            <a:ext cx="2585466" cy="246888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con_FaPenToSquare_circle"/>
          <p:cNvSpPr/>
          <p:nvPr/>
        </p:nvSpPr>
        <p:spPr>
          <a:xfrm>
            <a:off x="6505955" y="2194560"/>
            <a:ext cx="640080" cy="640080"/>
          </a:xfrm>
          <a:prstGeom prst="ellips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PenToSquare_dark.png"/>
          <p:cNvPicPr>
            <a:picLocks noChangeAspect="1"/>
          </p:cNvPicPr>
          <p:nvPr/>
        </p:nvPicPr>
        <p:blipFill>
          <a:blip r:embed="rId5"/>
          <a:stretch>
            <a:fillRect/>
          </a:stretch>
        </p:blipFill>
        <p:spPr>
          <a:xfrm>
            <a:off x="6665975" y="2354579"/>
            <a:ext cx="320040" cy="320040"/>
          </a:xfrm>
          <a:prstGeom prst="rect">
            <a:avLst/>
          </a:prstGeom>
        </p:spPr>
      </p:pic>
      <p:sp>
        <p:nvSpPr>
          <p:cNvPr id="26" name="TextBox 25"/>
          <p:cNvSpPr txBox="1"/>
          <p:nvPr/>
        </p:nvSpPr>
        <p:spPr>
          <a:xfrm>
            <a:off x="6505955" y="2971800"/>
            <a:ext cx="2036826" cy="411480"/>
          </a:xfrm>
          <a:prstGeom prst="rect">
            <a:avLst/>
          </a:prstGeom>
          <a:noFill/>
        </p:spPr>
        <p:txBody>
          <a:bodyPr wrap="square" lIns="0" rIns="0" tIns="0" bIns="0" anchor="t">
            <a:spAutoFit/>
          </a:bodyPr>
          <a:lstStyle/>
          <a:p>
            <a:pPr algn="l"/>
            <a:r>
              <a:rPr sz="2000" b="1" i="0">
                <a:solidFill>
                  <a:schemeClr val="tx1"/>
                </a:solidFill>
              </a:rPr>
              <a:t>Accept edits</a:t>
            </a:r>
            <a:r>
              <a:rPr sz="1400" b="0" i="0">
                <a:solidFill>
                  <a:srgbClr val="5F5F5F"/>
                </a:solidFill>
              </a:rPr>
              <a:t>  </a:t>
            </a:r>
          </a:p>
        </p:txBody>
      </p:sp>
      <p:sp>
        <p:nvSpPr>
          <p:cNvPr id="27" name="TextBox 26"/>
          <p:cNvSpPr txBox="1"/>
          <p:nvPr/>
        </p:nvSpPr>
        <p:spPr>
          <a:xfrm>
            <a:off x="6505955" y="3429000"/>
            <a:ext cx="2036826" cy="914400"/>
          </a:xfrm>
          <a:prstGeom prst="rect">
            <a:avLst/>
          </a:prstGeom>
          <a:noFill/>
        </p:spPr>
        <p:txBody>
          <a:bodyPr wrap="square" lIns="0" rIns="0" tIns="0" bIns="0" anchor="t">
            <a:spAutoFit/>
          </a:bodyPr>
          <a:lstStyle/>
          <a:p>
            <a:pPr algn="l"/>
            <a:r>
              <a:rPr sz="1500" b="0" i="0">
                <a:solidFill>
                  <a:schemeClr val="tx1"/>
                </a:solidFill>
              </a:rPr>
              <a:t>Edits freely; asks before running commands</a:t>
            </a:r>
          </a:p>
        </p:txBody>
      </p:sp>
      <p:sp>
        <p:nvSpPr>
          <p:cNvPr id="28" name="Rounded Rectangle 27"/>
          <p:cNvSpPr/>
          <p:nvPr/>
        </p:nvSpPr>
        <p:spPr>
          <a:xfrm>
            <a:off x="9091422" y="1920240"/>
            <a:ext cx="2585466" cy="246888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icon_FaClipboardList_circle"/>
          <p:cNvSpPr/>
          <p:nvPr/>
        </p:nvSpPr>
        <p:spPr>
          <a:xfrm>
            <a:off x="9365742"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Picture 29" descr="FaClipboardList_white.png"/>
          <p:cNvPicPr>
            <a:picLocks noChangeAspect="1"/>
          </p:cNvPicPr>
          <p:nvPr/>
        </p:nvPicPr>
        <p:blipFill>
          <a:blip r:embed="rId6"/>
          <a:stretch>
            <a:fillRect/>
          </a:stretch>
        </p:blipFill>
        <p:spPr>
          <a:xfrm>
            <a:off x="9525762" y="2354579"/>
            <a:ext cx="320040" cy="320040"/>
          </a:xfrm>
          <a:prstGeom prst="rect">
            <a:avLst/>
          </a:prstGeom>
        </p:spPr>
      </p:pic>
      <p:sp>
        <p:nvSpPr>
          <p:cNvPr id="31" name="TextBox 30"/>
          <p:cNvSpPr txBox="1"/>
          <p:nvPr/>
        </p:nvSpPr>
        <p:spPr>
          <a:xfrm>
            <a:off x="9365742" y="2971800"/>
            <a:ext cx="2036826" cy="411480"/>
          </a:xfrm>
          <a:prstGeom prst="rect">
            <a:avLst/>
          </a:prstGeom>
          <a:noFill/>
        </p:spPr>
        <p:txBody>
          <a:bodyPr wrap="square" lIns="0" rIns="0" tIns="0" bIns="0" anchor="t">
            <a:spAutoFit/>
          </a:bodyPr>
          <a:lstStyle/>
          <a:p>
            <a:pPr algn="l"/>
            <a:r>
              <a:rPr sz="2000" b="1" i="0">
                <a:solidFill>
                  <a:schemeClr val="tx1"/>
                </a:solidFill>
              </a:rPr>
              <a:t>Plan</a:t>
            </a:r>
            <a:r>
              <a:rPr sz="1400" b="0" i="0">
                <a:solidFill>
                  <a:srgbClr val="5F5F5F"/>
                </a:solidFill>
              </a:rPr>
              <a:t>  </a:t>
            </a:r>
          </a:p>
        </p:txBody>
      </p:sp>
      <p:sp>
        <p:nvSpPr>
          <p:cNvPr id="32" name="TextBox 31"/>
          <p:cNvSpPr txBox="1"/>
          <p:nvPr/>
        </p:nvSpPr>
        <p:spPr>
          <a:xfrm>
            <a:off x="9365742" y="3429000"/>
            <a:ext cx="2036826" cy="914400"/>
          </a:xfrm>
          <a:prstGeom prst="rect">
            <a:avLst/>
          </a:prstGeom>
          <a:noFill/>
        </p:spPr>
        <p:txBody>
          <a:bodyPr wrap="square" lIns="0" rIns="0" tIns="0" bIns="0" anchor="t">
            <a:spAutoFit/>
          </a:bodyPr>
          <a:lstStyle/>
          <a:p>
            <a:pPr algn="l"/>
            <a:r>
              <a:rPr sz="1500" b="0" i="0">
                <a:solidFill>
                  <a:schemeClr val="tx1"/>
                </a:solidFill>
              </a:rPr>
              <a:t>Reads and proposes. Can't edit or run anything</a:t>
            </a:r>
          </a:p>
        </p:txBody>
      </p:sp>
      <p:sp>
        <p:nvSpPr>
          <p:cNvPr id="33" name="Rounded Rectangle 32"/>
          <p:cNvSpPr/>
          <p:nvPr/>
        </p:nvSpPr>
        <p:spPr>
          <a:xfrm>
            <a:off x="512064" y="4663440"/>
            <a:ext cx="1234440" cy="457200"/>
          </a:xfrm>
          <a:prstGeom prst="roundRect">
            <a:avLst>
              <a:gd name="adj" fmla="val 1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12064" y="4663440"/>
            <a:ext cx="1234440" cy="457200"/>
          </a:xfrm>
          <a:prstGeom prst="rect">
            <a:avLst/>
          </a:prstGeom>
          <a:noFill/>
        </p:spPr>
        <p:txBody>
          <a:bodyPr wrap="square" lIns="0" rIns="0" tIns="0" bIns="0" anchor="ctr">
            <a:spAutoFit/>
          </a:bodyPr>
          <a:lstStyle/>
          <a:p>
            <a:pPr algn="ctr"/>
            <a:r>
              <a:rPr sz="1400" b="1" i="0">
                <a:solidFill>
                  <a:srgbClr val="FFFFFF"/>
                </a:solidFill>
                <a:latin typeface="Courier New"/>
              </a:rPr>
              <a:t>Shift+Tab</a:t>
            </a:r>
          </a:p>
        </p:txBody>
      </p:sp>
      <p:sp>
        <p:nvSpPr>
          <p:cNvPr id="35" name="TextBox 34"/>
          <p:cNvSpPr txBox="1"/>
          <p:nvPr/>
        </p:nvSpPr>
        <p:spPr>
          <a:xfrm>
            <a:off x="1837943" y="4663440"/>
            <a:ext cx="1051560" cy="457200"/>
          </a:xfrm>
          <a:prstGeom prst="rect">
            <a:avLst/>
          </a:prstGeom>
          <a:noFill/>
        </p:spPr>
        <p:txBody>
          <a:bodyPr wrap="square" lIns="0" rIns="0" tIns="0" bIns="0" anchor="ctr">
            <a:spAutoFit/>
          </a:bodyPr>
          <a:lstStyle/>
          <a:p>
            <a:pPr algn="l"/>
            <a:r>
              <a:rPr sz="1500" b="0" i="0">
                <a:solidFill>
                  <a:schemeClr val="tx1"/>
                </a:solidFill>
              </a:rPr>
              <a:t>cycle modes</a:t>
            </a:r>
          </a:p>
        </p:txBody>
      </p:sp>
      <p:sp>
        <p:nvSpPr>
          <p:cNvPr id="36" name="Rounded Rectangle 35"/>
          <p:cNvSpPr/>
          <p:nvPr/>
        </p:nvSpPr>
        <p:spPr>
          <a:xfrm>
            <a:off x="2980944" y="4663440"/>
            <a:ext cx="1234440" cy="457200"/>
          </a:xfrm>
          <a:prstGeom prst="roundRect">
            <a:avLst>
              <a:gd name="adj" fmla="val 1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2980944" y="4663440"/>
            <a:ext cx="1234440" cy="457200"/>
          </a:xfrm>
          <a:prstGeom prst="rect">
            <a:avLst/>
          </a:prstGeom>
          <a:noFill/>
        </p:spPr>
        <p:txBody>
          <a:bodyPr wrap="square" lIns="0" rIns="0" tIns="0" bIns="0" anchor="ctr">
            <a:spAutoFit/>
          </a:bodyPr>
          <a:lstStyle/>
          <a:p>
            <a:pPr algn="ctr"/>
            <a:r>
              <a:rPr sz="1400" b="1" i="0">
                <a:solidFill>
                  <a:srgbClr val="FFFFFF"/>
                </a:solidFill>
                <a:latin typeface="Courier New"/>
              </a:rPr>
              <a:t>Esc</a:t>
            </a:r>
          </a:p>
        </p:txBody>
      </p:sp>
      <p:sp>
        <p:nvSpPr>
          <p:cNvPr id="38" name="TextBox 37"/>
          <p:cNvSpPr txBox="1"/>
          <p:nvPr/>
        </p:nvSpPr>
        <p:spPr>
          <a:xfrm>
            <a:off x="4306824" y="4663440"/>
            <a:ext cx="1051560" cy="457200"/>
          </a:xfrm>
          <a:prstGeom prst="rect">
            <a:avLst/>
          </a:prstGeom>
          <a:noFill/>
        </p:spPr>
        <p:txBody>
          <a:bodyPr wrap="square" lIns="0" rIns="0" tIns="0" bIns="0" anchor="ctr">
            <a:spAutoFit/>
          </a:bodyPr>
          <a:lstStyle/>
          <a:p>
            <a:pPr algn="l"/>
            <a:r>
              <a:rPr sz="1500" b="0" i="0">
                <a:solidFill>
                  <a:schemeClr val="tx1"/>
                </a:solidFill>
              </a:rPr>
              <a:t>stop</a:t>
            </a:r>
          </a:p>
        </p:txBody>
      </p:sp>
      <p:sp>
        <p:nvSpPr>
          <p:cNvPr id="39" name="Rounded Rectangle 38"/>
          <p:cNvSpPr/>
          <p:nvPr/>
        </p:nvSpPr>
        <p:spPr>
          <a:xfrm>
            <a:off x="5449824" y="4663440"/>
            <a:ext cx="1234440" cy="457200"/>
          </a:xfrm>
          <a:prstGeom prst="roundRect">
            <a:avLst>
              <a:gd name="adj" fmla="val 1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5449824" y="4663440"/>
            <a:ext cx="1234440" cy="457200"/>
          </a:xfrm>
          <a:prstGeom prst="rect">
            <a:avLst/>
          </a:prstGeom>
          <a:noFill/>
        </p:spPr>
        <p:txBody>
          <a:bodyPr wrap="square" lIns="0" rIns="0" tIns="0" bIns="0" anchor="ctr">
            <a:spAutoFit/>
          </a:bodyPr>
          <a:lstStyle/>
          <a:p>
            <a:pPr algn="ctr"/>
            <a:r>
              <a:rPr sz="1400" b="1" i="0">
                <a:solidFill>
                  <a:srgbClr val="FFFFFF"/>
                </a:solidFill>
                <a:latin typeface="Courier New"/>
              </a:rPr>
              <a:t>Esc Esc</a:t>
            </a:r>
          </a:p>
        </p:txBody>
      </p:sp>
      <p:sp>
        <p:nvSpPr>
          <p:cNvPr id="41" name="TextBox 40"/>
          <p:cNvSpPr txBox="1"/>
          <p:nvPr/>
        </p:nvSpPr>
        <p:spPr>
          <a:xfrm>
            <a:off x="6775704" y="4663440"/>
            <a:ext cx="1051560" cy="457200"/>
          </a:xfrm>
          <a:prstGeom prst="rect">
            <a:avLst/>
          </a:prstGeom>
          <a:noFill/>
        </p:spPr>
        <p:txBody>
          <a:bodyPr wrap="square" lIns="0" rIns="0" tIns="0" bIns="0" anchor="ctr">
            <a:spAutoFit/>
          </a:bodyPr>
          <a:lstStyle/>
          <a:p>
            <a:pPr algn="l"/>
            <a:r>
              <a:rPr sz="1500" b="0" i="0">
                <a:solidFill>
                  <a:schemeClr val="tx1"/>
                </a:solidFill>
              </a:rPr>
              <a:t>rewind</a:t>
            </a:r>
          </a:p>
        </p:txBody>
      </p:sp>
      <p:sp>
        <p:nvSpPr>
          <p:cNvPr id="42" name="Rounded Rectangle 41"/>
          <p:cNvSpPr/>
          <p:nvPr/>
        </p:nvSpPr>
        <p:spPr>
          <a:xfrm>
            <a:off x="8001000" y="4526280"/>
            <a:ext cx="3675887" cy="11430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8183879" y="4526280"/>
            <a:ext cx="3383280" cy="1143000"/>
          </a:xfrm>
          <a:prstGeom prst="rect">
            <a:avLst/>
          </a:prstGeom>
          <a:noFill/>
        </p:spPr>
        <p:txBody>
          <a:bodyPr wrap="square" lIns="0" rIns="0" tIns="0" bIns="0" anchor="ctr">
            <a:spAutoFit/>
          </a:bodyPr>
          <a:lstStyle/>
          <a:p>
            <a:pPr algn="l">
              <a:spcAft>
                <a:spcPts val="400"/>
              </a:spcAft>
            </a:pPr>
            <a:r>
              <a:rPr sz="1700" b="1" i="0">
                <a:solidFill>
                  <a:schemeClr val="bg1"/>
                </a:solidFill>
              </a:rPr>
              <a:t>While learning: </a:t>
            </a:r>
            <a:r>
              <a:rPr sz="1700" b="0" i="0">
                <a:solidFill>
                  <a:schemeClr val="bg1"/>
                </a:solidFill>
              </a:rPr>
              <a:t>Manual</a:t>
            </a:r>
          </a:p>
          <a:p>
            <a:pPr algn="l">
              <a:spcAft>
                <a:spcPts val="400"/>
              </a:spcAft>
            </a:pPr>
            <a:r>
              <a:rPr sz="1700" b="1" i="0">
                <a:solidFill>
                  <a:schemeClr val="bg1"/>
                </a:solidFill>
              </a:rPr>
              <a:t>For design decisions: </a:t>
            </a:r>
            <a:r>
              <a:rPr sz="1700" b="0" i="0">
                <a:solidFill>
                  <a:schemeClr val="bg1"/>
                </a:solidFill>
              </a:rPr>
              <a:t>Plan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If it didn't work: the top five</a:t>
            </a:r>
          </a:p>
        </p:txBody>
      </p:sp>
      <p:sp>
        <p:nvSpPr>
          <p:cNvPr id="3" name="Text Placeholder 2"/>
          <p:cNvSpPr>
            <a:spLocks noGrp="1"/>
          </p:cNvSpPr>
          <p:nvPr>
            <p:ph type="body" idx="12" sz="quarter"/>
          </p:nvPr>
        </p:nvSpPr>
        <p:spPr/>
        <p:txBody>
          <a:bodyPr/>
          <a:lstStyle/>
          <a:p>
            <a:r>
              <a:t>Find your row. Two minutes, then we move on</a:t>
            </a:r>
          </a:p>
        </p:txBody>
      </p:sp>
      <p:sp>
        <p:nvSpPr>
          <p:cNvPr id="4" name="Text Placeholder 3"/>
          <p:cNvSpPr>
            <a:spLocks noGrp="1"/>
          </p:cNvSpPr>
          <p:nvPr>
            <p:ph type="body" idx="14" sz="quarter"/>
          </p:nvPr>
        </p:nvSpPr>
        <p:spPr/>
        <p:txBody>
          <a:bodyPr/>
          <a:lstStyle/>
          <a:p>
            <a:r>
              <a:t>A · Install and verify</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graphicFrame>
        <p:nvGraphicFramePr>
          <p:cNvPr id="13" name="Table 12"/>
          <p:cNvGraphicFramePr>
            <a:graphicFrameLocks noGrp="1"/>
          </p:cNvGraphicFramePr>
          <p:nvPr/>
        </p:nvGraphicFramePr>
        <p:xfrm>
          <a:off x="512064" y="1920240"/>
          <a:ext cx="11164824" cy="3273552"/>
        </p:xfrm>
        <a:graphic>
          <a:graphicData uri="http://schemas.openxmlformats.org/drawingml/2006/table">
            <a:tbl>
              <a:tblPr firstRow="1">
                <a:tableStyleId>{5C22544A-7EE6-4342-B048-85BDC9FD1C3A}</a:tableStyleId>
              </a:tblPr>
              <a:tblGrid>
                <a:gridCol w="4846320"/>
                <a:gridCol w="6318504"/>
              </a:tblGrid>
              <a:tr h="438912">
                <a:tc>
                  <a:txBody>
                    <a:bodyPr wrap="square"/>
                    <a:lstStyle/>
                    <a:p>
                      <a:r>
                        <a:rPr sz="1600" b="1">
                          <a:solidFill>
                            <a:schemeClr val="bg1"/>
                          </a:solidFill>
                        </a:rPr>
                        <a:t>Symptom</a:t>
                      </a:r>
                    </a:p>
                  </a:txBody>
                  <a:tcPr marL="91440" marR="91440" marT="36576" marB="36576" anchor="ctr">
                    <a:solidFill>
                      <a:schemeClr val="tx2"/>
                    </a:solidFill>
                  </a:tcPr>
                </a:tc>
                <a:tc>
                  <a:txBody>
                    <a:bodyPr wrap="square"/>
                    <a:lstStyle/>
                    <a:p>
                      <a:r>
                        <a:rPr sz="1600" b="1">
                          <a:solidFill>
                            <a:schemeClr val="bg1"/>
                          </a:solidFill>
                        </a:rPr>
                        <a:t>Fix</a:t>
                      </a:r>
                    </a:p>
                  </a:txBody>
                  <a:tcPr marL="91440" marR="91440" marT="36576" marB="36576" anchor="ctr">
                    <a:solidFill>
                      <a:schemeClr val="tx2"/>
                    </a:solidFill>
                  </a:tcPr>
                </a:tc>
              </a:tr>
              <a:tr h="566928">
                <a:tc>
                  <a:txBody>
                    <a:bodyPr wrap="square"/>
                    <a:lstStyle/>
                    <a:p>
                      <a:r>
                        <a:rPr sz="1600" b="1">
                          <a:solidFill>
                            <a:schemeClr val="tx1"/>
                          </a:solidFill>
                        </a:rPr>
                        <a:t>'irm' is not recognized</a:t>
                      </a:r>
                    </a:p>
                  </a:txBody>
                  <a:tcPr marL="91440" marR="91440" marT="36576" marB="36576" anchor="ctr">
                    <a:solidFill>
                      <a:schemeClr val="bg1"/>
                    </a:solidFill>
                  </a:tcPr>
                </a:tc>
                <a:tc>
                  <a:txBody>
                    <a:bodyPr wrap="square"/>
                    <a:lstStyle/>
                    <a:p>
                      <a:r>
                        <a:rPr sz="1600" b="0">
                          <a:solidFill>
                            <a:schemeClr val="tx1"/>
                          </a:solidFill>
                        </a:rPr>
                        <a:t>You're in CMD. Open PowerShell, or use the CMD install line</a:t>
                      </a:r>
                    </a:p>
                  </a:txBody>
                  <a:tcPr marL="91440" marR="91440" marT="36576" marB="36576" anchor="ctr">
                    <a:solidFill>
                      <a:schemeClr val="bg1"/>
                    </a:solidFill>
                  </a:tcPr>
                </a:tc>
              </a:tr>
              <a:tr h="566928">
                <a:tc>
                  <a:txBody>
                    <a:bodyPr wrap="square"/>
                    <a:lstStyle/>
                    <a:p>
                      <a:r>
                        <a:rPr sz="1600" b="1">
                          <a:solidFill>
                            <a:schemeClr val="tx1"/>
                          </a:solidFill>
                        </a:rPr>
                        <a:t>claude: command not found / 'claude' is not recognized</a:t>
                      </a:r>
                    </a:p>
                  </a:txBody>
                  <a:tcPr marL="91440" marR="91440" marT="36576" marB="36576" anchor="ctr">
                    <a:solidFill>
                      <a:schemeClr val="bg1"/>
                    </a:solidFill>
                  </a:tcPr>
                </a:tc>
                <a:tc>
                  <a:txBody>
                    <a:bodyPr wrap="square"/>
                    <a:lstStyle/>
                    <a:p>
                      <a:r>
                        <a:rPr sz="1600" b="0">
                          <a:solidFill>
                            <a:schemeClr val="tx1"/>
                          </a:solidFill>
                        </a:rPr>
                        <a:t>Open a new terminal window (PATH refresh)</a:t>
                      </a:r>
                    </a:p>
                  </a:txBody>
                  <a:tcPr marL="91440" marR="91440" marT="36576" marB="36576" anchor="ctr">
                    <a:solidFill>
                      <a:schemeClr val="bg1"/>
                    </a:solidFill>
                  </a:tcPr>
                </a:tc>
              </a:tr>
              <a:tr h="566928">
                <a:tc>
                  <a:txBody>
                    <a:bodyPr wrap="square"/>
                    <a:lstStyle/>
                    <a:p>
                      <a:r>
                        <a:rPr sz="1600" b="1">
                          <a:solidFill>
                            <a:schemeClr val="tx1"/>
                          </a:solidFill>
                        </a:rPr>
                        <a:t>'Rscript' is not recognized (Windows)</a:t>
                      </a:r>
                    </a:p>
                  </a:txBody>
                  <a:tcPr marL="91440" marR="91440" marT="36576" marB="36576" anchor="ctr">
                    <a:solidFill>
                      <a:schemeClr val="bg1"/>
                    </a:solidFill>
                  </a:tcPr>
                </a:tc>
                <a:tc>
                  <a:txBody>
                    <a:bodyPr wrap="square"/>
                    <a:lstStyle/>
                    <a:p>
                      <a:r>
                        <a:rPr sz="1600" b="0">
                          <a:solidFill>
                            <a:schemeClr val="tx1"/>
                          </a:solidFill>
                        </a:rPr>
                        <a:t>Add R's bin folder to PATH (guide §2 Step 5), then open a new terminal</a:t>
                      </a:r>
                    </a:p>
                  </a:txBody>
                  <a:tcPr marL="91440" marR="91440" marT="36576" marB="36576" anchor="ctr">
                    <a:solidFill>
                      <a:schemeClr val="bg1"/>
                    </a:solidFill>
                  </a:tcPr>
                </a:tc>
              </a:tr>
              <a:tr h="566928">
                <a:tc>
                  <a:txBody>
                    <a:bodyPr wrap="square"/>
                    <a:lstStyle/>
                    <a:p>
                      <a:r>
                        <a:rPr sz="1600" b="1">
                          <a:solidFill>
                            <a:schemeClr val="tx1"/>
                          </a:solidFill>
                        </a:rPr>
                        <a:t>Sign-in loops or “no access”</a:t>
                      </a:r>
                    </a:p>
                  </a:txBody>
                  <a:tcPr marL="91440" marR="91440" marT="36576" marB="36576" anchor="ctr">
                    <a:solidFill>
                      <a:schemeClr val="bg1"/>
                    </a:solidFill>
                  </a:tcPr>
                </a:tc>
                <a:tc>
                  <a:txBody>
                    <a:bodyPr wrap="square"/>
                    <a:lstStyle/>
                    <a:p>
                      <a:r>
                        <a:rPr sz="1600" b="0">
                          <a:solidFill>
                            <a:schemeClr val="tx1"/>
                          </a:solidFill>
                        </a:rPr>
                        <a:t>Check the workspace: Claude Edu, not Secure. Students: confirm your seat</a:t>
                      </a:r>
                    </a:p>
                  </a:txBody>
                  <a:tcPr marL="91440" marR="91440" marT="36576" marB="36576" anchor="ctr">
                    <a:solidFill>
                      <a:schemeClr val="bg1"/>
                    </a:solidFill>
                  </a:tcPr>
                </a:tc>
              </a:tr>
              <a:tr h="566928">
                <a:tc>
                  <a:txBody>
                    <a:bodyPr wrap="square"/>
                    <a:lstStyle/>
                    <a:p>
                      <a:r>
                        <a:rPr sz="1600" b="1">
                          <a:solidFill>
                            <a:schemeClr val="tx1"/>
                          </a:solidFill>
                        </a:rPr>
                        <a:t>Dataset “empty” or file not found in Box / OneDrive</a:t>
                      </a:r>
                    </a:p>
                  </a:txBody>
                  <a:tcPr marL="91440" marR="91440" marT="36576" marB="36576" anchor="ctr">
                    <a:solidFill>
                      <a:schemeClr val="bg1"/>
                    </a:solidFill>
                  </a:tcPr>
                </a:tc>
                <a:tc>
                  <a:txBody>
                    <a:bodyPr wrap="square"/>
                    <a:lstStyle/>
                    <a:p>
                      <a:r>
                        <a:rPr sz="1600" b="0">
                          <a:solidFill>
                            <a:schemeClr val="tx1"/>
                          </a:solidFill>
                        </a:rPr>
                        <a:t>Always keep on this device; on Windows, shorten very deep paths</a:t>
                      </a:r>
                    </a:p>
                  </a:txBody>
                  <a:tcPr marL="91440" marR="91440" marT="36576" marB="36576" anchor="ctr">
                    <a:solidFill>
                      <a:schemeClr val="bg1"/>
                    </a:solidFill>
                  </a:tcPr>
                </a:tc>
              </a:tr>
            </a:tbl>
          </a:graphicData>
        </a:graphic>
      </p:graphicFrame>
      <p:pic>
        <p:nvPicPr>
          <p:cNvPr id="14" name="Picture 13" descr="FaStopwatch_red.png"/>
          <p:cNvPicPr>
            <a:picLocks noChangeAspect="1"/>
          </p:cNvPicPr>
          <p:nvPr/>
        </p:nvPicPr>
        <p:blipFill>
          <a:blip r:embed="rId3"/>
          <a:stretch>
            <a:fillRect/>
          </a:stretch>
        </p:blipFill>
        <p:spPr>
          <a:xfrm>
            <a:off x="512064" y="5321808"/>
            <a:ext cx="384048" cy="384048"/>
          </a:xfrm>
          <a:prstGeom prst="rect">
            <a:avLst/>
          </a:prstGeom>
        </p:spPr>
      </p:pic>
      <p:sp>
        <p:nvSpPr>
          <p:cNvPr id="15" name="TextBox 14"/>
          <p:cNvSpPr txBox="1"/>
          <p:nvPr/>
        </p:nvSpPr>
        <p:spPr>
          <a:xfrm>
            <a:off x="1060704" y="5257800"/>
            <a:ext cx="10515600" cy="502920"/>
          </a:xfrm>
          <a:prstGeom prst="rect">
            <a:avLst/>
          </a:prstGeom>
          <a:noFill/>
        </p:spPr>
        <p:txBody>
          <a:bodyPr wrap="square" lIns="0" rIns="0" tIns="0" bIns="0" anchor="ctr">
            <a:spAutoFit/>
          </a:bodyPr>
          <a:lstStyle/>
          <a:p>
            <a:pPr algn="l"/>
            <a:r>
              <a:rPr sz="1600" b="0" i="0">
                <a:solidFill>
                  <a:schemeClr val="tx1"/>
                </a:solidFill>
              </a:rPr>
              <a:t>Still stuck? Write down the exact error and keep going. Blocks C and D need no install. We'll fix it at the break.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is MCP?</a:t>
            </a:r>
          </a:p>
        </p:txBody>
      </p:sp>
      <p:sp>
        <p:nvSpPr>
          <p:cNvPr id="3" name="Text Placeholder 2"/>
          <p:cNvSpPr>
            <a:spLocks noGrp="1"/>
          </p:cNvSpPr>
          <p:nvPr>
            <p:ph type="body" idx="12" sz="quarter"/>
          </p:nvPr>
        </p:nvSpPr>
        <p:spPr/>
        <p:txBody>
          <a:bodyPr/>
          <a:lstStyle/>
          <a:p>
            <a:r>
              <a:t>Model Context Protocol: a standard plug that lets Claude use other software</a:t>
            </a:r>
          </a:p>
        </p:txBody>
      </p:sp>
      <p:sp>
        <p:nvSpPr>
          <p:cNvPr id="4" name="Text Placeholder 3"/>
          <p:cNvSpPr>
            <a:spLocks noGrp="1"/>
          </p:cNvSpPr>
          <p:nvPr>
            <p:ph type="body" idx="14" sz="quarter"/>
          </p:nvPr>
        </p:nvSpPr>
        <p:spPr/>
        <p:txBody>
          <a:bodyPr/>
          <a:lstStyle/>
          <a:p>
            <a:r>
              <a:t>B · Connect Claude to your tools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5120640" cy="146304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Plug_circle"/>
          <p:cNvSpPr/>
          <p:nvPr/>
        </p:nvSpPr>
        <p:spPr>
          <a:xfrm>
            <a:off x="786384" y="2194560"/>
            <a:ext cx="566928" cy="566928"/>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Plug_red.png"/>
          <p:cNvPicPr>
            <a:picLocks noChangeAspect="1"/>
          </p:cNvPicPr>
          <p:nvPr/>
        </p:nvPicPr>
        <p:blipFill>
          <a:blip r:embed="rId3"/>
          <a:stretch>
            <a:fillRect/>
          </a:stretch>
        </p:blipFill>
        <p:spPr>
          <a:xfrm>
            <a:off x="928116" y="2336291"/>
            <a:ext cx="283464" cy="283464"/>
          </a:xfrm>
          <a:prstGeom prst="rect">
            <a:avLst/>
          </a:prstGeom>
        </p:spPr>
      </p:pic>
      <p:sp>
        <p:nvSpPr>
          <p:cNvPr id="16" name="TextBox 15"/>
          <p:cNvSpPr txBox="1"/>
          <p:nvPr/>
        </p:nvSpPr>
        <p:spPr>
          <a:xfrm>
            <a:off x="1563624" y="2057400"/>
            <a:ext cx="3886200" cy="1188720"/>
          </a:xfrm>
          <a:prstGeom prst="rect">
            <a:avLst/>
          </a:prstGeom>
          <a:noFill/>
        </p:spPr>
        <p:txBody>
          <a:bodyPr wrap="square" lIns="0" rIns="0" tIns="0" bIns="0" anchor="ctr">
            <a:spAutoFit/>
          </a:bodyPr>
          <a:lstStyle/>
          <a:p>
            <a:pPr algn="l"/>
            <a:r>
              <a:rPr sz="1700" b="1" i="1">
                <a:solidFill>
                  <a:schemeClr val="bg1"/>
                </a:solidFill>
              </a:rPr>
              <a:t>“An open-source standard for connecting AI applications to external systems.”</a:t>
            </a:r>
          </a:p>
        </p:txBody>
      </p:sp>
      <p:sp>
        <p:nvSpPr>
          <p:cNvPr id="17" name="TextBox 16"/>
          <p:cNvSpPr txBox="1"/>
          <p:nvPr/>
        </p:nvSpPr>
        <p:spPr>
          <a:xfrm>
            <a:off x="512064" y="3520440"/>
            <a:ext cx="5120640" cy="274320"/>
          </a:xfrm>
          <a:prstGeom prst="rect">
            <a:avLst/>
          </a:prstGeom>
          <a:noFill/>
        </p:spPr>
        <p:txBody>
          <a:bodyPr wrap="square" lIns="0" rIns="0" tIns="0" bIns="0" anchor="t">
            <a:spAutoFit/>
          </a:bodyPr>
          <a:lstStyle/>
          <a:p>
            <a:pPr algn="l"/>
            <a:r>
              <a:rPr sz="1200" b="0" i="1">
                <a:solidFill>
                  <a:srgbClr val="5F5F5F"/>
                </a:solidFill>
              </a:rPr>
              <a:t>modelcontextprotocol.io</a:t>
            </a:r>
          </a:p>
        </p:txBody>
      </p:sp>
      <p:sp>
        <p:nvSpPr>
          <p:cNvPr id="18" name="TextBox 17"/>
          <p:cNvSpPr txBox="1"/>
          <p:nvPr/>
        </p:nvSpPr>
        <p:spPr>
          <a:xfrm>
            <a:off x="512064" y="3977639"/>
            <a:ext cx="5120640" cy="365760"/>
          </a:xfrm>
          <a:prstGeom prst="rect">
            <a:avLst/>
          </a:prstGeom>
          <a:noFill/>
        </p:spPr>
        <p:txBody>
          <a:bodyPr wrap="square" lIns="0" rIns="0" tIns="0" bIns="0" anchor="t">
            <a:spAutoFit/>
          </a:bodyPr>
          <a:lstStyle/>
          <a:p>
            <a:pPr algn="l"/>
            <a:r>
              <a:rPr sz="1700" b="1" i="0">
                <a:solidFill>
                  <a:schemeClr val="tx2"/>
                </a:solidFill>
              </a:rPr>
              <a:t>One command, any MCP tool</a:t>
            </a:r>
          </a:p>
        </p:txBody>
      </p:sp>
      <p:sp>
        <p:nvSpPr>
          <p:cNvPr id="19" name="code_block"/>
          <p:cNvSpPr/>
          <p:nvPr/>
        </p:nvSpPr>
        <p:spPr>
          <a:xfrm>
            <a:off x="512064" y="4389120"/>
            <a:ext cx="5120640" cy="868680"/>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13232" y="4389120"/>
            <a:ext cx="4754879" cy="868680"/>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claude mcp add …</a:t>
            </a:r>
            <a:r>
              <a:rPr sz="1500" b="0" i="0">
                <a:solidFill>
                  <a:srgbClr val="9FD3C7"/>
                </a:solidFill>
                <a:latin typeface="Courier New"/>
              </a:rPr>
              <a:t>  # register a tool</a:t>
            </a:r>
          </a:p>
          <a:p>
            <a:pPr algn="l">
              <a:spcAft>
                <a:spcPts val="200"/>
              </a:spcAft>
            </a:pPr>
            <a:r>
              <a:rPr sz="1500" b="0" i="0">
                <a:solidFill>
                  <a:srgbClr val="FFFFFF"/>
                </a:solidFill>
                <a:latin typeface="Courier New"/>
              </a:rPr>
              <a:t>/mcp</a:t>
            </a:r>
            <a:r>
              <a:rPr sz="1500" b="0" i="0">
                <a:solidFill>
                  <a:srgbClr val="9FD3C7"/>
                </a:solidFill>
                <a:latin typeface="Courier New"/>
              </a:rPr>
              <a:t>  # see what's connected</a:t>
            </a:r>
          </a:p>
        </p:txBody>
      </p:sp>
      <p:sp>
        <p:nvSpPr>
          <p:cNvPr id="21" name="TextBox 20"/>
          <p:cNvSpPr txBox="1"/>
          <p:nvPr/>
        </p:nvSpPr>
        <p:spPr>
          <a:xfrm>
            <a:off x="5989320" y="1920240"/>
            <a:ext cx="5687568" cy="365760"/>
          </a:xfrm>
          <a:prstGeom prst="rect">
            <a:avLst/>
          </a:prstGeom>
          <a:noFill/>
        </p:spPr>
        <p:txBody>
          <a:bodyPr wrap="square" lIns="0" rIns="0" tIns="0" bIns="0" anchor="t">
            <a:spAutoFit/>
          </a:bodyPr>
          <a:lstStyle/>
          <a:p>
            <a:pPr algn="l"/>
            <a:r>
              <a:rPr sz="1700" b="1" i="0">
                <a:solidFill>
                  <a:schemeClr val="tx2"/>
                </a:solidFill>
              </a:rPr>
              <a:t>Useful for researchers</a:t>
            </a:r>
          </a:p>
        </p:txBody>
      </p:sp>
      <p:sp>
        <p:nvSpPr>
          <p:cNvPr id="22" name="Rounded Rectangle 21"/>
          <p:cNvSpPr/>
          <p:nvPr/>
        </p:nvSpPr>
        <p:spPr>
          <a:xfrm>
            <a:off x="5989320" y="2377440"/>
            <a:ext cx="5687568" cy="676656"/>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icon_FaRProject_circle"/>
          <p:cNvSpPr/>
          <p:nvPr/>
        </p:nvSpPr>
        <p:spPr>
          <a:xfrm>
            <a:off x="6153912" y="2487168"/>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4" name="Picture 23" descr="FaRProject_white.png"/>
          <p:cNvPicPr>
            <a:picLocks noChangeAspect="1"/>
          </p:cNvPicPr>
          <p:nvPr/>
        </p:nvPicPr>
        <p:blipFill>
          <a:blip r:embed="rId4"/>
          <a:stretch>
            <a:fillRect/>
          </a:stretch>
        </p:blipFill>
        <p:spPr>
          <a:xfrm>
            <a:off x="6268212" y="2601468"/>
            <a:ext cx="228600" cy="228600"/>
          </a:xfrm>
          <a:prstGeom prst="rect">
            <a:avLst/>
          </a:prstGeom>
        </p:spPr>
      </p:pic>
      <p:sp>
        <p:nvSpPr>
          <p:cNvPr id="25" name="TextBox 24"/>
          <p:cNvSpPr txBox="1"/>
          <p:nvPr/>
        </p:nvSpPr>
        <p:spPr>
          <a:xfrm>
            <a:off x="6766559" y="2414016"/>
            <a:ext cx="4773168" cy="329184"/>
          </a:xfrm>
          <a:prstGeom prst="rect">
            <a:avLst/>
          </a:prstGeom>
          <a:noFill/>
        </p:spPr>
        <p:txBody>
          <a:bodyPr wrap="square" lIns="0" rIns="0" tIns="0" bIns="0" anchor="ctr">
            <a:spAutoFit/>
          </a:bodyPr>
          <a:lstStyle/>
          <a:p>
            <a:pPr algn="l"/>
            <a:r>
              <a:rPr sz="1600" b="1" i="0">
                <a:solidFill>
                  <a:schemeClr val="tx1"/>
                </a:solidFill>
              </a:rPr>
              <a:t>Your live R session</a:t>
            </a:r>
          </a:p>
        </p:txBody>
      </p:sp>
      <p:sp>
        <p:nvSpPr>
          <p:cNvPr id="26" name="TextBox 25"/>
          <p:cNvSpPr txBox="1"/>
          <p:nvPr/>
        </p:nvSpPr>
        <p:spPr>
          <a:xfrm>
            <a:off x="6766559" y="2724912"/>
            <a:ext cx="4773168" cy="292608"/>
          </a:xfrm>
          <a:prstGeom prst="rect">
            <a:avLst/>
          </a:prstGeom>
          <a:noFill/>
        </p:spPr>
        <p:txBody>
          <a:bodyPr wrap="square" lIns="0" rIns="0" tIns="0" bIns="0" anchor="ctr">
            <a:spAutoFit/>
          </a:bodyPr>
          <a:lstStyle/>
          <a:p>
            <a:pPr algn="l"/>
            <a:r>
              <a:rPr sz="1300" b="0" i="0">
                <a:solidFill>
                  <a:srgbClr val="5F5F5F"/>
                </a:solidFill>
              </a:rPr>
              <a:t>mcptools (Posit, CRAN): next slide</a:t>
            </a:r>
          </a:p>
        </p:txBody>
      </p:sp>
      <p:sp>
        <p:nvSpPr>
          <p:cNvPr id="27" name="Rounded Rectangle 26"/>
          <p:cNvSpPr/>
          <p:nvPr/>
        </p:nvSpPr>
        <p:spPr>
          <a:xfrm>
            <a:off x="5989320" y="3163824"/>
            <a:ext cx="5687568" cy="676656"/>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BookOpen_circle"/>
          <p:cNvSpPr/>
          <p:nvPr/>
        </p:nvSpPr>
        <p:spPr>
          <a:xfrm>
            <a:off x="6153912" y="3273552"/>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BookOpen_white.png"/>
          <p:cNvPicPr>
            <a:picLocks noChangeAspect="1"/>
          </p:cNvPicPr>
          <p:nvPr/>
        </p:nvPicPr>
        <p:blipFill>
          <a:blip r:embed="rId5"/>
          <a:stretch>
            <a:fillRect/>
          </a:stretch>
        </p:blipFill>
        <p:spPr>
          <a:xfrm>
            <a:off x="6268212" y="3387852"/>
            <a:ext cx="228600" cy="228600"/>
          </a:xfrm>
          <a:prstGeom prst="rect">
            <a:avLst/>
          </a:prstGeom>
        </p:spPr>
      </p:pic>
      <p:sp>
        <p:nvSpPr>
          <p:cNvPr id="30" name="TextBox 29"/>
          <p:cNvSpPr txBox="1"/>
          <p:nvPr/>
        </p:nvSpPr>
        <p:spPr>
          <a:xfrm>
            <a:off x="6766559" y="3200400"/>
            <a:ext cx="4773168" cy="329184"/>
          </a:xfrm>
          <a:prstGeom prst="rect">
            <a:avLst/>
          </a:prstGeom>
          <a:noFill/>
        </p:spPr>
        <p:txBody>
          <a:bodyPr wrap="square" lIns="0" rIns="0" tIns="0" bIns="0" anchor="ctr">
            <a:spAutoFit/>
          </a:bodyPr>
          <a:lstStyle/>
          <a:p>
            <a:pPr algn="l"/>
            <a:r>
              <a:rPr sz="1600" b="1" i="0">
                <a:solidFill>
                  <a:schemeClr val="tx1"/>
                </a:solidFill>
              </a:rPr>
              <a:t>Your Zotero library</a:t>
            </a:r>
          </a:p>
        </p:txBody>
      </p:sp>
      <p:sp>
        <p:nvSpPr>
          <p:cNvPr id="31" name="TextBox 30"/>
          <p:cNvSpPr txBox="1"/>
          <p:nvPr/>
        </p:nvSpPr>
        <p:spPr>
          <a:xfrm>
            <a:off x="6766559" y="3511296"/>
            <a:ext cx="4773168" cy="292608"/>
          </a:xfrm>
          <a:prstGeom prst="rect">
            <a:avLst/>
          </a:prstGeom>
          <a:noFill/>
        </p:spPr>
        <p:txBody>
          <a:bodyPr wrap="square" lIns="0" rIns="0" tIns="0" bIns="0" anchor="ctr">
            <a:spAutoFit/>
          </a:bodyPr>
          <a:lstStyle/>
          <a:p>
            <a:pPr algn="l"/>
            <a:r>
              <a:rPr sz="1300" b="0" i="0">
                <a:solidFill>
                  <a:srgbClr val="5F5F5F"/>
                </a:solidFill>
              </a:rPr>
              <a:t>zotero-mcp</a:t>
            </a:r>
          </a:p>
        </p:txBody>
      </p:sp>
      <p:sp>
        <p:nvSpPr>
          <p:cNvPr id="32" name="Rounded Rectangle 31"/>
          <p:cNvSpPr/>
          <p:nvPr/>
        </p:nvSpPr>
        <p:spPr>
          <a:xfrm>
            <a:off x="5989320" y="3950208"/>
            <a:ext cx="5687568" cy="676656"/>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icon_FaNoteSticky_circle"/>
          <p:cNvSpPr/>
          <p:nvPr/>
        </p:nvSpPr>
        <p:spPr>
          <a:xfrm>
            <a:off x="6153912" y="4059936"/>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FaNoteSticky_white.png"/>
          <p:cNvPicPr>
            <a:picLocks noChangeAspect="1"/>
          </p:cNvPicPr>
          <p:nvPr/>
        </p:nvPicPr>
        <p:blipFill>
          <a:blip r:embed="rId6"/>
          <a:stretch>
            <a:fillRect/>
          </a:stretch>
        </p:blipFill>
        <p:spPr>
          <a:xfrm>
            <a:off x="6268212" y="4174236"/>
            <a:ext cx="228600" cy="228600"/>
          </a:xfrm>
          <a:prstGeom prst="rect">
            <a:avLst/>
          </a:prstGeom>
        </p:spPr>
      </p:pic>
      <p:sp>
        <p:nvSpPr>
          <p:cNvPr id="35" name="TextBox 34"/>
          <p:cNvSpPr txBox="1"/>
          <p:nvPr/>
        </p:nvSpPr>
        <p:spPr>
          <a:xfrm>
            <a:off x="6766559" y="3986784"/>
            <a:ext cx="4773168" cy="329184"/>
          </a:xfrm>
          <a:prstGeom prst="rect">
            <a:avLst/>
          </a:prstGeom>
          <a:noFill/>
        </p:spPr>
        <p:txBody>
          <a:bodyPr wrap="square" lIns="0" rIns="0" tIns="0" bIns="0" anchor="ctr">
            <a:spAutoFit/>
          </a:bodyPr>
          <a:lstStyle/>
          <a:p>
            <a:pPr algn="l"/>
            <a:r>
              <a:rPr sz="1600" b="1" i="0">
                <a:solidFill>
                  <a:schemeClr val="tx1"/>
                </a:solidFill>
              </a:rPr>
              <a:t>Your Obsidian notes</a:t>
            </a:r>
          </a:p>
        </p:txBody>
      </p:sp>
      <p:sp>
        <p:nvSpPr>
          <p:cNvPr id="36" name="TextBox 35"/>
          <p:cNvSpPr txBox="1"/>
          <p:nvPr/>
        </p:nvSpPr>
        <p:spPr>
          <a:xfrm>
            <a:off x="6766559" y="4297680"/>
            <a:ext cx="4773168" cy="292608"/>
          </a:xfrm>
          <a:prstGeom prst="rect">
            <a:avLst/>
          </a:prstGeom>
          <a:noFill/>
        </p:spPr>
        <p:txBody>
          <a:bodyPr wrap="square" lIns="0" rIns="0" tIns="0" bIns="0" anchor="ctr">
            <a:spAutoFit/>
          </a:bodyPr>
          <a:lstStyle/>
          <a:p>
            <a:pPr algn="l"/>
            <a:r>
              <a:rPr sz="1300" b="0" i="0">
                <a:solidFill>
                  <a:srgbClr val="5F5F5F"/>
                </a:solidFill>
              </a:rPr>
              <a:t>Obsidian Local REST API plugin</a:t>
            </a:r>
          </a:p>
        </p:txBody>
      </p:sp>
      <p:sp>
        <p:nvSpPr>
          <p:cNvPr id="37" name="TextBox 36"/>
          <p:cNvSpPr txBox="1"/>
          <p:nvPr/>
        </p:nvSpPr>
        <p:spPr>
          <a:xfrm>
            <a:off x="5989320" y="4800600"/>
            <a:ext cx="5687568" cy="411480"/>
          </a:xfrm>
          <a:prstGeom prst="rect">
            <a:avLst/>
          </a:prstGeom>
          <a:noFill/>
        </p:spPr>
        <p:txBody>
          <a:bodyPr wrap="square" lIns="0" rIns="0" tIns="0" bIns="0" anchor="ctr">
            <a:spAutoFit/>
          </a:bodyPr>
          <a:lstStyle/>
          <a:p>
            <a:pPr algn="l"/>
            <a:r>
              <a:rPr sz="1500" b="0" i="0">
                <a:solidFill>
                  <a:schemeClr val="tx1"/>
                </a:solidFill>
              </a:rPr>
              <a:t>Same servers work in </a:t>
            </a:r>
            <a:r>
              <a:rPr sz="1500" b="1" i="0">
                <a:solidFill>
                  <a:schemeClr val="tx1"/>
                </a:solidFill>
              </a:rPr>
              <a:t>Codex CLI</a:t>
            </a:r>
            <a:r>
              <a:rPr sz="1500" b="0" i="0">
                <a:solidFill>
                  <a:schemeClr val="tx1"/>
                </a:solidFill>
              </a:rPr>
              <a:t> and </a:t>
            </a:r>
            <a:r>
              <a:rPr sz="1500" b="1" i="0">
                <a:solidFill>
                  <a:schemeClr val="tx1"/>
                </a:solidFill>
              </a:rPr>
              <a:t>Gemini CLI</a:t>
            </a:r>
          </a:p>
        </p:txBody>
      </p:sp>
      <p:sp>
        <p:nvSpPr>
          <p:cNvPr id="38" name="Rounded Rectangle 37"/>
          <p:cNvSpPr/>
          <p:nvPr/>
        </p:nvSpPr>
        <p:spPr>
          <a:xfrm>
            <a:off x="512064" y="5440680"/>
            <a:ext cx="11164824" cy="566928"/>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9" name="Picture 38" descr="FaTriangleExclamation_white.png"/>
          <p:cNvPicPr>
            <a:picLocks noChangeAspect="1"/>
          </p:cNvPicPr>
          <p:nvPr/>
        </p:nvPicPr>
        <p:blipFill>
          <a:blip r:embed="rId7"/>
          <a:stretch>
            <a:fillRect/>
          </a:stretch>
        </p:blipFill>
        <p:spPr>
          <a:xfrm>
            <a:off x="740664" y="5559552"/>
            <a:ext cx="329184" cy="329184"/>
          </a:xfrm>
          <a:prstGeom prst="rect">
            <a:avLst/>
          </a:prstGeom>
        </p:spPr>
      </p:pic>
      <p:sp>
        <p:nvSpPr>
          <p:cNvPr id="40" name="TextBox 39"/>
          <p:cNvSpPr txBox="1"/>
          <p:nvPr/>
        </p:nvSpPr>
        <p:spPr>
          <a:xfrm>
            <a:off x="1243584" y="5440680"/>
            <a:ext cx="10250424" cy="566928"/>
          </a:xfrm>
          <a:prstGeom prst="rect">
            <a:avLst/>
          </a:prstGeom>
          <a:noFill/>
        </p:spPr>
        <p:txBody>
          <a:bodyPr wrap="square" lIns="0" rIns="0" tIns="0" bIns="0" anchor="ctr">
            <a:spAutoFit/>
          </a:bodyPr>
          <a:lstStyle/>
          <a:p>
            <a:pPr algn="l"/>
            <a:r>
              <a:rPr sz="1600" b="1" i="0">
                <a:solidFill>
                  <a:schemeClr val="bg1"/>
                </a:solidFill>
              </a:rPr>
              <a:t>Every connection is more data the agent can reach. </a:t>
            </a:r>
            <a:r>
              <a:rPr sz="1600" b="0" i="0">
                <a:solidFill>
                  <a:schemeClr val="bg1"/>
                </a:solidFill>
              </a:rPr>
              <a:t>Connect only what you need, from sources you trust.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Connect Claude to R: mcptools</a:t>
            </a:r>
          </a:p>
        </p:txBody>
      </p:sp>
      <p:sp>
        <p:nvSpPr>
          <p:cNvPr id="3" name="Text Placeholder 2"/>
          <p:cNvSpPr>
            <a:spLocks noGrp="1"/>
          </p:cNvSpPr>
          <p:nvPr>
            <p:ph type="body" idx="12" sz="quarter"/>
          </p:nvPr>
        </p:nvSpPr>
        <p:spPr/>
        <p:txBody>
          <a:bodyPr/>
          <a:lstStyle/>
          <a:p>
            <a:r>
              <a:t>Optional: lets Claude see the R session you have open right now</a:t>
            </a:r>
          </a:p>
        </p:txBody>
      </p:sp>
      <p:sp>
        <p:nvSpPr>
          <p:cNvPr id="4" name="Text Placeholder 3"/>
          <p:cNvSpPr>
            <a:spLocks noGrp="1"/>
          </p:cNvSpPr>
          <p:nvPr>
            <p:ph type="body" idx="14" sz="quarter"/>
          </p:nvPr>
        </p:nvSpPr>
        <p:spPr/>
        <p:txBody>
          <a:bodyPr/>
          <a:lstStyle/>
          <a:p>
            <a:r>
              <a:t>B · Connect Claude to your tools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Oval 12"/>
          <p:cNvSpPr/>
          <p:nvPr/>
        </p:nvSpPr>
        <p:spPr>
          <a:xfrm>
            <a:off x="512064" y="1975104"/>
            <a:ext cx="475488" cy="47548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975104"/>
            <a:ext cx="475488" cy="475488"/>
          </a:xfrm>
          <a:prstGeom prst="rect">
            <a:avLst/>
          </a:prstGeom>
          <a:noFill/>
        </p:spPr>
        <p:txBody>
          <a:bodyPr wrap="square" lIns="0" rIns="0" tIns="0" bIns="0" anchor="ctr">
            <a:spAutoFit/>
          </a:bodyPr>
          <a:lstStyle/>
          <a:p>
            <a:pPr algn="ctr"/>
            <a:r>
              <a:rPr sz="1800" b="1" i="0">
                <a:solidFill>
                  <a:schemeClr val="bg1"/>
                </a:solidFill>
              </a:rPr>
              <a:t>1</a:t>
            </a:r>
          </a:p>
        </p:txBody>
      </p:sp>
      <p:sp>
        <p:nvSpPr>
          <p:cNvPr id="15" name="TextBox 14"/>
          <p:cNvSpPr txBox="1"/>
          <p:nvPr/>
        </p:nvSpPr>
        <p:spPr>
          <a:xfrm>
            <a:off x="1152144" y="1920240"/>
            <a:ext cx="2926080" cy="585216"/>
          </a:xfrm>
          <a:prstGeom prst="rect">
            <a:avLst/>
          </a:prstGeom>
          <a:noFill/>
        </p:spPr>
        <p:txBody>
          <a:bodyPr wrap="square" lIns="0" rIns="0" tIns="0" bIns="0" anchor="ctr">
            <a:spAutoFit/>
          </a:bodyPr>
          <a:lstStyle/>
          <a:p>
            <a:pPr algn="l"/>
            <a:r>
              <a:rPr sz="1500" b="1" i="0">
                <a:solidFill>
                  <a:schemeClr val="tx1"/>
                </a:solidFill>
              </a:rPr>
              <a:t>In R</a:t>
            </a:r>
          </a:p>
        </p:txBody>
      </p:sp>
      <p:sp>
        <p:nvSpPr>
          <p:cNvPr id="16" name="Rounded Rectangle 15"/>
          <p:cNvSpPr/>
          <p:nvPr/>
        </p:nvSpPr>
        <p:spPr>
          <a:xfrm>
            <a:off x="3657600" y="1920240"/>
            <a:ext cx="8019288" cy="585216"/>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822191" y="1920240"/>
            <a:ext cx="7772400" cy="585216"/>
          </a:xfrm>
          <a:prstGeom prst="rect">
            <a:avLst/>
          </a:prstGeom>
          <a:noFill/>
        </p:spPr>
        <p:txBody>
          <a:bodyPr wrap="square" lIns="0" rIns="0" tIns="0" bIns="0" anchor="ctr">
            <a:spAutoFit/>
          </a:bodyPr>
          <a:lstStyle/>
          <a:p>
            <a:pPr algn="l"/>
            <a:r>
              <a:rPr sz="1400" b="0" i="0">
                <a:solidFill>
                  <a:srgbClr val="FFFFFF"/>
                </a:solidFill>
                <a:latin typeface="Courier New"/>
              </a:rPr>
              <a:t>install.packages("mcptools")</a:t>
            </a:r>
          </a:p>
        </p:txBody>
      </p:sp>
      <p:sp>
        <p:nvSpPr>
          <p:cNvPr id="18" name="Oval 17"/>
          <p:cNvSpPr/>
          <p:nvPr/>
        </p:nvSpPr>
        <p:spPr>
          <a:xfrm>
            <a:off x="512064" y="2724912"/>
            <a:ext cx="475488" cy="47548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2064" y="2724912"/>
            <a:ext cx="475488" cy="475488"/>
          </a:xfrm>
          <a:prstGeom prst="rect">
            <a:avLst/>
          </a:prstGeom>
          <a:noFill/>
        </p:spPr>
        <p:txBody>
          <a:bodyPr wrap="square" lIns="0" rIns="0" tIns="0" bIns="0" anchor="ctr">
            <a:spAutoFit/>
          </a:bodyPr>
          <a:lstStyle/>
          <a:p>
            <a:pPr algn="ctr"/>
            <a:r>
              <a:rPr sz="1800" b="1" i="0">
                <a:solidFill>
                  <a:schemeClr val="bg1"/>
                </a:solidFill>
              </a:rPr>
              <a:t>2</a:t>
            </a:r>
          </a:p>
        </p:txBody>
      </p:sp>
      <p:sp>
        <p:nvSpPr>
          <p:cNvPr id="20" name="TextBox 19"/>
          <p:cNvSpPr txBox="1"/>
          <p:nvPr/>
        </p:nvSpPr>
        <p:spPr>
          <a:xfrm>
            <a:off x="1152144" y="2670048"/>
            <a:ext cx="2926080" cy="585216"/>
          </a:xfrm>
          <a:prstGeom prst="rect">
            <a:avLst/>
          </a:prstGeom>
          <a:noFill/>
        </p:spPr>
        <p:txBody>
          <a:bodyPr wrap="square" lIns="0" rIns="0" tIns="0" bIns="0" anchor="ctr">
            <a:spAutoFit/>
          </a:bodyPr>
          <a:lstStyle/>
          <a:p>
            <a:pPr algn="l"/>
            <a:r>
              <a:rPr sz="1500" b="1" i="0">
                <a:solidFill>
                  <a:schemeClr val="tx1"/>
                </a:solidFill>
              </a:rPr>
              <a:t>In the terminal (once)</a:t>
            </a:r>
          </a:p>
        </p:txBody>
      </p:sp>
      <p:sp>
        <p:nvSpPr>
          <p:cNvPr id="21" name="Rounded Rectangle 20"/>
          <p:cNvSpPr/>
          <p:nvPr/>
        </p:nvSpPr>
        <p:spPr>
          <a:xfrm>
            <a:off x="3657600" y="2670048"/>
            <a:ext cx="8019288" cy="585216"/>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3822191" y="2670048"/>
            <a:ext cx="7772400" cy="585216"/>
          </a:xfrm>
          <a:prstGeom prst="rect">
            <a:avLst/>
          </a:prstGeom>
          <a:noFill/>
        </p:spPr>
        <p:txBody>
          <a:bodyPr wrap="square" lIns="0" rIns="0" tIns="0" bIns="0" anchor="ctr">
            <a:spAutoFit/>
          </a:bodyPr>
          <a:lstStyle/>
          <a:p>
            <a:pPr algn="l"/>
            <a:r>
              <a:rPr sz="1400" b="0" i="0">
                <a:solidFill>
                  <a:srgbClr val="FFFFFF"/>
                </a:solidFill>
                <a:latin typeface="Courier New"/>
              </a:rPr>
              <a:t>claude mcp add -s user r-mcptools -- Rscript -e "mcptools::mcp_server()"</a:t>
            </a:r>
          </a:p>
        </p:txBody>
      </p:sp>
      <p:sp>
        <p:nvSpPr>
          <p:cNvPr id="23" name="Oval 22"/>
          <p:cNvSpPr/>
          <p:nvPr/>
        </p:nvSpPr>
        <p:spPr>
          <a:xfrm>
            <a:off x="512064" y="3474720"/>
            <a:ext cx="475488" cy="47548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12064" y="3474720"/>
            <a:ext cx="475488" cy="475488"/>
          </a:xfrm>
          <a:prstGeom prst="rect">
            <a:avLst/>
          </a:prstGeom>
          <a:noFill/>
        </p:spPr>
        <p:txBody>
          <a:bodyPr wrap="square" lIns="0" rIns="0" tIns="0" bIns="0" anchor="ctr">
            <a:spAutoFit/>
          </a:bodyPr>
          <a:lstStyle/>
          <a:p>
            <a:pPr algn="ctr"/>
            <a:r>
              <a:rPr sz="1800" b="1" i="0">
                <a:solidFill>
                  <a:schemeClr val="bg1"/>
                </a:solidFill>
              </a:rPr>
              <a:t>3</a:t>
            </a:r>
          </a:p>
        </p:txBody>
      </p:sp>
      <p:sp>
        <p:nvSpPr>
          <p:cNvPr id="25" name="TextBox 24"/>
          <p:cNvSpPr txBox="1"/>
          <p:nvPr/>
        </p:nvSpPr>
        <p:spPr>
          <a:xfrm>
            <a:off x="1152144" y="3419856"/>
            <a:ext cx="2926080" cy="585216"/>
          </a:xfrm>
          <a:prstGeom prst="rect">
            <a:avLst/>
          </a:prstGeom>
          <a:noFill/>
        </p:spPr>
        <p:txBody>
          <a:bodyPr wrap="square" lIns="0" rIns="0" tIns="0" bIns="0" anchor="ctr">
            <a:spAutoFit/>
          </a:bodyPr>
          <a:lstStyle/>
          <a:p>
            <a:pPr algn="l"/>
            <a:r>
              <a:rPr sz="1500" b="1" i="0">
                <a:solidFill>
                  <a:schemeClr val="tx1"/>
                </a:solidFill>
              </a:rPr>
              <a:t>In RStudio (live session)</a:t>
            </a:r>
          </a:p>
        </p:txBody>
      </p:sp>
      <p:sp>
        <p:nvSpPr>
          <p:cNvPr id="26" name="Rounded Rectangle 25"/>
          <p:cNvSpPr/>
          <p:nvPr/>
        </p:nvSpPr>
        <p:spPr>
          <a:xfrm>
            <a:off x="3657600" y="3419856"/>
            <a:ext cx="8019288" cy="585216"/>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3822191" y="3419856"/>
            <a:ext cx="7772400" cy="585216"/>
          </a:xfrm>
          <a:prstGeom prst="rect">
            <a:avLst/>
          </a:prstGeom>
          <a:noFill/>
        </p:spPr>
        <p:txBody>
          <a:bodyPr wrap="square" lIns="0" rIns="0" tIns="0" bIns="0" anchor="ctr">
            <a:spAutoFit/>
          </a:bodyPr>
          <a:lstStyle/>
          <a:p>
            <a:pPr algn="l"/>
            <a:r>
              <a:rPr sz="1400" b="0" i="0">
                <a:solidFill>
                  <a:srgbClr val="FFFFFF"/>
                </a:solidFill>
                <a:latin typeface="Courier New"/>
              </a:rPr>
              <a:t>mcptools::mcp_session()</a:t>
            </a:r>
          </a:p>
        </p:txBody>
      </p:sp>
      <p:sp>
        <p:nvSpPr>
          <p:cNvPr id="28" name="Oval 27"/>
          <p:cNvSpPr/>
          <p:nvPr/>
        </p:nvSpPr>
        <p:spPr>
          <a:xfrm>
            <a:off x="512064" y="4224528"/>
            <a:ext cx="475488" cy="475488"/>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512064" y="4224528"/>
            <a:ext cx="475488" cy="475488"/>
          </a:xfrm>
          <a:prstGeom prst="rect">
            <a:avLst/>
          </a:prstGeom>
          <a:noFill/>
        </p:spPr>
        <p:txBody>
          <a:bodyPr wrap="square" lIns="0" rIns="0" tIns="0" bIns="0" anchor="ctr">
            <a:spAutoFit/>
          </a:bodyPr>
          <a:lstStyle/>
          <a:p>
            <a:pPr algn="ctr"/>
            <a:r>
              <a:rPr sz="1800" b="1" i="0">
                <a:solidFill>
                  <a:schemeClr val="bg1"/>
                </a:solidFill>
              </a:rPr>
              <a:t>4</a:t>
            </a:r>
          </a:p>
        </p:txBody>
      </p:sp>
      <p:sp>
        <p:nvSpPr>
          <p:cNvPr id="30" name="TextBox 29"/>
          <p:cNvSpPr txBox="1"/>
          <p:nvPr/>
        </p:nvSpPr>
        <p:spPr>
          <a:xfrm>
            <a:off x="1152144" y="4169664"/>
            <a:ext cx="2926080" cy="585216"/>
          </a:xfrm>
          <a:prstGeom prst="rect">
            <a:avLst/>
          </a:prstGeom>
          <a:noFill/>
        </p:spPr>
        <p:txBody>
          <a:bodyPr wrap="square" lIns="0" rIns="0" tIns="0" bIns="0" anchor="ctr">
            <a:spAutoFit/>
          </a:bodyPr>
          <a:lstStyle/>
          <a:p>
            <a:pPr algn="l"/>
            <a:r>
              <a:rPr sz="1500" b="1" i="0">
                <a:solidFill>
                  <a:schemeClr val="tx1"/>
                </a:solidFill>
              </a:rPr>
              <a:t>In Claude: check it</a:t>
            </a:r>
          </a:p>
        </p:txBody>
      </p:sp>
      <p:sp>
        <p:nvSpPr>
          <p:cNvPr id="31" name="Rounded Rectangle 30"/>
          <p:cNvSpPr/>
          <p:nvPr/>
        </p:nvSpPr>
        <p:spPr>
          <a:xfrm>
            <a:off x="3657600" y="4169664"/>
            <a:ext cx="8019288" cy="585216"/>
          </a:xfrm>
          <a:prstGeom prst="roundRect">
            <a:avLst>
              <a:gd name="adj" fmla="val 8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822191" y="4169664"/>
            <a:ext cx="7772400" cy="585216"/>
          </a:xfrm>
          <a:prstGeom prst="rect">
            <a:avLst/>
          </a:prstGeom>
          <a:noFill/>
        </p:spPr>
        <p:txBody>
          <a:bodyPr wrap="square" lIns="0" rIns="0" tIns="0" bIns="0" anchor="ctr">
            <a:spAutoFit/>
          </a:bodyPr>
          <a:lstStyle/>
          <a:p>
            <a:pPr algn="l"/>
            <a:r>
              <a:rPr sz="1400" b="0" i="0">
                <a:solidFill>
                  <a:srgbClr val="FFFFFF"/>
                </a:solidFill>
                <a:latin typeface="Courier New"/>
              </a:rPr>
              <a:t>/mcp   → r-mcptools ✔ connected</a:t>
            </a:r>
          </a:p>
        </p:txBody>
      </p:sp>
      <p:sp>
        <p:nvSpPr>
          <p:cNvPr id="33" name="Rounded Rectangle 32"/>
          <p:cNvSpPr/>
          <p:nvPr/>
        </p:nvSpPr>
        <p:spPr>
          <a:xfrm>
            <a:off x="512064" y="5029200"/>
            <a:ext cx="11164824" cy="73152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6384" y="5029200"/>
            <a:ext cx="3291840" cy="731520"/>
          </a:xfrm>
          <a:prstGeom prst="rect">
            <a:avLst/>
          </a:prstGeom>
          <a:noFill/>
        </p:spPr>
        <p:txBody>
          <a:bodyPr wrap="square" lIns="0" rIns="0" tIns="0" bIns="0" anchor="ctr">
            <a:spAutoFit/>
          </a:bodyPr>
          <a:lstStyle/>
          <a:p>
            <a:pPr algn="l"/>
            <a:r>
              <a:rPr sz="1500" b="1" i="0">
                <a:solidFill>
                  <a:schemeClr val="tx1"/>
                </a:solidFill>
              </a:rPr>
              <a:t>Make step 3 permanent (.Rprofile):</a:t>
            </a:r>
          </a:p>
        </p:txBody>
      </p:sp>
      <p:sp>
        <p:nvSpPr>
          <p:cNvPr id="35" name="TextBox 34"/>
          <p:cNvSpPr txBox="1"/>
          <p:nvPr/>
        </p:nvSpPr>
        <p:spPr>
          <a:xfrm>
            <a:off x="3822191" y="5029200"/>
            <a:ext cx="7680960" cy="731520"/>
          </a:xfrm>
          <a:prstGeom prst="rect">
            <a:avLst/>
          </a:prstGeom>
          <a:noFill/>
        </p:spPr>
        <p:txBody>
          <a:bodyPr wrap="square" lIns="0" rIns="0" tIns="0" bIns="0" anchor="ctr">
            <a:spAutoFit/>
          </a:bodyPr>
          <a:lstStyle/>
          <a:p>
            <a:pPr algn="l"/>
            <a:r>
              <a:rPr sz="1500" b="1" i="0">
                <a:solidFill>
                  <a:schemeClr val="tx2"/>
                </a:solidFill>
                <a:latin typeface="Courier New"/>
              </a:rPr>
              <a:t>if (interactive()) mcptools::mcp_session()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Or work in VS Code</a:t>
            </a:r>
          </a:p>
        </p:txBody>
      </p:sp>
      <p:sp>
        <p:nvSpPr>
          <p:cNvPr id="3" name="Text Placeholder 2"/>
          <p:cNvSpPr>
            <a:spLocks noGrp="1"/>
          </p:cNvSpPr>
          <p:nvPr>
            <p:ph type="body" idx="12" sz="quarter"/>
          </p:nvPr>
        </p:nvSpPr>
        <p:spPr/>
        <p:txBody>
          <a:bodyPr/>
          <a:lstStyle/>
          <a:p>
            <a:r>
              <a:t>Same agent, same CLAUDE.md, different window</a:t>
            </a:r>
          </a:p>
        </p:txBody>
      </p:sp>
      <p:sp>
        <p:nvSpPr>
          <p:cNvPr id="4" name="Text Placeholder 3"/>
          <p:cNvSpPr>
            <a:spLocks noGrp="1"/>
          </p:cNvSpPr>
          <p:nvPr>
            <p:ph type="body" idx="14" sz="quarter"/>
          </p:nvPr>
        </p:nvSpPr>
        <p:spPr/>
        <p:txBody>
          <a:bodyPr/>
          <a:lstStyle/>
          <a:p>
            <a:r>
              <a:t>B · Connect Claude to your tools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4754880" cy="329184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PuzzlePiece_circle"/>
          <p:cNvSpPr/>
          <p:nvPr/>
        </p:nvSpPr>
        <p:spPr>
          <a:xfrm>
            <a:off x="832104" y="2240280"/>
            <a:ext cx="731520" cy="73152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PuzzlePiece_red.png"/>
          <p:cNvPicPr>
            <a:picLocks noChangeAspect="1"/>
          </p:cNvPicPr>
          <p:nvPr/>
        </p:nvPicPr>
        <p:blipFill>
          <a:blip r:embed="rId3"/>
          <a:stretch>
            <a:fillRect/>
          </a:stretch>
        </p:blipFill>
        <p:spPr>
          <a:xfrm>
            <a:off x="1014984" y="2423160"/>
            <a:ext cx="365760" cy="365760"/>
          </a:xfrm>
          <a:prstGeom prst="rect">
            <a:avLst/>
          </a:prstGeom>
        </p:spPr>
      </p:pic>
      <p:sp>
        <p:nvSpPr>
          <p:cNvPr id="16" name="TextBox 15"/>
          <p:cNvSpPr txBox="1"/>
          <p:nvPr/>
        </p:nvSpPr>
        <p:spPr>
          <a:xfrm>
            <a:off x="832104" y="3154680"/>
            <a:ext cx="4114800" cy="457200"/>
          </a:xfrm>
          <a:prstGeom prst="rect">
            <a:avLst/>
          </a:prstGeom>
          <a:noFill/>
        </p:spPr>
        <p:txBody>
          <a:bodyPr wrap="square" lIns="0" rIns="0" tIns="0" bIns="0" anchor="t">
            <a:spAutoFit/>
          </a:bodyPr>
          <a:lstStyle/>
          <a:p>
            <a:pPr algn="l"/>
            <a:r>
              <a:rPr sz="2200" b="1" i="0">
                <a:solidFill>
                  <a:schemeClr val="bg1"/>
                </a:solidFill>
              </a:rPr>
              <a:t>“Claude Code” by Anthropic</a:t>
            </a:r>
          </a:p>
        </p:txBody>
      </p:sp>
      <p:sp>
        <p:nvSpPr>
          <p:cNvPr id="17" name="TextBox 16"/>
          <p:cNvSpPr txBox="1"/>
          <p:nvPr/>
        </p:nvSpPr>
        <p:spPr>
          <a:xfrm>
            <a:off x="832104" y="3703320"/>
            <a:ext cx="4114800" cy="365760"/>
          </a:xfrm>
          <a:prstGeom prst="rect">
            <a:avLst/>
          </a:prstGeom>
          <a:noFill/>
        </p:spPr>
        <p:txBody>
          <a:bodyPr wrap="square" lIns="0" rIns="0" tIns="0" bIns="0" anchor="t">
            <a:spAutoFit/>
          </a:bodyPr>
          <a:lstStyle/>
          <a:p>
            <a:pPr algn="l"/>
            <a:r>
              <a:rPr sz="1500" b="0" i="0">
                <a:solidFill>
                  <a:schemeClr val="bg1"/>
                </a:solidFill>
                <a:latin typeface="Courier New"/>
              </a:rPr>
              <a:t>anthropic.claude-code</a:t>
            </a:r>
          </a:p>
        </p:txBody>
      </p:sp>
      <p:sp>
        <p:nvSpPr>
          <p:cNvPr id="18" name="TextBox 17"/>
          <p:cNvSpPr txBox="1"/>
          <p:nvPr/>
        </p:nvSpPr>
        <p:spPr>
          <a:xfrm>
            <a:off x="832104" y="4206240"/>
            <a:ext cx="4114800" cy="731520"/>
          </a:xfrm>
          <a:prstGeom prst="rect">
            <a:avLst/>
          </a:prstGeom>
          <a:noFill/>
        </p:spPr>
        <p:txBody>
          <a:bodyPr wrap="square" lIns="0" rIns="0" tIns="0" bIns="0" anchor="t">
            <a:spAutoFit/>
          </a:bodyPr>
          <a:lstStyle/>
          <a:p>
            <a:pPr algn="l"/>
            <a:r>
              <a:rPr sz="1600" b="0" i="0">
                <a:solidFill>
                  <a:schemeClr val="bg1"/>
                </a:solidFill>
              </a:rPr>
              <a:t>VS Code 1.94 or later. Check that the publisher is Anthropic.</a:t>
            </a:r>
          </a:p>
        </p:txBody>
      </p:sp>
      <p:sp>
        <p:nvSpPr>
          <p:cNvPr id="19" name="Rounded Rectangle 18"/>
          <p:cNvSpPr/>
          <p:nvPr/>
        </p:nvSpPr>
        <p:spPr>
          <a:xfrm>
            <a:off x="5715000" y="1920240"/>
            <a:ext cx="5961888" cy="9144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con_FaKey_circle"/>
          <p:cNvSpPr/>
          <p:nvPr/>
        </p:nvSpPr>
        <p:spPr>
          <a:xfrm>
            <a:off x="5879592" y="214884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Key_white.png"/>
          <p:cNvPicPr>
            <a:picLocks noChangeAspect="1"/>
          </p:cNvPicPr>
          <p:nvPr/>
        </p:nvPicPr>
        <p:blipFill>
          <a:blip r:embed="rId4"/>
          <a:stretch>
            <a:fillRect/>
          </a:stretch>
        </p:blipFill>
        <p:spPr>
          <a:xfrm>
            <a:off x="5993892" y="2263140"/>
            <a:ext cx="228600" cy="228600"/>
          </a:xfrm>
          <a:prstGeom prst="rect">
            <a:avLst/>
          </a:prstGeom>
        </p:spPr>
      </p:pic>
      <p:sp>
        <p:nvSpPr>
          <p:cNvPr id="22" name="TextBox 21"/>
          <p:cNvSpPr txBox="1"/>
          <p:nvPr/>
        </p:nvSpPr>
        <p:spPr>
          <a:xfrm>
            <a:off x="6473952" y="1920240"/>
            <a:ext cx="5093207" cy="914400"/>
          </a:xfrm>
          <a:prstGeom prst="rect">
            <a:avLst/>
          </a:prstGeom>
          <a:noFill/>
        </p:spPr>
        <p:txBody>
          <a:bodyPr wrap="square" lIns="0" rIns="0" tIns="0" bIns="0" anchor="ctr">
            <a:spAutoFit/>
          </a:bodyPr>
          <a:lstStyle/>
          <a:p>
            <a:pPr algn="l"/>
            <a:r>
              <a:rPr sz="1600" b="0" i="0">
                <a:solidFill>
                  <a:schemeClr val="tx1"/>
                </a:solidFill>
              </a:rPr>
              <a:t>Signs in with your Claude account. No API key</a:t>
            </a:r>
          </a:p>
        </p:txBody>
      </p:sp>
      <p:sp>
        <p:nvSpPr>
          <p:cNvPr id="23" name="Rounded Rectangle 22"/>
          <p:cNvSpPr/>
          <p:nvPr/>
        </p:nvSpPr>
        <p:spPr>
          <a:xfrm>
            <a:off x="5715000" y="3035808"/>
            <a:ext cx="5961888" cy="9144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con_FaCodeCompare_circle"/>
          <p:cNvSpPr/>
          <p:nvPr/>
        </p:nvSpPr>
        <p:spPr>
          <a:xfrm>
            <a:off x="5879592" y="3264408"/>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CodeCompare_white.png"/>
          <p:cNvPicPr>
            <a:picLocks noChangeAspect="1"/>
          </p:cNvPicPr>
          <p:nvPr/>
        </p:nvPicPr>
        <p:blipFill>
          <a:blip r:embed="rId5"/>
          <a:stretch>
            <a:fillRect/>
          </a:stretch>
        </p:blipFill>
        <p:spPr>
          <a:xfrm>
            <a:off x="5993892" y="3378708"/>
            <a:ext cx="228600" cy="228600"/>
          </a:xfrm>
          <a:prstGeom prst="rect">
            <a:avLst/>
          </a:prstGeom>
        </p:spPr>
      </p:pic>
      <p:sp>
        <p:nvSpPr>
          <p:cNvPr id="26" name="TextBox 25"/>
          <p:cNvSpPr txBox="1"/>
          <p:nvPr/>
        </p:nvSpPr>
        <p:spPr>
          <a:xfrm>
            <a:off x="6473952" y="3035808"/>
            <a:ext cx="5093207" cy="914400"/>
          </a:xfrm>
          <a:prstGeom prst="rect">
            <a:avLst/>
          </a:prstGeom>
          <a:noFill/>
        </p:spPr>
        <p:txBody>
          <a:bodyPr wrap="square" lIns="0" rIns="0" tIns="0" bIns="0" anchor="ctr">
            <a:spAutoFit/>
          </a:bodyPr>
          <a:lstStyle/>
          <a:p>
            <a:pPr algn="l"/>
            <a:r>
              <a:rPr sz="1600" b="0" i="0">
                <a:solidFill>
                  <a:schemeClr val="tx1"/>
                </a:solidFill>
              </a:rPr>
              <a:t>Side-by-side diffs: approve each edit; checkpoints to rewind</a:t>
            </a:r>
          </a:p>
        </p:txBody>
      </p:sp>
      <p:sp>
        <p:nvSpPr>
          <p:cNvPr id="27" name="Rounded Rectangle 26"/>
          <p:cNvSpPr/>
          <p:nvPr/>
        </p:nvSpPr>
        <p:spPr>
          <a:xfrm>
            <a:off x="5715000" y="4151376"/>
            <a:ext cx="5961888" cy="9144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Keyboard_circle"/>
          <p:cNvSpPr/>
          <p:nvPr/>
        </p:nvSpPr>
        <p:spPr>
          <a:xfrm>
            <a:off x="5879592" y="4379976"/>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Keyboard_white.png"/>
          <p:cNvPicPr>
            <a:picLocks noChangeAspect="1"/>
          </p:cNvPicPr>
          <p:nvPr/>
        </p:nvPicPr>
        <p:blipFill>
          <a:blip r:embed="rId6"/>
          <a:stretch>
            <a:fillRect/>
          </a:stretch>
        </p:blipFill>
        <p:spPr>
          <a:xfrm>
            <a:off x="5993892" y="4494276"/>
            <a:ext cx="228600" cy="228600"/>
          </a:xfrm>
          <a:prstGeom prst="rect">
            <a:avLst/>
          </a:prstGeom>
        </p:spPr>
      </p:pic>
      <p:sp>
        <p:nvSpPr>
          <p:cNvPr id="30" name="TextBox 29"/>
          <p:cNvSpPr txBox="1"/>
          <p:nvPr/>
        </p:nvSpPr>
        <p:spPr>
          <a:xfrm>
            <a:off x="6473952" y="4151376"/>
            <a:ext cx="5093207" cy="914400"/>
          </a:xfrm>
          <a:prstGeom prst="rect">
            <a:avLst/>
          </a:prstGeom>
          <a:noFill/>
        </p:spPr>
        <p:txBody>
          <a:bodyPr wrap="square" lIns="0" rIns="0" tIns="0" bIns="0" anchor="ctr">
            <a:spAutoFit/>
          </a:bodyPr>
          <a:lstStyle/>
          <a:p>
            <a:pPr algn="l"/>
            <a:r>
              <a:rPr sz="1600" b="0" i="0">
                <a:solidFill>
                  <a:schemeClr val="tx1"/>
                </a:solidFill>
              </a:rPr>
              <a:t>@-mention a selection: Option+K (Mac) / Alt+K (Windows)</a:t>
            </a:r>
          </a:p>
        </p:txBody>
      </p:sp>
      <p:pic>
        <p:nvPicPr>
          <p:cNvPr id="31" name="Picture 30" descr="FaTriangleExclamation_red.png"/>
          <p:cNvPicPr>
            <a:picLocks noChangeAspect="1"/>
          </p:cNvPicPr>
          <p:nvPr/>
        </p:nvPicPr>
        <p:blipFill>
          <a:blip r:embed="rId7"/>
          <a:stretch>
            <a:fillRect/>
          </a:stretch>
        </p:blipFill>
        <p:spPr>
          <a:xfrm>
            <a:off x="512064" y="5440680"/>
            <a:ext cx="329184" cy="329184"/>
          </a:xfrm>
          <a:prstGeom prst="rect">
            <a:avLst/>
          </a:prstGeom>
        </p:spPr>
      </p:pic>
      <p:sp>
        <p:nvSpPr>
          <p:cNvPr id="32" name="TextBox 31"/>
          <p:cNvSpPr txBox="1"/>
          <p:nvPr/>
        </p:nvSpPr>
        <p:spPr>
          <a:xfrm>
            <a:off x="1014984" y="5376672"/>
            <a:ext cx="10607040" cy="457200"/>
          </a:xfrm>
          <a:prstGeom prst="rect">
            <a:avLst/>
          </a:prstGeom>
          <a:noFill/>
        </p:spPr>
        <p:txBody>
          <a:bodyPr wrap="square" lIns="0" rIns="0" tIns="0" bIns="0" anchor="ctr">
            <a:spAutoFit/>
          </a:bodyPr>
          <a:lstStyle/>
          <a:p>
            <a:pPr algn="l"/>
            <a:r>
              <a:rPr sz="1600" b="0" i="0">
                <a:solidFill>
                  <a:schemeClr val="tx1"/>
                </a:solidFill>
              </a:rPr>
              <a:t>The extension doesn't add claude to your terminal. Keep the CLI install too.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tool stack that helps</a:t>
            </a:r>
          </a:p>
        </p:txBody>
      </p:sp>
      <p:sp>
        <p:nvSpPr>
          <p:cNvPr id="3" name="Text Placeholder 2"/>
          <p:cNvSpPr>
            <a:spLocks noGrp="1"/>
          </p:cNvSpPr>
          <p:nvPr>
            <p:ph type="body" idx="12" sz="quarter"/>
          </p:nvPr>
        </p:nvSpPr>
        <p:spPr/>
        <p:txBody>
          <a:bodyPr/>
          <a:lstStyle/>
          <a:p>
            <a:r>
              <a:t>All optional. Everything today works in the built-in terminal and RStudio</a:t>
            </a:r>
          </a:p>
        </p:txBody>
      </p:sp>
      <p:sp>
        <p:nvSpPr>
          <p:cNvPr id="4" name="Text Placeholder 3"/>
          <p:cNvSpPr>
            <a:spLocks noGrp="1"/>
          </p:cNvSpPr>
          <p:nvPr>
            <p:ph type="body" idx="14" sz="quarter"/>
          </p:nvPr>
        </p:nvSpPr>
        <p:spPr/>
        <p:txBody>
          <a:bodyPr/>
          <a:lstStyle/>
          <a:p>
            <a:r>
              <a:t>B · Connect Claude to your tools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3538728"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Terminal_circle"/>
          <p:cNvSpPr/>
          <p:nvPr/>
        </p:nvSpPr>
        <p:spPr>
          <a:xfrm>
            <a:off x="786384"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Terminal_white.png"/>
          <p:cNvPicPr>
            <a:picLocks noChangeAspect="1"/>
          </p:cNvPicPr>
          <p:nvPr/>
        </p:nvPicPr>
        <p:blipFill>
          <a:blip r:embed="rId3"/>
          <a:stretch>
            <a:fillRect/>
          </a:stretch>
        </p:blipFill>
        <p:spPr>
          <a:xfrm>
            <a:off x="946404" y="2354579"/>
            <a:ext cx="320040" cy="320040"/>
          </a:xfrm>
          <a:prstGeom prst="rect">
            <a:avLst/>
          </a:prstGeom>
        </p:spPr>
      </p:pic>
      <p:sp>
        <p:nvSpPr>
          <p:cNvPr id="16" name="TextBox 15"/>
          <p:cNvSpPr txBox="1"/>
          <p:nvPr/>
        </p:nvSpPr>
        <p:spPr>
          <a:xfrm>
            <a:off x="1563624" y="2194560"/>
            <a:ext cx="2258568" cy="640080"/>
          </a:xfrm>
          <a:prstGeom prst="rect">
            <a:avLst/>
          </a:prstGeom>
          <a:noFill/>
        </p:spPr>
        <p:txBody>
          <a:bodyPr wrap="square" lIns="0" rIns="0" tIns="0" bIns="0" anchor="ctr">
            <a:spAutoFit/>
          </a:bodyPr>
          <a:lstStyle/>
          <a:p>
            <a:pPr algn="l"/>
            <a:r>
              <a:rPr sz="2400" b="1" i="0">
                <a:solidFill>
                  <a:schemeClr val="tx1"/>
                </a:solidFill>
              </a:rPr>
              <a:t>Warp</a:t>
            </a:r>
          </a:p>
        </p:txBody>
      </p:sp>
      <p:sp>
        <p:nvSpPr>
          <p:cNvPr id="17" name="TextBox 16"/>
          <p:cNvSpPr txBox="1"/>
          <p:nvPr/>
        </p:nvSpPr>
        <p:spPr>
          <a:xfrm>
            <a:off x="786384" y="3017520"/>
            <a:ext cx="2990088" cy="1188720"/>
          </a:xfrm>
          <a:prstGeom prst="rect">
            <a:avLst/>
          </a:prstGeom>
          <a:noFill/>
        </p:spPr>
        <p:txBody>
          <a:bodyPr wrap="square" lIns="0" rIns="0" tIns="0" bIns="0" anchor="t">
            <a:spAutoFit/>
          </a:bodyPr>
          <a:lstStyle/>
          <a:p>
            <a:pPr algn="l"/>
            <a:r>
              <a:rPr sz="1600" b="0" i="0">
                <a:solidFill>
                  <a:schemeClr val="tx1"/>
                </a:solidFill>
              </a:rPr>
              <a:t>A friendlier terminal: tabs, selectable output blocks, easier editing at the prompt</a:t>
            </a:r>
          </a:p>
        </p:txBody>
      </p:sp>
      <p:sp>
        <p:nvSpPr>
          <p:cNvPr id="18" name="TextBox 17"/>
          <p:cNvSpPr txBox="1"/>
          <p:nvPr/>
        </p:nvSpPr>
        <p:spPr>
          <a:xfrm>
            <a:off x="786384" y="4251960"/>
            <a:ext cx="2990088" cy="365760"/>
          </a:xfrm>
          <a:prstGeom prst="rect">
            <a:avLst/>
          </a:prstGeom>
          <a:noFill/>
        </p:spPr>
        <p:txBody>
          <a:bodyPr wrap="square" lIns="0" rIns="0" tIns="0" bIns="0" anchor="t">
            <a:spAutoFit/>
          </a:bodyPr>
          <a:lstStyle/>
          <a:p>
            <a:pPr algn="l"/>
            <a:r>
              <a:rPr sz="1500" b="1" i="0">
                <a:solidFill>
                  <a:schemeClr val="tx2"/>
                </a:solidFill>
              </a:rPr>
              <a:t>Free plan; login optional</a:t>
            </a:r>
          </a:p>
        </p:txBody>
      </p:sp>
      <p:sp>
        <p:nvSpPr>
          <p:cNvPr id="19" name="TextBox 18"/>
          <p:cNvSpPr txBox="1"/>
          <p:nvPr/>
        </p:nvSpPr>
        <p:spPr>
          <a:xfrm>
            <a:off x="786384" y="4709160"/>
            <a:ext cx="2990088" cy="914400"/>
          </a:xfrm>
          <a:prstGeom prst="rect">
            <a:avLst/>
          </a:prstGeom>
          <a:noFill/>
        </p:spPr>
        <p:txBody>
          <a:bodyPr wrap="square" lIns="0" rIns="0" tIns="0" bIns="0" anchor="t">
            <a:spAutoFit/>
          </a:bodyPr>
          <a:lstStyle/>
          <a:p>
            <a:pPr algn="l"/>
            <a:r>
              <a:rPr sz="1400" b="0" i="1">
                <a:solidFill>
                  <a:srgbClr val="5F5F5F"/>
                </a:solidFill>
              </a:rPr>
              <a:t>Has its own AI agent. Just type claude. Analytics on by default (Settings → Privacy).</a:t>
            </a:r>
          </a:p>
        </p:txBody>
      </p:sp>
      <p:sp>
        <p:nvSpPr>
          <p:cNvPr id="20" name="Rounded Rectangle 19"/>
          <p:cNvSpPr/>
          <p:nvPr/>
        </p:nvSpPr>
        <p:spPr>
          <a:xfrm>
            <a:off x="4325112" y="1920240"/>
            <a:ext cx="3538728"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con_FaMarkdown_circle"/>
          <p:cNvSpPr/>
          <p:nvPr/>
        </p:nvSpPr>
        <p:spPr>
          <a:xfrm>
            <a:off x="4599432"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2" name="Picture 21" descr="FaMarkdown_white.png"/>
          <p:cNvPicPr>
            <a:picLocks noChangeAspect="1"/>
          </p:cNvPicPr>
          <p:nvPr/>
        </p:nvPicPr>
        <p:blipFill>
          <a:blip r:embed="rId4"/>
          <a:stretch>
            <a:fillRect/>
          </a:stretch>
        </p:blipFill>
        <p:spPr>
          <a:xfrm>
            <a:off x="4759452" y="2354579"/>
            <a:ext cx="320040" cy="320040"/>
          </a:xfrm>
          <a:prstGeom prst="rect">
            <a:avLst/>
          </a:prstGeom>
        </p:spPr>
      </p:pic>
      <p:sp>
        <p:nvSpPr>
          <p:cNvPr id="23" name="TextBox 22"/>
          <p:cNvSpPr txBox="1"/>
          <p:nvPr/>
        </p:nvSpPr>
        <p:spPr>
          <a:xfrm>
            <a:off x="5376672" y="2194560"/>
            <a:ext cx="2258568" cy="640080"/>
          </a:xfrm>
          <a:prstGeom prst="rect">
            <a:avLst/>
          </a:prstGeom>
          <a:noFill/>
        </p:spPr>
        <p:txBody>
          <a:bodyPr wrap="square" lIns="0" rIns="0" tIns="0" bIns="0" anchor="ctr">
            <a:spAutoFit/>
          </a:bodyPr>
          <a:lstStyle/>
          <a:p>
            <a:pPr algn="l"/>
            <a:r>
              <a:rPr sz="2400" b="1" i="0">
                <a:solidFill>
                  <a:schemeClr val="tx1"/>
                </a:solidFill>
              </a:rPr>
              <a:t>Typora</a:t>
            </a:r>
          </a:p>
        </p:txBody>
      </p:sp>
      <p:sp>
        <p:nvSpPr>
          <p:cNvPr id="24" name="TextBox 23"/>
          <p:cNvSpPr txBox="1"/>
          <p:nvPr/>
        </p:nvSpPr>
        <p:spPr>
          <a:xfrm>
            <a:off x="4599432" y="3017520"/>
            <a:ext cx="2990088" cy="1188720"/>
          </a:xfrm>
          <a:prstGeom prst="rect">
            <a:avLst/>
          </a:prstGeom>
          <a:noFill/>
        </p:spPr>
        <p:txBody>
          <a:bodyPr wrap="square" lIns="0" rIns="0" tIns="0" bIns="0" anchor="t">
            <a:spAutoFit/>
          </a:bodyPr>
          <a:lstStyle/>
          <a:p>
            <a:pPr algn="l"/>
            <a:r>
              <a:rPr sz="1600" b="0" i="0">
                <a:solidFill>
                  <a:schemeClr val="tx1"/>
                </a:solidFill>
              </a:rPr>
              <a:t>Read and edit what Claude writes in writing/ as formatted text, one document at a time</a:t>
            </a:r>
          </a:p>
        </p:txBody>
      </p:sp>
      <p:sp>
        <p:nvSpPr>
          <p:cNvPr id="25" name="TextBox 24"/>
          <p:cNvSpPr txBox="1"/>
          <p:nvPr/>
        </p:nvSpPr>
        <p:spPr>
          <a:xfrm>
            <a:off x="4599432" y="4251960"/>
            <a:ext cx="2990088" cy="365760"/>
          </a:xfrm>
          <a:prstGeom prst="rect">
            <a:avLst/>
          </a:prstGeom>
          <a:noFill/>
        </p:spPr>
        <p:txBody>
          <a:bodyPr wrap="square" lIns="0" rIns="0" tIns="0" bIns="0" anchor="t">
            <a:spAutoFit/>
          </a:bodyPr>
          <a:lstStyle/>
          <a:p>
            <a:pPr algn="l"/>
            <a:r>
              <a:rPr sz="1500" b="1" i="0">
                <a:solidFill>
                  <a:schemeClr val="tx2"/>
                </a:solidFill>
              </a:rPr>
              <a:t>$14.99 one-time; 15-day trial</a:t>
            </a:r>
          </a:p>
        </p:txBody>
      </p:sp>
      <p:sp>
        <p:nvSpPr>
          <p:cNvPr id="26" name="TextBox 25"/>
          <p:cNvSpPr txBox="1"/>
          <p:nvPr/>
        </p:nvSpPr>
        <p:spPr>
          <a:xfrm>
            <a:off x="4599432" y="4709160"/>
            <a:ext cx="2990088" cy="914400"/>
          </a:xfrm>
          <a:prstGeom prst="rect">
            <a:avLst/>
          </a:prstGeom>
          <a:noFill/>
        </p:spPr>
        <p:txBody>
          <a:bodyPr wrap="square" lIns="0" rIns="0" tIns="0" bIns="0" anchor="t">
            <a:spAutoFit/>
          </a:bodyPr>
          <a:lstStyle/>
          <a:p>
            <a:pPr algn="l"/>
            <a:r>
              <a:rPr sz="1400" b="0" i="1">
                <a:solidFill>
                  <a:srgbClr val="5F5F5F"/>
                </a:solidFill>
              </a:rPr>
              <a:t>Like a word processor for Markdown.</a:t>
            </a:r>
          </a:p>
        </p:txBody>
      </p:sp>
      <p:sp>
        <p:nvSpPr>
          <p:cNvPr id="27" name="Rounded Rectangle 26"/>
          <p:cNvSpPr/>
          <p:nvPr/>
        </p:nvSpPr>
        <p:spPr>
          <a:xfrm>
            <a:off x="8138160" y="1920240"/>
            <a:ext cx="3538728"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NoteSticky_circle"/>
          <p:cNvSpPr/>
          <p:nvPr/>
        </p:nvSpPr>
        <p:spPr>
          <a:xfrm>
            <a:off x="8412480"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NoteSticky_white.png"/>
          <p:cNvPicPr>
            <a:picLocks noChangeAspect="1"/>
          </p:cNvPicPr>
          <p:nvPr/>
        </p:nvPicPr>
        <p:blipFill>
          <a:blip r:embed="rId5"/>
          <a:stretch>
            <a:fillRect/>
          </a:stretch>
        </p:blipFill>
        <p:spPr>
          <a:xfrm>
            <a:off x="8572500" y="2354579"/>
            <a:ext cx="320040" cy="320040"/>
          </a:xfrm>
          <a:prstGeom prst="rect">
            <a:avLst/>
          </a:prstGeom>
        </p:spPr>
      </p:pic>
      <p:sp>
        <p:nvSpPr>
          <p:cNvPr id="30" name="TextBox 29"/>
          <p:cNvSpPr txBox="1"/>
          <p:nvPr/>
        </p:nvSpPr>
        <p:spPr>
          <a:xfrm>
            <a:off x="9189720" y="2194560"/>
            <a:ext cx="2258568" cy="640080"/>
          </a:xfrm>
          <a:prstGeom prst="rect">
            <a:avLst/>
          </a:prstGeom>
          <a:noFill/>
        </p:spPr>
        <p:txBody>
          <a:bodyPr wrap="square" lIns="0" rIns="0" tIns="0" bIns="0" anchor="ctr">
            <a:spAutoFit/>
          </a:bodyPr>
          <a:lstStyle/>
          <a:p>
            <a:pPr algn="l"/>
            <a:r>
              <a:rPr sz="2400" b="1" i="0">
                <a:solidFill>
                  <a:schemeClr val="tx1"/>
                </a:solidFill>
              </a:rPr>
              <a:t>Obsidian</a:t>
            </a:r>
          </a:p>
        </p:txBody>
      </p:sp>
      <p:sp>
        <p:nvSpPr>
          <p:cNvPr id="31" name="TextBox 30"/>
          <p:cNvSpPr txBox="1"/>
          <p:nvPr/>
        </p:nvSpPr>
        <p:spPr>
          <a:xfrm>
            <a:off x="8412480" y="3017520"/>
            <a:ext cx="2990088" cy="1188720"/>
          </a:xfrm>
          <a:prstGeom prst="rect">
            <a:avLst/>
          </a:prstGeom>
          <a:noFill/>
        </p:spPr>
        <p:txBody>
          <a:bodyPr wrap="square" lIns="0" rIns="0" tIns="0" bIns="0" anchor="t">
            <a:spAutoFit/>
          </a:bodyPr>
          <a:lstStyle/>
          <a:p>
            <a:pPr algn="l"/>
            <a:r>
              <a:rPr sz="1600" b="0" i="0">
                <a:solidFill>
                  <a:schemeClr val="tx1"/>
                </a:solidFill>
              </a:rPr>
              <a:t>A vault of linked notes (e.g., your literature); can connect to Claude via MCP</a:t>
            </a:r>
          </a:p>
        </p:txBody>
      </p:sp>
      <p:sp>
        <p:nvSpPr>
          <p:cNvPr id="32" name="TextBox 31"/>
          <p:cNvSpPr txBox="1"/>
          <p:nvPr/>
        </p:nvSpPr>
        <p:spPr>
          <a:xfrm>
            <a:off x="8412480" y="4251960"/>
            <a:ext cx="2990088" cy="365760"/>
          </a:xfrm>
          <a:prstGeom prst="rect">
            <a:avLst/>
          </a:prstGeom>
          <a:noFill/>
        </p:spPr>
        <p:txBody>
          <a:bodyPr wrap="square" lIns="0" rIns="0" tIns="0" bIns="0" anchor="t">
            <a:spAutoFit/>
          </a:bodyPr>
          <a:lstStyle/>
          <a:p>
            <a:pPr algn="l"/>
            <a:r>
              <a:rPr sz="1500" b="1" i="0">
                <a:solidFill>
                  <a:schemeClr val="tx2"/>
                </a:solidFill>
              </a:rPr>
              <a:t>Free, including for work</a:t>
            </a:r>
          </a:p>
        </p:txBody>
      </p:sp>
      <p:sp>
        <p:nvSpPr>
          <p:cNvPr id="33" name="TextBox 32"/>
          <p:cNvSpPr txBox="1"/>
          <p:nvPr/>
        </p:nvSpPr>
        <p:spPr>
          <a:xfrm>
            <a:off x="8412480" y="4709160"/>
            <a:ext cx="2990088" cy="914400"/>
          </a:xfrm>
          <a:prstGeom prst="rect">
            <a:avLst/>
          </a:prstGeom>
          <a:noFill/>
        </p:spPr>
        <p:txBody>
          <a:bodyPr wrap="square" lIns="0" rIns="0" tIns="0" bIns="0" anchor="t">
            <a:spAutoFit/>
          </a:bodyPr>
          <a:lstStyle/>
          <a:p>
            <a:pPr algn="l"/>
            <a:r>
              <a:rPr sz="1400" b="0" i="1">
                <a:solidFill>
                  <a:srgbClr val="5F5F5F"/>
                </a:solidFill>
              </a:rPr>
              <a:t>Plain .md files, so there's no lock-in.</a:t>
            </a:r>
          </a:p>
        </p:txBody>
      </p:sp>
      <p:sp>
        <p:nvSpPr>
          <p:cNvPr id="34" name="source"/>
          <p:cNvSpPr txBox="1"/>
          <p:nvPr/>
        </p:nvSpPr>
        <p:spPr>
          <a:xfrm>
            <a:off x="512064" y="5833872"/>
            <a:ext cx="11164824" cy="274320"/>
          </a:xfrm>
          <a:prstGeom prst="rect">
            <a:avLst/>
          </a:prstGeom>
          <a:noFill/>
        </p:spPr>
        <p:txBody>
          <a:bodyPr wrap="square" lIns="0" rIns="0" tIns="0" bIns="0" anchor="b">
            <a:spAutoFit/>
          </a:bodyPr>
          <a:lstStyle/>
          <a:p>
            <a:pPr algn="l"/>
            <a:r>
              <a:rPr sz="1100" b="0" i="1">
                <a:solidFill>
                  <a:srgbClr val="5F5F5F"/>
                </a:solidFill>
              </a:rPr>
              <a:t>Pricing and terms checked 2026-10-12 (warp.dev/pricing · typora.io/store · obsidian.md/pricing). Install commands: setup guide §8 (macOS) / §9 (Windows).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project folder</a:t>
            </a:r>
          </a:p>
        </p:txBody>
      </p:sp>
      <p:sp>
        <p:nvSpPr>
          <p:cNvPr id="3" name="Text Placeholder 2"/>
          <p:cNvSpPr>
            <a:spLocks noGrp="1"/>
          </p:cNvSpPr>
          <p:nvPr>
            <p:ph type="body" idx="12" sz="quarter"/>
          </p:nvPr>
        </p:nvSpPr>
        <p:spPr/>
        <p:txBody>
          <a:bodyPr/>
          <a:lstStyle/>
          <a:p>
            <a:r>
              <a:t>A place for everything, so the agent stops guessing</a:t>
            </a:r>
          </a:p>
        </p:txBody>
      </p:sp>
      <p:sp>
        <p:nvSpPr>
          <p:cNvPr id="4" name="Text Placeholder 3"/>
          <p:cNvSpPr>
            <a:spLocks noGrp="1"/>
          </p:cNvSpPr>
          <p:nvPr>
            <p:ph type="body" idx="14" sz="quarter"/>
          </p:nvPr>
        </p:nvSpPr>
        <p:spPr/>
        <p:txBody>
          <a:bodyPr/>
          <a:lstStyle/>
          <a:p>
            <a:r>
              <a:t>C · The project folder</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code_block"/>
          <p:cNvSpPr/>
          <p:nvPr/>
        </p:nvSpPr>
        <p:spPr>
          <a:xfrm>
            <a:off x="512064" y="1920240"/>
            <a:ext cx="5760720" cy="3749039"/>
          </a:xfrm>
          <a:prstGeom prst="roundRect">
            <a:avLst>
              <a:gd name="adj" fmla="val 5000"/>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13232" y="1920240"/>
            <a:ext cx="5394959" cy="3749039"/>
          </a:xfrm>
          <a:prstGeom prst="rect">
            <a:avLst/>
          </a:prstGeom>
          <a:noFill/>
        </p:spPr>
        <p:txBody>
          <a:bodyPr wrap="square" lIns="0" rIns="0" tIns="0" bIns="0" anchor="ctr">
            <a:spAutoFit/>
          </a:bodyPr>
          <a:lstStyle/>
          <a:p>
            <a:pPr algn="l">
              <a:spcAft>
                <a:spcPts val="200"/>
              </a:spcAft>
            </a:pPr>
            <a:r>
              <a:rPr sz="1500" b="0" i="0">
                <a:solidFill>
                  <a:srgbClr val="FFFFFF"/>
                </a:solidFill>
                <a:latin typeface="Courier New"/>
              </a:rPr>
              <a:t>my_project/</a:t>
            </a:r>
          </a:p>
          <a:p>
            <a:pPr algn="l">
              <a:spcAft>
                <a:spcPts val="200"/>
              </a:spcAft>
            </a:pPr>
            <a:r>
              <a:rPr sz="1500" b="0" i="0">
                <a:solidFill>
                  <a:srgbClr val="FFFFFF"/>
                </a:solidFill>
                <a:latin typeface="Courier New"/>
              </a:rPr>
              <a:t>├── CLAUDE.md       </a:t>
            </a:r>
            <a:r>
              <a:rPr sz="1500" b="0" i="0">
                <a:solidFill>
                  <a:srgbClr val="9FD3C7"/>
                </a:solidFill>
                <a:latin typeface="Courier New"/>
              </a:rPr>
              <a:t>  # agent memory</a:t>
            </a:r>
          </a:p>
          <a:p>
            <a:pPr algn="l">
              <a:spcAft>
                <a:spcPts val="200"/>
              </a:spcAft>
            </a:pPr>
            <a:r>
              <a:rPr sz="1500" b="0" i="0">
                <a:solidFill>
                  <a:srgbClr val="FFFFFF"/>
                </a:solidFill>
                <a:latin typeface="Courier New"/>
              </a:rPr>
              <a:t>├── README.md       </a:t>
            </a:r>
            <a:r>
              <a:rPr sz="1500" b="0" i="0">
                <a:solidFill>
                  <a:srgbClr val="9FD3C7"/>
                </a:solidFill>
                <a:latin typeface="Courier New"/>
              </a:rPr>
              <a:t>  # for humans</a:t>
            </a:r>
          </a:p>
          <a:p>
            <a:pPr algn="l">
              <a:spcAft>
                <a:spcPts val="200"/>
              </a:spcAft>
            </a:pPr>
            <a:r>
              <a:rPr sz="1500" b="0" i="0">
                <a:solidFill>
                  <a:srgbClr val="FFFFFF"/>
                </a:solidFill>
                <a:latin typeface="Courier New"/>
              </a:rPr>
              <a:t>├── data_raw/       </a:t>
            </a:r>
            <a:r>
              <a:rPr sz="1500" b="0" i="0">
                <a:solidFill>
                  <a:srgbClr val="9FD3C7"/>
                </a:solidFill>
                <a:latin typeface="Courier New"/>
              </a:rPr>
              <a:t>  # IMMUTABLE</a:t>
            </a:r>
          </a:p>
          <a:p>
            <a:pPr algn="l">
              <a:spcAft>
                <a:spcPts val="200"/>
              </a:spcAft>
            </a:pPr>
            <a:r>
              <a:rPr sz="1500" b="0" i="0">
                <a:solidFill>
                  <a:srgbClr val="FFFFFF"/>
                </a:solidFill>
                <a:latin typeface="Courier New"/>
              </a:rPr>
              <a:t>├── data_clean/     </a:t>
            </a:r>
            <a:r>
              <a:rPr sz="1500" b="0" i="0">
                <a:solidFill>
                  <a:srgbClr val="9FD3C7"/>
                </a:solidFill>
                <a:latin typeface="Courier New"/>
              </a:rPr>
              <a:t>  # 1000-series only</a:t>
            </a:r>
          </a:p>
          <a:p>
            <a:pPr algn="l">
              <a:spcAft>
                <a:spcPts val="200"/>
              </a:spcAft>
            </a:pPr>
            <a:r>
              <a:rPr sz="1500" b="0" i="0">
                <a:solidFill>
                  <a:srgbClr val="FFFFFF"/>
                </a:solidFill>
                <a:latin typeface="Courier New"/>
              </a:rPr>
              <a:t>├── code/           </a:t>
            </a:r>
            <a:r>
              <a:rPr sz="1500" b="0" i="0">
                <a:solidFill>
                  <a:srgbClr val="9FD3C7"/>
                </a:solidFill>
                <a:latin typeface="Courier New"/>
              </a:rPr>
              <a:t>  # 0000→3000</a:t>
            </a:r>
          </a:p>
          <a:p>
            <a:pPr algn="l">
              <a:spcAft>
                <a:spcPts val="200"/>
              </a:spcAft>
            </a:pPr>
            <a:r>
              <a:rPr sz="1500" b="0" i="0">
                <a:solidFill>
                  <a:srgbClr val="FFFFFF"/>
                </a:solidFill>
                <a:latin typeface="Courier New"/>
              </a:rPr>
              <a:t>├── outputs/        </a:t>
            </a:r>
            <a:r>
              <a:rPr sz="1500" b="0" i="0">
                <a:solidFill>
                  <a:srgbClr val="9FD3C7"/>
                </a:solidFill>
                <a:latin typeface="Courier New"/>
              </a:rPr>
              <a:t>  # figures, tables</a:t>
            </a:r>
          </a:p>
          <a:p>
            <a:pPr algn="l">
              <a:spcAft>
                <a:spcPts val="200"/>
              </a:spcAft>
            </a:pPr>
            <a:r>
              <a:rPr sz="1500" b="0" i="0">
                <a:solidFill>
                  <a:srgbClr val="FFFFFF"/>
                </a:solidFill>
                <a:latin typeface="Courier New"/>
              </a:rPr>
              <a:t>├── writing/        </a:t>
            </a:r>
            <a:r>
              <a:rPr sz="1500" b="0" i="0">
                <a:solidFill>
                  <a:srgbClr val="9FD3C7"/>
                </a:solidFill>
                <a:latin typeface="Courier New"/>
              </a:rPr>
              <a:t>  # Markdown drafts</a:t>
            </a:r>
          </a:p>
          <a:p>
            <a:pPr algn="l">
              <a:spcAft>
                <a:spcPts val="200"/>
              </a:spcAft>
            </a:pPr>
            <a:r>
              <a:rPr sz="1500" b="0" i="0">
                <a:solidFill>
                  <a:srgbClr val="FFFFFF"/>
                </a:solidFill>
                <a:latin typeface="Courier New"/>
              </a:rPr>
              <a:t>└── my_project.Rproj</a:t>
            </a:r>
          </a:p>
        </p:txBody>
      </p:sp>
      <p:sp>
        <p:nvSpPr>
          <p:cNvPr id="15" name="Rounded Rectangle 14"/>
          <p:cNvSpPr/>
          <p:nvPr/>
        </p:nvSpPr>
        <p:spPr>
          <a:xfrm>
            <a:off x="6583680" y="1920240"/>
            <a:ext cx="5093207" cy="10515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icon_FaLock_circle"/>
          <p:cNvSpPr/>
          <p:nvPr/>
        </p:nvSpPr>
        <p:spPr>
          <a:xfrm>
            <a:off x="6748272" y="221742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Picture 16" descr="FaLock_white.png"/>
          <p:cNvPicPr>
            <a:picLocks noChangeAspect="1"/>
          </p:cNvPicPr>
          <p:nvPr/>
        </p:nvPicPr>
        <p:blipFill>
          <a:blip r:embed="rId3"/>
          <a:stretch>
            <a:fillRect/>
          </a:stretch>
        </p:blipFill>
        <p:spPr>
          <a:xfrm>
            <a:off x="6862572" y="2331720"/>
            <a:ext cx="228600" cy="228600"/>
          </a:xfrm>
          <a:prstGeom prst="rect">
            <a:avLst/>
          </a:prstGeom>
        </p:spPr>
      </p:pic>
      <p:sp>
        <p:nvSpPr>
          <p:cNvPr id="18" name="TextBox 17"/>
          <p:cNvSpPr txBox="1"/>
          <p:nvPr/>
        </p:nvSpPr>
        <p:spPr>
          <a:xfrm>
            <a:off x="7342632" y="1920240"/>
            <a:ext cx="4224527" cy="1051560"/>
          </a:xfrm>
          <a:prstGeom prst="rect">
            <a:avLst/>
          </a:prstGeom>
          <a:noFill/>
        </p:spPr>
        <p:txBody>
          <a:bodyPr wrap="square" lIns="0" rIns="0" tIns="0" bIns="0" anchor="ctr">
            <a:spAutoFit/>
          </a:bodyPr>
          <a:lstStyle/>
          <a:p>
            <a:pPr algn="l"/>
            <a:r>
              <a:rPr sz="1600" b="0" i="0">
                <a:solidFill>
                  <a:schemeClr val="tx1"/>
                </a:solidFill>
              </a:rPr>
              <a:t>data_raw/ is never modified, so you can always rebuild from the source.</a:t>
            </a:r>
          </a:p>
        </p:txBody>
      </p:sp>
      <p:sp>
        <p:nvSpPr>
          <p:cNvPr id="19" name="Rounded Rectangle 18"/>
          <p:cNvSpPr/>
          <p:nvPr/>
        </p:nvSpPr>
        <p:spPr>
          <a:xfrm>
            <a:off x="6583680" y="3154680"/>
            <a:ext cx="5093207" cy="10515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con_FaFileShield_circle"/>
          <p:cNvSpPr/>
          <p:nvPr/>
        </p:nvSpPr>
        <p:spPr>
          <a:xfrm>
            <a:off x="6748272" y="345186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FileShield_white.png"/>
          <p:cNvPicPr>
            <a:picLocks noChangeAspect="1"/>
          </p:cNvPicPr>
          <p:nvPr/>
        </p:nvPicPr>
        <p:blipFill>
          <a:blip r:embed="rId4"/>
          <a:stretch>
            <a:fillRect/>
          </a:stretch>
        </p:blipFill>
        <p:spPr>
          <a:xfrm>
            <a:off x="6862572" y="3566160"/>
            <a:ext cx="228600" cy="228600"/>
          </a:xfrm>
          <a:prstGeom prst="rect">
            <a:avLst/>
          </a:prstGeom>
        </p:spPr>
      </p:pic>
      <p:sp>
        <p:nvSpPr>
          <p:cNvPr id="22" name="TextBox 21"/>
          <p:cNvSpPr txBox="1"/>
          <p:nvPr/>
        </p:nvSpPr>
        <p:spPr>
          <a:xfrm>
            <a:off x="7342632" y="3154680"/>
            <a:ext cx="4224527" cy="1051560"/>
          </a:xfrm>
          <a:prstGeom prst="rect">
            <a:avLst/>
          </a:prstGeom>
          <a:noFill/>
        </p:spPr>
        <p:txBody>
          <a:bodyPr wrap="square" lIns="0" rIns="0" tIns="0" bIns="0" anchor="ctr">
            <a:spAutoFit/>
          </a:bodyPr>
          <a:lstStyle/>
          <a:p>
            <a:pPr algn="l"/>
            <a:r>
              <a:rPr sz="1600" b="0" i="0">
                <a:solidFill>
                  <a:schemeClr val="tx1"/>
                </a:solidFill>
              </a:rPr>
              <a:t>Only cleaning scripts write to data_clean/, so every clean file has a known origin.</a:t>
            </a:r>
          </a:p>
        </p:txBody>
      </p:sp>
      <p:sp>
        <p:nvSpPr>
          <p:cNvPr id="23" name="Rounded Rectangle 22"/>
          <p:cNvSpPr/>
          <p:nvPr/>
        </p:nvSpPr>
        <p:spPr>
          <a:xfrm>
            <a:off x="6583680" y="4389120"/>
            <a:ext cx="5093207" cy="12801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58000" y="4389120"/>
            <a:ext cx="4544568" cy="1280160"/>
          </a:xfrm>
          <a:prstGeom prst="rect">
            <a:avLst/>
          </a:prstGeom>
          <a:noFill/>
        </p:spPr>
        <p:txBody>
          <a:bodyPr wrap="square" lIns="0" rIns="0" tIns="0" bIns="0" anchor="ctr">
            <a:spAutoFit/>
          </a:bodyPr>
          <a:lstStyle/>
          <a:p>
            <a:pPr algn="l">
              <a:spcAft>
                <a:spcPts val="300"/>
              </a:spcAft>
            </a:pPr>
            <a:r>
              <a:rPr sz="1600" b="1" i="0">
                <a:solidFill>
                  <a:schemeClr val="bg1"/>
                </a:solidFill>
              </a:rPr>
              <a:t>Copy it now:</a:t>
            </a:r>
          </a:p>
          <a:p>
            <a:pPr algn="l">
              <a:spcAft>
                <a:spcPts val="300"/>
              </a:spcAft>
            </a:pPr>
            <a:r>
              <a:rPr sz="1600" b="0" i="0">
                <a:solidFill>
                  <a:schemeClr val="bg1"/>
                </a:solidFill>
                <a:latin typeface="Courier New"/>
              </a:rPr>
              <a:t>part2_setup/project_template/</a:t>
            </a:r>
          </a:p>
          <a:p>
            <a:pPr algn="l">
              <a:spcAft>
                <a:spcPts val="300"/>
              </a:spcAft>
            </a:pPr>
            <a:r>
              <a:rPr sz="1600" b="0" i="0">
                <a:solidFill>
                  <a:schemeClr val="bg1"/>
                </a:solidFill>
              </a:rPr>
              <a:t>Rename it: lowercase, no spaces.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Names an agent can follow</a:t>
            </a:r>
          </a:p>
        </p:txBody>
      </p:sp>
      <p:sp>
        <p:nvSpPr>
          <p:cNvPr id="3" name="Text Placeholder 2"/>
          <p:cNvSpPr>
            <a:spLocks noGrp="1"/>
          </p:cNvSpPr>
          <p:nvPr>
            <p:ph type="body" idx="12" sz="quarter"/>
          </p:nvPr>
        </p:nvSpPr>
        <p:spPr/>
        <p:txBody>
          <a:bodyPr/>
          <a:lstStyle/>
          <a:p>
            <a:r>
              <a:t>Scripts are numbered by stage, with room to grow</a:t>
            </a:r>
          </a:p>
        </p:txBody>
      </p:sp>
      <p:sp>
        <p:nvSpPr>
          <p:cNvPr id="4" name="Text Placeholder 3"/>
          <p:cNvSpPr>
            <a:spLocks noGrp="1"/>
          </p:cNvSpPr>
          <p:nvPr>
            <p:ph type="body" idx="14" sz="quarter"/>
          </p:nvPr>
        </p:nvSpPr>
        <p:spPr/>
        <p:txBody>
          <a:bodyPr/>
          <a:lstStyle/>
          <a:p>
            <a:r>
              <a:t>C · The project folder</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2423160" cy="141732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94944" y="2057400"/>
            <a:ext cx="2057400" cy="457200"/>
          </a:xfrm>
          <a:prstGeom prst="rect">
            <a:avLst/>
          </a:prstGeom>
          <a:noFill/>
        </p:spPr>
        <p:txBody>
          <a:bodyPr wrap="square" lIns="0" rIns="0" tIns="0" bIns="0" anchor="t">
            <a:spAutoFit/>
          </a:bodyPr>
          <a:lstStyle/>
          <a:p>
            <a:pPr algn="l"/>
            <a:r>
              <a:rPr sz="1700" b="1" i="0">
                <a:solidFill>
                  <a:schemeClr val="tx1"/>
                </a:solidFill>
                <a:latin typeface="Courier New"/>
              </a:rPr>
              <a:t>0000–0999</a:t>
            </a:r>
          </a:p>
        </p:txBody>
      </p:sp>
      <p:sp>
        <p:nvSpPr>
          <p:cNvPr id="15" name="TextBox 14"/>
          <p:cNvSpPr txBox="1"/>
          <p:nvPr/>
        </p:nvSpPr>
        <p:spPr>
          <a:xfrm>
            <a:off x="694944" y="2514600"/>
            <a:ext cx="2057400" cy="365760"/>
          </a:xfrm>
          <a:prstGeom prst="rect">
            <a:avLst/>
          </a:prstGeom>
          <a:noFill/>
        </p:spPr>
        <p:txBody>
          <a:bodyPr wrap="square" lIns="0" rIns="0" tIns="0" bIns="0" anchor="t">
            <a:spAutoFit/>
          </a:bodyPr>
          <a:lstStyle/>
          <a:p>
            <a:pPr algn="l"/>
            <a:r>
              <a:rPr sz="1800" b="1" i="0">
                <a:solidFill>
                  <a:schemeClr val="tx1"/>
                </a:solidFill>
              </a:rPr>
              <a:t>Import</a:t>
            </a:r>
          </a:p>
        </p:txBody>
      </p:sp>
      <p:sp>
        <p:nvSpPr>
          <p:cNvPr id="16" name="TextBox 15"/>
          <p:cNvSpPr txBox="1"/>
          <p:nvPr/>
        </p:nvSpPr>
        <p:spPr>
          <a:xfrm>
            <a:off x="694944" y="2880360"/>
            <a:ext cx="2057400" cy="365760"/>
          </a:xfrm>
          <a:prstGeom prst="rect">
            <a:avLst/>
          </a:prstGeom>
          <a:noFill/>
        </p:spPr>
        <p:txBody>
          <a:bodyPr wrap="square" lIns="0" rIns="0" tIns="0" bIns="0" anchor="t">
            <a:spAutoFit/>
          </a:bodyPr>
          <a:lstStyle/>
          <a:p>
            <a:pPr algn="l"/>
            <a:r>
              <a:rPr sz="1400" b="0" i="0">
                <a:solidFill>
                  <a:srgbClr val="5F5F5F"/>
                </a:solidFill>
              </a:rPr>
              <a:t>→ memory / data_clean/</a:t>
            </a:r>
          </a:p>
        </p:txBody>
      </p:sp>
      <p:cxnSp>
        <p:nvCxnSpPr>
          <p:cNvPr id="17" name="Connector 16"/>
          <p:cNvCxnSpPr/>
          <p:nvPr/>
        </p:nvCxnSpPr>
        <p:spPr>
          <a:xfrm>
            <a:off x="2980944" y="2633472"/>
            <a:ext cx="399288" cy="0"/>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25952" y="1920240"/>
            <a:ext cx="2423160" cy="141732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608832" y="2057400"/>
            <a:ext cx="2057400" cy="457200"/>
          </a:xfrm>
          <a:prstGeom prst="rect">
            <a:avLst/>
          </a:prstGeom>
          <a:noFill/>
        </p:spPr>
        <p:txBody>
          <a:bodyPr wrap="square" lIns="0" rIns="0" tIns="0" bIns="0" anchor="t">
            <a:spAutoFit/>
          </a:bodyPr>
          <a:lstStyle/>
          <a:p>
            <a:pPr algn="l"/>
            <a:r>
              <a:rPr sz="1700" b="1" i="0">
                <a:solidFill>
                  <a:schemeClr val="bg1"/>
                </a:solidFill>
                <a:latin typeface="Courier New"/>
              </a:rPr>
              <a:t>1000–1999</a:t>
            </a:r>
          </a:p>
        </p:txBody>
      </p:sp>
      <p:sp>
        <p:nvSpPr>
          <p:cNvPr id="20" name="TextBox 19"/>
          <p:cNvSpPr txBox="1"/>
          <p:nvPr/>
        </p:nvSpPr>
        <p:spPr>
          <a:xfrm>
            <a:off x="3608832" y="2514600"/>
            <a:ext cx="2057400" cy="365760"/>
          </a:xfrm>
          <a:prstGeom prst="rect">
            <a:avLst/>
          </a:prstGeom>
          <a:noFill/>
        </p:spPr>
        <p:txBody>
          <a:bodyPr wrap="square" lIns="0" rIns="0" tIns="0" bIns="0" anchor="t">
            <a:spAutoFit/>
          </a:bodyPr>
          <a:lstStyle/>
          <a:p>
            <a:pPr algn="l"/>
            <a:r>
              <a:rPr sz="1800" b="1" i="0">
                <a:solidFill>
                  <a:schemeClr val="bg1"/>
                </a:solidFill>
              </a:rPr>
              <a:t>Cleaning</a:t>
            </a:r>
          </a:p>
        </p:txBody>
      </p:sp>
      <p:sp>
        <p:nvSpPr>
          <p:cNvPr id="21" name="TextBox 20"/>
          <p:cNvSpPr txBox="1"/>
          <p:nvPr/>
        </p:nvSpPr>
        <p:spPr>
          <a:xfrm>
            <a:off x="3608832" y="2880360"/>
            <a:ext cx="2057400" cy="365760"/>
          </a:xfrm>
          <a:prstGeom prst="rect">
            <a:avLst/>
          </a:prstGeom>
          <a:noFill/>
        </p:spPr>
        <p:txBody>
          <a:bodyPr wrap="square" lIns="0" rIns="0" tIns="0" bIns="0" anchor="t">
            <a:spAutoFit/>
          </a:bodyPr>
          <a:lstStyle/>
          <a:p>
            <a:pPr algn="l"/>
            <a:r>
              <a:rPr sz="1400" b="0" i="0">
                <a:solidFill>
                  <a:schemeClr val="bg1"/>
                </a:solidFill>
              </a:rPr>
              <a:t>→ data_clean/</a:t>
            </a:r>
          </a:p>
        </p:txBody>
      </p:sp>
      <p:cxnSp>
        <p:nvCxnSpPr>
          <p:cNvPr id="22" name="Connector 21"/>
          <p:cNvCxnSpPr/>
          <p:nvPr/>
        </p:nvCxnSpPr>
        <p:spPr>
          <a:xfrm>
            <a:off x="5894832" y="2633472"/>
            <a:ext cx="399288" cy="0"/>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339840" y="1920240"/>
            <a:ext cx="2423160" cy="141732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522720" y="2057400"/>
            <a:ext cx="2057400" cy="457200"/>
          </a:xfrm>
          <a:prstGeom prst="rect">
            <a:avLst/>
          </a:prstGeom>
          <a:noFill/>
        </p:spPr>
        <p:txBody>
          <a:bodyPr wrap="square" lIns="0" rIns="0" tIns="0" bIns="0" anchor="t">
            <a:spAutoFit/>
          </a:bodyPr>
          <a:lstStyle/>
          <a:p>
            <a:pPr algn="l"/>
            <a:r>
              <a:rPr sz="1700" b="1" i="0">
                <a:solidFill>
                  <a:schemeClr val="tx1"/>
                </a:solidFill>
                <a:latin typeface="Courier New"/>
              </a:rPr>
              <a:t>2000–2999</a:t>
            </a:r>
          </a:p>
        </p:txBody>
      </p:sp>
      <p:sp>
        <p:nvSpPr>
          <p:cNvPr id="25" name="TextBox 24"/>
          <p:cNvSpPr txBox="1"/>
          <p:nvPr/>
        </p:nvSpPr>
        <p:spPr>
          <a:xfrm>
            <a:off x="6522720" y="2514600"/>
            <a:ext cx="2057400" cy="365760"/>
          </a:xfrm>
          <a:prstGeom prst="rect">
            <a:avLst/>
          </a:prstGeom>
          <a:noFill/>
        </p:spPr>
        <p:txBody>
          <a:bodyPr wrap="square" lIns="0" rIns="0" tIns="0" bIns="0" anchor="t">
            <a:spAutoFit/>
          </a:bodyPr>
          <a:lstStyle/>
          <a:p>
            <a:pPr algn="l"/>
            <a:r>
              <a:rPr sz="1800" b="1" i="0">
                <a:solidFill>
                  <a:schemeClr val="tx1"/>
                </a:solidFill>
              </a:rPr>
              <a:t>Descriptives</a:t>
            </a:r>
          </a:p>
        </p:txBody>
      </p:sp>
      <p:sp>
        <p:nvSpPr>
          <p:cNvPr id="26" name="TextBox 25"/>
          <p:cNvSpPr txBox="1"/>
          <p:nvPr/>
        </p:nvSpPr>
        <p:spPr>
          <a:xfrm>
            <a:off x="6522720" y="2880360"/>
            <a:ext cx="2057400" cy="365760"/>
          </a:xfrm>
          <a:prstGeom prst="rect">
            <a:avLst/>
          </a:prstGeom>
          <a:noFill/>
        </p:spPr>
        <p:txBody>
          <a:bodyPr wrap="square" lIns="0" rIns="0" tIns="0" bIns="0" anchor="t">
            <a:spAutoFit/>
          </a:bodyPr>
          <a:lstStyle/>
          <a:p>
            <a:pPr algn="l"/>
            <a:r>
              <a:rPr sz="1400" b="0" i="0">
                <a:solidFill>
                  <a:srgbClr val="5F5F5F"/>
                </a:solidFill>
              </a:rPr>
              <a:t>→ outputs/</a:t>
            </a:r>
          </a:p>
        </p:txBody>
      </p:sp>
      <p:cxnSp>
        <p:nvCxnSpPr>
          <p:cNvPr id="27" name="Connector 26"/>
          <p:cNvCxnSpPr/>
          <p:nvPr/>
        </p:nvCxnSpPr>
        <p:spPr>
          <a:xfrm>
            <a:off x="8808720" y="2633472"/>
            <a:ext cx="399288" cy="0"/>
          </a:xfrm>
          <a:prstGeom prst="line">
            <a:avLst/>
          </a:prstGeom>
          <a:ln w="2540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9253728" y="1920240"/>
            <a:ext cx="2423160" cy="141732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436608" y="2057400"/>
            <a:ext cx="2057400" cy="457200"/>
          </a:xfrm>
          <a:prstGeom prst="rect">
            <a:avLst/>
          </a:prstGeom>
          <a:noFill/>
        </p:spPr>
        <p:txBody>
          <a:bodyPr wrap="square" lIns="0" rIns="0" tIns="0" bIns="0" anchor="t">
            <a:spAutoFit/>
          </a:bodyPr>
          <a:lstStyle/>
          <a:p>
            <a:pPr algn="l"/>
            <a:r>
              <a:rPr sz="1700" b="1" i="0">
                <a:solidFill>
                  <a:schemeClr val="tx1"/>
                </a:solidFill>
                <a:latin typeface="Courier New"/>
              </a:rPr>
              <a:t>3000+</a:t>
            </a:r>
          </a:p>
        </p:txBody>
      </p:sp>
      <p:sp>
        <p:nvSpPr>
          <p:cNvPr id="30" name="TextBox 29"/>
          <p:cNvSpPr txBox="1"/>
          <p:nvPr/>
        </p:nvSpPr>
        <p:spPr>
          <a:xfrm>
            <a:off x="9436608" y="2514600"/>
            <a:ext cx="2057400" cy="365760"/>
          </a:xfrm>
          <a:prstGeom prst="rect">
            <a:avLst/>
          </a:prstGeom>
          <a:noFill/>
        </p:spPr>
        <p:txBody>
          <a:bodyPr wrap="square" lIns="0" rIns="0" tIns="0" bIns="0" anchor="t">
            <a:spAutoFit/>
          </a:bodyPr>
          <a:lstStyle/>
          <a:p>
            <a:pPr algn="l"/>
            <a:r>
              <a:rPr sz="1800" b="1" i="0">
                <a:solidFill>
                  <a:schemeClr val="tx1"/>
                </a:solidFill>
              </a:rPr>
              <a:t>Models</a:t>
            </a:r>
          </a:p>
        </p:txBody>
      </p:sp>
      <p:sp>
        <p:nvSpPr>
          <p:cNvPr id="31" name="TextBox 30"/>
          <p:cNvSpPr txBox="1"/>
          <p:nvPr/>
        </p:nvSpPr>
        <p:spPr>
          <a:xfrm>
            <a:off x="9436608" y="2880360"/>
            <a:ext cx="2057400" cy="365760"/>
          </a:xfrm>
          <a:prstGeom prst="rect">
            <a:avLst/>
          </a:prstGeom>
          <a:noFill/>
        </p:spPr>
        <p:txBody>
          <a:bodyPr wrap="square" lIns="0" rIns="0" tIns="0" bIns="0" anchor="t">
            <a:spAutoFit/>
          </a:bodyPr>
          <a:lstStyle/>
          <a:p>
            <a:pPr algn="l"/>
            <a:r>
              <a:rPr sz="1400" b="0" i="0">
                <a:solidFill>
                  <a:srgbClr val="5F5F5F"/>
                </a:solidFill>
              </a:rPr>
              <a:t>→ outputs/</a:t>
            </a:r>
          </a:p>
        </p:txBody>
      </p:sp>
      <p:sp>
        <p:nvSpPr>
          <p:cNvPr id="32" name="TextBox 31"/>
          <p:cNvSpPr txBox="1"/>
          <p:nvPr/>
        </p:nvSpPr>
        <p:spPr>
          <a:xfrm>
            <a:off x="512064" y="3611880"/>
            <a:ext cx="11164824" cy="365760"/>
          </a:xfrm>
          <a:prstGeom prst="rect">
            <a:avLst/>
          </a:prstGeom>
          <a:noFill/>
        </p:spPr>
        <p:txBody>
          <a:bodyPr wrap="square" lIns="0" rIns="0" tIns="0" bIns="0" anchor="t">
            <a:spAutoFit/>
          </a:bodyPr>
          <a:lstStyle/>
          <a:p>
            <a:pPr algn="l"/>
            <a:r>
              <a:rPr sz="1600" b="1" i="0">
                <a:solidFill>
                  <a:schemeClr val="tx2"/>
                </a:solidFill>
              </a:rPr>
              <a:t>Gaps are the point: </a:t>
            </a:r>
            <a:r>
              <a:rPr sz="1600" b="0" i="0">
                <a:solidFill>
                  <a:schemeClr val="tx1"/>
                </a:solidFill>
                <a:latin typeface="Courier New"/>
              </a:rPr>
              <a:t>1500_merge_waves.Rmd</a:t>
            </a:r>
            <a:r>
              <a:rPr sz="1600" b="0" i="0">
                <a:solidFill>
                  <a:schemeClr val="tx1"/>
                </a:solidFill>
              </a:rPr>
              <a:t> fits between cleaning and descriptives without renumbering anything.</a:t>
            </a:r>
          </a:p>
        </p:txBody>
      </p:sp>
      <p:pic>
        <p:nvPicPr>
          <p:cNvPr id="33" name="Picture 32" descr="FaCircleCheck_green.png"/>
          <p:cNvPicPr>
            <a:picLocks noChangeAspect="1"/>
          </p:cNvPicPr>
          <p:nvPr/>
        </p:nvPicPr>
        <p:blipFill>
          <a:blip r:embed="rId3"/>
          <a:stretch>
            <a:fillRect/>
          </a:stretch>
        </p:blipFill>
        <p:spPr>
          <a:xfrm>
            <a:off x="512064" y="4251959"/>
            <a:ext cx="292608" cy="292608"/>
          </a:xfrm>
          <a:prstGeom prst="rect">
            <a:avLst/>
          </a:prstGeom>
        </p:spPr>
      </p:pic>
      <p:sp>
        <p:nvSpPr>
          <p:cNvPr id="34" name="TextBox 33"/>
          <p:cNvSpPr txBox="1"/>
          <p:nvPr/>
        </p:nvSpPr>
        <p:spPr>
          <a:xfrm>
            <a:off x="969264" y="4206240"/>
            <a:ext cx="5486400" cy="384048"/>
          </a:xfrm>
          <a:prstGeom prst="rect">
            <a:avLst/>
          </a:prstGeom>
          <a:noFill/>
        </p:spPr>
        <p:txBody>
          <a:bodyPr wrap="square" lIns="0" rIns="0" tIns="0" bIns="0" anchor="ctr">
            <a:spAutoFit/>
          </a:bodyPr>
          <a:lstStyle/>
          <a:p>
            <a:pPr algn="l"/>
            <a:r>
              <a:rPr sz="1600" b="0" i="0">
                <a:solidFill>
                  <a:schemeClr val="tx1"/>
                </a:solidFill>
                <a:latin typeface="Courier New"/>
              </a:rPr>
              <a:t>1000_clean_enrollment.Rmd</a:t>
            </a:r>
          </a:p>
        </p:txBody>
      </p:sp>
      <p:pic>
        <p:nvPicPr>
          <p:cNvPr id="35" name="Picture 34" descr="FaCircleCheck_green.png"/>
          <p:cNvPicPr>
            <a:picLocks noChangeAspect="1"/>
          </p:cNvPicPr>
          <p:nvPr/>
        </p:nvPicPr>
        <p:blipFill>
          <a:blip r:embed="rId3"/>
          <a:stretch>
            <a:fillRect/>
          </a:stretch>
        </p:blipFill>
        <p:spPr>
          <a:xfrm>
            <a:off x="512064" y="4709159"/>
            <a:ext cx="292608" cy="292608"/>
          </a:xfrm>
          <a:prstGeom prst="rect">
            <a:avLst/>
          </a:prstGeom>
        </p:spPr>
      </p:pic>
      <p:sp>
        <p:nvSpPr>
          <p:cNvPr id="36" name="TextBox 35"/>
          <p:cNvSpPr txBox="1"/>
          <p:nvPr/>
        </p:nvSpPr>
        <p:spPr>
          <a:xfrm>
            <a:off x="969264" y="4663440"/>
            <a:ext cx="5486400" cy="384048"/>
          </a:xfrm>
          <a:prstGeom prst="rect">
            <a:avLst/>
          </a:prstGeom>
          <a:noFill/>
        </p:spPr>
        <p:txBody>
          <a:bodyPr wrap="square" lIns="0" rIns="0" tIns="0" bIns="0" anchor="ctr">
            <a:spAutoFit/>
          </a:bodyPr>
          <a:lstStyle/>
          <a:p>
            <a:pPr algn="l"/>
            <a:r>
              <a:rPr sz="1600" b="0" i="0">
                <a:solidFill>
                  <a:schemeClr val="tx1"/>
                </a:solidFill>
                <a:latin typeface="Courier New"/>
              </a:rPr>
              <a:t>methods_draft_2026-10-16.md</a:t>
            </a:r>
          </a:p>
        </p:txBody>
      </p:sp>
      <p:pic>
        <p:nvPicPr>
          <p:cNvPr id="37" name="Picture 36" descr="FaCircleXmark_red.png"/>
          <p:cNvPicPr>
            <a:picLocks noChangeAspect="1"/>
          </p:cNvPicPr>
          <p:nvPr/>
        </p:nvPicPr>
        <p:blipFill>
          <a:blip r:embed="rId4"/>
          <a:stretch>
            <a:fillRect/>
          </a:stretch>
        </p:blipFill>
        <p:spPr>
          <a:xfrm>
            <a:off x="512064" y="5166359"/>
            <a:ext cx="292608" cy="292608"/>
          </a:xfrm>
          <a:prstGeom prst="rect">
            <a:avLst/>
          </a:prstGeom>
        </p:spPr>
      </p:pic>
      <p:sp>
        <p:nvSpPr>
          <p:cNvPr id="38" name="TextBox 37"/>
          <p:cNvSpPr txBox="1"/>
          <p:nvPr/>
        </p:nvSpPr>
        <p:spPr>
          <a:xfrm>
            <a:off x="969264" y="5120640"/>
            <a:ext cx="5486400" cy="384048"/>
          </a:xfrm>
          <a:prstGeom prst="rect">
            <a:avLst/>
          </a:prstGeom>
          <a:noFill/>
        </p:spPr>
        <p:txBody>
          <a:bodyPr wrap="square" lIns="0" rIns="0" tIns="0" bIns="0" anchor="ctr">
            <a:spAutoFit/>
          </a:bodyPr>
          <a:lstStyle/>
          <a:p>
            <a:pPr algn="l"/>
            <a:r>
              <a:rPr sz="1600" b="0" i="0">
                <a:solidFill>
                  <a:schemeClr val="tx1"/>
                </a:solidFill>
                <a:latin typeface="Courier New"/>
              </a:rPr>
              <a:t>Clean Enrollment FINAL v2.Rmd</a:t>
            </a:r>
          </a:p>
        </p:txBody>
      </p:sp>
      <p:sp>
        <p:nvSpPr>
          <p:cNvPr id="39" name="Rounded Rectangle 38"/>
          <p:cNvSpPr/>
          <p:nvPr/>
        </p:nvSpPr>
        <p:spPr>
          <a:xfrm>
            <a:off x="6675120" y="4206240"/>
            <a:ext cx="5001768" cy="1298448"/>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903720" y="4206240"/>
            <a:ext cx="4572000" cy="1298448"/>
          </a:xfrm>
          <a:prstGeom prst="rect">
            <a:avLst/>
          </a:prstGeom>
          <a:noFill/>
        </p:spPr>
        <p:txBody>
          <a:bodyPr wrap="square" lIns="0" rIns="0" tIns="0" bIns="0" anchor="ctr">
            <a:spAutoFit/>
          </a:bodyPr>
          <a:lstStyle/>
          <a:p>
            <a:pPr algn="l">
              <a:spcAft>
                <a:spcPts val="300"/>
              </a:spcAft>
            </a:pPr>
            <a:r>
              <a:rPr sz="1600" b="1" i="0">
                <a:solidFill>
                  <a:schemeClr val="tx1"/>
                </a:solidFill>
              </a:rPr>
              <a:t>lowercase</a:t>
            </a:r>
          </a:p>
          <a:p>
            <a:pPr algn="l">
              <a:spcAft>
                <a:spcPts val="300"/>
              </a:spcAft>
            </a:pPr>
            <a:r>
              <a:rPr sz="1600" b="1" i="0">
                <a:solidFill>
                  <a:schemeClr val="tx1"/>
                </a:solidFill>
              </a:rPr>
              <a:t>snake_case or kebab-case</a:t>
            </a:r>
          </a:p>
          <a:p>
            <a:pPr algn="l">
              <a:spcAft>
                <a:spcPts val="300"/>
              </a:spcAft>
            </a:pPr>
            <a:r>
              <a:rPr sz="1600" b="1" i="0">
                <a:solidFill>
                  <a:schemeClr val="tx1"/>
                </a:solidFill>
              </a:rPr>
              <a:t>ISO dates (YYYY-MM-DD)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structure matters to an agent</a:t>
            </a:r>
          </a:p>
        </p:txBody>
      </p:sp>
      <p:sp>
        <p:nvSpPr>
          <p:cNvPr id="3" name="Text Placeholder 2"/>
          <p:cNvSpPr>
            <a:spLocks noGrp="1"/>
          </p:cNvSpPr>
          <p:nvPr>
            <p:ph type="body" idx="12" sz="quarter"/>
          </p:nvPr>
        </p:nvSpPr>
        <p:spPr/>
        <p:txBody>
          <a:bodyPr/>
          <a:lstStyle/>
          <a:p>
            <a:r>
              <a:t>An agent decides where to put things every time it writes</a:t>
            </a:r>
          </a:p>
        </p:txBody>
      </p:sp>
      <p:sp>
        <p:nvSpPr>
          <p:cNvPr id="4" name="Text Placeholder 3"/>
          <p:cNvSpPr>
            <a:spLocks noGrp="1"/>
          </p:cNvSpPr>
          <p:nvPr>
            <p:ph type="body" idx="14" sz="quarter"/>
          </p:nvPr>
        </p:nvSpPr>
        <p:spPr/>
        <p:txBody>
          <a:bodyPr/>
          <a:lstStyle/>
          <a:p>
            <a:r>
              <a:t>C · The project folder</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3108960" cy="13716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Sitemap_circle"/>
          <p:cNvSpPr/>
          <p:nvPr/>
        </p:nvSpPr>
        <p:spPr>
          <a:xfrm>
            <a:off x="786384" y="2304288"/>
            <a:ext cx="603504" cy="60350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Sitemap_white.png"/>
          <p:cNvPicPr>
            <a:picLocks noChangeAspect="1"/>
          </p:cNvPicPr>
          <p:nvPr/>
        </p:nvPicPr>
        <p:blipFill>
          <a:blip r:embed="rId3"/>
          <a:stretch>
            <a:fillRect/>
          </a:stretch>
        </p:blipFill>
        <p:spPr>
          <a:xfrm>
            <a:off x="937260" y="2455164"/>
            <a:ext cx="301752" cy="301752"/>
          </a:xfrm>
          <a:prstGeom prst="rect">
            <a:avLst/>
          </a:prstGeom>
        </p:spPr>
      </p:pic>
      <p:sp>
        <p:nvSpPr>
          <p:cNvPr id="16" name="TextBox 15"/>
          <p:cNvSpPr txBox="1"/>
          <p:nvPr/>
        </p:nvSpPr>
        <p:spPr>
          <a:xfrm>
            <a:off x="1563624" y="1920240"/>
            <a:ext cx="1920239" cy="1371600"/>
          </a:xfrm>
          <a:prstGeom prst="rect">
            <a:avLst/>
          </a:prstGeom>
          <a:noFill/>
        </p:spPr>
        <p:txBody>
          <a:bodyPr wrap="square" lIns="0" rIns="0" tIns="0" bIns="0" anchor="ctr">
            <a:spAutoFit/>
          </a:bodyPr>
          <a:lstStyle/>
          <a:p>
            <a:pPr algn="l"/>
            <a:r>
              <a:rPr sz="2000" b="1" i="0">
                <a:solidFill>
                  <a:schemeClr val="tx1"/>
                </a:solidFill>
              </a:rPr>
              <a:t>Predictable places</a:t>
            </a:r>
          </a:p>
        </p:txBody>
      </p:sp>
      <p:cxnSp>
        <p:nvCxnSpPr>
          <p:cNvPr id="17" name="Connector 16"/>
          <p:cNvCxnSpPr/>
          <p:nvPr/>
        </p:nvCxnSpPr>
        <p:spPr>
          <a:xfrm>
            <a:off x="3694176" y="2606040"/>
            <a:ext cx="772668" cy="0"/>
          </a:xfrm>
          <a:prstGeom prst="line">
            <a:avLst/>
          </a:prstGeom>
          <a:ln w="317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4539996" y="1920240"/>
            <a:ext cx="3108960" cy="13716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_FaCircleQuestion_circle"/>
          <p:cNvSpPr/>
          <p:nvPr/>
        </p:nvSpPr>
        <p:spPr>
          <a:xfrm>
            <a:off x="4814316" y="2304288"/>
            <a:ext cx="603504" cy="603504"/>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CircleQuestion_white.png"/>
          <p:cNvPicPr>
            <a:picLocks noChangeAspect="1"/>
          </p:cNvPicPr>
          <p:nvPr/>
        </p:nvPicPr>
        <p:blipFill>
          <a:blip r:embed="rId4"/>
          <a:stretch>
            <a:fillRect/>
          </a:stretch>
        </p:blipFill>
        <p:spPr>
          <a:xfrm>
            <a:off x="4965192" y="2455164"/>
            <a:ext cx="301752" cy="301752"/>
          </a:xfrm>
          <a:prstGeom prst="rect">
            <a:avLst/>
          </a:prstGeom>
        </p:spPr>
      </p:pic>
      <p:sp>
        <p:nvSpPr>
          <p:cNvPr id="21" name="TextBox 20"/>
          <p:cNvSpPr txBox="1"/>
          <p:nvPr/>
        </p:nvSpPr>
        <p:spPr>
          <a:xfrm>
            <a:off x="5591556" y="1920240"/>
            <a:ext cx="1920239" cy="1371600"/>
          </a:xfrm>
          <a:prstGeom prst="rect">
            <a:avLst/>
          </a:prstGeom>
          <a:noFill/>
        </p:spPr>
        <p:txBody>
          <a:bodyPr wrap="square" lIns="0" rIns="0" tIns="0" bIns="0" anchor="ctr">
            <a:spAutoFit/>
          </a:bodyPr>
          <a:lstStyle/>
          <a:p>
            <a:pPr algn="l"/>
            <a:r>
              <a:rPr sz="2000" b="1" i="0">
                <a:solidFill>
                  <a:schemeClr val="tx1"/>
                </a:solidFill>
              </a:rPr>
              <a:t>Fewer guesses</a:t>
            </a:r>
          </a:p>
        </p:txBody>
      </p:sp>
      <p:cxnSp>
        <p:nvCxnSpPr>
          <p:cNvPr id="22" name="Connector 21"/>
          <p:cNvCxnSpPr/>
          <p:nvPr/>
        </p:nvCxnSpPr>
        <p:spPr>
          <a:xfrm>
            <a:off x="7722108" y="2606040"/>
            <a:ext cx="772668" cy="0"/>
          </a:xfrm>
          <a:prstGeom prst="line">
            <a:avLst/>
          </a:prstGeom>
          <a:ln w="31750">
            <a:solidFill>
              <a:schemeClr val="accent1"/>
            </a:solidFill>
            <a:tailEnd type="triangle" w="med" len="med"/>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567928" y="1920240"/>
            <a:ext cx="3108960" cy="13716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con_FaFileShield_circle"/>
          <p:cNvSpPr/>
          <p:nvPr/>
        </p:nvSpPr>
        <p:spPr>
          <a:xfrm>
            <a:off x="8842248" y="2304288"/>
            <a:ext cx="603504" cy="603504"/>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FileShield_red.png"/>
          <p:cNvPicPr>
            <a:picLocks noChangeAspect="1"/>
          </p:cNvPicPr>
          <p:nvPr/>
        </p:nvPicPr>
        <p:blipFill>
          <a:blip r:embed="rId5"/>
          <a:stretch>
            <a:fillRect/>
          </a:stretch>
        </p:blipFill>
        <p:spPr>
          <a:xfrm>
            <a:off x="8993124" y="2455164"/>
            <a:ext cx="301752" cy="301752"/>
          </a:xfrm>
          <a:prstGeom prst="rect">
            <a:avLst/>
          </a:prstGeom>
        </p:spPr>
      </p:pic>
      <p:sp>
        <p:nvSpPr>
          <p:cNvPr id="26" name="TextBox 25"/>
          <p:cNvSpPr txBox="1"/>
          <p:nvPr/>
        </p:nvSpPr>
        <p:spPr>
          <a:xfrm>
            <a:off x="9619488" y="1920240"/>
            <a:ext cx="1920239" cy="1371600"/>
          </a:xfrm>
          <a:prstGeom prst="rect">
            <a:avLst/>
          </a:prstGeom>
          <a:noFill/>
        </p:spPr>
        <p:txBody>
          <a:bodyPr wrap="square" lIns="0" rIns="0" tIns="0" bIns="0" anchor="ctr">
            <a:spAutoFit/>
          </a:bodyPr>
          <a:lstStyle/>
          <a:p>
            <a:pPr algn="l"/>
            <a:r>
              <a:rPr sz="2000" b="1" i="0">
                <a:solidFill>
                  <a:schemeClr val="bg1"/>
                </a:solidFill>
              </a:rPr>
              <a:t>Fewer overwritten files</a:t>
            </a:r>
          </a:p>
        </p:txBody>
      </p:sp>
      <p:sp>
        <p:nvSpPr>
          <p:cNvPr id="27" name="Rounded Rectangle 26"/>
          <p:cNvSpPr/>
          <p:nvPr/>
        </p:nvSpPr>
        <p:spPr>
          <a:xfrm>
            <a:off x="512064" y="3611880"/>
            <a:ext cx="11164824"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icon_FaFolderTree_circle"/>
          <p:cNvSpPr/>
          <p:nvPr/>
        </p:nvSpPr>
        <p:spPr>
          <a:xfrm>
            <a:off x="676656" y="3703320"/>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9" name="Picture 28" descr="FaFolderTree_white.png"/>
          <p:cNvPicPr>
            <a:picLocks noChangeAspect="1"/>
          </p:cNvPicPr>
          <p:nvPr/>
        </p:nvPicPr>
        <p:blipFill>
          <a:blip r:embed="rId6"/>
          <a:stretch>
            <a:fillRect/>
          </a:stretch>
        </p:blipFill>
        <p:spPr>
          <a:xfrm>
            <a:off x="781812" y="3808476"/>
            <a:ext cx="210312" cy="210312"/>
          </a:xfrm>
          <a:prstGeom prst="rect">
            <a:avLst/>
          </a:prstGeom>
        </p:spPr>
      </p:pic>
      <p:sp>
        <p:nvSpPr>
          <p:cNvPr id="30" name="TextBox 29"/>
          <p:cNvSpPr txBox="1"/>
          <p:nvPr/>
        </p:nvSpPr>
        <p:spPr>
          <a:xfrm>
            <a:off x="1234440" y="3611880"/>
            <a:ext cx="10332720" cy="603504"/>
          </a:xfrm>
          <a:prstGeom prst="rect">
            <a:avLst/>
          </a:prstGeom>
          <a:noFill/>
        </p:spPr>
        <p:txBody>
          <a:bodyPr wrap="square" lIns="0" rIns="0" tIns="0" bIns="0" anchor="ctr">
            <a:spAutoFit/>
          </a:bodyPr>
          <a:lstStyle/>
          <a:p>
            <a:pPr algn="l"/>
            <a:r>
              <a:rPr sz="1600" b="0" i="0">
                <a:solidFill>
                  <a:schemeClr val="tx1"/>
                </a:solidFill>
              </a:rPr>
              <a:t>Give it one right answer for where each thing goes.</a:t>
            </a:r>
          </a:p>
        </p:txBody>
      </p:sp>
      <p:sp>
        <p:nvSpPr>
          <p:cNvPr id="31" name="Rounded Rectangle 30"/>
          <p:cNvSpPr/>
          <p:nvPr/>
        </p:nvSpPr>
        <p:spPr>
          <a:xfrm>
            <a:off x="512064" y="4343400"/>
            <a:ext cx="11164824"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icon_FaCheck_circle"/>
          <p:cNvSpPr/>
          <p:nvPr/>
        </p:nvSpPr>
        <p:spPr>
          <a:xfrm>
            <a:off x="676656" y="4434840"/>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3" name="Picture 32" descr="FaCheck_white.png"/>
          <p:cNvPicPr>
            <a:picLocks noChangeAspect="1"/>
          </p:cNvPicPr>
          <p:nvPr/>
        </p:nvPicPr>
        <p:blipFill>
          <a:blip r:embed="rId7"/>
          <a:stretch>
            <a:fillRect/>
          </a:stretch>
        </p:blipFill>
        <p:spPr>
          <a:xfrm>
            <a:off x="781812" y="4539996"/>
            <a:ext cx="210312" cy="210312"/>
          </a:xfrm>
          <a:prstGeom prst="rect">
            <a:avLst/>
          </a:prstGeom>
        </p:spPr>
      </p:pic>
      <p:sp>
        <p:nvSpPr>
          <p:cNvPr id="34" name="TextBox 33"/>
          <p:cNvSpPr txBox="1"/>
          <p:nvPr/>
        </p:nvSpPr>
        <p:spPr>
          <a:xfrm>
            <a:off x="1234440" y="4343400"/>
            <a:ext cx="10332720" cy="603504"/>
          </a:xfrm>
          <a:prstGeom prst="rect">
            <a:avLst/>
          </a:prstGeom>
          <a:noFill/>
        </p:spPr>
        <p:txBody>
          <a:bodyPr wrap="square" lIns="0" rIns="0" tIns="0" bIns="0" anchor="ctr">
            <a:spAutoFit/>
          </a:bodyPr>
          <a:lstStyle/>
          <a:p>
            <a:pPr algn="l"/>
            <a:r>
              <a:rPr sz="1600" b="0" i="0">
                <a:solidFill>
                  <a:schemeClr val="tx1"/>
                </a:solidFill>
              </a:rPr>
              <a:t>“Read only from data_raw/” is a rule it can check. “Be careful with the data” is not.</a:t>
            </a:r>
          </a:p>
        </p:txBody>
      </p:sp>
      <p:sp>
        <p:nvSpPr>
          <p:cNvPr id="35" name="Rounded Rectangle 34"/>
          <p:cNvSpPr/>
          <p:nvPr/>
        </p:nvSpPr>
        <p:spPr>
          <a:xfrm>
            <a:off x="512064" y="5074920"/>
            <a:ext cx="11164824" cy="603504"/>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icon_FaClockRotateLeft_circle"/>
          <p:cNvSpPr/>
          <p:nvPr/>
        </p:nvSpPr>
        <p:spPr>
          <a:xfrm>
            <a:off x="676656" y="5166360"/>
            <a:ext cx="420624" cy="42062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7" name="Picture 36" descr="FaClockRotateLeft_white.png"/>
          <p:cNvPicPr>
            <a:picLocks noChangeAspect="1"/>
          </p:cNvPicPr>
          <p:nvPr/>
        </p:nvPicPr>
        <p:blipFill>
          <a:blip r:embed="rId8"/>
          <a:stretch>
            <a:fillRect/>
          </a:stretch>
        </p:blipFill>
        <p:spPr>
          <a:xfrm>
            <a:off x="781812" y="5271516"/>
            <a:ext cx="210312" cy="210312"/>
          </a:xfrm>
          <a:prstGeom prst="rect">
            <a:avLst/>
          </a:prstGeom>
        </p:spPr>
      </p:pic>
      <p:sp>
        <p:nvSpPr>
          <p:cNvPr id="38" name="TextBox 37"/>
          <p:cNvSpPr txBox="1"/>
          <p:nvPr/>
        </p:nvSpPr>
        <p:spPr>
          <a:xfrm>
            <a:off x="1234440" y="5074920"/>
            <a:ext cx="10332720" cy="603504"/>
          </a:xfrm>
          <a:prstGeom prst="rect">
            <a:avLst/>
          </a:prstGeom>
          <a:noFill/>
        </p:spPr>
        <p:txBody>
          <a:bodyPr wrap="square" lIns="0" rIns="0" tIns="0" bIns="0" anchor="ctr">
            <a:spAutoFit/>
          </a:bodyPr>
          <a:lstStyle/>
          <a:p>
            <a:pPr algn="l"/>
            <a:r>
              <a:rPr sz="1600" b="0" i="0">
                <a:solidFill>
                  <a:schemeClr val="tx1"/>
                </a:solidFill>
              </a:rPr>
              <a:t>The structure is also your record: scripts in order, every output traceable to a script.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CLAUDE.md: memory at two levels</a:t>
            </a:r>
          </a:p>
        </p:txBody>
      </p:sp>
      <p:sp>
        <p:nvSpPr>
          <p:cNvPr id="3" name="Text Placeholder 2"/>
          <p:cNvSpPr>
            <a:spLocks noGrp="1"/>
          </p:cNvSpPr>
          <p:nvPr>
            <p:ph type="body" idx="12" sz="quarter"/>
          </p:nvPr>
        </p:nvSpPr>
        <p:spPr/>
        <p:txBody>
          <a:bodyPr/>
          <a:lstStyle/>
          <a:p>
            <a:r>
              <a:t>Read at the start of every session. Rules you write once instead of repeating</a:t>
            </a:r>
          </a:p>
        </p:txBody>
      </p:sp>
      <p:sp>
        <p:nvSpPr>
          <p:cNvPr id="4" name="Text Placeholder 3"/>
          <p:cNvSpPr>
            <a:spLocks noGrp="1"/>
          </p:cNvSpPr>
          <p:nvPr>
            <p:ph type="body" idx="14" sz="quarter"/>
          </p:nvPr>
        </p:nvSpPr>
        <p:spPr/>
        <p:txBody>
          <a:bodyPr/>
          <a:lstStyle/>
          <a:p>
            <a:r>
              <a:t>D · CLAUDE.md</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5445252" cy="237744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User_circle"/>
          <p:cNvSpPr/>
          <p:nvPr/>
        </p:nvSpPr>
        <p:spPr>
          <a:xfrm>
            <a:off x="832104" y="2240280"/>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User_white.png"/>
          <p:cNvPicPr>
            <a:picLocks noChangeAspect="1"/>
          </p:cNvPicPr>
          <p:nvPr/>
        </p:nvPicPr>
        <p:blipFill>
          <a:blip r:embed="rId3"/>
          <a:stretch>
            <a:fillRect/>
          </a:stretch>
        </p:blipFill>
        <p:spPr>
          <a:xfrm>
            <a:off x="1014984" y="2423160"/>
            <a:ext cx="365760" cy="365760"/>
          </a:xfrm>
          <a:prstGeom prst="rect">
            <a:avLst/>
          </a:prstGeom>
        </p:spPr>
      </p:pic>
      <p:sp>
        <p:nvSpPr>
          <p:cNvPr id="16" name="TextBox 15"/>
          <p:cNvSpPr txBox="1"/>
          <p:nvPr/>
        </p:nvSpPr>
        <p:spPr>
          <a:xfrm>
            <a:off x="1792224" y="2240280"/>
            <a:ext cx="3931920" cy="731520"/>
          </a:xfrm>
          <a:prstGeom prst="rect">
            <a:avLst/>
          </a:prstGeom>
          <a:noFill/>
        </p:spPr>
        <p:txBody>
          <a:bodyPr wrap="square" lIns="0" rIns="0" tIns="0" bIns="0" anchor="ctr">
            <a:spAutoFit/>
          </a:bodyPr>
          <a:lstStyle/>
          <a:p>
            <a:pPr algn="l"/>
            <a:r>
              <a:rPr sz="2600" b="1" i="0">
                <a:solidFill>
                  <a:schemeClr val="tx1"/>
                </a:solidFill>
              </a:rPr>
              <a:t>You</a:t>
            </a:r>
          </a:p>
        </p:txBody>
      </p:sp>
      <p:sp>
        <p:nvSpPr>
          <p:cNvPr id="17" name="TextBox 16"/>
          <p:cNvSpPr txBox="1"/>
          <p:nvPr/>
        </p:nvSpPr>
        <p:spPr>
          <a:xfrm>
            <a:off x="832104" y="3154680"/>
            <a:ext cx="4846320" cy="411480"/>
          </a:xfrm>
          <a:prstGeom prst="rect">
            <a:avLst/>
          </a:prstGeom>
          <a:noFill/>
        </p:spPr>
        <p:txBody>
          <a:bodyPr wrap="square" lIns="0" rIns="0" tIns="0" bIns="0" anchor="t">
            <a:spAutoFit/>
          </a:bodyPr>
          <a:lstStyle/>
          <a:p>
            <a:pPr algn="l"/>
            <a:r>
              <a:rPr sz="1700" b="1" i="0">
                <a:solidFill>
                  <a:schemeClr val="tx2"/>
                </a:solidFill>
                <a:latin typeface="Courier New"/>
              </a:rPr>
              <a:t>~/.claude/CLAUDE.md</a:t>
            </a:r>
          </a:p>
        </p:txBody>
      </p:sp>
      <p:sp>
        <p:nvSpPr>
          <p:cNvPr id="18" name="TextBox 17"/>
          <p:cNvSpPr txBox="1"/>
          <p:nvPr/>
        </p:nvSpPr>
        <p:spPr>
          <a:xfrm>
            <a:off x="832104" y="3611880"/>
            <a:ext cx="4846320" cy="548640"/>
          </a:xfrm>
          <a:prstGeom prst="rect">
            <a:avLst/>
          </a:prstGeom>
          <a:noFill/>
        </p:spPr>
        <p:txBody>
          <a:bodyPr wrap="square" lIns="0" rIns="0" tIns="0" bIns="0" anchor="t">
            <a:spAutoFit/>
          </a:bodyPr>
          <a:lstStyle/>
          <a:p>
            <a:pPr algn="l"/>
            <a:r>
              <a:rPr sz="1700" b="0" i="0">
                <a:solidFill>
                  <a:schemeClr val="tx1"/>
                </a:solidFill>
              </a:rPr>
              <a:t>How you work, in every project</a:t>
            </a:r>
          </a:p>
        </p:txBody>
      </p:sp>
      <p:sp>
        <p:nvSpPr>
          <p:cNvPr id="19" name="Rounded Rectangle 18"/>
          <p:cNvSpPr/>
          <p:nvPr/>
        </p:nvSpPr>
        <p:spPr>
          <a:xfrm>
            <a:off x="6231636" y="1920240"/>
            <a:ext cx="5445252" cy="2377440"/>
          </a:xfrm>
          <a:prstGeom prst="roundRect">
            <a:avLst>
              <a:gd name="adj" fmla="val 8000"/>
            </a:avLst>
          </a:prstGeom>
          <a:solidFill>
            <a:srgbClr val="F6E2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con_FaFolderOpen_circle"/>
          <p:cNvSpPr/>
          <p:nvPr/>
        </p:nvSpPr>
        <p:spPr>
          <a:xfrm>
            <a:off x="6551675" y="2240280"/>
            <a:ext cx="731520" cy="73152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Picture 20" descr="FaFolderOpen_white.png"/>
          <p:cNvPicPr>
            <a:picLocks noChangeAspect="1"/>
          </p:cNvPicPr>
          <p:nvPr/>
        </p:nvPicPr>
        <p:blipFill>
          <a:blip r:embed="rId4"/>
          <a:stretch>
            <a:fillRect/>
          </a:stretch>
        </p:blipFill>
        <p:spPr>
          <a:xfrm>
            <a:off x="6734555" y="2423160"/>
            <a:ext cx="365760" cy="365760"/>
          </a:xfrm>
          <a:prstGeom prst="rect">
            <a:avLst/>
          </a:prstGeom>
        </p:spPr>
      </p:pic>
      <p:sp>
        <p:nvSpPr>
          <p:cNvPr id="22" name="TextBox 21"/>
          <p:cNvSpPr txBox="1"/>
          <p:nvPr/>
        </p:nvSpPr>
        <p:spPr>
          <a:xfrm>
            <a:off x="7511796" y="2240280"/>
            <a:ext cx="3931920" cy="731520"/>
          </a:xfrm>
          <a:prstGeom prst="rect">
            <a:avLst/>
          </a:prstGeom>
          <a:noFill/>
        </p:spPr>
        <p:txBody>
          <a:bodyPr wrap="square" lIns="0" rIns="0" tIns="0" bIns="0" anchor="ctr">
            <a:spAutoFit/>
          </a:bodyPr>
          <a:lstStyle/>
          <a:p>
            <a:pPr algn="l"/>
            <a:r>
              <a:rPr sz="2600" b="1" i="0">
                <a:solidFill>
                  <a:schemeClr val="tx1"/>
                </a:solidFill>
              </a:rPr>
              <a:t>Project</a:t>
            </a:r>
          </a:p>
        </p:txBody>
      </p:sp>
      <p:sp>
        <p:nvSpPr>
          <p:cNvPr id="23" name="TextBox 22"/>
          <p:cNvSpPr txBox="1"/>
          <p:nvPr/>
        </p:nvSpPr>
        <p:spPr>
          <a:xfrm>
            <a:off x="6551675" y="3154680"/>
            <a:ext cx="4846320" cy="411480"/>
          </a:xfrm>
          <a:prstGeom prst="rect">
            <a:avLst/>
          </a:prstGeom>
          <a:noFill/>
        </p:spPr>
        <p:txBody>
          <a:bodyPr wrap="square" lIns="0" rIns="0" tIns="0" bIns="0" anchor="t">
            <a:spAutoFit/>
          </a:bodyPr>
          <a:lstStyle/>
          <a:p>
            <a:pPr algn="l"/>
            <a:r>
              <a:rPr sz="1700" b="1" i="0">
                <a:solidFill>
                  <a:schemeClr val="tx2"/>
                </a:solidFill>
                <a:latin typeface="Courier New"/>
              </a:rPr>
              <a:t>my_project/CLAUDE.md</a:t>
            </a:r>
          </a:p>
        </p:txBody>
      </p:sp>
      <p:sp>
        <p:nvSpPr>
          <p:cNvPr id="24" name="TextBox 23"/>
          <p:cNvSpPr txBox="1"/>
          <p:nvPr/>
        </p:nvSpPr>
        <p:spPr>
          <a:xfrm>
            <a:off x="6551675" y="3611880"/>
            <a:ext cx="4846320" cy="548640"/>
          </a:xfrm>
          <a:prstGeom prst="rect">
            <a:avLst/>
          </a:prstGeom>
          <a:noFill/>
        </p:spPr>
        <p:txBody>
          <a:bodyPr wrap="square" lIns="0" rIns="0" tIns="0" bIns="0" anchor="t">
            <a:spAutoFit/>
          </a:bodyPr>
          <a:lstStyle/>
          <a:p>
            <a:pPr algn="l"/>
            <a:r>
              <a:rPr sz="1700" b="0" i="0">
                <a:solidFill>
                  <a:schemeClr val="tx1"/>
                </a:solidFill>
              </a:rPr>
              <a:t>This study: question, data, folders, standards</a:t>
            </a:r>
          </a:p>
        </p:txBody>
      </p:sp>
      <p:sp>
        <p:nvSpPr>
          <p:cNvPr id="25" name="Rounded Rectangle 24"/>
          <p:cNvSpPr/>
          <p:nvPr/>
        </p:nvSpPr>
        <p:spPr>
          <a:xfrm>
            <a:off x="512064" y="4572000"/>
            <a:ext cx="11164824" cy="109728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32104" y="4572000"/>
            <a:ext cx="10524744" cy="1097280"/>
          </a:xfrm>
          <a:prstGeom prst="rect">
            <a:avLst/>
          </a:prstGeom>
          <a:noFill/>
        </p:spPr>
        <p:txBody>
          <a:bodyPr wrap="square" lIns="0" rIns="0" tIns="0" bIns="0" anchor="ctr">
            <a:spAutoFit/>
          </a:bodyPr>
          <a:lstStyle/>
          <a:p>
            <a:pPr algn="l">
              <a:spcAft>
                <a:spcPts val="400"/>
              </a:spcAft>
            </a:pPr>
            <a:r>
              <a:rPr sz="1700" b="1" i="0">
                <a:solidFill>
                  <a:schemeClr val="bg1"/>
                </a:solidFill>
              </a:rPr>
              <a:t>Files add up: </a:t>
            </a:r>
            <a:r>
              <a:rPr sz="1700" b="0" i="0">
                <a:solidFill>
                  <a:schemeClr val="bg1"/>
                </a:solidFill>
              </a:rPr>
              <a:t>Claude reads both, broad to specific.</a:t>
            </a:r>
          </a:p>
          <a:p>
            <a:pPr algn="l">
              <a:spcAft>
                <a:spcPts val="400"/>
              </a:spcAft>
            </a:pPr>
            <a:r>
              <a:rPr sz="1700" b="1" i="0">
                <a:solidFill>
                  <a:schemeClr val="bg1"/>
                </a:solidFill>
              </a:rPr>
              <a:t>Guidance, not a lock: </a:t>
            </a:r>
            <a:r>
              <a:rPr sz="1700" b="0" i="0">
                <a:solidFill>
                  <a:schemeClr val="bg1"/>
                </a:solidFill>
              </a:rPr>
              <a:t>back hard rules with real controls (.gitignore).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 user-level rule worth stealing: ask before acting</a:t>
            </a:r>
          </a:p>
        </p:txBody>
      </p:sp>
      <p:sp>
        <p:nvSpPr>
          <p:cNvPr id="3" name="Text Placeholder 2"/>
          <p:cNvSpPr>
            <a:spLocks noGrp="1"/>
          </p:cNvSpPr>
          <p:nvPr>
            <p:ph type="body" idx="12" sz="quarter"/>
          </p:nvPr>
        </p:nvSpPr>
        <p:spPr/>
        <p:txBody>
          <a:bodyPr/>
          <a:lstStyle/>
          <a:p>
            <a:r>
              <a:t>The Task Clarification Protocol, from the instructor's ~/.claude/CLAUDE.md</a:t>
            </a:r>
          </a:p>
        </p:txBody>
      </p:sp>
      <p:sp>
        <p:nvSpPr>
          <p:cNvPr id="4" name="Text Placeholder 3"/>
          <p:cNvSpPr>
            <a:spLocks noGrp="1"/>
          </p:cNvSpPr>
          <p:nvPr>
            <p:ph type="body" idx="14" sz="quarter"/>
          </p:nvPr>
        </p:nvSpPr>
        <p:spPr/>
        <p:txBody>
          <a:bodyPr/>
          <a:lstStyle/>
          <a:p>
            <a:r>
              <a:t>D · CLAUDE.md</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6675120"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786384" y="2240279"/>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6384" y="2240279"/>
            <a:ext cx="457200" cy="457200"/>
          </a:xfrm>
          <a:prstGeom prst="rect">
            <a:avLst/>
          </a:prstGeom>
          <a:noFill/>
        </p:spPr>
        <p:txBody>
          <a:bodyPr wrap="square" lIns="0" rIns="0" tIns="0" bIns="0" anchor="ctr">
            <a:spAutoFit/>
          </a:bodyPr>
          <a:lstStyle/>
          <a:p>
            <a:pPr algn="ctr"/>
            <a:r>
              <a:rPr sz="1700" b="1" i="0">
                <a:solidFill>
                  <a:schemeClr val="bg1"/>
                </a:solidFill>
              </a:rPr>
              <a:t>1</a:t>
            </a:r>
          </a:p>
        </p:txBody>
      </p:sp>
      <p:sp>
        <p:nvSpPr>
          <p:cNvPr id="16" name="TextBox 15"/>
          <p:cNvSpPr txBox="1"/>
          <p:nvPr/>
        </p:nvSpPr>
        <p:spPr>
          <a:xfrm>
            <a:off x="1426464" y="2194560"/>
            <a:ext cx="5577840" cy="685800"/>
          </a:xfrm>
          <a:prstGeom prst="rect">
            <a:avLst/>
          </a:prstGeom>
          <a:noFill/>
        </p:spPr>
        <p:txBody>
          <a:bodyPr wrap="square" lIns="0" rIns="0" tIns="0" bIns="0" anchor="ctr">
            <a:spAutoFit/>
          </a:bodyPr>
          <a:lstStyle/>
          <a:p>
            <a:pPr algn="l"/>
            <a:r>
              <a:rPr sz="1600" b="0" i="0">
                <a:solidFill>
                  <a:schemeClr val="tx1"/>
                </a:solidFill>
              </a:rPr>
              <a:t>Before any task: are there ambiguous requirements or several reasonable approaches?</a:t>
            </a:r>
          </a:p>
        </p:txBody>
      </p:sp>
      <p:sp>
        <p:nvSpPr>
          <p:cNvPr id="17" name="Oval 16"/>
          <p:cNvSpPr/>
          <p:nvPr/>
        </p:nvSpPr>
        <p:spPr>
          <a:xfrm>
            <a:off x="786384" y="301752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786384" y="3017520"/>
            <a:ext cx="457200" cy="457200"/>
          </a:xfrm>
          <a:prstGeom prst="rect">
            <a:avLst/>
          </a:prstGeom>
          <a:noFill/>
        </p:spPr>
        <p:txBody>
          <a:bodyPr wrap="square" lIns="0" rIns="0" tIns="0" bIns="0" anchor="ctr">
            <a:spAutoFit/>
          </a:bodyPr>
          <a:lstStyle/>
          <a:p>
            <a:pPr algn="ctr"/>
            <a:r>
              <a:rPr sz="1700" b="1" i="0">
                <a:solidFill>
                  <a:schemeClr val="bg1"/>
                </a:solidFill>
              </a:rPr>
              <a:t>2</a:t>
            </a:r>
          </a:p>
        </p:txBody>
      </p:sp>
      <p:sp>
        <p:nvSpPr>
          <p:cNvPr id="19" name="TextBox 18"/>
          <p:cNvSpPr txBox="1"/>
          <p:nvPr/>
        </p:nvSpPr>
        <p:spPr>
          <a:xfrm>
            <a:off x="1426464" y="2971800"/>
            <a:ext cx="5577840" cy="685800"/>
          </a:xfrm>
          <a:prstGeom prst="rect">
            <a:avLst/>
          </a:prstGeom>
          <a:noFill/>
        </p:spPr>
        <p:txBody>
          <a:bodyPr wrap="square" lIns="0" rIns="0" tIns="0" bIns="0" anchor="ctr">
            <a:spAutoFit/>
          </a:bodyPr>
          <a:lstStyle/>
          <a:p>
            <a:pPr algn="l"/>
            <a:r>
              <a:rPr sz="1600" b="1" i="0">
                <a:solidFill>
                  <a:schemeClr val="tx1"/>
                </a:solidFill>
              </a:rPr>
              <a:t>If so, STOP and ask first.</a:t>
            </a:r>
          </a:p>
        </p:txBody>
      </p:sp>
      <p:sp>
        <p:nvSpPr>
          <p:cNvPr id="20" name="Oval 19"/>
          <p:cNvSpPr/>
          <p:nvPr/>
        </p:nvSpPr>
        <p:spPr>
          <a:xfrm>
            <a:off x="786384" y="3794759"/>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786384" y="3794759"/>
            <a:ext cx="457200" cy="457200"/>
          </a:xfrm>
          <a:prstGeom prst="rect">
            <a:avLst/>
          </a:prstGeom>
          <a:noFill/>
        </p:spPr>
        <p:txBody>
          <a:bodyPr wrap="square" lIns="0" rIns="0" tIns="0" bIns="0" anchor="ctr">
            <a:spAutoFit/>
          </a:bodyPr>
          <a:lstStyle/>
          <a:p>
            <a:pPr algn="ctr"/>
            <a:r>
              <a:rPr sz="1700" b="1" i="0">
                <a:solidFill>
                  <a:schemeClr val="bg1"/>
                </a:solidFill>
              </a:rPr>
              <a:t>3</a:t>
            </a:r>
          </a:p>
        </p:txBody>
      </p:sp>
      <p:sp>
        <p:nvSpPr>
          <p:cNvPr id="22" name="TextBox 21"/>
          <p:cNvSpPr txBox="1"/>
          <p:nvPr/>
        </p:nvSpPr>
        <p:spPr>
          <a:xfrm>
            <a:off x="1426464" y="3749039"/>
            <a:ext cx="5577840" cy="685800"/>
          </a:xfrm>
          <a:prstGeom prst="rect">
            <a:avLst/>
          </a:prstGeom>
          <a:noFill/>
        </p:spPr>
        <p:txBody>
          <a:bodyPr wrap="square" lIns="0" rIns="0" tIns="0" bIns="0" anchor="ctr">
            <a:spAutoFit/>
          </a:bodyPr>
          <a:lstStyle/>
          <a:p>
            <a:pPr algn="l"/>
            <a:r>
              <a:rPr sz="1600" b="0" i="0">
                <a:solidFill>
                  <a:schemeClr val="tx1"/>
                </a:solidFill>
              </a:rPr>
              <a:t>Numbered multiple-choice options, 2–4 per question.</a:t>
            </a:r>
          </a:p>
        </p:txBody>
      </p:sp>
      <p:sp>
        <p:nvSpPr>
          <p:cNvPr id="23" name="Oval 22"/>
          <p:cNvSpPr/>
          <p:nvPr/>
        </p:nvSpPr>
        <p:spPr>
          <a:xfrm>
            <a:off x="786384" y="4571999"/>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86384" y="4571999"/>
            <a:ext cx="457200" cy="457200"/>
          </a:xfrm>
          <a:prstGeom prst="rect">
            <a:avLst/>
          </a:prstGeom>
          <a:noFill/>
        </p:spPr>
        <p:txBody>
          <a:bodyPr wrap="square" lIns="0" rIns="0" tIns="0" bIns="0" anchor="ctr">
            <a:spAutoFit/>
          </a:bodyPr>
          <a:lstStyle/>
          <a:p>
            <a:pPr algn="ctr"/>
            <a:r>
              <a:rPr sz="1700" b="1" i="0">
                <a:solidFill>
                  <a:schemeClr val="bg1"/>
                </a:solidFill>
              </a:rPr>
              <a:t>4</a:t>
            </a:r>
          </a:p>
        </p:txBody>
      </p:sp>
      <p:sp>
        <p:nvSpPr>
          <p:cNvPr id="25" name="TextBox 24"/>
          <p:cNvSpPr txBox="1"/>
          <p:nvPr/>
        </p:nvSpPr>
        <p:spPr>
          <a:xfrm>
            <a:off x="1426464" y="4526279"/>
            <a:ext cx="5577840" cy="685800"/>
          </a:xfrm>
          <a:prstGeom prst="rect">
            <a:avLst/>
          </a:prstGeom>
          <a:noFill/>
        </p:spPr>
        <p:txBody>
          <a:bodyPr wrap="square" lIns="0" rIns="0" tIns="0" bIns="0" anchor="ctr">
            <a:spAutoFit/>
          </a:bodyPr>
          <a:lstStyle/>
          <a:p>
            <a:pPr algn="l"/>
            <a:r>
              <a:rPr sz="1600" b="0" i="0">
                <a:solidFill>
                  <a:schemeClr val="tx1"/>
                </a:solidFill>
              </a:rPr>
              <a:t>Mark one [Recommended]; end with “Reply with the numbers (e.g., 1A, 2B).”</a:t>
            </a:r>
          </a:p>
        </p:txBody>
      </p:sp>
      <p:sp>
        <p:nvSpPr>
          <p:cNvPr id="26" name="TextBox 25"/>
          <p:cNvSpPr txBox="1"/>
          <p:nvPr/>
        </p:nvSpPr>
        <p:spPr>
          <a:xfrm>
            <a:off x="786384" y="5257800"/>
            <a:ext cx="6217920" cy="365760"/>
          </a:xfrm>
          <a:prstGeom prst="rect">
            <a:avLst/>
          </a:prstGeom>
          <a:noFill/>
        </p:spPr>
        <p:txBody>
          <a:bodyPr wrap="square" lIns="0" rIns="0" tIns="0" bIns="0" anchor="t">
            <a:spAutoFit/>
          </a:bodyPr>
          <a:lstStyle/>
          <a:p>
            <a:pPr algn="l"/>
            <a:r>
              <a:rPr sz="1600" b="1" i="0">
                <a:solidFill>
                  <a:schemeClr val="tx2"/>
                </a:solidFill>
              </a:rPr>
              <a:t>Do NOT proceed until the user confirms.</a:t>
            </a:r>
          </a:p>
        </p:txBody>
      </p:sp>
      <p:sp>
        <p:nvSpPr>
          <p:cNvPr id="27" name="Rounded Rectangle 26"/>
          <p:cNvSpPr/>
          <p:nvPr/>
        </p:nvSpPr>
        <p:spPr>
          <a:xfrm>
            <a:off x="7498079" y="1920240"/>
            <a:ext cx="4178808" cy="37947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818119" y="2194560"/>
            <a:ext cx="3538728" cy="2011680"/>
          </a:xfrm>
          <a:prstGeom prst="rect">
            <a:avLst/>
          </a:prstGeom>
          <a:noFill/>
        </p:spPr>
        <p:txBody>
          <a:bodyPr wrap="square" lIns="0" rIns="0" tIns="0" bIns="0" anchor="t">
            <a:spAutoFit/>
          </a:bodyPr>
          <a:lstStyle/>
          <a:p>
            <a:pPr algn="l"/>
            <a:r>
              <a:rPr sz="3000" b="1" i="0">
                <a:solidFill>
                  <a:schemeClr val="bg1"/>
                </a:solidFill>
              </a:rPr>
              <a:t>The more it asks, the better the output.</a:t>
            </a:r>
          </a:p>
        </p:txBody>
      </p:sp>
      <p:sp>
        <p:nvSpPr>
          <p:cNvPr id="29" name="TextBox 28"/>
          <p:cNvSpPr txBox="1"/>
          <p:nvPr/>
        </p:nvSpPr>
        <p:spPr>
          <a:xfrm>
            <a:off x="7818119" y="4251960"/>
            <a:ext cx="3538728" cy="1280160"/>
          </a:xfrm>
          <a:prstGeom prst="rect">
            <a:avLst/>
          </a:prstGeom>
          <a:noFill/>
        </p:spPr>
        <p:txBody>
          <a:bodyPr wrap="square" lIns="0" rIns="0" tIns="0" bIns="0" anchor="t">
            <a:spAutoFit/>
          </a:bodyPr>
          <a:lstStyle/>
          <a:p>
            <a:pPr algn="l"/>
            <a:r>
              <a:rPr sz="1600" b="0" i="0">
                <a:solidFill>
                  <a:schemeClr val="bg1"/>
                </a:solidFill>
              </a:rPr>
              <a:t>Hidden decisions become deliberate ones, and “1A, 2B, 3A” takes five seconds to answer.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Anatomy of a project CLAUDE.md, and rules that work</a:t>
            </a:r>
          </a:p>
        </p:txBody>
      </p:sp>
      <p:sp>
        <p:nvSpPr>
          <p:cNvPr id="3" name="Text Placeholder 2"/>
          <p:cNvSpPr>
            <a:spLocks noGrp="1"/>
          </p:cNvSpPr>
          <p:nvPr>
            <p:ph type="body" idx="12" sz="quarter"/>
          </p:nvPr>
        </p:nvSpPr>
        <p:spPr/>
        <p:txBody>
          <a:bodyPr/>
          <a:lstStyle/>
          <a:p>
            <a:r>
              <a:t>Template: part2_setup/project_template/CLAUDE.md</a:t>
            </a:r>
          </a:p>
        </p:txBody>
      </p:sp>
      <p:sp>
        <p:nvSpPr>
          <p:cNvPr id="4" name="Text Placeholder 3"/>
          <p:cNvSpPr>
            <a:spLocks noGrp="1"/>
          </p:cNvSpPr>
          <p:nvPr>
            <p:ph type="body" idx="14" sz="quarter"/>
          </p:nvPr>
        </p:nvSpPr>
        <p:spPr/>
        <p:txBody>
          <a:bodyPr/>
          <a:lstStyle/>
          <a:p>
            <a:r>
              <a:t>D · CLAUDE.md</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57784" y="1920240"/>
            <a:ext cx="1051560" cy="685800"/>
          </a:xfrm>
          <a:prstGeom prst="rect">
            <a:avLst/>
          </a:prstGeom>
          <a:noFill/>
        </p:spPr>
        <p:txBody>
          <a:bodyPr wrap="square" lIns="0" rIns="0" tIns="0" bIns="0" anchor="ctr">
            <a:spAutoFit/>
          </a:bodyPr>
          <a:lstStyle/>
          <a:p>
            <a:pPr algn="ctr"/>
            <a:r>
              <a:rPr sz="1400" b="1" i="0">
                <a:solidFill>
                  <a:schemeClr val="tx1"/>
                </a:solidFill>
              </a:rPr>
              <a:t>1 Overview</a:t>
            </a:r>
          </a:p>
        </p:txBody>
      </p:sp>
      <p:sp>
        <p:nvSpPr>
          <p:cNvPr id="15" name="Rounded Rectangle 14"/>
          <p:cNvSpPr/>
          <p:nvPr/>
        </p:nvSpPr>
        <p:spPr>
          <a:xfrm>
            <a:off x="1764792"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810512" y="1920240"/>
            <a:ext cx="1051560" cy="685800"/>
          </a:xfrm>
          <a:prstGeom prst="rect">
            <a:avLst/>
          </a:prstGeom>
          <a:noFill/>
        </p:spPr>
        <p:txBody>
          <a:bodyPr wrap="square" lIns="0" rIns="0" tIns="0" bIns="0" anchor="ctr">
            <a:spAutoFit/>
          </a:bodyPr>
          <a:lstStyle/>
          <a:p>
            <a:pPr algn="ctr"/>
            <a:r>
              <a:rPr sz="1400" b="1" i="0">
                <a:solidFill>
                  <a:schemeClr val="tx1"/>
                </a:solidFill>
              </a:rPr>
              <a:t>2 Folder contract</a:t>
            </a:r>
          </a:p>
        </p:txBody>
      </p:sp>
      <p:sp>
        <p:nvSpPr>
          <p:cNvPr id="17" name="Rounded Rectangle 16"/>
          <p:cNvSpPr/>
          <p:nvPr/>
        </p:nvSpPr>
        <p:spPr>
          <a:xfrm>
            <a:off x="3017520"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063240" y="1920240"/>
            <a:ext cx="1051560" cy="685800"/>
          </a:xfrm>
          <a:prstGeom prst="rect">
            <a:avLst/>
          </a:prstGeom>
          <a:noFill/>
        </p:spPr>
        <p:txBody>
          <a:bodyPr wrap="square" lIns="0" rIns="0" tIns="0" bIns="0" anchor="ctr">
            <a:spAutoFit/>
          </a:bodyPr>
          <a:lstStyle/>
          <a:p>
            <a:pPr algn="ctr"/>
            <a:r>
              <a:rPr sz="1400" b="1" i="0">
                <a:solidFill>
                  <a:schemeClr val="tx1"/>
                </a:solidFill>
              </a:rPr>
              <a:t>3 Script naming</a:t>
            </a:r>
          </a:p>
        </p:txBody>
      </p:sp>
      <p:sp>
        <p:nvSpPr>
          <p:cNvPr id="19" name="Rounded Rectangle 18"/>
          <p:cNvSpPr/>
          <p:nvPr/>
        </p:nvSpPr>
        <p:spPr>
          <a:xfrm>
            <a:off x="4270248"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315968" y="1920240"/>
            <a:ext cx="1051560" cy="685800"/>
          </a:xfrm>
          <a:prstGeom prst="rect">
            <a:avLst/>
          </a:prstGeom>
          <a:noFill/>
        </p:spPr>
        <p:txBody>
          <a:bodyPr wrap="square" lIns="0" rIns="0" tIns="0" bIns="0" anchor="ctr">
            <a:spAutoFit/>
          </a:bodyPr>
          <a:lstStyle/>
          <a:p>
            <a:pPr algn="ctr"/>
            <a:r>
              <a:rPr sz="1400" b="1" i="0">
                <a:solidFill>
                  <a:schemeClr val="tx1"/>
                </a:solidFill>
              </a:rPr>
              <a:t>4 R conventions</a:t>
            </a:r>
          </a:p>
        </p:txBody>
      </p:sp>
      <p:sp>
        <p:nvSpPr>
          <p:cNvPr id="21" name="Rounded Rectangle 20"/>
          <p:cNvSpPr/>
          <p:nvPr/>
        </p:nvSpPr>
        <p:spPr>
          <a:xfrm>
            <a:off x="5522976" y="1920240"/>
            <a:ext cx="1143000" cy="68580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568696" y="1920240"/>
            <a:ext cx="1051560" cy="685800"/>
          </a:xfrm>
          <a:prstGeom prst="rect">
            <a:avLst/>
          </a:prstGeom>
          <a:noFill/>
        </p:spPr>
        <p:txBody>
          <a:bodyPr wrap="square" lIns="0" rIns="0" tIns="0" bIns="0" anchor="ctr">
            <a:spAutoFit/>
          </a:bodyPr>
          <a:lstStyle/>
          <a:p>
            <a:pPr algn="ctr"/>
            <a:r>
              <a:rPr sz="1400" b="1" i="0">
                <a:solidFill>
                  <a:schemeClr val="bg1"/>
                </a:solidFill>
              </a:rPr>
              <a:t>5 Data security</a:t>
            </a:r>
          </a:p>
        </p:txBody>
      </p:sp>
      <p:sp>
        <p:nvSpPr>
          <p:cNvPr id="23" name="Rounded Rectangle 22"/>
          <p:cNvSpPr/>
          <p:nvPr/>
        </p:nvSpPr>
        <p:spPr>
          <a:xfrm>
            <a:off x="6775704"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821424" y="1920240"/>
            <a:ext cx="1051560" cy="685800"/>
          </a:xfrm>
          <a:prstGeom prst="rect">
            <a:avLst/>
          </a:prstGeom>
          <a:noFill/>
        </p:spPr>
        <p:txBody>
          <a:bodyPr wrap="square" lIns="0" rIns="0" tIns="0" bIns="0" anchor="ctr">
            <a:spAutoFit/>
          </a:bodyPr>
          <a:lstStyle/>
          <a:p>
            <a:pPr algn="ctr"/>
            <a:r>
              <a:rPr sz="1400" b="1" i="0">
                <a:solidFill>
                  <a:schemeClr val="tx1"/>
                </a:solidFill>
              </a:rPr>
              <a:t>6 Analysis standards</a:t>
            </a:r>
          </a:p>
        </p:txBody>
      </p:sp>
      <p:sp>
        <p:nvSpPr>
          <p:cNvPr id="25" name="Rounded Rectangle 24"/>
          <p:cNvSpPr/>
          <p:nvPr/>
        </p:nvSpPr>
        <p:spPr>
          <a:xfrm>
            <a:off x="8028432"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074152" y="1920240"/>
            <a:ext cx="1051560" cy="685800"/>
          </a:xfrm>
          <a:prstGeom prst="rect">
            <a:avLst/>
          </a:prstGeom>
          <a:noFill/>
        </p:spPr>
        <p:txBody>
          <a:bodyPr wrap="square" lIns="0" rIns="0" tIns="0" bIns="0" anchor="ctr">
            <a:spAutoFit/>
          </a:bodyPr>
          <a:lstStyle/>
          <a:p>
            <a:pPr algn="ctr"/>
            <a:r>
              <a:rPr sz="1400" b="1" i="0">
                <a:solidFill>
                  <a:schemeClr val="tx1"/>
                </a:solidFill>
              </a:rPr>
              <a:t>7 Writing</a:t>
            </a:r>
          </a:p>
        </p:txBody>
      </p:sp>
      <p:sp>
        <p:nvSpPr>
          <p:cNvPr id="27" name="Rounded Rectangle 26"/>
          <p:cNvSpPr/>
          <p:nvPr/>
        </p:nvSpPr>
        <p:spPr>
          <a:xfrm>
            <a:off x="9281160"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326880" y="1920240"/>
            <a:ext cx="1051560" cy="685800"/>
          </a:xfrm>
          <a:prstGeom prst="rect">
            <a:avLst/>
          </a:prstGeom>
          <a:noFill/>
        </p:spPr>
        <p:txBody>
          <a:bodyPr wrap="square" lIns="0" rIns="0" tIns="0" bIns="0" anchor="ctr">
            <a:spAutoFit/>
          </a:bodyPr>
          <a:lstStyle/>
          <a:p>
            <a:pPr algn="ctr"/>
            <a:r>
              <a:rPr sz="1400" b="1" i="0">
                <a:solidFill>
                  <a:schemeClr val="tx1"/>
                </a:solidFill>
              </a:rPr>
              <a:t>8 Working agreement</a:t>
            </a:r>
          </a:p>
        </p:txBody>
      </p:sp>
      <p:sp>
        <p:nvSpPr>
          <p:cNvPr id="29" name="Rounded Rectangle 28"/>
          <p:cNvSpPr/>
          <p:nvPr/>
        </p:nvSpPr>
        <p:spPr>
          <a:xfrm>
            <a:off x="10533888" y="1920240"/>
            <a:ext cx="1143000" cy="68580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579608" y="1920240"/>
            <a:ext cx="1051560" cy="685800"/>
          </a:xfrm>
          <a:prstGeom prst="rect">
            <a:avLst/>
          </a:prstGeom>
          <a:noFill/>
        </p:spPr>
        <p:txBody>
          <a:bodyPr wrap="square" lIns="0" rIns="0" tIns="0" bIns="0" anchor="ctr">
            <a:spAutoFit/>
          </a:bodyPr>
          <a:lstStyle/>
          <a:p>
            <a:pPr algn="ctr"/>
            <a:r>
              <a:rPr sz="1400" b="1" i="0">
                <a:solidFill>
                  <a:schemeClr val="tx1"/>
                </a:solidFill>
              </a:rPr>
              <a:t>9 Project log</a:t>
            </a:r>
          </a:p>
        </p:txBody>
      </p:sp>
      <p:graphicFrame>
        <p:nvGraphicFramePr>
          <p:cNvPr id="31" name="Table 30"/>
          <p:cNvGraphicFramePr>
            <a:graphicFrameLocks noGrp="1"/>
          </p:cNvGraphicFramePr>
          <p:nvPr/>
        </p:nvGraphicFramePr>
        <p:xfrm>
          <a:off x="512064" y="2834640"/>
          <a:ext cx="11164823" cy="2084832"/>
        </p:xfrm>
        <a:graphic>
          <a:graphicData uri="http://schemas.openxmlformats.org/drawingml/2006/table">
            <a:tbl>
              <a:tblPr firstRow="1">
                <a:tableStyleId>{5C22544A-7EE6-4342-B048-85BDC9FD1C3A}</a:tableStyleId>
              </a:tblPr>
              <a:tblGrid>
                <a:gridCol w="3291840"/>
                <a:gridCol w="7872983"/>
              </a:tblGrid>
              <a:tr h="438912">
                <a:tc>
                  <a:txBody>
                    <a:bodyPr wrap="square"/>
                    <a:lstStyle/>
                    <a:p>
                      <a:r>
                        <a:rPr sz="1600" b="1">
                          <a:solidFill>
                            <a:schemeClr val="bg1"/>
                          </a:solidFill>
                        </a:rPr>
                        <a:t>✘  Vague</a:t>
                      </a:r>
                    </a:p>
                  </a:txBody>
                  <a:tcPr marL="91440" marR="91440" marT="36576" marB="36576" anchor="ctr">
                    <a:solidFill>
                      <a:schemeClr val="tx2"/>
                    </a:solidFill>
                  </a:tcPr>
                </a:tc>
                <a:tc>
                  <a:txBody>
                    <a:bodyPr wrap="square"/>
                    <a:lstStyle/>
                    <a:p>
                      <a:r>
                        <a:rPr sz="1600" b="1">
                          <a:solidFill>
                            <a:schemeClr val="bg1"/>
                          </a:solidFill>
                        </a:rPr>
                        <a:t>✔  Specific and checkable</a:t>
                      </a:r>
                    </a:p>
                  </a:txBody>
                  <a:tcPr marL="91440" marR="91440" marT="36576" marB="36576" anchor="ctr">
                    <a:solidFill>
                      <a:schemeClr val="tx2"/>
                    </a:solidFill>
                  </a:tcPr>
                </a:tc>
              </a:tr>
              <a:tr h="548640">
                <a:tc>
                  <a:txBody>
                    <a:bodyPr wrap="square"/>
                    <a:lstStyle/>
                    <a:p>
                      <a:r>
                        <a:rPr sz="1600" b="0">
                          <a:solidFill>
                            <a:schemeClr val="tx1"/>
                          </a:solidFill>
                        </a:rPr>
                        <a:t>Be careful with the data.</a:t>
                      </a:r>
                    </a:p>
                  </a:txBody>
                  <a:tcPr marL="91440" marR="91440" marT="36576" marB="36576" anchor="ctr">
                    <a:solidFill>
                      <a:schemeClr val="bg1"/>
                    </a:solidFill>
                  </a:tcPr>
                </a:tc>
                <a:tc>
                  <a:txBody>
                    <a:bodyPr wrap="square"/>
                    <a:lstStyle/>
                    <a:p>
                      <a:r>
                        <a:rPr sz="1600" b="0">
                          <a:solidFill>
                            <a:schemeClr val="tx1"/>
                          </a:solidFill>
                        </a:rPr>
                        <a:t>Never create, modify, rename, or delete anything in data_raw/.</a:t>
                      </a:r>
                    </a:p>
                  </a:txBody>
                  <a:tcPr marL="91440" marR="91440" marT="36576" marB="36576" anchor="ctr">
                    <a:solidFill>
                      <a:schemeClr val="bg1"/>
                    </a:solidFill>
                  </a:tcPr>
                </a:tc>
              </a:tr>
              <a:tr h="548640">
                <a:tc>
                  <a:txBody>
                    <a:bodyPr wrap="square"/>
                    <a:lstStyle/>
                    <a:p>
                      <a:r>
                        <a:rPr sz="1600" b="0">
                          <a:solidFill>
                            <a:schemeClr val="tx1"/>
                          </a:solidFill>
                        </a:rPr>
                        <a:t>Protect privacy.</a:t>
                      </a:r>
                    </a:p>
                  </a:txBody>
                  <a:tcPr marL="91440" marR="91440" marT="36576" marB="36576" anchor="ctr">
                    <a:solidFill>
                      <a:schemeClr val="bg1"/>
                    </a:solidFill>
                  </a:tcPr>
                </a:tc>
                <a:tc>
                  <a:txBody>
                    <a:bodyPr wrap="square"/>
                    <a:lstStyle/>
                    <a:p>
                      <a:r>
                        <a:rPr sz="1600" b="0">
                          <a:solidFill>
                            <a:schemeClr val="tx1"/>
                          </a:solidFill>
                        </a:rPr>
                        <a:t>Never print individual records; use glimpse(), summary(), counts.</a:t>
                      </a:r>
                    </a:p>
                  </a:txBody>
                  <a:tcPr marL="91440" marR="91440" marT="36576" marB="36576" anchor="ctr">
                    <a:solidFill>
                      <a:schemeClr val="bg1"/>
                    </a:solidFill>
                  </a:tcPr>
                </a:tc>
              </a:tr>
              <a:tr h="548640">
                <a:tc>
                  <a:txBody>
                    <a:bodyPr wrap="square"/>
                    <a:lstStyle/>
                    <a:p>
                      <a:r>
                        <a:rPr sz="1600" b="0">
                          <a:solidFill>
                            <a:schemeClr val="tx1"/>
                          </a:solidFill>
                        </a:rPr>
                        <a:t>Cite sources.</a:t>
                      </a:r>
                    </a:p>
                  </a:txBody>
                  <a:tcPr marL="91440" marR="91440" marT="36576" marB="36576" anchor="ctr">
                    <a:solidFill>
                      <a:schemeClr val="bg1"/>
                    </a:solidFill>
                  </a:tcPr>
                </a:tc>
                <a:tc>
                  <a:txBody>
                    <a:bodyPr wrap="square"/>
                    <a:lstStyle/>
                    <a:p>
                      <a:r>
                        <a:rPr sz="1600" b="0">
                          <a:solidFill>
                            <a:schemeClr val="tx1"/>
                          </a:solidFill>
                        </a:rPr>
                        <a:t>Never invent citations; write [CITATION NEEDED].</a:t>
                      </a:r>
                    </a:p>
                  </a:txBody>
                  <a:tcPr marL="91440" marR="91440" marT="36576" marB="36576" anchor="ctr">
                    <a:solidFill>
                      <a:schemeClr val="bg1"/>
                    </a:solidFill>
                  </a:tcPr>
                </a:tc>
              </a:tr>
            </a:tbl>
          </a:graphicData>
        </a:graphic>
      </p:graphicFrame>
      <p:pic>
        <p:nvPicPr>
          <p:cNvPr id="32" name="Picture 31" descr="FaListOl_red.png"/>
          <p:cNvPicPr>
            <a:picLocks noChangeAspect="1"/>
          </p:cNvPicPr>
          <p:nvPr/>
        </p:nvPicPr>
        <p:blipFill>
          <a:blip r:embed="rId3"/>
          <a:stretch>
            <a:fillRect/>
          </a:stretch>
        </p:blipFill>
        <p:spPr>
          <a:xfrm>
            <a:off x="512064" y="5257800"/>
            <a:ext cx="365760" cy="365760"/>
          </a:xfrm>
          <a:prstGeom prst="rect">
            <a:avLst/>
          </a:prstGeom>
        </p:spPr>
      </p:pic>
      <p:sp>
        <p:nvSpPr>
          <p:cNvPr id="33" name="TextBox 32"/>
          <p:cNvSpPr txBox="1"/>
          <p:nvPr/>
        </p:nvSpPr>
        <p:spPr>
          <a:xfrm>
            <a:off x="1060704" y="5193792"/>
            <a:ext cx="10515600" cy="502920"/>
          </a:xfrm>
          <a:prstGeom prst="rect">
            <a:avLst/>
          </a:prstGeom>
          <a:noFill/>
        </p:spPr>
        <p:txBody>
          <a:bodyPr wrap="square" lIns="0" rIns="0" tIns="0" bIns="0" anchor="ctr">
            <a:spAutoFit/>
          </a:bodyPr>
          <a:lstStyle/>
          <a:p>
            <a:pPr algn="l"/>
            <a:r>
              <a:rPr sz="1600" b="1" i="0">
                <a:solidFill>
                  <a:schemeClr val="tx1"/>
                </a:solidFill>
              </a:rPr>
              <a:t>Keep it under 200 lines. </a:t>
            </a:r>
            <a:r>
              <a:rPr sz="1600" b="0" i="0">
                <a:solidFill>
                  <a:schemeClr val="tx1"/>
                </a:solidFill>
              </a:rPr>
              <a:t>For each line: would removing it cause a mistake?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What never goes in, and how to draft it</a:t>
            </a:r>
          </a:p>
        </p:txBody>
      </p:sp>
      <p:sp>
        <p:nvSpPr>
          <p:cNvPr id="3" name="Text Placeholder 2"/>
          <p:cNvSpPr>
            <a:spLocks noGrp="1"/>
          </p:cNvSpPr>
          <p:nvPr>
            <p:ph type="body" idx="12" sz="quarter"/>
          </p:nvPr>
        </p:nvSpPr>
        <p:spPr/>
        <p:txBody>
          <a:bodyPr/>
          <a:lstStyle/>
          <a:p>
            <a:r>
              <a:t>Treat CLAUDE.md as something you'd publish</a:t>
            </a:r>
          </a:p>
        </p:txBody>
      </p:sp>
      <p:sp>
        <p:nvSpPr>
          <p:cNvPr id="4" name="Text Placeholder 3"/>
          <p:cNvSpPr>
            <a:spLocks noGrp="1"/>
          </p:cNvSpPr>
          <p:nvPr>
            <p:ph type="body" idx="14" sz="quarter"/>
          </p:nvPr>
        </p:nvSpPr>
        <p:spPr/>
        <p:txBody>
          <a:bodyPr/>
          <a:lstStyle/>
          <a:p>
            <a:r>
              <a:t>D · CLAUDE.md</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Rounded Rectangle 12"/>
          <p:cNvSpPr/>
          <p:nvPr/>
        </p:nvSpPr>
        <p:spPr>
          <a:xfrm>
            <a:off x="512064" y="1920240"/>
            <a:ext cx="3538728" cy="37947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icon_FaBan_circle"/>
          <p:cNvSpPr/>
          <p:nvPr/>
        </p:nvSpPr>
        <p:spPr>
          <a:xfrm>
            <a:off x="786384" y="2194560"/>
            <a:ext cx="640080" cy="64008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5" name="Picture 14" descr="FaBan_red.png"/>
          <p:cNvPicPr>
            <a:picLocks noChangeAspect="1"/>
          </p:cNvPicPr>
          <p:nvPr/>
        </p:nvPicPr>
        <p:blipFill>
          <a:blip r:embed="rId3"/>
          <a:stretch>
            <a:fillRect/>
          </a:stretch>
        </p:blipFill>
        <p:spPr>
          <a:xfrm>
            <a:off x="946404" y="2354579"/>
            <a:ext cx="320040" cy="320040"/>
          </a:xfrm>
          <a:prstGeom prst="rect">
            <a:avLst/>
          </a:prstGeom>
        </p:spPr>
      </p:pic>
      <p:sp>
        <p:nvSpPr>
          <p:cNvPr id="16" name="TextBox 15"/>
          <p:cNvSpPr txBox="1"/>
          <p:nvPr/>
        </p:nvSpPr>
        <p:spPr>
          <a:xfrm>
            <a:off x="1563624" y="2194560"/>
            <a:ext cx="2258568" cy="640080"/>
          </a:xfrm>
          <a:prstGeom prst="rect">
            <a:avLst/>
          </a:prstGeom>
          <a:noFill/>
        </p:spPr>
        <p:txBody>
          <a:bodyPr wrap="square" lIns="0" rIns="0" tIns="0" bIns="0" anchor="ctr">
            <a:spAutoFit/>
          </a:bodyPr>
          <a:lstStyle/>
          <a:p>
            <a:pPr algn="l"/>
            <a:r>
              <a:rPr sz="2400" b="1" i="0">
                <a:solidFill>
                  <a:schemeClr val="bg1"/>
                </a:solidFill>
              </a:rPr>
              <a:t>Never</a:t>
            </a:r>
          </a:p>
        </p:txBody>
      </p:sp>
      <p:sp>
        <p:nvSpPr>
          <p:cNvPr id="17" name="TextBox 16"/>
          <p:cNvSpPr txBox="1"/>
          <p:nvPr/>
        </p:nvSpPr>
        <p:spPr>
          <a:xfrm>
            <a:off x="786384" y="3108960"/>
            <a:ext cx="2990088" cy="2468880"/>
          </a:xfrm>
          <a:prstGeom prst="rect">
            <a:avLst/>
          </a:prstGeom>
          <a:noFill/>
        </p:spPr>
        <p:txBody>
          <a:bodyPr wrap="square" lIns="0" rIns="0" tIns="0" bIns="0" anchor="t">
            <a:spAutoFit/>
          </a:bodyPr>
          <a:lstStyle/>
          <a:p>
            <a:pPr algn="l">
              <a:spcAft>
                <a:spcPts val="1000"/>
              </a:spcAft>
            </a:pPr>
            <a:r>
              <a:rPr sz="1700" b="0" i="0">
                <a:solidFill>
                  <a:schemeClr val="bg1"/>
                </a:solidFill>
              </a:rPr>
              <a:t>Passwords, API keys, tokens</a:t>
            </a:r>
          </a:p>
          <a:p>
            <a:pPr algn="l">
              <a:spcAft>
                <a:spcPts val="1000"/>
              </a:spcAft>
            </a:pPr>
            <a:r>
              <a:rPr sz="1700" b="0" i="0">
                <a:solidFill>
                  <a:schemeClr val="bg1"/>
                </a:solidFill>
              </a:rPr>
              <a:t>Identifiable data or example records</a:t>
            </a:r>
          </a:p>
          <a:p>
            <a:pPr algn="l">
              <a:spcAft>
                <a:spcPts val="1000"/>
              </a:spcAft>
            </a:pPr>
            <a:r>
              <a:rPr sz="1700" b="0" i="0">
                <a:solidFill>
                  <a:schemeClr val="bg1"/>
                </a:solidFill>
              </a:rPr>
              <a:t>Access instructions for restricted data</a:t>
            </a:r>
          </a:p>
        </p:txBody>
      </p:sp>
      <p:sp>
        <p:nvSpPr>
          <p:cNvPr id="18" name="Rounded Rectangle 17"/>
          <p:cNvSpPr/>
          <p:nvPr/>
        </p:nvSpPr>
        <p:spPr>
          <a:xfrm>
            <a:off x="4325112" y="1920240"/>
            <a:ext cx="3538728"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con_FaPenToSquare_circle"/>
          <p:cNvSpPr/>
          <p:nvPr/>
        </p:nvSpPr>
        <p:spPr>
          <a:xfrm>
            <a:off x="4599432"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 name="Picture 19" descr="FaPenToSquare_white.png"/>
          <p:cNvPicPr>
            <a:picLocks noChangeAspect="1"/>
          </p:cNvPicPr>
          <p:nvPr/>
        </p:nvPicPr>
        <p:blipFill>
          <a:blip r:embed="rId4"/>
          <a:stretch>
            <a:fillRect/>
          </a:stretch>
        </p:blipFill>
        <p:spPr>
          <a:xfrm>
            <a:off x="4759452" y="2354579"/>
            <a:ext cx="320040" cy="320040"/>
          </a:xfrm>
          <a:prstGeom prst="rect">
            <a:avLst/>
          </a:prstGeom>
        </p:spPr>
      </p:pic>
      <p:sp>
        <p:nvSpPr>
          <p:cNvPr id="21" name="TextBox 20"/>
          <p:cNvSpPr txBox="1"/>
          <p:nvPr/>
        </p:nvSpPr>
        <p:spPr>
          <a:xfrm>
            <a:off x="5376672" y="2194560"/>
            <a:ext cx="2258568" cy="640080"/>
          </a:xfrm>
          <a:prstGeom prst="rect">
            <a:avLst/>
          </a:prstGeom>
          <a:noFill/>
        </p:spPr>
        <p:txBody>
          <a:bodyPr wrap="square" lIns="0" rIns="0" tIns="0" bIns="0" anchor="ctr">
            <a:spAutoFit/>
          </a:bodyPr>
          <a:lstStyle/>
          <a:p>
            <a:pPr algn="l"/>
            <a:r>
              <a:rPr sz="2400" b="1" i="0">
                <a:solidFill>
                  <a:schemeClr val="tx1"/>
                </a:solidFill>
              </a:rPr>
              <a:t>Draft</a:t>
            </a:r>
          </a:p>
        </p:txBody>
      </p:sp>
      <p:sp>
        <p:nvSpPr>
          <p:cNvPr id="22" name="TextBox 21"/>
          <p:cNvSpPr txBox="1"/>
          <p:nvPr/>
        </p:nvSpPr>
        <p:spPr>
          <a:xfrm>
            <a:off x="4599432" y="3108960"/>
            <a:ext cx="2990088" cy="2468880"/>
          </a:xfrm>
          <a:prstGeom prst="rect">
            <a:avLst/>
          </a:prstGeom>
          <a:noFill/>
        </p:spPr>
        <p:txBody>
          <a:bodyPr wrap="square" lIns="0" rIns="0" tIns="0" bIns="0" anchor="t">
            <a:spAutoFit/>
          </a:bodyPr>
          <a:lstStyle/>
          <a:p>
            <a:pPr algn="l">
              <a:spcAft>
                <a:spcPts val="1000"/>
              </a:spcAft>
            </a:pPr>
            <a:r>
              <a:rPr sz="1700" b="0" i="0">
                <a:solidFill>
                  <a:schemeClr val="tx1"/>
                </a:solidFill>
              </a:rPr>
              <a:t>Gemini (free) for the research-question and standards prose</a:t>
            </a:r>
          </a:p>
          <a:p>
            <a:pPr algn="l">
              <a:spcAft>
                <a:spcPts val="1000"/>
              </a:spcAft>
            </a:pPr>
            <a:r>
              <a:rPr sz="1700" b="0" i="0">
                <a:solidFill>
                  <a:schemeClr val="tx1"/>
                </a:solidFill>
              </a:rPr>
              <a:t>Refine inside the project with Claude</a:t>
            </a:r>
          </a:p>
          <a:p>
            <a:pPr algn="l">
              <a:spcAft>
                <a:spcPts val="1000"/>
              </a:spcAft>
            </a:pPr>
            <a:r>
              <a:rPr sz="1700" b="0" i="0">
                <a:solidFill>
                  <a:schemeClr val="tx1"/>
                </a:solidFill>
              </a:rPr>
              <a:t>/init can generate a starter</a:t>
            </a:r>
          </a:p>
        </p:txBody>
      </p:sp>
      <p:sp>
        <p:nvSpPr>
          <p:cNvPr id="23" name="Rounded Rectangle 22"/>
          <p:cNvSpPr/>
          <p:nvPr/>
        </p:nvSpPr>
        <p:spPr>
          <a:xfrm>
            <a:off x="8138160" y="1920240"/>
            <a:ext cx="3538728" cy="3794760"/>
          </a:xfrm>
          <a:prstGeom prst="roundRect">
            <a:avLst>
              <a:gd name="adj" fmla="val 800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con_FaRotate_circle"/>
          <p:cNvSpPr/>
          <p:nvPr/>
        </p:nvSpPr>
        <p:spPr>
          <a:xfrm>
            <a:off x="8412480" y="2194560"/>
            <a:ext cx="640080" cy="64008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Picture 24" descr="FaRotate_white.png"/>
          <p:cNvPicPr>
            <a:picLocks noChangeAspect="1"/>
          </p:cNvPicPr>
          <p:nvPr/>
        </p:nvPicPr>
        <p:blipFill>
          <a:blip r:embed="rId5"/>
          <a:stretch>
            <a:fillRect/>
          </a:stretch>
        </p:blipFill>
        <p:spPr>
          <a:xfrm>
            <a:off x="8572500" y="2354579"/>
            <a:ext cx="320040" cy="320040"/>
          </a:xfrm>
          <a:prstGeom prst="rect">
            <a:avLst/>
          </a:prstGeom>
        </p:spPr>
      </p:pic>
      <p:sp>
        <p:nvSpPr>
          <p:cNvPr id="26" name="TextBox 25"/>
          <p:cNvSpPr txBox="1"/>
          <p:nvPr/>
        </p:nvSpPr>
        <p:spPr>
          <a:xfrm>
            <a:off x="9189720" y="2194560"/>
            <a:ext cx="2258568" cy="640080"/>
          </a:xfrm>
          <a:prstGeom prst="rect">
            <a:avLst/>
          </a:prstGeom>
          <a:noFill/>
        </p:spPr>
        <p:txBody>
          <a:bodyPr wrap="square" lIns="0" rIns="0" tIns="0" bIns="0" anchor="ctr">
            <a:spAutoFit/>
          </a:bodyPr>
          <a:lstStyle/>
          <a:p>
            <a:pPr algn="l"/>
            <a:r>
              <a:rPr sz="2400" b="1" i="0">
                <a:solidFill>
                  <a:schemeClr val="tx1"/>
                </a:solidFill>
              </a:rPr>
              <a:t>Maintain</a:t>
            </a:r>
          </a:p>
        </p:txBody>
      </p:sp>
      <p:sp>
        <p:nvSpPr>
          <p:cNvPr id="27" name="TextBox 26"/>
          <p:cNvSpPr txBox="1"/>
          <p:nvPr/>
        </p:nvSpPr>
        <p:spPr>
          <a:xfrm>
            <a:off x="8412480" y="3108960"/>
            <a:ext cx="2990088" cy="2468880"/>
          </a:xfrm>
          <a:prstGeom prst="rect">
            <a:avLst/>
          </a:prstGeom>
          <a:noFill/>
        </p:spPr>
        <p:txBody>
          <a:bodyPr wrap="square" lIns="0" rIns="0" tIns="0" bIns="0" anchor="t">
            <a:spAutoFit/>
          </a:bodyPr>
          <a:lstStyle/>
          <a:p>
            <a:pPr algn="l">
              <a:spcAft>
                <a:spcPts val="1000"/>
              </a:spcAft>
            </a:pPr>
            <a:r>
              <a:rPr sz="1700" b="0" i="0">
                <a:solidFill>
                  <a:schemeClr val="tx1"/>
                </a:solidFill>
              </a:rPr>
              <a:t>Corrected the agent twice?</a:t>
            </a:r>
          </a:p>
          <a:p>
            <a:pPr algn="l">
              <a:spcAft>
                <a:spcPts val="1000"/>
              </a:spcAft>
            </a:pPr>
            <a:r>
              <a:rPr sz="1700" b="0" i="0">
                <a:solidFill>
                  <a:schemeClr val="tx1"/>
                </a:solidFill>
              </a:rPr>
              <a:t>“Add this to CLAUDE.md.”</a:t>
            </a:r>
          </a:p>
          <a:p>
            <a:pPr algn="l">
              <a:spcAft>
                <a:spcPts val="1000"/>
              </a:spcAft>
            </a:pPr>
            <a:r>
              <a:rPr sz="1700" b="0" i="0">
                <a:solidFill>
                  <a:schemeClr val="tx1"/>
                </a:solidFill>
              </a:rPr>
              <a:t>Log each session (§9)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Live: write your CLAUDE.md</a:t>
            </a:r>
          </a:p>
        </p:txBody>
      </p:sp>
      <p:sp>
        <p:nvSpPr>
          <p:cNvPr id="3" name="Text Placeholder 2"/>
          <p:cNvSpPr>
            <a:spLocks noGrp="1"/>
          </p:cNvSpPr>
          <p:nvPr>
            <p:ph type="body" idx="12" sz="quarter"/>
          </p:nvPr>
        </p:nvSpPr>
        <p:spPr/>
        <p:txBody>
          <a:bodyPr/>
          <a:lstStyle/>
          <a:p>
            <a:r>
              <a:t>No project yet? Use the Part 3 case. Checklist: claude_md_guide.md §9</a:t>
            </a:r>
          </a:p>
        </p:txBody>
      </p:sp>
      <p:sp>
        <p:nvSpPr>
          <p:cNvPr id="4" name="Text Placeholder 3"/>
          <p:cNvSpPr>
            <a:spLocks noGrp="1"/>
          </p:cNvSpPr>
          <p:nvPr>
            <p:ph type="body" idx="14" sz="quarter"/>
          </p:nvPr>
        </p:nvSpPr>
        <p:spPr/>
        <p:txBody>
          <a:bodyPr/>
          <a:lstStyle/>
          <a:p>
            <a:r>
              <a:t>D · Live activity · 7 minutes</a:t>
            </a:r>
          </a:p>
        </p:txBody>
      </p:sp>
      <p:sp>
        <p:nvSpPr>
          <p:cNvPr id="12" name="Slide Number Placeholder 6">
            <a:extLst>
              <a:ext uri="{FF2B5EF4-FFF2-40B4-BE49-F238E27FC236}">
                <a16:creationId xmlns:a16="http://schemas.microsoft.com/office/drawing/2014/main" id="{7B8B9A10-FAE3-D1BC-CFE0-165EB8A2B249}"/>
              </a:ext>
            </a:extLst>
          </p:cNvPr>
          <p:cNvSpPr>
            <a:spLocks noGrp="1"/>
          </p:cNvSpPr>
          <p:nvPr>
            <p:ph type="sldNum" sz="quarter" idx="4"/>
          </p:nvPr>
        </p:nvSpPr>
        <p:spPr>
          <a:xfrm>
            <a:off x="11423904" y="6366510"/>
            <a:ext cx="258774" cy="365125"/>
          </a:xfrm>
          <a:prstGeom prst="rect">
            <a:avLst/>
          </a:prstGeom>
        </p:spPr>
        <p:txBody>
          <a:bodyPr vert="horz" lIns="0" tIns="45720" rIns="0" bIns="45720" rtlCol="0" anchor="ctr"/>
          <a:lstStyle>
            <a:lvl1pPr algn="r">
              <a:defRPr sz="1200" b="1">
                <a:solidFill>
                  <a:schemeClr val="tx1">
                    <a:lumMod val="50000"/>
                    <a:lumOff val="50000"/>
                  </a:schemeClr>
                </a:solidFill>
              </a:defRPr>
            </a:lvl1pPr>
          </a:lstStyle>
          <a:p>
            <a:fld id="{E2C19600-1FA6-49A4-BAD8-DAC77A900071}" type="slidenum">
              <a:rPr lang="en-US" smtClean="0"/>
              <a:pPr/>
              <a:t>‹#›</a:t>
            </a:fld>
            <a:endParaRPr lang="en-US" dirty="0"/>
          </a:p>
        </p:txBody>
      </p:sp>
      <p:sp>
        <p:nvSpPr>
          <p:cNvPr id="13" name="Oval 12"/>
          <p:cNvSpPr/>
          <p:nvPr/>
        </p:nvSpPr>
        <p:spPr>
          <a:xfrm>
            <a:off x="512064" y="1947672"/>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512064" y="1947672"/>
            <a:ext cx="457200" cy="457200"/>
          </a:xfrm>
          <a:prstGeom prst="rect">
            <a:avLst/>
          </a:prstGeom>
          <a:noFill/>
        </p:spPr>
        <p:txBody>
          <a:bodyPr wrap="square" lIns="0" rIns="0" tIns="0" bIns="0" anchor="ctr">
            <a:spAutoFit/>
          </a:bodyPr>
          <a:lstStyle/>
          <a:p>
            <a:pPr algn="ctr"/>
            <a:r>
              <a:rPr sz="1700" b="1" i="0">
                <a:solidFill>
                  <a:schemeClr val="bg1"/>
                </a:solidFill>
              </a:rPr>
              <a:t>1</a:t>
            </a:r>
          </a:p>
        </p:txBody>
      </p:sp>
      <p:sp>
        <p:nvSpPr>
          <p:cNvPr id="15" name="TextBox 14"/>
          <p:cNvSpPr txBox="1"/>
          <p:nvPr/>
        </p:nvSpPr>
        <p:spPr>
          <a:xfrm>
            <a:off x="1152144" y="1920240"/>
            <a:ext cx="6766560" cy="512064"/>
          </a:xfrm>
          <a:prstGeom prst="rect">
            <a:avLst/>
          </a:prstGeom>
          <a:noFill/>
        </p:spPr>
        <p:txBody>
          <a:bodyPr wrap="square" lIns="0" rIns="0" tIns="0" bIns="0" anchor="ctr">
            <a:spAutoFit/>
          </a:bodyPr>
          <a:lstStyle/>
          <a:p>
            <a:pPr algn="l"/>
            <a:r>
              <a:rPr sz="1700" b="1" i="0">
                <a:solidFill>
                  <a:schemeClr val="tx1"/>
                </a:solidFill>
              </a:rPr>
              <a:t>Copy project_template/ and rename it (lowercase, no spaces)</a:t>
            </a:r>
          </a:p>
        </p:txBody>
      </p:sp>
      <p:sp>
        <p:nvSpPr>
          <p:cNvPr id="16" name="Oval 15"/>
          <p:cNvSpPr/>
          <p:nvPr/>
        </p:nvSpPr>
        <p:spPr>
          <a:xfrm>
            <a:off x="512064" y="260604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12064" y="2606040"/>
            <a:ext cx="457200" cy="457200"/>
          </a:xfrm>
          <a:prstGeom prst="rect">
            <a:avLst/>
          </a:prstGeom>
          <a:noFill/>
        </p:spPr>
        <p:txBody>
          <a:bodyPr wrap="square" lIns="0" rIns="0" tIns="0" bIns="0" anchor="ctr">
            <a:spAutoFit/>
          </a:bodyPr>
          <a:lstStyle/>
          <a:p>
            <a:pPr algn="ctr"/>
            <a:r>
              <a:rPr sz="1700" b="1" i="0">
                <a:solidFill>
                  <a:schemeClr val="bg1"/>
                </a:solidFill>
              </a:rPr>
              <a:t>2</a:t>
            </a:r>
          </a:p>
        </p:txBody>
      </p:sp>
      <p:sp>
        <p:nvSpPr>
          <p:cNvPr id="18" name="TextBox 17"/>
          <p:cNvSpPr txBox="1"/>
          <p:nvPr/>
        </p:nvSpPr>
        <p:spPr>
          <a:xfrm>
            <a:off x="1152144" y="2578608"/>
            <a:ext cx="6766560" cy="512064"/>
          </a:xfrm>
          <a:prstGeom prst="rect">
            <a:avLst/>
          </a:prstGeom>
          <a:noFill/>
        </p:spPr>
        <p:txBody>
          <a:bodyPr wrap="square" lIns="0" rIns="0" tIns="0" bIns="0" anchor="ctr">
            <a:spAutoFit/>
          </a:bodyPr>
          <a:lstStyle/>
          <a:p>
            <a:pPr algn="l"/>
            <a:r>
              <a:rPr sz="1700" b="1" i="0">
                <a:solidFill>
                  <a:schemeClr val="tx1"/>
                </a:solidFill>
              </a:rPr>
              <a:t>Open CLAUDE.md and fill in:</a:t>
            </a:r>
          </a:p>
        </p:txBody>
      </p:sp>
      <p:pic>
        <p:nvPicPr>
          <p:cNvPr id="19" name="Picture 18" descr="FaCheck_red.png"/>
          <p:cNvPicPr>
            <a:picLocks noChangeAspect="1"/>
          </p:cNvPicPr>
          <p:nvPr/>
        </p:nvPicPr>
        <p:blipFill>
          <a:blip r:embed="rId3"/>
          <a:stretch>
            <a:fillRect/>
          </a:stretch>
        </p:blipFill>
        <p:spPr>
          <a:xfrm>
            <a:off x="1197864" y="3200400"/>
            <a:ext cx="237744" cy="237744"/>
          </a:xfrm>
          <a:prstGeom prst="rect">
            <a:avLst/>
          </a:prstGeom>
        </p:spPr>
      </p:pic>
      <p:sp>
        <p:nvSpPr>
          <p:cNvPr id="20" name="TextBox 19"/>
          <p:cNvSpPr txBox="1"/>
          <p:nvPr/>
        </p:nvSpPr>
        <p:spPr>
          <a:xfrm>
            <a:off x="1563624" y="3136392"/>
            <a:ext cx="6400800" cy="365760"/>
          </a:xfrm>
          <a:prstGeom prst="rect">
            <a:avLst/>
          </a:prstGeom>
          <a:noFill/>
        </p:spPr>
        <p:txBody>
          <a:bodyPr wrap="square" lIns="0" rIns="0" tIns="0" bIns="0" anchor="ctr">
            <a:spAutoFit/>
          </a:bodyPr>
          <a:lstStyle/>
          <a:p>
            <a:pPr algn="l"/>
            <a:r>
              <a:rPr sz="1600" b="0" i="0">
                <a:solidFill>
                  <a:schemeClr val="tx1"/>
                </a:solidFill>
              </a:rPr>
              <a:t>§1 research question, design, data sources (no access details)</a:t>
            </a:r>
          </a:p>
        </p:txBody>
      </p:sp>
      <p:pic>
        <p:nvPicPr>
          <p:cNvPr id="21" name="Picture 20" descr="FaCheck_red.png"/>
          <p:cNvPicPr>
            <a:picLocks noChangeAspect="1"/>
          </p:cNvPicPr>
          <p:nvPr/>
        </p:nvPicPr>
        <p:blipFill>
          <a:blip r:embed="rId3"/>
          <a:stretch>
            <a:fillRect/>
          </a:stretch>
        </p:blipFill>
        <p:spPr>
          <a:xfrm>
            <a:off x="1197864" y="3584448"/>
            <a:ext cx="237744" cy="237744"/>
          </a:xfrm>
          <a:prstGeom prst="rect">
            <a:avLst/>
          </a:prstGeom>
        </p:spPr>
      </p:pic>
      <p:sp>
        <p:nvSpPr>
          <p:cNvPr id="22" name="TextBox 21"/>
          <p:cNvSpPr txBox="1"/>
          <p:nvPr/>
        </p:nvSpPr>
        <p:spPr>
          <a:xfrm>
            <a:off x="1563624" y="3520440"/>
            <a:ext cx="6400800" cy="365760"/>
          </a:xfrm>
          <a:prstGeom prst="rect">
            <a:avLst/>
          </a:prstGeom>
          <a:noFill/>
        </p:spPr>
        <p:txBody>
          <a:bodyPr wrap="square" lIns="0" rIns="0" tIns="0" bIns="0" anchor="ctr">
            <a:spAutoFit/>
          </a:bodyPr>
          <a:lstStyle/>
          <a:p>
            <a:pPr algn="l"/>
            <a:r>
              <a:rPr sz="1600" b="0" i="0">
                <a:solidFill>
                  <a:schemeClr val="tx1"/>
                </a:solidFill>
              </a:rPr>
              <a:t>§4 your packages</a:t>
            </a:r>
          </a:p>
        </p:txBody>
      </p:sp>
      <p:pic>
        <p:nvPicPr>
          <p:cNvPr id="23" name="Picture 22" descr="FaCheck_red.png"/>
          <p:cNvPicPr>
            <a:picLocks noChangeAspect="1"/>
          </p:cNvPicPr>
          <p:nvPr/>
        </p:nvPicPr>
        <p:blipFill>
          <a:blip r:embed="rId3"/>
          <a:stretch>
            <a:fillRect/>
          </a:stretch>
        </p:blipFill>
        <p:spPr>
          <a:xfrm>
            <a:off x="1197864" y="3968496"/>
            <a:ext cx="237744" cy="237744"/>
          </a:xfrm>
          <a:prstGeom prst="rect">
            <a:avLst/>
          </a:prstGeom>
        </p:spPr>
      </p:pic>
      <p:sp>
        <p:nvSpPr>
          <p:cNvPr id="24" name="TextBox 23"/>
          <p:cNvSpPr txBox="1"/>
          <p:nvPr/>
        </p:nvSpPr>
        <p:spPr>
          <a:xfrm>
            <a:off x="1563624" y="3904488"/>
            <a:ext cx="6400800" cy="365760"/>
          </a:xfrm>
          <a:prstGeom prst="rect">
            <a:avLst/>
          </a:prstGeom>
          <a:noFill/>
        </p:spPr>
        <p:txBody>
          <a:bodyPr wrap="square" lIns="0" rIns="0" tIns="0" bIns="0" anchor="ctr">
            <a:spAutoFit/>
          </a:bodyPr>
          <a:lstStyle/>
          <a:p>
            <a:pPr algn="l"/>
            <a:r>
              <a:rPr sz="1600" b="0" i="0">
                <a:solidFill>
                  <a:schemeClr val="tx1"/>
                </a:solidFill>
              </a:rPr>
              <a:t>§5 data classification and small-cell threshold</a:t>
            </a:r>
          </a:p>
        </p:txBody>
      </p:sp>
      <p:pic>
        <p:nvPicPr>
          <p:cNvPr id="25" name="Picture 24" descr="FaCheck_red.png"/>
          <p:cNvPicPr>
            <a:picLocks noChangeAspect="1"/>
          </p:cNvPicPr>
          <p:nvPr/>
        </p:nvPicPr>
        <p:blipFill>
          <a:blip r:embed="rId3"/>
          <a:stretch>
            <a:fillRect/>
          </a:stretch>
        </p:blipFill>
        <p:spPr>
          <a:xfrm>
            <a:off x="1197864" y="4352544"/>
            <a:ext cx="237744" cy="237744"/>
          </a:xfrm>
          <a:prstGeom prst="rect">
            <a:avLst/>
          </a:prstGeom>
        </p:spPr>
      </p:pic>
      <p:sp>
        <p:nvSpPr>
          <p:cNvPr id="26" name="TextBox 25"/>
          <p:cNvSpPr txBox="1"/>
          <p:nvPr/>
        </p:nvSpPr>
        <p:spPr>
          <a:xfrm>
            <a:off x="1563624" y="4288536"/>
            <a:ext cx="6400800" cy="365760"/>
          </a:xfrm>
          <a:prstGeom prst="rect">
            <a:avLst/>
          </a:prstGeom>
          <a:noFill/>
        </p:spPr>
        <p:txBody>
          <a:bodyPr wrap="square" lIns="0" rIns="0" tIns="0" bIns="0" anchor="ctr">
            <a:spAutoFit/>
          </a:bodyPr>
          <a:lstStyle/>
          <a:p>
            <a:pPr algn="l"/>
            <a:r>
              <a:rPr sz="1600" b="0" i="0">
                <a:solidFill>
                  <a:schemeClr val="tx1"/>
                </a:solidFill>
              </a:rPr>
              <a:t>§6 primary specification (tentative is fine)</a:t>
            </a:r>
          </a:p>
        </p:txBody>
      </p:sp>
      <p:pic>
        <p:nvPicPr>
          <p:cNvPr id="27" name="Picture 26" descr="FaCheck_red.png"/>
          <p:cNvPicPr>
            <a:picLocks noChangeAspect="1"/>
          </p:cNvPicPr>
          <p:nvPr/>
        </p:nvPicPr>
        <p:blipFill>
          <a:blip r:embed="rId3"/>
          <a:stretch>
            <a:fillRect/>
          </a:stretch>
        </p:blipFill>
        <p:spPr>
          <a:xfrm>
            <a:off x="1197864" y="4736592"/>
            <a:ext cx="237744" cy="237744"/>
          </a:xfrm>
          <a:prstGeom prst="rect">
            <a:avLst/>
          </a:prstGeom>
        </p:spPr>
      </p:pic>
      <p:sp>
        <p:nvSpPr>
          <p:cNvPr id="28" name="TextBox 27"/>
          <p:cNvSpPr txBox="1"/>
          <p:nvPr/>
        </p:nvSpPr>
        <p:spPr>
          <a:xfrm>
            <a:off x="1563624" y="4672584"/>
            <a:ext cx="6400800" cy="365760"/>
          </a:xfrm>
          <a:prstGeom prst="rect">
            <a:avLst/>
          </a:prstGeom>
          <a:noFill/>
        </p:spPr>
        <p:txBody>
          <a:bodyPr wrap="square" lIns="0" rIns="0" tIns="0" bIns="0" anchor="ctr">
            <a:spAutoFit/>
          </a:bodyPr>
          <a:lstStyle/>
          <a:p>
            <a:pPr algn="l"/>
            <a:r>
              <a:rPr sz="1600" b="0" i="0">
                <a:solidFill>
                  <a:schemeClr val="tx1"/>
                </a:solidFill>
              </a:rPr>
              <a:t>One rule of your own, written so it's checkable</a:t>
            </a:r>
          </a:p>
        </p:txBody>
      </p:sp>
      <p:sp>
        <p:nvSpPr>
          <p:cNvPr id="29" name="Oval 28"/>
          <p:cNvSpPr/>
          <p:nvPr/>
        </p:nvSpPr>
        <p:spPr>
          <a:xfrm>
            <a:off x="512064" y="5212080"/>
            <a:ext cx="457200" cy="457200"/>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12064" y="5212080"/>
            <a:ext cx="457200" cy="457200"/>
          </a:xfrm>
          <a:prstGeom prst="rect">
            <a:avLst/>
          </a:prstGeom>
          <a:noFill/>
        </p:spPr>
        <p:txBody>
          <a:bodyPr wrap="square" lIns="0" rIns="0" tIns="0" bIns="0" anchor="ctr">
            <a:spAutoFit/>
          </a:bodyPr>
          <a:lstStyle/>
          <a:p>
            <a:pPr algn="ctr"/>
            <a:r>
              <a:rPr sz="1700" b="1" i="0">
                <a:solidFill>
                  <a:schemeClr val="bg1"/>
                </a:solidFill>
              </a:rPr>
              <a:t>3</a:t>
            </a:r>
          </a:p>
        </p:txBody>
      </p:sp>
      <p:sp>
        <p:nvSpPr>
          <p:cNvPr id="31" name="TextBox 30"/>
          <p:cNvSpPr txBox="1"/>
          <p:nvPr/>
        </p:nvSpPr>
        <p:spPr>
          <a:xfrm>
            <a:off x="1152144" y="5184648"/>
            <a:ext cx="6766560" cy="512064"/>
          </a:xfrm>
          <a:prstGeom prst="rect">
            <a:avLst/>
          </a:prstGeom>
          <a:noFill/>
        </p:spPr>
        <p:txBody>
          <a:bodyPr wrap="square" lIns="0" rIns="0" tIns="0" bIns="0" anchor="ctr">
            <a:spAutoFit/>
          </a:bodyPr>
          <a:lstStyle/>
          <a:p>
            <a:pPr algn="l"/>
            <a:r>
              <a:rPr sz="1700" b="1" i="0">
                <a:solidFill>
                  <a:schemeClr val="tx1"/>
                </a:solidFill>
              </a:rPr>
              <a:t>cd into the folder → claude → “Summarize the data-security rules in CLAUDE.md.”</a:t>
            </a:r>
          </a:p>
        </p:txBody>
      </p:sp>
      <p:sp>
        <p:nvSpPr>
          <p:cNvPr id="32" name="Rounded Rectangle 31"/>
          <p:cNvSpPr/>
          <p:nvPr/>
        </p:nvSpPr>
        <p:spPr>
          <a:xfrm>
            <a:off x="8229600" y="1920240"/>
            <a:ext cx="3447287" cy="3794760"/>
          </a:xfrm>
          <a:prstGeom prst="roundRect">
            <a:avLst>
              <a:gd name="adj" fmla="val 8000"/>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icon_FaStopwatch_circle"/>
          <p:cNvSpPr/>
          <p:nvPr/>
        </p:nvSpPr>
        <p:spPr>
          <a:xfrm>
            <a:off x="9541764" y="2240280"/>
            <a:ext cx="822960" cy="82296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4" name="Picture 33" descr="FaStopwatch_red.png"/>
          <p:cNvPicPr>
            <a:picLocks noChangeAspect="1"/>
          </p:cNvPicPr>
          <p:nvPr/>
        </p:nvPicPr>
        <p:blipFill>
          <a:blip r:embed="rId4"/>
          <a:stretch>
            <a:fillRect/>
          </a:stretch>
        </p:blipFill>
        <p:spPr>
          <a:xfrm>
            <a:off x="9747504" y="2446020"/>
            <a:ext cx="411480" cy="411480"/>
          </a:xfrm>
          <a:prstGeom prst="rect">
            <a:avLst/>
          </a:prstGeom>
        </p:spPr>
      </p:pic>
      <p:sp>
        <p:nvSpPr>
          <p:cNvPr id="35" name="TextBox 34"/>
          <p:cNvSpPr txBox="1"/>
          <p:nvPr/>
        </p:nvSpPr>
        <p:spPr>
          <a:xfrm>
            <a:off x="8503920" y="3246120"/>
            <a:ext cx="2898647" cy="731520"/>
          </a:xfrm>
          <a:prstGeom prst="rect">
            <a:avLst/>
          </a:prstGeom>
          <a:noFill/>
        </p:spPr>
        <p:txBody>
          <a:bodyPr wrap="square" lIns="0" rIns="0" tIns="0" bIns="0" anchor="t">
            <a:spAutoFit/>
          </a:bodyPr>
          <a:lstStyle/>
          <a:p>
            <a:pPr algn="ctr"/>
            <a:r>
              <a:rPr sz="4000" b="1" i="0">
                <a:solidFill>
                  <a:schemeClr val="bg1"/>
                </a:solidFill>
              </a:rPr>
              <a:t>7 min</a:t>
            </a:r>
          </a:p>
        </p:txBody>
      </p:sp>
      <p:sp>
        <p:nvSpPr>
          <p:cNvPr id="36" name="TextBox 35"/>
          <p:cNvSpPr txBox="1"/>
          <p:nvPr/>
        </p:nvSpPr>
        <p:spPr>
          <a:xfrm>
            <a:off x="8503920" y="4069080"/>
            <a:ext cx="2898647" cy="1463040"/>
          </a:xfrm>
          <a:prstGeom prst="rect">
            <a:avLst/>
          </a:prstGeom>
          <a:noFill/>
        </p:spPr>
        <p:txBody>
          <a:bodyPr wrap="square" lIns="0" rIns="0" tIns="0" bIns="0" anchor="t">
            <a:spAutoFit/>
          </a:bodyPr>
          <a:lstStyle/>
          <a:p>
            <a:pPr algn="ctr"/>
            <a:r>
              <a:rPr sz="1600" b="0" i="0">
                <a:solidFill>
                  <a:schemeClr val="bg1"/>
                </a:solidFill>
              </a:rPr>
              <a:t>If Claude's summary is wrong or vague, the rule isn't clear enough.</a:t>
            </a:r>
          </a:p>
        </p:txBody>
      </p:sp>
    </p:spTree>
  </p:cSld>
  <p:clrMapOvr>
    <a:masterClrMapping/>
  </p:clrMapOvr>
</p:sld>
</file>

<file path=ppt/theme/theme1.xml><?xml version="1.0" encoding="utf-8"?>
<a:theme xmlns:a="http://schemas.openxmlformats.org/drawingml/2006/main" name="Office Theme">
  <a:themeElements>
    <a:clrScheme name="WashU Medicine">
      <a:dk1>
        <a:srgbClr val="000000"/>
      </a:dk1>
      <a:lt1>
        <a:srgbClr val="FFFFFF"/>
      </a:lt1>
      <a:dk2>
        <a:srgbClr val="BA0C2F"/>
      </a:dk2>
      <a:lt2>
        <a:srgbClr val="F5F2EE"/>
      </a:lt2>
      <a:accent1>
        <a:srgbClr val="971B2F"/>
      </a:accent1>
      <a:accent2>
        <a:srgbClr val="D9D9D6"/>
      </a:accent2>
      <a:accent3>
        <a:srgbClr val="215732"/>
      </a:accent3>
      <a:accent4>
        <a:srgbClr val="B5E3D8"/>
      </a:accent4>
      <a:accent5>
        <a:srgbClr val="13322B"/>
      </a:accent5>
      <a:accent6>
        <a:srgbClr val="007D8A"/>
      </a:accent6>
      <a:hlink>
        <a:srgbClr val="BA0C2F"/>
      </a:hlink>
      <a:folHlink>
        <a:srgbClr val="BA0C2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tx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accent1"/>
          </a:solidFill>
        </a:ln>
      </a:spPr>
      <a:bodyPr/>
      <a:lstStyle/>
      <a:style>
        <a:lnRef idx="1">
          <a:schemeClr val="accent6"/>
        </a:lnRef>
        <a:fillRef idx="0">
          <a:schemeClr val="accent6"/>
        </a:fillRef>
        <a:effectRef idx="0">
          <a:schemeClr val="accent6"/>
        </a:effectRef>
        <a:fontRef idx="minor">
          <a:schemeClr val="tx1"/>
        </a:fontRef>
      </a:style>
    </a:lnDef>
  </a:objectDefaults>
  <a:extraClrSchemeLst/>
  <a:custClrLst>
    <a:custClr name="WashU Green">
      <a:srgbClr val="215732"/>
    </a:custClr>
    <a:custClr name="Dark Green">
      <a:srgbClr val="13322B"/>
    </a:custClr>
    <a:custClr name="Coral">
      <a:srgbClr val="FF6D6A"/>
    </a:custClr>
    <a:custClr name="Custom Color 4">
      <a:srgbClr val="F1B434"/>
    </a:custClr>
    <a:custClr name="Teal">
      <a:srgbClr val="007D8A"/>
    </a:custClr>
    <a:custClr name="Mint">
      <a:srgbClr val="B5E3D8"/>
    </a:custClr>
    <a:custClr name="Gray">
      <a:srgbClr val="D9D9D6"/>
    </a:custClr>
  </a:custClrLst>
  <a:extLst>
    <a:ext uri="{05A4C25C-085E-4340-85A3-A5531E510DB2}">
      <thm15:themeFamily xmlns:thm15="http://schemas.microsoft.com/office/thememl/2012/main" name="Office Theme" id="{67E72386-5798-4EAD-80CA-990DB467CECF}" vid="{42220F3D-D07F-48BC-873E-53EDB36425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14349</TotalTime>
  <Words>0</Words>
  <Application>Microsoft Macintosh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Georgia</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default</dc:creator>
  <cp:lastModifiedBy>Chun, Yung</cp:lastModifiedBy>
  <cp:revision>679</cp:revision>
  <dcterms:created xsi:type="dcterms:W3CDTF">2013-07-09T17:46:55Z</dcterms:created>
  <dcterms:modified xsi:type="dcterms:W3CDTF">2025-09-25T16:12:24Z</dcterms:modified>
</cp:coreProperties>
</file>