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15.svg" ContentType="image/svg+xml"/>
  <Override PartName="/ppt/media/image2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2" r:id="rId1"/>
  </p:sldMasterIdLst>
  <p:notesMasterIdLst>
    <p:notesMasterId r:id="rId3"/>
  </p:notesMasterIdLst>
  <p:sldIdLst>
    <p:sldId id="256" r:id="rId2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240647-945F-4420-2BF3-6A3F96553581}" name="Meghan Doil" initials="MD" userId="S::Meghan@notionpartners.com::a8ec7eb1-6349-4529-b98e-40f78974ff70" providerId="AD"/>
  <p188:author id="{68575DE0-E424-2A10-766E-B786959A84E9}" name="Michelle Markee" initials="" userId="S::Michelle@notionpartners.com::55fc8d82-3871-406d-994c-c40c9b164ad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3242A"/>
    <a:srgbClr val="5C646B"/>
    <a:srgbClr val="8C979A"/>
    <a:srgbClr val="8FD1C9"/>
    <a:srgbClr val="C41039"/>
    <a:srgbClr val="EBE8E5"/>
    <a:srgbClr val="009999"/>
    <a:srgbClr val="C08782"/>
    <a:srgbClr val="E7E7E7"/>
    <a:srgbClr val="F4EE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60" autoAdjust="0"/>
    <p:restoredTop sz="90223" autoAdjust="0"/>
  </p:normalViewPr>
  <p:slideViewPr>
    <p:cSldViewPr snapToGrid="0" snapToObjects="1">
      <p:cViewPr>
        <p:scale>
          <a:sx n="130" d="100"/>
          <a:sy n="130" d="100"/>
        </p:scale>
        <p:origin x="808" y="624"/>
      </p:cViewPr>
      <p:guideLst/>
    </p:cSldViewPr>
  </p:slideViewPr>
  <p:outlineViewPr>
    <p:cViewPr>
      <p:scale>
        <a:sx n="33" d="100"/>
        <a:sy n="33" d="100"/>
      </p:scale>
      <p:origin x="0" y="-8563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4" d="100"/>
        <a:sy n="5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8/10/relationships/authors" Target="author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E3AD09-9720-9047-BB14-484CD98DBB2F}" type="datetimeFigureOut">
              <a:rPr lang="en-US" smtClean="0"/>
              <a:t>9/25/25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80D64-6F43-4C4D-BE6A-3F3482AA5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39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6.jpeg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7.emf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gif"/><Relationship Id="rId3" Type="http://schemas.openxmlformats.org/officeDocument/2006/relationships/image" Target="../media/image19.png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19.png"/><Relationship Id="rId4" Type="http://schemas.openxmlformats.org/officeDocument/2006/relationships/image" Target="../media/image14.png"/><Relationship Id="rId5" Type="http://schemas.openxmlformats.org/officeDocument/2006/relationships/image" Target="../media/image15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7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Relationship Id="rId3" Type="http://schemas.openxmlformats.org/officeDocument/2006/relationships/image" Target="../media/image22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1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22548E1-D411-DEF1-E24E-40436650157F}"/>
              </a:ext>
            </a:extLst>
          </p:cNvPr>
          <p:cNvSpPr/>
          <p:nvPr userDrawn="1"/>
        </p:nvSpPr>
        <p:spPr>
          <a:xfrm>
            <a:off x="393539" y="6134100"/>
            <a:ext cx="4130040" cy="59753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22CF4B-9F6B-E5CF-44C0-5E3A7B34A6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>
            <a:off x="0" y="0"/>
            <a:ext cx="299824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90864918-E79B-7A8B-4C60-23558A97CF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021"/>
          <a:stretch>
            <a:fillRect/>
          </a:stretch>
        </p:blipFill>
        <p:spPr>
          <a:xfrm>
            <a:off x="3660140" y="1720629"/>
            <a:ext cx="2435860" cy="56238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F7FAA7F-60A9-60B1-A86E-8747601130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140" y="2642024"/>
            <a:ext cx="8145780" cy="1797262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6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FA57CF-6C6E-168E-2F7F-1158C0BEE878}"/>
              </a:ext>
            </a:extLst>
          </p:cNvPr>
          <p:cNvCxnSpPr>
            <a:cxnSpLocks/>
          </p:cNvCxnSpPr>
          <p:nvPr userDrawn="1"/>
        </p:nvCxnSpPr>
        <p:spPr>
          <a:xfrm>
            <a:off x="3660140" y="3462220"/>
            <a:ext cx="2034540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BFF417B7-BA1B-C990-93ED-20D10BD352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955F34C6-03B5-47CC-EAC6-3F5653F8C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49CDA-75A6-0E73-DBA8-3993E947D9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60140" y="443928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406599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6F10-6790-8294-12D4-3833019EFB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0000"/>
          <a:stretch/>
        </p:blipFill>
        <p:spPr>
          <a:xfrm flipH="1">
            <a:off x="9193760" y="0"/>
            <a:ext cx="2998240" cy="6858000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CBC87B14-0FFC-6198-5CA7-BB9431393B7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6238754"/>
            <a:ext cx="12192000" cy="61924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4EC3F75-69F9-2C08-F055-BD90C356C06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2140"/>
          <a:stretch>
            <a:fillRect/>
          </a:stretch>
        </p:blipFill>
        <p:spPr>
          <a:xfrm>
            <a:off x="802079" y="1041717"/>
            <a:ext cx="2408954" cy="566928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551975D7-9DC4-036D-19B5-9387903187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2079" y="2079636"/>
            <a:ext cx="8145780" cy="1455410"/>
          </a:xfrm>
        </p:spPr>
        <p:txBody>
          <a:bodyPr/>
          <a:lstStyle>
            <a:lvl1pPr>
              <a:defRPr sz="4400">
                <a:solidFill>
                  <a:schemeClr val="tx1"/>
                </a:solidFill>
              </a:defRPr>
            </a:lvl1pPr>
            <a:lvl2pPr>
              <a:spcBef>
                <a:spcPts val="3000"/>
              </a:spcBef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6552A6-AC76-4702-722D-4879A234F34C}"/>
              </a:ext>
            </a:extLst>
          </p:cNvPr>
          <p:cNvSpPr txBox="1"/>
          <p:nvPr userDrawn="1"/>
        </p:nvSpPr>
        <p:spPr>
          <a:xfrm>
            <a:off x="802079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8" name="Footer Placeholder 5">
            <a:extLst>
              <a:ext uri="{FF2B5EF4-FFF2-40B4-BE49-F238E27FC236}">
                <a16:creationId xmlns:a16="http://schemas.microsoft.com/office/drawing/2014/main" id="{09E0364A-5ACD-50B5-E100-9276E5A18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9" name="Slide Number Placeholder 6">
            <a:extLst>
              <a:ext uri="{FF2B5EF4-FFF2-40B4-BE49-F238E27FC236}">
                <a16:creationId xmlns:a16="http://schemas.microsoft.com/office/drawing/2014/main" id="{C65694F4-5083-6131-E4C6-96AFFC17B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A066CD63-C27E-9D94-BFC5-3C2B52146A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079" y="3535045"/>
            <a:ext cx="3197225" cy="419100"/>
          </a:xfrm>
        </p:spPr>
        <p:txBody>
          <a:bodyPr/>
          <a:lstStyle>
            <a:lvl1pPr marL="0" indent="0" algn="l" defTabSz="457200" rtl="0" eaLnBrk="1" latinLnBrk="0" hangingPunct="1">
              <a:lnSpc>
                <a:spcPct val="90000"/>
              </a:lnSpc>
              <a:spcBef>
                <a:spcPct val="20000"/>
              </a:spcBef>
              <a:buFont typeface="Arial"/>
              <a:buNone/>
              <a:tabLst/>
              <a:defRPr lang="en-US" sz="1400" b="0" i="0" kern="1200" dirty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Date goes here</a:t>
            </a:r>
          </a:p>
        </p:txBody>
      </p:sp>
    </p:spTree>
    <p:extLst>
      <p:ext uri="{BB962C8B-B14F-4D97-AF65-F5344CB8AC3E}">
        <p14:creationId xmlns:p14="http://schemas.microsoft.com/office/powerpoint/2010/main" val="288306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7511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er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D4370C0-4089-AEA2-CC5A-49F16AA473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1950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B99A143-75D6-42B0-B93D-4D5487BFCD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437444"/>
            <a:ext cx="11167811" cy="614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Impact header slide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1AC95-8698-5680-BA64-86571A8FF8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placeholder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497D5A6A-7B14-D48F-CB02-107E773930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AAADD1CB-035A-F372-B750-3C92D6A1FB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46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56C9FE06-64EE-C25B-F18C-630C89E5E5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876FF27-5FCA-80F6-A141-CE82FE49E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386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C59531D-1141-BBE9-8A89-93DE69D59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1175" y="1996440"/>
            <a:ext cx="11171238" cy="40005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Footer Placeholder 5">
            <a:extLst>
              <a:ext uri="{FF2B5EF4-FFF2-40B4-BE49-F238E27FC236}">
                <a16:creationId xmlns:a16="http://schemas.microsoft.com/office/drawing/2014/main" id="{C91AEADF-3622-2AB3-401A-88D3A20DDC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A20AAE59-81C0-3F77-5EFF-205232CD6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196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, Header,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C16F-506C-1F4E-84FA-6B66623ED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708623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073B4726-A8F4-08FF-6507-4524E7544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322740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DE456-2FEC-6E8C-8BDC-0EB32B7352C0}"/>
              </a:ext>
            </a:extLst>
          </p:cNvPr>
          <p:cNvCxnSpPr>
            <a:cxnSpLocks/>
          </p:cNvCxnSpPr>
          <p:nvPr userDrawn="1"/>
        </p:nvCxnSpPr>
        <p:spPr>
          <a:xfrm>
            <a:off x="512763" y="619831"/>
            <a:ext cx="869901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F7879DE5-46F4-5F51-D7AD-1FF2100F4F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305188"/>
            <a:ext cx="8631237" cy="314643"/>
          </a:xfrm>
        </p:spPr>
        <p:txBody>
          <a:bodyPr>
            <a:normAutofit/>
          </a:bodyPr>
          <a:lstStyle>
            <a:lvl1pPr>
              <a:defRPr sz="14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0E89BBD-2DB3-5F60-B4AC-F04E8A8E89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03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E1F54-83F2-F09A-0540-B4F2FD1B5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1F7FA2B-4B6F-717B-2654-D8A994BCA1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899807B-0AFF-AB51-FFC9-AA3708B60E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1175" y="1714500"/>
            <a:ext cx="11168063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56CCB6A1-D661-D876-C30B-640D3FF67D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BBA0A6B3-6359-0588-6505-D6ACADE4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353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1C199-15AC-D14D-0AA6-CBE120306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E38F124-4CF3-FF0E-022F-8601D0A20F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5399560" cy="44196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D0020D2-7B92-3072-B9F5-1D6B5C920B5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79678" y="1714500"/>
            <a:ext cx="539956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19B4353-EEBD-5EA1-93A8-2494728D2F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FA790335-AB91-2292-A583-68F8ED88A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D1373D57-1AFC-40C1-C22B-486A74BFB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739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14C5A-8BA0-81C6-0A5B-801985C8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0526CDC-D763-BB32-5B81-7D599455B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714500"/>
            <a:ext cx="3503645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B60661A-EDC7-0966-9BFE-A0BC07258B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5898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66A65CEC-5869-5D52-EAAE-4CE2E8B8331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79034" y="1714500"/>
            <a:ext cx="3503645" cy="35941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F947AB0C-C375-6941-8123-42C74C4D44D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469125A-AA88-702A-7398-FB0D80AE4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447CDAC8-C02C-3859-3C4F-64D38BF4F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24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1438" y="0"/>
            <a:ext cx="4500562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71800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71786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22DF9E99-5AA7-9ED8-F61D-1D5954C3C2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26809" y="3962400"/>
            <a:ext cx="464312" cy="1818640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91438" y="3962400"/>
            <a:ext cx="4500562" cy="1819275"/>
          </a:xfrm>
          <a:solidFill>
            <a:schemeClr val="bg1"/>
          </a:solidFill>
        </p:spPr>
        <p:txBody>
          <a:bodyPr lIns="365760"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665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0E2021-1BFC-E013-D60B-D3C38949C163}"/>
              </a:ext>
            </a:extLst>
          </p:cNvPr>
          <p:cNvSpPr/>
          <p:nvPr userDrawn="1"/>
        </p:nvSpPr>
        <p:spPr>
          <a:xfrm>
            <a:off x="7691121" y="0"/>
            <a:ext cx="4500879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8" y="437444"/>
            <a:ext cx="6715382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71404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EA7ADC5-3522-3180-74FA-1FD3E52E29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26809" y="437444"/>
            <a:ext cx="4965191" cy="1819275"/>
          </a:xfrm>
          <a:blipFill dpi="0" rotWithShape="1">
            <a:blip r:embed="rId2"/>
            <a:srcRect/>
            <a:stretch>
              <a:fillRect/>
            </a:stretch>
          </a:blipFill>
        </p:spPr>
        <p:txBody>
          <a:bodyPr lIns="365760" anchor="ctr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C88AAD13-4032-E181-7A51-74A7C8DCE3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CDA17C2-87F8-D622-C9C6-0DA48C2C31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9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DE30A47-262F-DB0A-10B8-D0B96680B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058822" y="0"/>
            <a:ext cx="4623857" cy="577222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7FE8F8-1FA2-6E20-363F-519BE59B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6547395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E20B35FB-3664-0B4D-6249-F782CED7DA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6546177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02D98FAF-0F57-636C-D186-EDD6EA7CA7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2763" y="1714500"/>
            <a:ext cx="6025197" cy="35941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1C759DE5-C518-1864-07A2-605A29BED7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58820" y="5772223"/>
            <a:ext cx="4622583" cy="361877"/>
          </a:xfrm>
          <a:prstGeom prst="rect">
            <a:avLst/>
          </a:prstGeom>
        </p:spPr>
      </p:pic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5C587A4E-B51B-38B5-EABB-058A87A03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71DED4E-8776-2AD9-D89C-89D43DA7B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879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93398-F58C-AA7E-2DE2-6E5364D5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B8695FB8-5358-59F4-420C-D9E81C03C9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D493C24-4E3E-2A02-65ED-8191B454623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1175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21240A8-93CA-CA86-87C8-2B6B05DCD8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08134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C626A78-D122-9B29-0498-A377DB541C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19357" y="3708400"/>
            <a:ext cx="3217863" cy="12192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19666AC-2D6E-A5A6-AFF6-FBCDB9C6046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12763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5ECC9D67-89DD-AD94-3BE8-8AB77F93F3A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308134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F11DEFB8-BA80-BB3D-C458-66465402BFD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19357" y="1714500"/>
            <a:ext cx="3218192" cy="16637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F0E166F0-F95F-1D05-A287-251A139C6C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1" name="Slide Number Placeholder 6">
            <a:extLst>
              <a:ext uri="{FF2B5EF4-FFF2-40B4-BE49-F238E27FC236}">
                <a16:creationId xmlns:a16="http://schemas.microsoft.com/office/drawing/2014/main" id="{3497BD9B-3994-7C1E-50C9-AB457C7F0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DC396A-37C3-88E2-4F5B-E5AA818428C1}"/>
              </a:ext>
            </a:extLst>
          </p:cNvPr>
          <p:cNvSpPr/>
          <p:nvPr userDrawn="1"/>
        </p:nvSpPr>
        <p:spPr>
          <a:xfrm>
            <a:off x="512763" y="3378197"/>
            <a:ext cx="3218192" cy="1828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72BCF2-879C-41F5-074F-3C352C123100}"/>
              </a:ext>
            </a:extLst>
          </p:cNvPr>
          <p:cNvSpPr/>
          <p:nvPr userDrawn="1"/>
        </p:nvSpPr>
        <p:spPr>
          <a:xfrm>
            <a:off x="4308134" y="3378197"/>
            <a:ext cx="3218192" cy="1828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EA6AB-2EF1-6F7D-4247-F7254496D6EE}"/>
              </a:ext>
            </a:extLst>
          </p:cNvPr>
          <p:cNvSpPr/>
          <p:nvPr userDrawn="1"/>
        </p:nvSpPr>
        <p:spPr>
          <a:xfrm>
            <a:off x="8119357" y="3378197"/>
            <a:ext cx="3218192" cy="18288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9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25C47B-E583-4956-949C-9708AC0FABD9}"/>
              </a:ext>
            </a:extLst>
          </p:cNvPr>
          <p:cNvSpPr/>
          <p:nvPr userDrawn="1"/>
        </p:nvSpPr>
        <p:spPr>
          <a:xfrm>
            <a:off x="7095281" y="0"/>
            <a:ext cx="5096719" cy="582168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69282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Callout with Image_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F572A1C8-8552-05CD-8DEF-01C2B53523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753"/>
          <a:stretch/>
        </p:blipFill>
        <p:spPr>
          <a:xfrm>
            <a:off x="7095280" y="0"/>
            <a:ext cx="5096719" cy="582168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72C01F-DC33-1CEB-8BA5-A45DDDF93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F7BBA-E6A9-3998-5CD9-E9BCC68334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D9C8231-0F06-C130-3B01-3C74B722BA2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7094538" cy="5821363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9F8F94-168E-A76F-2A9F-1D254041F5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6042" y="903288"/>
            <a:ext cx="3714750" cy="395763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 sz="1600">
                <a:solidFill>
                  <a:schemeClr val="bg1"/>
                </a:solidFill>
              </a:defRPr>
            </a:lvl2pPr>
            <a:lvl3pPr marL="0" indent="0">
              <a:buNone/>
              <a:defRPr sz="14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13092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io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5185-B6F2-DA27-97F5-A26100824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5E45AE-8CD3-04FD-8145-5F22A12DA9AD}"/>
              </a:ext>
            </a:extLst>
          </p:cNvPr>
          <p:cNvSpPr/>
          <p:nvPr userDrawn="1"/>
        </p:nvSpPr>
        <p:spPr>
          <a:xfrm>
            <a:off x="0" y="4220063"/>
            <a:ext cx="12192000" cy="1914037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3D3821-B7C2-E329-9CF4-E787569C31B2}"/>
              </a:ext>
            </a:extLst>
          </p:cNvPr>
          <p:cNvSpPr/>
          <p:nvPr userDrawn="1"/>
        </p:nvSpPr>
        <p:spPr>
          <a:xfrm>
            <a:off x="1233708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B13CA-8DC4-867F-D557-D69CBB8B67DA}"/>
              </a:ext>
            </a:extLst>
          </p:cNvPr>
          <p:cNvSpPr/>
          <p:nvPr userDrawn="1"/>
        </p:nvSpPr>
        <p:spPr>
          <a:xfrm>
            <a:off x="4896883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147C2C-8AD5-4E0E-B86F-FB610E2E8D77}"/>
              </a:ext>
            </a:extLst>
          </p:cNvPr>
          <p:cNvSpPr/>
          <p:nvPr userDrawn="1"/>
        </p:nvSpPr>
        <p:spPr>
          <a:xfrm>
            <a:off x="8508434" y="4220063"/>
            <a:ext cx="2398235" cy="190261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152127-24A4-5B38-2225-CFB9E1AC963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488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B1E2DD4-B1C2-7FB1-C1EA-A46F91A95F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896883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5B101D83-A82D-5B8E-7FA6-80AB668E994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508434" y="1567448"/>
            <a:ext cx="2398712" cy="2652615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2A3F5B9-E2E5-EC83-A97F-CE3D399986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2803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E3CD09CE-CBA6-D7B7-229E-1DC0D3426C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10882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0936DEA-0015-2C53-7764-81D237AA57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33080" y="4729251"/>
            <a:ext cx="3170237" cy="1147762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marL="0" indent="0"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Footer Placeholder 5">
            <a:extLst>
              <a:ext uri="{FF2B5EF4-FFF2-40B4-BE49-F238E27FC236}">
                <a16:creationId xmlns:a16="http://schemas.microsoft.com/office/drawing/2014/main" id="{35EEC88B-64D7-58A8-A6A3-BAE15852FF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9DA960EC-7047-D992-6A0D-B2B2BF704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73B05B23-359F-5932-B1A5-F905633023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2763" y="1051561"/>
            <a:ext cx="11166475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4201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27E08-94CF-6FA6-259A-D4B0215436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427" y="2357290"/>
            <a:ext cx="3593213" cy="980194"/>
          </a:xfrm>
        </p:spPr>
        <p:txBody>
          <a:bodyPr/>
          <a:lstStyle>
            <a:lvl1pPr>
              <a:defRPr sz="5400">
                <a:latin typeface="Georgia" panose="02040502050405020303" pitchFamily="18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AF18C4-8E88-BC25-A282-A9E543495953}"/>
              </a:ext>
            </a:extLst>
          </p:cNvPr>
          <p:cNvSpPr/>
          <p:nvPr userDrawn="1"/>
        </p:nvSpPr>
        <p:spPr>
          <a:xfrm>
            <a:off x="4104640" y="619760"/>
            <a:ext cx="8087360" cy="51409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8F1CF70-BAC4-4070-0CC3-53C7E9D385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4641" y="5509548"/>
            <a:ext cx="8085245" cy="25117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1604BCD-BC3A-DE84-90AD-BB35133C98FF}"/>
              </a:ext>
            </a:extLst>
          </p:cNvPr>
          <p:cNvCxnSpPr>
            <a:cxnSpLocks/>
          </p:cNvCxnSpPr>
          <p:nvPr userDrawn="1"/>
        </p:nvCxnSpPr>
        <p:spPr>
          <a:xfrm>
            <a:off x="512763" y="1696519"/>
            <a:ext cx="1424596" cy="0"/>
          </a:xfrm>
          <a:prstGeom prst="line">
            <a:avLst/>
          </a:prstGeom>
          <a:ln w="57150">
            <a:solidFill>
              <a:schemeClr val="tx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7FF7787-EC31-5F16-15F3-D99D80060DC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217639"/>
            <a:ext cx="2977197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C4E4B447-5E78-26D1-11D4-9F10C5ADB4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DE2CBB75-E971-3468-55D8-59660AE2D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923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9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_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37" y="6134100"/>
            <a:ext cx="12189463" cy="723901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32017E2-0C1F-52A1-C0B6-4354EC8C665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134100"/>
          </a:xfrm>
          <a:solidFill>
            <a:schemeClr val="accent2"/>
          </a:solidFill>
        </p:spPr>
        <p:txBody>
          <a:bodyPr anchor="ctr"/>
          <a:lstStyle>
            <a:lvl1pPr algn="ctr">
              <a:defRPr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Image only slide (click icon to add image)</a:t>
            </a:r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E06A606-B049-1036-FB09-50B455B5BA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114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gradien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22EF925-F91E-CF0B-2906-3149E56CD56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6134099"/>
            <a:ext cx="12190732" cy="723901"/>
          </a:xfrm>
          <a:prstGeom prst="rect">
            <a:avLst/>
          </a:prstGeom>
        </p:spPr>
      </p:pic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0BD3B1-489B-2447-0D11-E1BF10A2A18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905"/>
          <a:stretch>
            <a:fillRect/>
          </a:stretch>
        </p:blipFill>
        <p:spPr>
          <a:xfrm>
            <a:off x="511426" y="6353070"/>
            <a:ext cx="1381169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476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, subhead and red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03525CB-3575-15ED-8355-4B7991B1D33D}"/>
              </a:ext>
            </a:extLst>
          </p:cNvPr>
          <p:cNvSpPr/>
          <p:nvPr userDrawn="1"/>
        </p:nvSpPr>
        <p:spPr>
          <a:xfrm>
            <a:off x="0" y="6134099"/>
            <a:ext cx="12192000" cy="729206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ooter Placeholder 5">
            <a:extLst>
              <a:ext uri="{FF2B5EF4-FFF2-40B4-BE49-F238E27FC236}">
                <a16:creationId xmlns:a16="http://schemas.microsoft.com/office/drawing/2014/main" id="{477122EF-EC77-5683-5F0C-EEB6518DB3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2C41F0B-5AAD-8344-8A22-63D161AC2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588FC03-5CCE-0D86-8A3A-F9194357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61411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2BE9C5B-C374-57E0-7BD7-2A01F8707B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3" y="1051561"/>
            <a:ext cx="11169916" cy="413346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132C04-CB78-14F0-5958-754E3BF58D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2800"/>
          <a:stretch>
            <a:fillRect/>
          </a:stretch>
        </p:blipFill>
        <p:spPr>
          <a:xfrm>
            <a:off x="511426" y="6353070"/>
            <a:ext cx="1359904" cy="32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26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9275B372-8BD2-273A-2BEE-315CE5994D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2466"/>
          <a:stretch>
            <a:fillRect/>
          </a:stretch>
        </p:blipFill>
        <p:spPr>
          <a:xfrm>
            <a:off x="512763" y="1500396"/>
            <a:ext cx="2377921" cy="562806"/>
          </a:xfrm>
          <a:prstGeom prst="rect">
            <a:avLst/>
          </a:prstGeom>
        </p:spPr>
      </p:pic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1298D4D4-817F-775A-F0A7-805017E61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2451633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C51F79-C1BF-23EE-E735-4465B3DB39B0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381766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hD in Social Work - Brown School at Washington University in St. Louis">
            <a:extLst>
              <a:ext uri="{FF2B5EF4-FFF2-40B4-BE49-F238E27FC236}">
                <a16:creationId xmlns:a16="http://schemas.microsoft.com/office/drawing/2014/main" id="{4F9A68E1-9E2A-544D-6695-F11E6951FED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404"/>
          <a:stretch>
            <a:fillRect/>
          </a:stretch>
        </p:blipFill>
        <p:spPr bwMode="auto">
          <a:xfrm>
            <a:off x="0" y="-1"/>
            <a:ext cx="513588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1317"/>
          <a:stretch>
            <a:fillRect/>
          </a:stretch>
        </p:blipFill>
        <p:spPr>
          <a:xfrm>
            <a:off x="6979921" y="755694"/>
            <a:ext cx="1493519" cy="3465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A2A41D4-AB3D-151D-66DD-4962AAC7904A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466E0752-FF39-E98C-C771-E737A49D9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344416E3-AC56-3F3E-611F-87B839A4B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3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Master of Social Work - Brown School at Washington University in St. Louis">
            <a:extLst>
              <a:ext uri="{FF2B5EF4-FFF2-40B4-BE49-F238E27FC236}">
                <a16:creationId xmlns:a16="http://schemas.microsoft.com/office/drawing/2014/main" id="{397DCBF1-43F9-4AFE-21A3-1A39F7F9B88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02" b="3202"/>
          <a:stretch>
            <a:fillRect/>
          </a:stretch>
        </p:blipFill>
        <p:spPr bwMode="auto">
          <a:xfrm>
            <a:off x="0" y="1"/>
            <a:ext cx="513588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2189"/>
          <a:stretch>
            <a:fillRect/>
          </a:stretch>
        </p:blipFill>
        <p:spPr>
          <a:xfrm>
            <a:off x="6979922" y="755694"/>
            <a:ext cx="1471352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1CCE03-8C2C-223C-A359-11D05E7AE8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8CEF6-7196-D2B3-7D3B-ADF792888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2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8F956D9F-0A69-EE76-C183-A385E517B7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880" y="0"/>
            <a:ext cx="7056120" cy="6858000"/>
          </a:xfrm>
          <a:prstGeom prst="rect">
            <a:avLst/>
          </a:prstGeom>
        </p:spPr>
      </p:pic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A07E073C-A36B-F166-AFE6-5A5B30179E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267450" cy="6858000"/>
          </a:xfrm>
          <a:solidFill>
            <a:schemeClr val="accent2"/>
          </a:solidFill>
        </p:spPr>
        <p:txBody>
          <a:bodyPr anchor="ctr"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302A3209-7CC7-A2A4-5597-06B82D23E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9921" y="1487665"/>
            <a:ext cx="4699317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2F57A4A-EAEE-8F7F-EA10-43FBDD977B9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1856"/>
          <a:stretch>
            <a:fillRect/>
          </a:stretch>
        </p:blipFill>
        <p:spPr>
          <a:xfrm>
            <a:off x="6979921" y="755694"/>
            <a:ext cx="1479793" cy="3465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FFF015-5AA5-9FD6-BE0F-F0E14040F9A8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234E558C-D3AB-836C-0C04-164B11135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46EC1455-E1D2-32ED-96F9-1FB01D1ED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06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0EE4CDF9-A3FF-60F3-225A-734B768931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750F60-94FB-79D6-0C78-BB344949A7F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591" r="26918" b="32805"/>
          <a:stretch/>
        </p:blipFill>
        <p:spPr>
          <a:xfrm>
            <a:off x="5613242" y="0"/>
            <a:ext cx="6578757" cy="685800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D28EA1-5C18-4BC9-D6AE-63A3D89C12B3}"/>
              </a:ext>
            </a:extLst>
          </p:cNvPr>
          <p:cNvCxnSpPr>
            <a:cxnSpLocks/>
          </p:cNvCxnSpPr>
          <p:nvPr userDrawn="1"/>
        </p:nvCxnSpPr>
        <p:spPr>
          <a:xfrm>
            <a:off x="512764" y="1159727"/>
            <a:ext cx="1424596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21CCD9-6C33-1B29-15B6-F3FF2BB661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2764" y="680847"/>
            <a:ext cx="4886555" cy="402336"/>
          </a:xfrm>
        </p:spPr>
        <p:txBody>
          <a:bodyPr>
            <a:noAutofit/>
          </a:bodyPr>
          <a:lstStyle>
            <a:lvl1pPr>
              <a:defRPr sz="1800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56F3DC-9167-0BC6-E0AD-B6B4E6BDBD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2763" y="1487665"/>
            <a:ext cx="5472849" cy="2511425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  <a:lvl2pPr>
              <a:spcBef>
                <a:spcPts val="2400"/>
              </a:spcBef>
              <a:defRPr sz="24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BEF91C-6E18-2231-3C63-8D5E788FA7F9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254984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D9A7C88-DE74-6283-B4A4-1DD45AE677E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" b="4206"/>
          <a:stretch>
            <a:fillRect/>
          </a:stretch>
        </p:blipFill>
        <p:spPr bwMode="auto">
          <a:xfrm>
            <a:off x="-6893" y="1"/>
            <a:ext cx="121988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672B93-86ED-2C39-6490-F7DF186BF3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03720" y="0"/>
            <a:ext cx="4634970" cy="548640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578ACD-6DBC-F910-C01D-E10BC66954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04038" y="549275"/>
            <a:ext cx="4635500" cy="3849688"/>
          </a:xfrm>
          <a:solidFill>
            <a:schemeClr val="bg1"/>
          </a:solidFill>
        </p:spPr>
        <p:txBody>
          <a:bodyPr lIns="548640" anchor="ctr"/>
          <a:lstStyle>
            <a:lvl1pPr>
              <a:defRPr sz="3200"/>
            </a:lvl1pPr>
            <a:lvl2pPr>
              <a:spcBef>
                <a:spcPts val="2500"/>
              </a:spcBef>
              <a:defRPr sz="16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847C79-CC1A-B80C-4F37-51F734C13046}"/>
              </a:ext>
            </a:extLst>
          </p:cNvPr>
          <p:cNvSpPr txBox="1"/>
          <p:nvPr userDrawn="1"/>
        </p:nvSpPr>
        <p:spPr>
          <a:xfrm>
            <a:off x="512763" y="6429823"/>
            <a:ext cx="1908386" cy="24622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US" sz="1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©2025 WashU</a:t>
            </a:r>
          </a:p>
        </p:txBody>
      </p:sp>
    </p:spTree>
    <p:extLst>
      <p:ext uri="{BB962C8B-B14F-4D97-AF65-F5344CB8AC3E}">
        <p14:creationId xmlns:p14="http://schemas.microsoft.com/office/powerpoint/2010/main" val="1285567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ed and green background&#10;&#10;AI-generated content may be incorrect.">
            <a:extLst>
              <a:ext uri="{FF2B5EF4-FFF2-40B4-BE49-F238E27FC236}">
                <a16:creationId xmlns:a16="http://schemas.microsoft.com/office/drawing/2014/main" id="{7C4EBF34-8EB4-A4D6-7E35-2C97CE8F0B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3C86DE6-86C2-5AB7-06B8-F8A11E1456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2316"/>
          <a:stretch>
            <a:fillRect/>
          </a:stretch>
        </p:blipFill>
        <p:spPr>
          <a:xfrm>
            <a:off x="4398335" y="3028244"/>
            <a:ext cx="3395329" cy="80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7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1.xml"/><Relationship Id="rId31" Type="http://schemas.openxmlformats.org/officeDocument/2006/relationships/image" Target="../media/image1.png"/><Relationship Id="rId32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1427" y="437444"/>
            <a:ext cx="11167811" cy="980194"/>
          </a:xfrm>
          <a:prstGeom prst="rect">
            <a:avLst/>
          </a:prstGeom>
        </p:spPr>
        <p:txBody>
          <a:bodyPr vert="horz" lIns="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1426" y="1710372"/>
            <a:ext cx="11167811" cy="4423728"/>
          </a:xfrm>
          <a:prstGeom prst="rect">
            <a:avLst/>
          </a:prstGeom>
          <a:ln>
            <a:noFill/>
          </a:ln>
        </p:spPr>
        <p:txBody>
          <a:bodyPr vert="horz" lIns="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011EB-C8DD-A0FA-332D-2345BA9928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755810" y="6385172"/>
            <a:ext cx="2668094" cy="365125"/>
          </a:xfrm>
          <a:prstGeom prst="rect">
            <a:avLst/>
          </a:prstGeom>
        </p:spPr>
        <p:txBody>
          <a:bodyPr vert="horz" lIns="91440" tIns="45720" rIns="182880" bIns="45720" rtlCol="0" anchor="ctr"/>
          <a:lstStyle>
            <a:lvl1pPr algn="r">
              <a:defRPr lang="en-US" sz="1000" b="1" i="0" kern="1200" cap="all" spc="20" baseline="0" smtClea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85000"/>
              </a:lnSpc>
              <a:spcBef>
                <a:spcPct val="20000"/>
              </a:spcBef>
            </a:pPr>
            <a:r>
              <a:rPr lang="en-US"/>
              <a:t>DEPARTMENT PLACEHOLDER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15D9D-4496-53BC-5543-A7CD7127CB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A093176-96C9-BEE1-C4CD-B5CEAF9D7715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rcRect r="42790"/>
          <a:stretch>
            <a:fillRect/>
          </a:stretch>
        </p:blipFill>
        <p:spPr>
          <a:xfrm>
            <a:off x="509322" y="6326908"/>
            <a:ext cx="1360118" cy="323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11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51" r:id="rId3"/>
    <p:sldLayoutId id="2147483675" r:id="rId4"/>
    <p:sldLayoutId id="2147483670" r:id="rId5"/>
    <p:sldLayoutId id="2147483653" r:id="rId6"/>
    <p:sldLayoutId id="2147483654" r:id="rId7"/>
    <p:sldLayoutId id="2147483648" r:id="rId8"/>
    <p:sldLayoutId id="2147483652" r:id="rId9"/>
    <p:sldLayoutId id="2147483649" r:id="rId10"/>
    <p:sldLayoutId id="2147483659" r:id="rId11"/>
    <p:sldLayoutId id="2147483668" r:id="rId12"/>
    <p:sldLayoutId id="2147483660" r:id="rId13"/>
    <p:sldLayoutId id="2147483666" r:id="rId14"/>
    <p:sldLayoutId id="2147483672" r:id="rId15"/>
    <p:sldLayoutId id="2147483673" r:id="rId16"/>
    <p:sldLayoutId id="2147483663" r:id="rId17"/>
    <p:sldLayoutId id="2147483658" r:id="rId18"/>
    <p:sldLayoutId id="2147483669" r:id="rId19"/>
    <p:sldLayoutId id="2147483674" r:id="rId20"/>
    <p:sldLayoutId id="2147483676" r:id="rId21"/>
    <p:sldLayoutId id="2147483734" r:id="rId22"/>
    <p:sldLayoutId id="2147483655" r:id="rId23"/>
    <p:sldLayoutId id="2147483661" r:id="rId24"/>
    <p:sldLayoutId id="2147483662" r:id="rId25"/>
    <p:sldLayoutId id="2147483671" r:id="rId26"/>
    <p:sldLayoutId id="2147483656" r:id="rId27"/>
    <p:sldLayoutId id="2147483667" r:id="rId28"/>
    <p:sldLayoutId id="2147483657" r:id="rId2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457200" rtl="0" eaLnBrk="1" latinLnBrk="0" hangingPunct="1">
        <a:lnSpc>
          <a:spcPct val="85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Georgia" panose="02040502050405020303" pitchFamily="18" charset="0"/>
          <a:cs typeface="Times New Roman" charset="0"/>
        </a:defRPr>
      </a:lvl1pPr>
    </p:titleStyle>
    <p:bodyStyle>
      <a:lvl1pPr marL="0" indent="0" algn="l" defTabSz="457200" rtl="0" eaLnBrk="1" latinLnBrk="0" hangingPunct="1">
        <a:lnSpc>
          <a:spcPct val="90000"/>
        </a:lnSpc>
        <a:spcBef>
          <a:spcPct val="20000"/>
        </a:spcBef>
        <a:buFont typeface="Arial"/>
        <a:buNone/>
        <a:tabLst/>
        <a:defRPr sz="2200" b="1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0" indent="0" algn="l" defTabSz="457200" rtl="0" eaLnBrk="1" latinLnBrk="0" hangingPunct="1">
        <a:spcBef>
          <a:spcPts val="800"/>
        </a:spcBef>
        <a:buFont typeface="Arial" panose="020B0604020202020204" pitchFamily="34" charset="0"/>
        <a:buNone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39700" indent="-139700" algn="l" defTabSz="457200" rtl="0" eaLnBrk="1" latinLnBrk="0" hangingPunct="1">
        <a:spcBef>
          <a:spcPts val="1200"/>
        </a:spcBef>
        <a:buClr>
          <a:schemeClr val="accent3"/>
        </a:buClr>
        <a:buFont typeface="Arial" panose="020B0604020202020204" pitchFamily="34" charset="0"/>
        <a:buChar char="•"/>
        <a:tabLst/>
        <a:defRPr sz="18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482600" indent="-1397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974725" indent="-114300" algn="l" defTabSz="457200" rtl="0" eaLnBrk="1" latinLnBrk="0" hangingPunct="1">
        <a:spcBef>
          <a:spcPts val="800"/>
        </a:spcBef>
        <a:buClr>
          <a:schemeClr val="accent3"/>
        </a:buClr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357" userDrawn="1">
          <p15:clr>
            <a:srgbClr val="F26B43"/>
          </p15:clr>
        </p15:guide>
        <p15:guide id="2" pos="323" userDrawn="1">
          <p15:clr>
            <a:srgbClr val="F26B43"/>
          </p15:clr>
        </p15:guide>
        <p15:guide id="3" orient="horz" pos="1080" userDrawn="1">
          <p15:clr>
            <a:srgbClr val="F26B43"/>
          </p15:clr>
        </p15:guide>
        <p15:guide id="4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28.png"/><Relationship Id="rId8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6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AI-Empowered Research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>
          <a:xfrm>
            <a:off x="3657600" y="4434840"/>
            <a:ext cx="8138160" cy="457200"/>
          </a:xfrm>
        </p:spPr>
        <p:txBody>
          <a:bodyPr/>
          <a:lstStyle/>
          <a:p>
            <a:r>
              <a:rPr sz="2400"/>
              <a:t>Part 2 · Setup: Claude CLI, R &amp; the Project Folder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49834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F5F5F"/>
                </a:solidFill>
              </a:rPr>
              <a:t>Yung Chun · CERP³ · Hillman Hall 130 · 2026-10-16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5486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By 10:10 you will have:</a:t>
            </a:r>
          </a:p>
        </p:txBody>
      </p:sp>
      <p:pic>
        <p:nvPicPr>
          <p:cNvPr id="6" name="Picture 5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592531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05072" y="5879592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Claude CLI running</a:t>
            </a:r>
          </a:p>
        </p:txBody>
      </p:sp>
      <p:pic>
        <p:nvPicPr>
          <p:cNvPr id="8" name="Picture 7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5925312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08192" y="5879592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R connected</a:t>
            </a:r>
          </a:p>
        </p:txBody>
      </p:sp>
      <p:pic>
        <p:nvPicPr>
          <p:cNvPr id="10" name="Picture 9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59253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45552" y="587959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A project folder</a:t>
            </a:r>
          </a:p>
        </p:txBody>
      </p:sp>
      <p:pic>
        <p:nvPicPr>
          <p:cNvPr id="12" name="Picture 11" descr="FaCircle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5925312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20072" y="58795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</a:rPr>
              <a:t>Your first CLAUDE.md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Your account decides what you may do, before any command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740664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1737360"/>
                <a:gridCol w="292608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Account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Claude Code?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Approved data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 Edu (WashU)</a:t>
                      </a:r>
                    </a:p>
                  </a:txBody>
                  <a:tcPr marL="91440" marR="91440"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2"/>
                          </a:solidFill>
                        </a:rPr>
                        <a:t>✔ Yes</a:t>
                      </a:r>
                    </a:p>
                  </a:txBody>
                  <a:tcPr marL="91440" marR="91440" marT="36576" marB="36576" anchor="ctr">
                    <a:solidFill>
                      <a:srgbClr val="F6E2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2"/>
                          </a:solidFill>
                        </a:rPr>
                        <a:t>FERPA, institutional IP. Not PHI</a:t>
                      </a:r>
                    </a:p>
                  </a:txBody>
                  <a:tcPr marL="91440" marR="91440" marT="36576" marB="36576" anchor="ctr">
                    <a:solidFill>
                      <a:srgbClr val="F6E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 Secure (WashU)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✘ No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PHI and FERPA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Personal Pro / Max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✔ Yes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Personal account: no WashU data agreement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Free claude.ai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✘ No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—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8229600" y="1920240"/>
            <a:ext cx="3447287" cy="315468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_FaRightToBracket_circle"/>
          <p:cNvSpPr/>
          <p:nvPr/>
        </p:nvSpPr>
        <p:spPr>
          <a:xfrm>
            <a:off x="8503920" y="2194560"/>
            <a:ext cx="566928" cy="56692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RightToBracket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5652" y="2336291"/>
            <a:ext cx="283464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3920" y="2926080"/>
            <a:ext cx="28986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chemeClr val="bg1"/>
                </a:solidFill>
              </a:rPr>
              <a:t>Sign in with WashU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383280"/>
            <a:ext cx="2898647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chemeClr val="bg1"/>
                </a:solidFill>
              </a:rPr>
              <a:t>claude.ai → WashU email → Continue with SSO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chemeClr val="bg1"/>
                </a:solidFill>
              </a:rPr>
              <a:t>Your workspace name appears in the lower-left sidebar.</a:t>
            </a:r>
          </a:p>
        </p:txBody>
      </p:sp>
      <p:pic>
        <p:nvPicPr>
          <p:cNvPr id="19" name="Picture 18" descr="FaCircleInfo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5303520"/>
            <a:ext cx="347472" cy="347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4984" y="5230368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Students: confirm with WashU IT that your free Claude Edu seat includes Claude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 on macOS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Open Terminal: Cmd+Space, type “Terminal”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chemeClr val="tx2"/>
                </a:solidFill>
              </a:rPr>
              <a:t>Native installer (recommended; updates itself)</a:t>
            </a:r>
          </a:p>
        </p:txBody>
      </p:sp>
      <p:sp>
        <p:nvSpPr>
          <p:cNvPr id="14" name="code_block"/>
          <p:cNvSpPr/>
          <p:nvPr/>
        </p:nvSpPr>
        <p:spPr>
          <a:xfrm>
            <a:off x="512064" y="2249424"/>
            <a:ext cx="6949440" cy="6400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2249424"/>
            <a:ext cx="658367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curl -fsSL https://claude.ai/install.sh | bash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209544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chemeClr val="tx1"/>
                </a:solidFill>
              </a:rPr>
              <a:t>Or Homebrew (does not auto-update)</a:t>
            </a:r>
          </a:p>
        </p:txBody>
      </p:sp>
      <p:sp>
        <p:nvSpPr>
          <p:cNvPr id="17" name="code_block"/>
          <p:cNvSpPr/>
          <p:nvPr/>
        </p:nvSpPr>
        <p:spPr>
          <a:xfrm>
            <a:off x="512064" y="3538728"/>
            <a:ext cx="6949440" cy="9144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3538728"/>
            <a:ext cx="658367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brew install --cask claude-code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brew upgrade claude-code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later, by hand</a:t>
            </a:r>
          </a:p>
        </p:txBody>
      </p:sp>
      <p:pic>
        <p:nvPicPr>
          <p:cNvPr id="19" name="Picture 18" descr="FaTriangleExclamatio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349240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4984" y="52852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npm still works but is no longer recommended. Never use sudo.</a:t>
            </a:r>
          </a:p>
        </p:txBody>
      </p:sp>
      <p:sp>
        <p:nvSpPr>
          <p:cNvPr id="21" name="icon_FaApple_circle"/>
          <p:cNvSpPr/>
          <p:nvPr/>
        </p:nvSpPr>
        <p:spPr>
          <a:xfrm>
            <a:off x="9290304" y="2011680"/>
            <a:ext cx="1097280" cy="109728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Appl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624" y="2286000"/>
            <a:ext cx="548640" cy="54864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001000" y="3429000"/>
            <a:ext cx="3675887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_FaCheck_circle"/>
          <p:cNvSpPr/>
          <p:nvPr/>
        </p:nvSpPr>
        <p:spPr>
          <a:xfrm>
            <a:off x="8165592" y="352044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19" y="3630168"/>
            <a:ext cx="219456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1664" y="3429000"/>
            <a:ext cx="282549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macOS 13 or later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01000" y="4206240"/>
            <a:ext cx="3675887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Check_circle"/>
          <p:cNvSpPr/>
          <p:nvPr/>
        </p:nvSpPr>
        <p:spPr>
          <a:xfrm>
            <a:off x="8165592" y="4297679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19" y="4407407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741664" y="4206240"/>
            <a:ext cx="282549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Apple Silicon or Intel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4983480"/>
            <a:ext cx="3675887" cy="621792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icon_FaCheck_circle"/>
          <p:cNvSpPr/>
          <p:nvPr/>
        </p:nvSpPr>
        <p:spPr>
          <a:xfrm>
            <a:off x="8165592" y="5074920"/>
            <a:ext cx="438912" cy="438912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Fa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19" y="5184648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741664" y="4983480"/>
            <a:ext cx="282549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4 GB RAM or more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 on Windows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Runs natively. WSL is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512064" y="19202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Which shell am I in?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874520"/>
            <a:ext cx="4434840" cy="457200"/>
          </a:xfrm>
          <a:prstGeom prst="roundRect">
            <a:avLst>
              <a:gd name="adj" fmla="val 10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187452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PS C:\Users\you&gt;</a:t>
            </a:r>
            <a:r>
              <a:rPr sz="1500" b="1" i="0">
                <a:solidFill>
                  <a:srgbClr val="9FD3C7"/>
                </a:solidFill>
              </a:rPr>
              <a:t>  =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1874520"/>
            <a:ext cx="4498848" cy="457200"/>
          </a:xfrm>
          <a:prstGeom prst="roundRect">
            <a:avLst>
              <a:gd name="adj" fmla="val 10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0" y="18745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C:\Users\you&gt;</a:t>
            </a:r>
            <a:r>
              <a:rPr sz="1500" b="1" i="0">
                <a:solidFill>
                  <a:srgbClr val="9FD3C7"/>
                </a:solidFill>
              </a:rPr>
              <a:t>  = Command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251460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PowerShell</a:t>
            </a:r>
          </a:p>
          <a:p>
            <a:pPr algn="l"/>
            <a:r>
              <a:rPr sz="1200" b="0" i="0">
                <a:solidFill>
                  <a:srgbClr val="5F5F5F"/>
                </a:solidFill>
              </a:rPr>
              <a:t>recommended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14600" y="2514600"/>
            <a:ext cx="9162288" cy="50292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624328" y="2514600"/>
            <a:ext cx="9006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irm https://claude.ai/install.ps1 | iex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3172968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Command Prompt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4600" y="3172968"/>
            <a:ext cx="9162288" cy="50292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2624328" y="3172968"/>
            <a:ext cx="9006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ourier New"/>
              </a:rPr>
              <a:t>curl -fsSL https://claude.ai/install.cmd -o install.cmd &amp;&amp; install.cmd &amp;&amp; del install.cmd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831335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WinGet</a:t>
            </a:r>
          </a:p>
          <a:p>
            <a:pPr algn="l"/>
            <a:r>
              <a:rPr sz="1200" b="0" i="0">
                <a:solidFill>
                  <a:srgbClr val="5F5F5F"/>
                </a:solidFill>
              </a:rPr>
              <a:t>no auto-update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3831335"/>
            <a:ext cx="9162288" cy="50292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624328" y="3831335"/>
            <a:ext cx="9006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ourier New"/>
              </a:rPr>
              <a:t>winget install Anthropic.ClaudeCode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4572000"/>
            <a:ext cx="3538728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Windows_circle"/>
          <p:cNvSpPr/>
          <p:nvPr/>
        </p:nvSpPr>
        <p:spPr>
          <a:xfrm>
            <a:off x="676656" y="468630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Window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" y="4800600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71016" y="4572000"/>
            <a:ext cx="267004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Runs natively; WSL is optional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5112" y="4572000"/>
            <a:ext cx="3538728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icon_FaUserGear_circle"/>
          <p:cNvSpPr/>
          <p:nvPr/>
        </p:nvSpPr>
        <p:spPr>
          <a:xfrm>
            <a:off x="4489704" y="468630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FaUserGea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004" y="4800600"/>
            <a:ext cx="228600" cy="228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84064" y="4572000"/>
            <a:ext cx="267004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No Administrator rights needed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4572000"/>
            <a:ext cx="3538728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icon_FaGitAlt_circle"/>
          <p:cNvSpPr/>
          <p:nvPr/>
        </p:nvSpPr>
        <p:spPr>
          <a:xfrm>
            <a:off x="8302752" y="468630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GitAlt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7052" y="4800600"/>
            <a:ext cx="228600" cy="2286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897112" y="4572000"/>
            <a:ext cx="2670048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Git for Windows recommended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5440680"/>
            <a:ext cx="11164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  <a:latin typeface="Courier New"/>
              </a:rPr>
              <a:t>'irm' is not recognized</a:t>
            </a:r>
            <a:r>
              <a:rPr sz="1500" b="0" i="0">
                <a:solidFill>
                  <a:schemeClr val="tx1"/>
                </a:solidFill>
              </a:rPr>
              <a:t>  means you're in Command Prompt. Nothing is broken; use the matching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Verify and sign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Three commands, then a show of hands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code_block"/>
          <p:cNvSpPr/>
          <p:nvPr/>
        </p:nvSpPr>
        <p:spPr>
          <a:xfrm>
            <a:off x="512064" y="1920240"/>
            <a:ext cx="6675120" cy="14173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1920240"/>
            <a:ext cx="6309359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--version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e.g., 2.1.284 (Claude Code)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doctor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read-only health check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 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first run: browser sign-in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" y="3611880"/>
            <a:ext cx="6675120" cy="109728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con_FaBan_circle"/>
          <p:cNvSpPr/>
          <p:nvPr/>
        </p:nvSpPr>
        <p:spPr>
          <a:xfrm>
            <a:off x="768096" y="3886200"/>
            <a:ext cx="548640" cy="54864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Ba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402336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17904" y="36118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</a:rPr>
              <a:t>Never delete </a:t>
            </a:r>
            <a:r>
              <a:rPr sz="1700" b="1" i="0">
                <a:solidFill>
                  <a:schemeClr val="bg1"/>
                </a:solidFill>
                <a:latin typeface="Courier New"/>
              </a:rPr>
              <a:t>~/.local/bin/claude</a:t>
            </a:r>
            <a:r>
              <a:rPr sz="1700" b="1" i="0">
                <a:solidFill>
                  <a:schemeClr val="bg1"/>
                </a:solidFill>
              </a:rPr>
              <a:t>. It is Claude Code (the launcher the native installer manages).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920240"/>
            <a:ext cx="4178808" cy="27889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_FaWindows_circle"/>
          <p:cNvSpPr/>
          <p:nvPr/>
        </p:nvSpPr>
        <p:spPr>
          <a:xfrm>
            <a:off x="7772400" y="2194560"/>
            <a:ext cx="548640" cy="54864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Windows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2331720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58200" y="2194560"/>
            <a:ext cx="2990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Windows: one more check</a:t>
            </a:r>
          </a:p>
        </p:txBody>
      </p:sp>
      <p:sp>
        <p:nvSpPr>
          <p:cNvPr id="23" name="code_block"/>
          <p:cNvSpPr/>
          <p:nvPr/>
        </p:nvSpPr>
        <p:spPr>
          <a:xfrm>
            <a:off x="7772400" y="2926080"/>
            <a:ext cx="3630168" cy="5029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73568" y="2926080"/>
            <a:ext cx="32644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Rscript --version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611880"/>
            <a:ext cx="363016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“Not recognized” means R isn't on your PATH yet. The installer never adds it (setup guide §2, Step 5).</a:t>
            </a:r>
          </a:p>
        </p:txBody>
      </p:sp>
      <p:sp>
        <p:nvSpPr>
          <p:cNvPr id="26" name="icon_FaUsers_circle"/>
          <p:cNvSpPr/>
          <p:nvPr/>
        </p:nvSpPr>
        <p:spPr>
          <a:xfrm>
            <a:off x="512064" y="512064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" y="5234940"/>
            <a:ext cx="228600" cy="228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52144" y="5074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Room check: hands up if claude --version printed a number. No number? Pair up with a neighbor for 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 vs. PC: things to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Both platforms are fully supported. These are differences, not reasons to switch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11164824" cy="3273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840480"/>
                <a:gridCol w="4946904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macOS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Windows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Terminal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Terminal (or Warp)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Windows Terminal + PowerShell (or Warp)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Paths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/Users/you/project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C:\Users\you\project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In R, always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here::here("data_raw", "file.csv")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Same; never a bare \ in R strings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Line endings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LF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CRLF → git config --global core.autocrlf true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Box / OneDrive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Always keep on this device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Always keep on this device; avoid very deep paths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14" name="Picture 13" descr="FaLightbulb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34924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5285232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here::here() makes the path difference disappear. That's why it's a rule in every CLAUDE.md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Permission modes: how much it does without asking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Shift+Tab cycles the modes; the current one shows at the bottom of the 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WandMagicSparkles_circle"/>
          <p:cNvSpPr/>
          <p:nvPr/>
        </p:nvSpPr>
        <p:spPr>
          <a:xfrm>
            <a:off x="786384" y="2194560"/>
            <a:ext cx="640080" cy="64008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WandMagicSparkles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54579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6384" y="2971800"/>
            <a:ext cx="2036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Auto</a:t>
            </a:r>
            <a:r>
              <a:rPr sz="1400" b="0" i="0">
                <a:solidFill>
                  <a:srgbClr val="5F5F5F"/>
                </a:solidFill>
              </a:rPr>
              <a:t>  (default)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429000"/>
            <a:ext cx="203682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Decides which actions are safe to run without asking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71850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_FaHand_circle"/>
          <p:cNvSpPr/>
          <p:nvPr/>
        </p:nvSpPr>
        <p:spPr>
          <a:xfrm>
            <a:off x="3646170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Han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6189" y="235457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46170" y="2971800"/>
            <a:ext cx="2036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Manual</a:t>
            </a:r>
            <a:r>
              <a:rPr sz="1400" b="0" i="0">
                <a:solidFill>
                  <a:srgbClr val="5F5F5F"/>
                </a:solidFill>
              </a:rPr>
              <a:t>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6170" y="3429000"/>
            <a:ext cx="203682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Asks before every edit and command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1636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_FaPenToSquare_circle"/>
          <p:cNvSpPr/>
          <p:nvPr/>
        </p:nvSpPr>
        <p:spPr>
          <a:xfrm>
            <a:off x="6505955" y="2194560"/>
            <a:ext cx="640080" cy="64008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PenToSquar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975" y="2354579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05955" y="2971800"/>
            <a:ext cx="2036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Accept edits</a:t>
            </a:r>
            <a:r>
              <a:rPr sz="1400" b="0" i="0">
                <a:solidFill>
                  <a:srgbClr val="5F5F5F"/>
                </a:solidFill>
              </a:rPr>
              <a:t>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5955" y="3429000"/>
            <a:ext cx="203682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Edits freely; asks before running commands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1422" y="1920240"/>
            <a:ext cx="2585466" cy="246888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_FaClipboardList_circle"/>
          <p:cNvSpPr/>
          <p:nvPr/>
        </p:nvSpPr>
        <p:spPr>
          <a:xfrm>
            <a:off x="9365742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lipboardLis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762" y="2354579"/>
            <a:ext cx="320040" cy="320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365742" y="2971800"/>
            <a:ext cx="203682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Plan</a:t>
            </a:r>
            <a:r>
              <a:rPr sz="1400" b="0" i="0">
                <a:solidFill>
                  <a:srgbClr val="5F5F5F"/>
                </a:solidFill>
              </a:rPr>
              <a:t>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5742" y="3429000"/>
            <a:ext cx="203682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Reads and proposes. Can't edit or run anything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4663440"/>
            <a:ext cx="1234440" cy="4572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12064" y="466344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urier New"/>
              </a:rPr>
              <a:t>Shift+Tab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37943" y="4663440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cycle modes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80944" y="4663440"/>
            <a:ext cx="1234440" cy="4572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980944" y="466344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urier New"/>
              </a:rPr>
              <a:t>Esc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6824" y="4663440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stop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49824" y="4663440"/>
            <a:ext cx="1234440" cy="4572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49824" y="466344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ourier New"/>
              </a:rPr>
              <a:t>Esc Esc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75704" y="4663440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rewind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01000" y="4526280"/>
            <a:ext cx="3675887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83879" y="4526280"/>
            <a:ext cx="33832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While learning: </a:t>
            </a:r>
            <a:r>
              <a:rPr sz="1700" b="0" i="0">
                <a:solidFill>
                  <a:schemeClr val="bg1"/>
                </a:solidFill>
              </a:rPr>
              <a:t>Manual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For design decisions: </a:t>
            </a:r>
            <a:r>
              <a:rPr sz="1700" b="0" i="0">
                <a:solidFill>
                  <a:schemeClr val="bg1"/>
                </a:solidFill>
              </a:rPr>
              <a:t>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it didn't work: the top five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Find your row. Two minutes, then we move 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 · Install and verify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12064" y="1920240"/>
          <a:ext cx="11164824" cy="32735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46320"/>
                <a:gridCol w="6318504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Symptom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Fix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'irm' is not recognized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You're in CMD. Open PowerShell, or use the CMD install line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claude: command not found / 'claude' is not recognized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Open a new terminal window (PATH refresh)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'Rscript' is not recognized (Windows)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Add R's bin folder to PATH (guide §2 Step 5), then open a new terminal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Sign-in loops or “no access”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Check the workspace: Claude Edu, not Secure. Students: confirm your seat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tx1"/>
                          </a:solidFill>
                        </a:rPr>
                        <a:t>Dataset “empty” or file not found in Box / OneDrive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Always keep on this device; on Windows, shorten very deep paths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14" name="Picture 13" descr="FaStopwatch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321808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5257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Still stuck? Write down the exact error and keep going. Blocks C and D need no install. We'll fix it at the break.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MCP?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Model Context Protocol: a standard plug that lets Claude use other software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120640" cy="14630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Plug_circle"/>
          <p:cNvSpPr/>
          <p:nvPr/>
        </p:nvSpPr>
        <p:spPr>
          <a:xfrm>
            <a:off x="786384" y="2194560"/>
            <a:ext cx="566928" cy="56692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Plu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" y="2336291"/>
            <a:ext cx="283464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2057400"/>
            <a:ext cx="3886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1">
                <a:solidFill>
                  <a:schemeClr val="bg1"/>
                </a:solidFill>
              </a:rPr>
              <a:t>“An open-source standard for connecting AI applications to external systems.”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45643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F5F5F"/>
                </a:solidFill>
              </a:rPr>
              <a:t>modelcontextprotocol.io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385876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One command, any MCP tool</a:t>
            </a:r>
          </a:p>
        </p:txBody>
      </p:sp>
      <p:sp>
        <p:nvSpPr>
          <p:cNvPr id="19" name="code_block"/>
          <p:cNvSpPr/>
          <p:nvPr/>
        </p:nvSpPr>
        <p:spPr>
          <a:xfrm>
            <a:off x="512064" y="4251960"/>
            <a:ext cx="5120640" cy="841248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13232" y="4251960"/>
            <a:ext cx="4754879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claude mcp add …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register a tool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/mcp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see what's connected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920240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</a:rPr>
              <a:t>Useful for researchers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2377440"/>
            <a:ext cx="5687568" cy="67665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_FaRProject_circle"/>
          <p:cNvSpPr/>
          <p:nvPr/>
        </p:nvSpPr>
        <p:spPr>
          <a:xfrm>
            <a:off x="6153912" y="2487168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RProjec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8212" y="2601468"/>
            <a:ext cx="228600" cy="228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66559" y="2414016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Your live R session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59" y="2724912"/>
            <a:ext cx="47731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F5F5F"/>
                </a:solidFill>
              </a:rPr>
              <a:t>mcptools (Posit, CRAN): next slide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163824"/>
            <a:ext cx="5687568" cy="67665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BookOpen_circle"/>
          <p:cNvSpPr/>
          <p:nvPr/>
        </p:nvSpPr>
        <p:spPr>
          <a:xfrm>
            <a:off x="6153912" y="3273552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BookOpe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212" y="3387852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66559" y="3200400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Your Zotero library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3511296"/>
            <a:ext cx="47731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F5F5F"/>
                </a:solidFill>
              </a:rPr>
              <a:t>zotero-mcp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3950208"/>
            <a:ext cx="5687568" cy="676656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icon_FaNoteSticky_circle"/>
          <p:cNvSpPr/>
          <p:nvPr/>
        </p:nvSpPr>
        <p:spPr>
          <a:xfrm>
            <a:off x="6153912" y="4059936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NoteStick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8212" y="4174236"/>
            <a:ext cx="228600" cy="228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766559" y="3986784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Your Obsidian notes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59" y="4297680"/>
            <a:ext cx="477316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F5F5F"/>
                </a:solidFill>
              </a:rPr>
              <a:t>Obsidian Local REST API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4800600"/>
            <a:ext cx="56875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chemeClr val="tx1"/>
                </a:solidFill>
              </a:rPr>
              <a:t>Same servers work in </a:t>
            </a:r>
            <a:r>
              <a:rPr sz="1500" b="1" i="0">
                <a:solidFill>
                  <a:schemeClr val="tx1"/>
                </a:solidFill>
              </a:rPr>
              <a:t>Codex CLI</a:t>
            </a:r>
            <a:r>
              <a:rPr sz="1500" b="0" i="0">
                <a:solidFill>
                  <a:schemeClr val="tx1"/>
                </a:solidFill>
              </a:rPr>
              <a:t> and </a:t>
            </a:r>
            <a:r>
              <a:rPr sz="1500" b="1" i="0">
                <a:solidFill>
                  <a:schemeClr val="tx1"/>
                </a:solidFill>
              </a:rPr>
              <a:t>Gemini CLI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5321808"/>
            <a:ext cx="11164824" cy="749808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FaTriangleExclamatio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5532120"/>
            <a:ext cx="329184" cy="3291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43584" y="5321808"/>
            <a:ext cx="102504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bg1"/>
                </a:solidFill>
              </a:rPr>
              <a:t>Optional: Claude runs R scripts directly, no MCP needed. </a:t>
            </a:r>
            <a:r>
              <a:rPr sz="1500" b="0" i="0">
                <a:solidFill>
                  <a:schemeClr val="bg1"/>
                </a:solidFill>
              </a:rPr>
              <a:t>Each connection costs context and tokens and exposes more data, so connect only what you need, from sources you trust.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 Claude to R: mcptools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Optional: lets Claude see the R session you have open right now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12064" y="1975104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" y="197510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1920240"/>
            <a:ext cx="2926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1920240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822191" y="1920240"/>
            <a:ext cx="77724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install.packages("mcptools")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" y="2724912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27249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" y="2670048"/>
            <a:ext cx="2926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the terminal (once)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2670048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822191" y="2670048"/>
            <a:ext cx="77724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claude mcp add -s user r-mcptools -- Rscript -e "mcptools::mcp_server()"</a:t>
            </a:r>
          </a:p>
        </p:txBody>
      </p:sp>
      <p:sp>
        <p:nvSpPr>
          <p:cNvPr id="23" name="Oval 22"/>
          <p:cNvSpPr/>
          <p:nvPr/>
        </p:nvSpPr>
        <p:spPr>
          <a:xfrm>
            <a:off x="512064" y="3474720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34747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419856"/>
            <a:ext cx="2926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RStudio (live session)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3419856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822191" y="3419856"/>
            <a:ext cx="77724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mcptools::mcp_session()</a:t>
            </a:r>
          </a:p>
        </p:txBody>
      </p:sp>
      <p:sp>
        <p:nvSpPr>
          <p:cNvPr id="28" name="Oval 27"/>
          <p:cNvSpPr/>
          <p:nvPr/>
        </p:nvSpPr>
        <p:spPr>
          <a:xfrm>
            <a:off x="512064" y="4224528"/>
            <a:ext cx="475488" cy="475488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12064" y="42245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144" y="4169664"/>
            <a:ext cx="2926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In Claude: check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4169664"/>
            <a:ext cx="8019288" cy="585216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822191" y="4169664"/>
            <a:ext cx="77724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/mcp   → r-mcptools ✔ connected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5029200"/>
            <a:ext cx="11164824" cy="731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</a:rPr>
              <a:t>Make step 3 permanent (.Rprofile):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22191" y="5029200"/>
            <a:ext cx="7680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  <a:latin typeface="Courier New"/>
              </a:rPr>
              <a:t>if (interactive()) mcptools::mcp_session()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 work in VS Code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Same agent, same CLAUDE.md, different window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4754880" cy="32918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PuzzlePiece_circle"/>
          <p:cNvSpPr/>
          <p:nvPr/>
        </p:nvSpPr>
        <p:spPr>
          <a:xfrm>
            <a:off x="832104" y="2240280"/>
            <a:ext cx="731520" cy="73152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PuzzlePiece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2316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2104" y="31546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chemeClr val="bg1"/>
                </a:solidFill>
              </a:rPr>
              <a:t>“Claude Code” by Anthropic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703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chemeClr val="bg1"/>
                </a:solidFill>
                <a:latin typeface="Courier New"/>
              </a:rPr>
              <a:t>anthropic.claude-code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20624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VS Code 1.94 or later. Check that the publisher is Anthropic.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920240"/>
            <a:ext cx="5961888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_FaKey_circle"/>
          <p:cNvSpPr/>
          <p:nvPr/>
        </p:nvSpPr>
        <p:spPr>
          <a:xfrm>
            <a:off x="5879592" y="214884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Ke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892" y="2263140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3952" y="1920240"/>
            <a:ext cx="509320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Signs in with your Claude account. No API key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0" y="3035808"/>
            <a:ext cx="5961888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_FaCodeCompare_circle"/>
          <p:cNvSpPr/>
          <p:nvPr/>
        </p:nvSpPr>
        <p:spPr>
          <a:xfrm>
            <a:off x="5879592" y="3264408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odeCompar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892" y="3378708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73952" y="3035808"/>
            <a:ext cx="509320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Side-by-side diffs: approve each edit; checkpoints to rewind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0" y="4151376"/>
            <a:ext cx="5961888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Keyboard_circle"/>
          <p:cNvSpPr/>
          <p:nvPr/>
        </p:nvSpPr>
        <p:spPr>
          <a:xfrm>
            <a:off x="5879592" y="4379976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Keyboard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3892" y="4494276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3952" y="4151376"/>
            <a:ext cx="5093207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@-mention a selection: Option+K (Mac) / Alt+K (Windows)</a:t>
            </a:r>
          </a:p>
        </p:txBody>
      </p:sp>
      <p:pic>
        <p:nvPicPr>
          <p:cNvPr id="31" name="Picture 30" descr="FaTriangleExclamation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" y="5440680"/>
            <a:ext cx="329184" cy="32918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4984" y="5376672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The extension doesn't add claude to your terminal. Keep the CLI install too.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tool stack that helps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All optional. Everything today works in the built-in terminal and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 · Connect Claude to your tools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Terminal_circle"/>
          <p:cNvSpPr/>
          <p:nvPr/>
        </p:nvSpPr>
        <p:spPr>
          <a:xfrm>
            <a:off x="786384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erminal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54579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2194560"/>
            <a:ext cx="225856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17520"/>
            <a:ext cx="2990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 friendlier terminal: tabs, selectable output blocks, easier editing at the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251960"/>
            <a:ext cx="2990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Free plan; login optional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709160"/>
            <a:ext cx="29900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F5F5F"/>
                </a:solidFill>
              </a:rPr>
              <a:t>Has its own AI agent. Just type claude. Analytics on by default (Settings → Privacy).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5112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_FaMarkdown_circle"/>
          <p:cNvSpPr/>
          <p:nvPr/>
        </p:nvSpPr>
        <p:spPr>
          <a:xfrm>
            <a:off x="4599432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Markdow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2354579"/>
            <a:ext cx="320040" cy="320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76672" y="2194560"/>
            <a:ext cx="225856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Typora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3017520"/>
            <a:ext cx="2990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Read and edit what Claude writes in writing/ as formatted text, one document at a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251960"/>
            <a:ext cx="2990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$14.99 one-time; 15-day trial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4709160"/>
            <a:ext cx="29900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F5F5F"/>
                </a:solidFill>
              </a:rPr>
              <a:t>Like a word processor for Markdown.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NoteSticky_circle"/>
          <p:cNvSpPr/>
          <p:nvPr/>
        </p:nvSpPr>
        <p:spPr>
          <a:xfrm>
            <a:off x="8412480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NoteStick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354579"/>
            <a:ext cx="320040" cy="3200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89720" y="2194560"/>
            <a:ext cx="225856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Obsidian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017520"/>
            <a:ext cx="299008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A vault of linked notes (e.g., your literature); can connect to Claude via MCP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251960"/>
            <a:ext cx="29900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chemeClr val="tx2"/>
                </a:solidFill>
              </a:rPr>
              <a:t>Free, including for 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709160"/>
            <a:ext cx="29900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F5F5F"/>
                </a:solidFill>
              </a:rPr>
              <a:t>Plain .md files, so there's no lock-in.</a:t>
            </a:r>
          </a:p>
        </p:txBody>
      </p:sp>
      <p:sp>
        <p:nvSpPr>
          <p:cNvPr id="34" name="source"/>
          <p:cNvSpPr txBox="1"/>
          <p:nvPr/>
        </p:nvSpPr>
        <p:spPr>
          <a:xfrm>
            <a:off x="512064" y="5833872"/>
            <a:ext cx="11164824" cy="2743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100" b="0" i="1">
                <a:solidFill>
                  <a:srgbClr val="5F5F5F"/>
                </a:solidFill>
              </a:rPr>
              <a:t>Pricing and terms checked 2026-10-12 (warp.dev/pricing · typora.io/store · obsidian.md/pricing). Install commands: setup guide §8 (macOS) / §9 (Windows).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project folder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 place for everything, so the agent stops guessing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 · The project folder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code_block"/>
          <p:cNvSpPr/>
          <p:nvPr/>
        </p:nvSpPr>
        <p:spPr>
          <a:xfrm>
            <a:off x="512064" y="1920240"/>
            <a:ext cx="5760720" cy="3749039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1920240"/>
            <a:ext cx="5394959" cy="3749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my_project/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CLAUDE.md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agent memory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README.md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for humans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data_raw/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IMMUTABLE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data_clean/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1000-series only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code/   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0000→3000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outputs/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figures, tables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├── writing/        </a:t>
            </a:r>
            <a:r>
              <a:rPr sz="1500" b="0" i="0">
                <a:solidFill>
                  <a:srgbClr val="9FD3C7"/>
                </a:solidFill>
                <a:latin typeface="Courier New"/>
              </a:rPr>
              <a:t>  # Markdown drafts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└── my_project.Rproj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1920240"/>
            <a:ext cx="5093207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icon_FaLock_circle"/>
          <p:cNvSpPr/>
          <p:nvPr/>
        </p:nvSpPr>
        <p:spPr>
          <a:xfrm>
            <a:off x="6748272" y="221742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Lo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572" y="2331720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42632" y="1920240"/>
            <a:ext cx="4224527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data_raw/ is never modified, so you can always rebuild from the source.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154680"/>
            <a:ext cx="5093207" cy="10515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_FaFileShield_circle"/>
          <p:cNvSpPr/>
          <p:nvPr/>
        </p:nvSpPr>
        <p:spPr>
          <a:xfrm>
            <a:off x="6748272" y="345186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FileShiel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572" y="3566160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42632" y="3154680"/>
            <a:ext cx="4224527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Only cleaning scripts write to data_clean/, so every clean file has a known origin.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389120"/>
            <a:ext cx="5093207" cy="1280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389120"/>
            <a:ext cx="4544568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bg1"/>
                </a:solidFill>
              </a:rPr>
              <a:t>Copy it now: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chemeClr val="bg1"/>
                </a:solidFill>
                <a:latin typeface="Courier New"/>
              </a:rPr>
              <a:t>part2_setup/project_template/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chemeClr val="bg1"/>
                </a:solidFill>
              </a:rPr>
              <a:t>Rename it: lowercase, no spaces.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Names an agent can follow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Scripts are numbered by stage, with room to grow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 · The project folder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0574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Courier New"/>
              </a:rPr>
              <a:t>0000–0999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5146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Import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8803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→ memory / data_clean/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80944" y="2633472"/>
            <a:ext cx="399288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425952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8832" y="20574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bg1"/>
                </a:solidFill>
                <a:latin typeface="Courier New"/>
              </a:rPr>
              <a:t>1000–1999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8832" y="25146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bg1"/>
                </a:solidFill>
              </a:rPr>
              <a:t>Cleaning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832" y="28803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chemeClr val="bg1"/>
                </a:solidFill>
              </a:rPr>
              <a:t>→ data_clean/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94832" y="2633472"/>
            <a:ext cx="399288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339840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22720" y="20574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Courier New"/>
              </a:rPr>
              <a:t>2000–2999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2720" y="25146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Descriptives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2720" y="28803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→ outputs/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08720" y="2633472"/>
            <a:ext cx="399288" cy="0"/>
          </a:xfrm>
          <a:prstGeom prst="line">
            <a:avLst/>
          </a:prstGeom>
          <a:ln w="2540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53728" y="1920240"/>
            <a:ext cx="2423160" cy="14173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36608" y="205740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  <a:latin typeface="Courier New"/>
              </a:rPr>
              <a:t>3000+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36608" y="251460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288036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5F5F"/>
                </a:solidFill>
              </a:rPr>
              <a:t>→ outputs/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" y="3611880"/>
            <a:ext cx="11164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Gaps are the point: </a:t>
            </a:r>
            <a:r>
              <a:rPr sz="1600" b="0" i="0">
                <a:solidFill>
                  <a:schemeClr val="tx1"/>
                </a:solidFill>
                <a:latin typeface="Courier New"/>
              </a:rPr>
              <a:t>1500_merge_waves.Rmd</a:t>
            </a:r>
            <a:r>
              <a:rPr sz="1600" b="0" i="0">
                <a:solidFill>
                  <a:schemeClr val="tx1"/>
                </a:solidFill>
              </a:rPr>
              <a:t> fits between cleaning and descriptives without renumbering anything.</a:t>
            </a:r>
          </a:p>
        </p:txBody>
      </p:sp>
      <p:pic>
        <p:nvPicPr>
          <p:cNvPr id="33" name="Picture 32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251959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69264" y="42062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  <a:latin typeface="Courier New"/>
              </a:rPr>
              <a:t>1000_clean_enrollment.Rmd</a:t>
            </a:r>
          </a:p>
        </p:txBody>
      </p:sp>
      <p:pic>
        <p:nvPicPr>
          <p:cNvPr id="35" name="Picture 34" descr="FaCircle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709159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69264" y="46634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  <a:latin typeface="Courier New"/>
              </a:rPr>
              <a:t>methods_draft_2026-10-16.md</a:t>
            </a:r>
          </a:p>
        </p:txBody>
      </p:sp>
      <p:pic>
        <p:nvPicPr>
          <p:cNvPr id="37" name="Picture 36" descr="FaCircleXmark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5166359"/>
            <a:ext cx="292608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69264" y="51206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  <a:latin typeface="Courier New"/>
              </a:rPr>
              <a:t>Clean Enrollment FINAL v2.Rmd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4206240"/>
            <a:ext cx="5001768" cy="129844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903720" y="4206240"/>
            <a:ext cx="457200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tx1"/>
                </a:solidFill>
              </a:rPr>
              <a:t>lowercase</a:t>
            </a: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tx1"/>
                </a:solidFill>
              </a:rPr>
              <a:t>snake_case or kebab-case</a:t>
            </a:r>
          </a:p>
          <a:p>
            <a:pPr algn="l">
              <a:spcAft>
                <a:spcPts val="300"/>
              </a:spcAft>
            </a:pPr>
            <a:r>
              <a:rPr sz="1600" b="1" i="0">
                <a:solidFill>
                  <a:schemeClr val="tx1"/>
                </a:solidFill>
              </a:rPr>
              <a:t>ISO dates (YYYY-MM-DD)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structure matters to an agent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An agent decides where to put things every time it writes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 · The project folder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1089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Sitemap_circle"/>
          <p:cNvSpPr/>
          <p:nvPr/>
        </p:nvSpPr>
        <p:spPr>
          <a:xfrm>
            <a:off x="786384" y="230428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Sitem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455164"/>
            <a:ext cx="3017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1920240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Predictable places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94176" y="2606040"/>
            <a:ext cx="772668" cy="0"/>
          </a:xfrm>
          <a:prstGeom prst="line">
            <a:avLst/>
          </a:prstGeom>
          <a:ln w="3175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39996" y="1920240"/>
            <a:ext cx="310896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_FaCircleQuestion_circle"/>
          <p:cNvSpPr/>
          <p:nvPr/>
        </p:nvSpPr>
        <p:spPr>
          <a:xfrm>
            <a:off x="4814316" y="2304288"/>
            <a:ext cx="603504" cy="603504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ircleQuesti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455164"/>
            <a:ext cx="301752" cy="3017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91556" y="1920240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tx1"/>
                </a:solidFill>
              </a:rPr>
              <a:t>Fewer guesses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22108" y="2606040"/>
            <a:ext cx="772668" cy="0"/>
          </a:xfrm>
          <a:prstGeom prst="line">
            <a:avLst/>
          </a:prstGeom>
          <a:ln w="31750">
            <a:solidFill>
              <a:schemeClr val="accent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567928" y="1920240"/>
            <a:ext cx="31089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_FaFileShield_circle"/>
          <p:cNvSpPr/>
          <p:nvPr/>
        </p:nvSpPr>
        <p:spPr>
          <a:xfrm>
            <a:off x="8842248" y="2304288"/>
            <a:ext cx="603504" cy="603504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FileShield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124" y="2455164"/>
            <a:ext cx="301752" cy="3017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19488" y="1920240"/>
            <a:ext cx="192023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chemeClr val="bg1"/>
                </a:solidFill>
              </a:rPr>
              <a:t>Fewer overwritten 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611880"/>
            <a:ext cx="11164824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con_FaFolderTree_circle"/>
          <p:cNvSpPr/>
          <p:nvPr/>
        </p:nvSpPr>
        <p:spPr>
          <a:xfrm>
            <a:off x="676656" y="3703320"/>
            <a:ext cx="420624" cy="4206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FolderTre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" y="380847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34440" y="3611880"/>
            <a:ext cx="10332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Give it one right answer for where each thing goes.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" y="4343400"/>
            <a:ext cx="11164824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icon_FaCheck_circle"/>
          <p:cNvSpPr/>
          <p:nvPr/>
        </p:nvSpPr>
        <p:spPr>
          <a:xfrm>
            <a:off x="676656" y="4434840"/>
            <a:ext cx="420624" cy="4206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FaCheck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" y="4539996"/>
            <a:ext cx="210312" cy="21031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34440" y="4343400"/>
            <a:ext cx="10332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“Read only from data_raw/” is a rule it can check. “Be careful with the data” is not.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2064" y="5074920"/>
            <a:ext cx="11164824" cy="603504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icon_FaClockRotateLeft_circle"/>
          <p:cNvSpPr/>
          <p:nvPr/>
        </p:nvSpPr>
        <p:spPr>
          <a:xfrm>
            <a:off x="676656" y="5166360"/>
            <a:ext cx="420624" cy="420624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ClockRotateLef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" y="5271516"/>
            <a:ext cx="210312" cy="2103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234440" y="5074920"/>
            <a:ext cx="10332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The structure is also your record: scripts in order, every output traceable to a script.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CLAUDE.md: memory at two levels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Read at the start of every session. Rules you write once instead of repeating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5445252" cy="237744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User_circle"/>
          <p:cNvSpPr/>
          <p:nvPr/>
        </p:nvSpPr>
        <p:spPr>
          <a:xfrm>
            <a:off x="832104" y="2240280"/>
            <a:ext cx="731520" cy="73152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Us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42316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92224" y="22402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chemeClr val="tx1"/>
                </a:solidFill>
              </a:rPr>
              <a:t>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1546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  <a:latin typeface="Courier New"/>
              </a:rPr>
              <a:t>~/.claude/CLAUDE.md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36118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How you work, in every project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1636" y="1920240"/>
            <a:ext cx="5445252" cy="2377440"/>
          </a:xfrm>
          <a:prstGeom prst="roundRect">
            <a:avLst>
              <a:gd name="adj" fmla="val 8000"/>
            </a:avLst>
          </a:prstGeom>
          <a:solidFill>
            <a:srgbClr val="F6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_FaFolderOpen_circle"/>
          <p:cNvSpPr/>
          <p:nvPr/>
        </p:nvSpPr>
        <p:spPr>
          <a:xfrm>
            <a:off x="6551675" y="2240280"/>
            <a:ext cx="731520" cy="73152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FolderOpe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555" y="2423160"/>
            <a:ext cx="365760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511796" y="224028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chemeClr val="tx1"/>
                </a:solidFill>
              </a:rPr>
              <a:t>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1675" y="31546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chemeClr val="tx2"/>
                </a:solidFill>
                <a:latin typeface="Courier New"/>
              </a:rPr>
              <a:t>my_project/CLAUDE.md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1675" y="36118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chemeClr val="tx1"/>
                </a:solidFill>
              </a:rPr>
              <a:t>This study: question, data, folders,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4572000"/>
            <a:ext cx="11164824" cy="109728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2104" y="4572000"/>
            <a:ext cx="10524744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Files add up: </a:t>
            </a:r>
            <a:r>
              <a:rPr sz="1700" b="0" i="0">
                <a:solidFill>
                  <a:schemeClr val="bg1"/>
                </a:solidFill>
              </a:rPr>
              <a:t>Claude reads both, broad to specific.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chemeClr val="bg1"/>
                </a:solidFill>
              </a:rPr>
              <a:t>Guidance, not a lock: </a:t>
            </a:r>
            <a:r>
              <a:rPr sz="1700" b="0" i="0">
                <a:solidFill>
                  <a:schemeClr val="bg1"/>
                </a:solidFill>
              </a:rPr>
              <a:t>back hard rules with real controls (.gitignore).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user-level rule worth stealing: ask before acting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The Task Clarification Protocol, from the instructor's ~/.claude/CLAUDE.md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6675120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86384" y="2240279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" y="22402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2194560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Before any task: are there ambiguous requirements or several reasonable approaches?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01752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3017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2971800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If so, STOP and ask first.</a:t>
            </a:r>
          </a:p>
        </p:txBody>
      </p:sp>
      <p:sp>
        <p:nvSpPr>
          <p:cNvPr id="20" name="Oval 19"/>
          <p:cNvSpPr/>
          <p:nvPr/>
        </p:nvSpPr>
        <p:spPr>
          <a:xfrm>
            <a:off x="786384" y="3794759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37947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3749039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Numbered multiple-choice options, 2–4 per question.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" y="4571999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6384" y="45719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4526279"/>
            <a:ext cx="55778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Mark one [Recommended]; end with “Reply with the numbers (e.g., 1A, 2B).”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2578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chemeClr val="tx2"/>
                </a:solidFill>
              </a:rPr>
              <a:t>Do NOT proceed until the user confirms.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79" y="1920240"/>
            <a:ext cx="4178808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18119" y="2194560"/>
            <a:ext cx="353872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chemeClr val="bg1"/>
                </a:solidFill>
              </a:rPr>
              <a:t>The more it asks, the better the output.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19" y="4251960"/>
            <a:ext cx="35387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chemeClr val="bg1"/>
                </a:solidFill>
              </a:rPr>
              <a:t>Hidden decisions become deliberate ones, and “1A, 2B, 3A” takes five seconds to answer.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Anatomy of a project CLAUDE.md, and rules that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Template: part2_setup/project_template/CLAUDE.md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57784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1 Overview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64792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10512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2 Folder contract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063240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3 Script naming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315968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4 R conventions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22976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568696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bg1"/>
                </a:solidFill>
              </a:rPr>
              <a:t>5 Data security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75704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21424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6 Analysis standards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074152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7 Writing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26880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8 Working agreement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33888" y="1920240"/>
            <a:ext cx="1143000" cy="685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579608" y="1920240"/>
            <a:ext cx="1051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chemeClr val="tx1"/>
                </a:solidFill>
              </a:rPr>
              <a:t>9 Project log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12064" y="2834640"/>
          <a:ext cx="11164823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91840"/>
                <a:gridCol w="787298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✘  Vague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chemeClr val="bg1"/>
                          </a:solidFill>
                        </a:rPr>
                        <a:t>✔  Specific and checkable</a:t>
                      </a:r>
                    </a:p>
                  </a:txBody>
                  <a:tcPr marL="91440" marR="91440" marT="36576" marB="36576" anchor="ctr"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Be careful with the data.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Never create, modify, rename, or delete anything in data_raw/.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Protect privacy.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Never print individual records; use glimpse(), summary(), counts.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Cite sources.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chemeClr val="tx1"/>
                          </a:solidFill>
                        </a:rPr>
                        <a:t>Never invent citations; write [CITATION NEEDED].</a:t>
                      </a:r>
                    </a:p>
                  </a:txBody>
                  <a:tcPr marL="91440" marR="91440" marT="36576" marB="36576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32" name="Picture 31" descr="FaListOl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5257800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60704" y="5193792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</a:rPr>
              <a:t>Keep it under 200 lines. </a:t>
            </a:r>
            <a:r>
              <a:rPr sz="1600" b="0" i="0">
                <a:solidFill>
                  <a:schemeClr val="tx1"/>
                </a:solidFill>
              </a:rPr>
              <a:t>For each line: would removing it cause a mistake?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never goes in, and how to draft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Treat CLAUDE.md as something you'd publish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 · CLAUDE.md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512064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_FaBan_circle"/>
          <p:cNvSpPr/>
          <p:nvPr/>
        </p:nvSpPr>
        <p:spPr>
          <a:xfrm>
            <a:off x="786384" y="2194560"/>
            <a:ext cx="640080" cy="64008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an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" y="2354579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63624" y="2194560"/>
            <a:ext cx="225856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chemeClr val="bg1"/>
                </a:solidFill>
              </a:rPr>
              <a:t>Never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108960"/>
            <a:ext cx="2990088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bg1"/>
                </a:solidFill>
              </a:rPr>
              <a:t>Passwords, API keys, tokens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bg1"/>
                </a:solidFill>
              </a:rPr>
              <a:t>Identifiable data or example records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bg1"/>
                </a:solidFill>
              </a:rPr>
              <a:t>Access instructions for restricted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_FaPenToSquare_circle"/>
          <p:cNvSpPr/>
          <p:nvPr/>
        </p:nvSpPr>
        <p:spPr>
          <a:xfrm>
            <a:off x="4599432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PenToSquar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452" y="235457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376672" y="2194560"/>
            <a:ext cx="225856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Draft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3108960"/>
            <a:ext cx="2990088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Gemini (free) for the research-question and standards prose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Refine inside the project with Claude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/init can generate a starter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1920240"/>
            <a:ext cx="3538728" cy="37947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_FaRotate_circle"/>
          <p:cNvSpPr/>
          <p:nvPr/>
        </p:nvSpPr>
        <p:spPr>
          <a:xfrm>
            <a:off x="8412480" y="2194560"/>
            <a:ext cx="640080" cy="64008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Rotat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0" y="2354579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89720" y="2194560"/>
            <a:ext cx="225856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chemeClr val="tx1"/>
                </a:solidFill>
              </a:rPr>
              <a:t>Maintain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108960"/>
            <a:ext cx="2990088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Corrected the agent twice?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“Add this to CLAUDE.md.”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chemeClr val="tx1"/>
                </a:solidFill>
              </a:rPr>
              <a:t>Log each session (§9)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Live: write your CLAUDE.md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No project yet? Use the Part 3 case. Checklist: claude_md_guide.md §9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 · Live activity · 7 minutes</a:t>
            </a:r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7B8B9A10-FAE3-D1BC-CFE0-165EB8A2B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3904" y="6366510"/>
            <a:ext cx="258774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E2C19600-1FA6-49A4-BAD8-DAC77A90007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12064" y="1947672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" y="19476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1920240"/>
            <a:ext cx="6766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Copy project_template/ and rename it (lowercase, no spaces)</a:t>
            </a:r>
          </a:p>
        </p:txBody>
      </p:sp>
      <p:sp>
        <p:nvSpPr>
          <p:cNvPr id="16" name="Oval 15"/>
          <p:cNvSpPr/>
          <p:nvPr/>
        </p:nvSpPr>
        <p:spPr>
          <a:xfrm>
            <a:off x="512064" y="260604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12064" y="2606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2578608"/>
            <a:ext cx="6766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Open CLAUDE.md and fill in:</a:t>
            </a:r>
          </a:p>
        </p:txBody>
      </p:sp>
      <p:pic>
        <p:nvPicPr>
          <p:cNvPr id="19" name="Picture 18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20040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3624" y="313639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§1 research question, design, data sources (no access details)</a:t>
            </a:r>
          </a:p>
        </p:txBody>
      </p:sp>
      <p:pic>
        <p:nvPicPr>
          <p:cNvPr id="21" name="Picture 20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584448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63624" y="3520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§4 your packages</a:t>
            </a:r>
          </a:p>
        </p:txBody>
      </p:sp>
      <p:pic>
        <p:nvPicPr>
          <p:cNvPr id="23" name="Picture 22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396849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63624" y="390448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§5 data classification and small-cell threshold</a:t>
            </a:r>
          </a:p>
        </p:txBody>
      </p:sp>
      <p:pic>
        <p:nvPicPr>
          <p:cNvPr id="25" name="Picture 24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4352544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63624" y="428853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§6 primary specification (tentative is fine)</a:t>
            </a:r>
          </a:p>
        </p:txBody>
      </p:sp>
      <p:pic>
        <p:nvPicPr>
          <p:cNvPr id="27" name="Picture 26" descr="FaCheck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4736592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63624" y="467258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chemeClr val="tx1"/>
                </a:solidFill>
              </a:rPr>
              <a:t>One rule of your own, written so it's checkable</a:t>
            </a:r>
          </a:p>
        </p:txBody>
      </p:sp>
      <p:sp>
        <p:nvSpPr>
          <p:cNvPr id="29" name="Oval 28"/>
          <p:cNvSpPr/>
          <p:nvPr/>
        </p:nvSpPr>
        <p:spPr>
          <a:xfrm>
            <a:off x="512064" y="5212080"/>
            <a:ext cx="457200" cy="45720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5212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" y="5184648"/>
            <a:ext cx="6766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chemeClr val="tx1"/>
                </a:solidFill>
              </a:rPr>
              <a:t>cd into the folder → claude → “Summarize the data-security rules in CLAUDE.md.”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1920240"/>
            <a:ext cx="3447287" cy="37947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icon_FaStopwatch_circle"/>
          <p:cNvSpPr/>
          <p:nvPr/>
        </p:nvSpPr>
        <p:spPr>
          <a:xfrm>
            <a:off x="9541764" y="2240280"/>
            <a:ext cx="822960" cy="822960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Stopwatch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504" y="2446020"/>
            <a:ext cx="411480" cy="4114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503920" y="3246120"/>
            <a:ext cx="28986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chemeClr val="bg1"/>
                </a:solidFill>
              </a:rPr>
              <a:t>7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069080"/>
            <a:ext cx="2898647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chemeClr val="bg1"/>
                </a:solidFill>
              </a:rPr>
              <a:t>If Claude's summary is wrong or vague, the rule isn't clear enough.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WashU Medicine">
      <a:dk1>
        <a:srgbClr val="000000"/>
      </a:dk1>
      <a:lt1>
        <a:srgbClr val="FFFFFF"/>
      </a:lt1>
      <a:dk2>
        <a:srgbClr val="BA0C2F"/>
      </a:dk2>
      <a:lt2>
        <a:srgbClr val="F5F2EE"/>
      </a:lt2>
      <a:accent1>
        <a:srgbClr val="971B2F"/>
      </a:accent1>
      <a:accent2>
        <a:srgbClr val="D9D9D6"/>
      </a:accent2>
      <a:accent3>
        <a:srgbClr val="215732"/>
      </a:accent3>
      <a:accent4>
        <a:srgbClr val="B5E3D8"/>
      </a:accent4>
      <a:accent5>
        <a:srgbClr val="13322B"/>
      </a:accent5>
      <a:accent6>
        <a:srgbClr val="007D8A"/>
      </a:accent6>
      <a:hlink>
        <a:srgbClr val="BA0C2F"/>
      </a:hlink>
      <a:folHlink>
        <a:srgbClr val="BA0C2F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6"/>
        </a:lnRef>
        <a:fillRef idx="0">
          <a:schemeClr val="accent6"/>
        </a:fillRef>
        <a:effectRef idx="0">
          <a:schemeClr val="accent6"/>
        </a:effectRef>
        <a:fontRef idx="minor">
          <a:schemeClr val="tx1"/>
        </a:fontRef>
      </a:style>
    </a:lnDef>
  </a:objectDefaults>
  <a:extraClrSchemeLst/>
  <a:custClrLst>
    <a:custClr name="WashU Green">
      <a:srgbClr val="215732"/>
    </a:custClr>
    <a:custClr name="Dark Green">
      <a:srgbClr val="13322B"/>
    </a:custClr>
    <a:custClr name="Coral">
      <a:srgbClr val="FF6D6A"/>
    </a:custClr>
    <a:custClr name="Custom Color 4">
      <a:srgbClr val="F1B434"/>
    </a:custClr>
    <a:custClr name="Teal">
      <a:srgbClr val="007D8A"/>
    </a:custClr>
    <a:custClr name="Mint">
      <a:srgbClr val="B5E3D8"/>
    </a:custClr>
    <a:custClr name="Gray">
      <a:srgbClr val="D9D9D6"/>
    </a:custClr>
  </a:custClrLst>
  <a:extLst>
    <a:ext uri="{05A4C25C-085E-4340-85A3-A5531E510DB2}">
      <thm15:themeFamily xmlns:thm15="http://schemas.microsoft.com/office/thememl/2012/main" name="Office Theme" id="{67E72386-5798-4EAD-80CA-990DB467CECF}" vid="{42220F3D-D07F-48BC-873E-53EDB36425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14349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default</dc:creator>
  <cp:lastModifiedBy>Chun, Yung</cp:lastModifiedBy>
  <cp:revision>679</cp:revision>
  <dcterms:created xsi:type="dcterms:W3CDTF">2013-07-09T17:46:55Z</dcterms:created>
  <dcterms:modified xsi:type="dcterms:W3CDTF">2025-09-25T16:12:24Z</dcterms:modified>
</cp:coreProperties>
</file>