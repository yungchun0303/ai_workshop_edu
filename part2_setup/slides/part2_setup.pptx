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2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240647-945F-4420-2BF3-6A3F96553581}" name="Meghan Doil" initials="MD" userId="S::Meghan@notionpartners.com::a8ec7eb1-6349-4529-b98e-40f78974ff70" providerId="AD"/>
  <p188:author id="{68575DE0-E424-2A10-766E-B786959A84E9}" name="Michelle Markee" initials="" userId="S::Michelle@notionpartners.com::55fc8d82-3871-406d-994c-c40c9b164ad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242A"/>
    <a:srgbClr val="5C646B"/>
    <a:srgbClr val="8C979A"/>
    <a:srgbClr val="8FD1C9"/>
    <a:srgbClr val="C41039"/>
    <a:srgbClr val="EBE8E5"/>
    <a:srgbClr val="009999"/>
    <a:srgbClr val="C08782"/>
    <a:srgbClr val="E7E7E7"/>
    <a:srgbClr val="F4EE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45" autoAdjust="0"/>
    <p:restoredTop sz="90240" autoAdjust="0"/>
  </p:normalViewPr>
  <p:slideViewPr>
    <p:cSldViewPr snapToGrid="0" snapToObjects="1">
      <p:cViewPr varScale="1">
        <p:scale>
          <a:sx n="106" d="100"/>
          <a:sy n="106" d="100"/>
        </p:scale>
        <p:origin x="1352" y="176"/>
      </p:cViewPr>
      <p:guideLst/>
    </p:cSldViewPr>
  </p:slideViewPr>
  <p:outlineViewPr>
    <p:cViewPr>
      <p:scale>
        <a:sx n="33" d="100"/>
        <a:sy n="33" d="100"/>
      </p:scale>
      <p:origin x="0" y="-8563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54" d="100"/>
        <a:sy n="5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un, Yung" userId="9901241370_tp_box_2" providerId="OAuth2" clId="{BCB4331A-CED4-5DDF-9079-A18519255F6F}"/>
    <pc:docChg chg="modSld">
      <pc:chgData name="Chun, Yung" userId="9901241370_tp_box_2" providerId="OAuth2" clId="{BCB4331A-CED4-5DDF-9079-A18519255F6F}" dt="2026-10-16T01:32:28.905" v="1" actId="207"/>
      <pc:docMkLst>
        <pc:docMk/>
      </pc:docMkLst>
      <pc:sldChg chg="modSp mod">
        <pc:chgData name="Chun, Yung" userId="9901241370_tp_box_2" providerId="OAuth2" clId="{BCB4331A-CED4-5DDF-9079-A18519255F6F}" dt="2026-10-16T01:32:28.905" v="1" actId="207"/>
        <pc:sldMkLst>
          <pc:docMk/>
          <pc:sldMk cId="0" sldId="274"/>
        </pc:sldMkLst>
        <pc:spChg chg="mod">
          <ac:chgData name="Chun, Yung" userId="9901241370_tp_box_2" providerId="OAuth2" clId="{BCB4331A-CED4-5DDF-9079-A18519255F6F}" dt="2026-10-16T01:32:28.905" v="1" actId="207"/>
          <ac:spMkLst>
            <pc:docMk/>
            <pc:sldMk cId="0" sldId="274"/>
            <ac:spMk id="2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E3AD09-9720-9047-BB14-484CD98DBB2F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380D64-6F43-4C4D-BE6A-3F3482AA5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39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gi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sv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22548E1-D411-DEF1-E24E-40436650157F}"/>
              </a:ext>
            </a:extLst>
          </p:cNvPr>
          <p:cNvSpPr/>
          <p:nvPr userDrawn="1"/>
        </p:nvSpPr>
        <p:spPr>
          <a:xfrm>
            <a:off x="393539" y="6134100"/>
            <a:ext cx="4130040" cy="597535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22CF4B-9F6B-E5CF-44C0-5E3A7B34A6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0000"/>
          <a:stretch/>
        </p:blipFill>
        <p:spPr>
          <a:xfrm>
            <a:off x="0" y="0"/>
            <a:ext cx="299824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90864918-E79B-7A8B-4C60-23558A97CF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1021"/>
          <a:stretch>
            <a:fillRect/>
          </a:stretch>
        </p:blipFill>
        <p:spPr>
          <a:xfrm>
            <a:off x="3660140" y="1720629"/>
            <a:ext cx="2435860" cy="562388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CF7FAA7F-60A9-60B1-A86E-8747601130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140" y="2642024"/>
            <a:ext cx="8145780" cy="1797262"/>
          </a:xfrm>
        </p:spPr>
        <p:txBody>
          <a:bodyPr/>
          <a:lstStyle>
            <a:lvl1pPr>
              <a:defRPr sz="4400">
                <a:solidFill>
                  <a:schemeClr val="tx1"/>
                </a:solidFill>
              </a:defRPr>
            </a:lvl1pPr>
            <a:lvl2pPr>
              <a:spcBef>
                <a:spcPts val="6000"/>
              </a:spcBef>
              <a:defRPr sz="18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FA57CF-6C6E-168E-2F7F-1158C0BEE878}"/>
              </a:ext>
            </a:extLst>
          </p:cNvPr>
          <p:cNvCxnSpPr>
            <a:cxnSpLocks/>
          </p:cNvCxnSpPr>
          <p:nvPr userDrawn="1"/>
        </p:nvCxnSpPr>
        <p:spPr>
          <a:xfrm>
            <a:off x="3660140" y="3462220"/>
            <a:ext cx="203454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5">
            <a:extLst>
              <a:ext uri="{FF2B5EF4-FFF2-40B4-BE49-F238E27FC236}">
                <a16:creationId xmlns:a16="http://schemas.microsoft.com/office/drawing/2014/main" id="{BFF417B7-BA1B-C990-93ED-20D10BD352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8" name="Slide Number Placeholder 6">
            <a:extLst>
              <a:ext uri="{FF2B5EF4-FFF2-40B4-BE49-F238E27FC236}">
                <a16:creationId xmlns:a16="http://schemas.microsoft.com/office/drawing/2014/main" id="{955F34C6-03B5-47CC-EAC6-3F5653F8CF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049CDA-75A6-0E73-DBA8-3993E947D9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60140" y="4439285"/>
            <a:ext cx="3197225" cy="419100"/>
          </a:xfrm>
        </p:spPr>
        <p:txBody>
          <a:bodyPr/>
          <a:lstStyle>
            <a:lvl1pPr marL="0" indent="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None/>
              <a:tabLst/>
              <a:defRPr lang="en-US" sz="1400" b="0" i="0" kern="1200" dirty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Date goes here</a:t>
            </a:r>
          </a:p>
        </p:txBody>
      </p:sp>
    </p:spTree>
    <p:extLst>
      <p:ext uri="{BB962C8B-B14F-4D97-AF65-F5344CB8AC3E}">
        <p14:creationId xmlns:p14="http://schemas.microsoft.com/office/powerpoint/2010/main" val="2406599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6F10-6790-8294-12D4-3833019EFB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0000"/>
          <a:stretch/>
        </p:blipFill>
        <p:spPr>
          <a:xfrm flipH="1">
            <a:off x="9193760" y="0"/>
            <a:ext cx="2998240" cy="6858000"/>
          </a:xfrm>
          <a:prstGeom prst="rect">
            <a:avLst/>
          </a:prstGeom>
        </p:spPr>
      </p:pic>
      <p:pic>
        <p:nvPicPr>
          <p:cNvPr id="15" name="Content Placeholder 4">
            <a:extLst>
              <a:ext uri="{FF2B5EF4-FFF2-40B4-BE49-F238E27FC236}">
                <a16:creationId xmlns:a16="http://schemas.microsoft.com/office/drawing/2014/main" id="{CBC87B14-0FFC-6198-5CA7-BB9431393B7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6238754"/>
            <a:ext cx="12192000" cy="619246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4EC3F75-69F9-2C08-F055-BD90C356C06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2140"/>
          <a:stretch>
            <a:fillRect/>
          </a:stretch>
        </p:blipFill>
        <p:spPr>
          <a:xfrm>
            <a:off x="802079" y="1041717"/>
            <a:ext cx="2408954" cy="566928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551975D7-9DC4-036D-19B5-9387903187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2079" y="2079636"/>
            <a:ext cx="8145780" cy="1455410"/>
          </a:xfrm>
        </p:spPr>
        <p:txBody>
          <a:bodyPr/>
          <a:lstStyle>
            <a:lvl1pPr>
              <a:defRPr sz="4400">
                <a:solidFill>
                  <a:schemeClr val="tx1"/>
                </a:solidFill>
              </a:defRPr>
            </a:lvl1pPr>
            <a:lvl2pPr>
              <a:spcBef>
                <a:spcPts val="3000"/>
              </a:spcBef>
              <a:defRPr sz="18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6552A6-AC76-4702-722D-4879A234F34C}"/>
              </a:ext>
            </a:extLst>
          </p:cNvPr>
          <p:cNvSpPr txBox="1"/>
          <p:nvPr userDrawn="1"/>
        </p:nvSpPr>
        <p:spPr>
          <a:xfrm>
            <a:off x="802079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18" name="Footer Placeholder 5">
            <a:extLst>
              <a:ext uri="{FF2B5EF4-FFF2-40B4-BE49-F238E27FC236}">
                <a16:creationId xmlns:a16="http://schemas.microsoft.com/office/drawing/2014/main" id="{09E0364A-5ACD-50B5-E100-9276E5A18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9" name="Slide Number Placeholder 6">
            <a:extLst>
              <a:ext uri="{FF2B5EF4-FFF2-40B4-BE49-F238E27FC236}">
                <a16:creationId xmlns:a16="http://schemas.microsoft.com/office/drawing/2014/main" id="{C65694F4-5083-6131-E4C6-96AFFC17BE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A066CD63-C27E-9D94-BFC5-3C2B52146A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2079" y="3535045"/>
            <a:ext cx="3197225" cy="419100"/>
          </a:xfrm>
        </p:spPr>
        <p:txBody>
          <a:bodyPr/>
          <a:lstStyle>
            <a:lvl1pPr marL="0" indent="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None/>
              <a:tabLst/>
              <a:defRPr lang="en-US" sz="1400" b="0" i="0" kern="1200" dirty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Date goes here</a:t>
            </a:r>
          </a:p>
        </p:txBody>
      </p:sp>
    </p:spTree>
    <p:extLst>
      <p:ext uri="{BB962C8B-B14F-4D97-AF65-F5344CB8AC3E}">
        <p14:creationId xmlns:p14="http://schemas.microsoft.com/office/powerpoint/2010/main" val="288306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9A143-75D6-42B0-B93D-4D5487BFC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71AC95-8698-5680-BA64-86571A8FF8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497D5A6A-7B14-D48F-CB02-107E773930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AAADD1CB-035A-F372-B750-3C92D6A1FB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511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and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FD4370C0-4089-AEA2-CC5A-49F16AA4731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1950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99A143-75D6-42B0-B93D-4D5487BFCD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427" y="437444"/>
            <a:ext cx="11167811" cy="6141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Impact header slide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71AC95-8698-5680-BA64-86571A8FF8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placeholder</a:t>
            </a:r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497D5A6A-7B14-D48F-CB02-107E773930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AAADD1CB-035A-F372-B750-3C92D6A1FB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461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56C9FE06-64EE-C25B-F18C-630C89E5E5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0876FF27-5FCA-80F6-A141-CE82FE49E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386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, Header, Subhead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9C16F-506C-1F4E-84FA-6B66623ED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708623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073B4726-A8F4-08FF-6507-4524E7544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322740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DADE456-2FEC-6E8C-8BDC-0EB32B7352C0}"/>
              </a:ext>
            </a:extLst>
          </p:cNvPr>
          <p:cNvCxnSpPr>
            <a:cxnSpLocks/>
          </p:cNvCxnSpPr>
          <p:nvPr userDrawn="1"/>
        </p:nvCxnSpPr>
        <p:spPr>
          <a:xfrm>
            <a:off x="512763" y="619831"/>
            <a:ext cx="869901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C59531D-1141-BBE9-8A89-93DE69D59C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1175" y="1996440"/>
            <a:ext cx="11171238" cy="40005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Footer Placeholder 5">
            <a:extLst>
              <a:ext uri="{FF2B5EF4-FFF2-40B4-BE49-F238E27FC236}">
                <a16:creationId xmlns:a16="http://schemas.microsoft.com/office/drawing/2014/main" id="{C91AEADF-3622-2AB3-401A-88D3A20DDC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6" name="Slide Number Placeholder 6">
            <a:extLst>
              <a:ext uri="{FF2B5EF4-FFF2-40B4-BE49-F238E27FC236}">
                <a16:creationId xmlns:a16="http://schemas.microsoft.com/office/drawing/2014/main" id="{A20AAE59-81C0-3F77-5EFF-205232CD68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F7879DE5-46F4-5F51-D7AD-1FF2100F4F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2763" y="305188"/>
            <a:ext cx="8631237" cy="314643"/>
          </a:xfrm>
        </p:spPr>
        <p:txBody>
          <a:bodyPr>
            <a:normAutofit/>
          </a:bodyPr>
          <a:lstStyle>
            <a:lvl1pPr>
              <a:defRPr sz="1400" i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1962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, Header,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9C16F-506C-1F4E-84FA-6B66623ED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708623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073B4726-A8F4-08FF-6507-4524E7544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322740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DADE456-2FEC-6E8C-8BDC-0EB32B7352C0}"/>
              </a:ext>
            </a:extLst>
          </p:cNvPr>
          <p:cNvCxnSpPr>
            <a:cxnSpLocks/>
          </p:cNvCxnSpPr>
          <p:nvPr userDrawn="1"/>
        </p:nvCxnSpPr>
        <p:spPr>
          <a:xfrm>
            <a:off x="512763" y="619831"/>
            <a:ext cx="869901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F7879DE5-46F4-5F51-D7AD-1FF2100F4F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2763" y="305188"/>
            <a:ext cx="8631237" cy="314643"/>
          </a:xfrm>
        </p:spPr>
        <p:txBody>
          <a:bodyPr>
            <a:normAutofit/>
          </a:bodyPr>
          <a:lstStyle>
            <a:lvl1pPr>
              <a:defRPr sz="1400" i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0E89BBD-2DB3-5F60-B4AC-F04E8A8E8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030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E1F54-83F2-F09A-0540-B4F2FD1B5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31F7FA2B-4B6F-717B-2654-D8A994BCA1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899807B-0AFF-AB51-FFC9-AA3708B60E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1175" y="1714500"/>
            <a:ext cx="11168063" cy="441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56CCB6A1-D661-D876-C30B-640D3FF67D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BBA0A6B3-6359-0588-6505-D6ACADE4B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0353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1C199-15AC-D14D-0AA6-CBE120306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E38F124-4CF3-FF0E-022F-8601D0A20F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714500"/>
            <a:ext cx="5399560" cy="44196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D0020D2-7B92-3072-B9F5-1D6B5C920B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79678" y="1714500"/>
            <a:ext cx="5399560" cy="441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19B4353-EEBD-5EA1-93A8-2494728D2F2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FA790335-AB91-2292-A583-68F8ED88AE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D1373D57-1AFC-40C1-C22B-486A74BFB2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739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14C5A-8BA0-81C6-0A5B-801985C8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0526CDC-D763-BB32-5B81-7D599455BF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714500"/>
            <a:ext cx="3503645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B60661A-EDC7-0966-9BFE-A0BC07258B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45898" y="1714500"/>
            <a:ext cx="3503645" cy="359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66A65CEC-5869-5D52-EAAE-4CE2E8B8331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79034" y="1714500"/>
            <a:ext cx="3503645" cy="359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F947AB0C-C375-6941-8123-42C74C4D44D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C469125A-AA88-702A-7398-FB0D80AE48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447CDAC8-C02C-3859-3C4F-64D38BF4F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24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DE30A47-262F-DB0A-10B8-D0B96680B8E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91438" y="0"/>
            <a:ext cx="4500562" cy="68580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7FE8F8-1FA2-6E20-363F-519BE59B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71800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20B35FB-3664-0B4D-6249-F782CED7DA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7178675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22DF9E99-5AA7-9ED8-F61D-1D5954C3C2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226809" y="3962400"/>
            <a:ext cx="464312" cy="1818640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EA7ADC5-3522-3180-74FA-1FD3E52E29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691438" y="3962400"/>
            <a:ext cx="4500562" cy="1819275"/>
          </a:xfrm>
          <a:solidFill>
            <a:schemeClr val="bg1"/>
          </a:solidFill>
        </p:spPr>
        <p:txBody>
          <a:bodyPr lIns="365760"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2D98FAF-0F57-636C-D186-EDD6EA7CA7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2763" y="1714500"/>
            <a:ext cx="6025197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4665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F0E2021-1BFC-E013-D60B-D3C38949C163}"/>
              </a:ext>
            </a:extLst>
          </p:cNvPr>
          <p:cNvSpPr/>
          <p:nvPr userDrawn="1"/>
        </p:nvSpPr>
        <p:spPr>
          <a:xfrm>
            <a:off x="7691121" y="0"/>
            <a:ext cx="4500879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7FE8F8-1FA2-6E20-363F-519BE59B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8" y="437444"/>
            <a:ext cx="6715382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20B35FB-3664-0B4D-6249-F782CED7DA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6714047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EA7ADC5-3522-3180-74FA-1FD3E52E29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26809" y="437444"/>
            <a:ext cx="4965191" cy="1819275"/>
          </a:xfrm>
          <a:blipFill dpi="0" rotWithShape="1">
            <a:blip r:embed="rId2"/>
            <a:srcRect/>
            <a:stretch>
              <a:fillRect/>
            </a:stretch>
          </a:blipFill>
        </p:spPr>
        <p:txBody>
          <a:bodyPr lIns="365760" anchor="ctr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2D98FAF-0F57-636C-D186-EDD6EA7CA7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2763" y="1714500"/>
            <a:ext cx="6025197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C88AAD13-4032-E181-7A51-74A7C8DCE3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2CDA17C2-87F8-D622-C9C6-0DA48C2C31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190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DE30A47-262F-DB0A-10B8-D0B96680B8E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058822" y="0"/>
            <a:ext cx="4623857" cy="5772223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7FE8F8-1FA2-6E20-363F-519BE59B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6547395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20B35FB-3664-0B4D-6249-F782CED7DA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6546177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2D98FAF-0F57-636C-D186-EDD6EA7CA7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2763" y="1714500"/>
            <a:ext cx="6025197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1C759DE5-C518-1864-07A2-605A29BED7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58820" y="5772223"/>
            <a:ext cx="4622583" cy="361877"/>
          </a:xfrm>
          <a:prstGeom prst="rect">
            <a:avLst/>
          </a:prstGeom>
        </p:spPr>
      </p:pic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5C587A4E-B51B-38B5-EABB-058A87A039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371DED4E-8776-2AD9-D89C-89D43DA7BC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1879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93398-F58C-AA7E-2DE2-6E5364D5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B8695FB8-5358-59F4-420C-D9E81C03C92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11166475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D493C24-4E3E-2A02-65ED-8191B454623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1175" y="3708400"/>
            <a:ext cx="3217863" cy="12192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C21240A8-93CA-CA86-87C8-2B6B05DCD8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08134" y="3708400"/>
            <a:ext cx="3217863" cy="12192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C626A78-D122-9B29-0498-A377DB541C3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19357" y="3708400"/>
            <a:ext cx="3217863" cy="12192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F19666AC-2D6E-A5A6-AFF6-FBCDB9C6046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12763" y="1714500"/>
            <a:ext cx="3218192" cy="16637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5ECC9D67-89DD-AD94-3BE8-8AB77F93F3AC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308134" y="1714500"/>
            <a:ext cx="3218192" cy="16637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11DEFB8-BA80-BB3D-C458-66465402BFD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19357" y="1714500"/>
            <a:ext cx="3218192" cy="16637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F0E166F0-F95F-1D05-A287-251A139C6C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3497BD9B-3994-7C1E-50C9-AB457C7F0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DC396A-37C3-88E2-4F5B-E5AA818428C1}"/>
              </a:ext>
            </a:extLst>
          </p:cNvPr>
          <p:cNvSpPr/>
          <p:nvPr userDrawn="1"/>
        </p:nvSpPr>
        <p:spPr>
          <a:xfrm>
            <a:off x="512763" y="3378197"/>
            <a:ext cx="3218192" cy="18288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72BCF2-879C-41F5-074F-3C352C123100}"/>
              </a:ext>
            </a:extLst>
          </p:cNvPr>
          <p:cNvSpPr/>
          <p:nvPr userDrawn="1"/>
        </p:nvSpPr>
        <p:spPr>
          <a:xfrm>
            <a:off x="4308134" y="3378197"/>
            <a:ext cx="3218192" cy="1828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EA6AB-2EF1-6F7D-4247-F7254496D6EE}"/>
              </a:ext>
            </a:extLst>
          </p:cNvPr>
          <p:cNvSpPr/>
          <p:nvPr userDrawn="1"/>
        </p:nvSpPr>
        <p:spPr>
          <a:xfrm>
            <a:off x="8119357" y="3378197"/>
            <a:ext cx="3218192" cy="18288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091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Callout with Image_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225C47B-E583-4956-949C-9708AC0FABD9}"/>
              </a:ext>
            </a:extLst>
          </p:cNvPr>
          <p:cNvSpPr/>
          <p:nvPr userDrawn="1"/>
        </p:nvSpPr>
        <p:spPr>
          <a:xfrm>
            <a:off x="7095281" y="0"/>
            <a:ext cx="5096719" cy="582168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72C01F-DC33-1CEB-8BA5-A45DDDF93E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F7BBA-E6A9-3998-5CD9-E9BCC68334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D9C8231-0F06-C130-3B01-3C74B722BA2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7094538" cy="5821363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9F8F94-168E-A76F-2A9F-1D254041F5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66042" y="903288"/>
            <a:ext cx="3714750" cy="395763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 sz="1600">
                <a:solidFill>
                  <a:schemeClr val="bg1"/>
                </a:solidFill>
              </a:defRPr>
            </a:lvl2pPr>
            <a:lvl3pPr marL="0" indent="0">
              <a:buNone/>
              <a:defRPr sz="14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692821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Callout with Image_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F572A1C8-8552-05CD-8DEF-01C2B53523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0753"/>
          <a:stretch/>
        </p:blipFill>
        <p:spPr>
          <a:xfrm>
            <a:off x="7095280" y="0"/>
            <a:ext cx="5096719" cy="582168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72C01F-DC33-1CEB-8BA5-A45DDDF93E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F7BBA-E6A9-3998-5CD9-E9BCC68334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D9C8231-0F06-C130-3B01-3C74B722BA2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7094538" cy="5821363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9F8F94-168E-A76F-2A9F-1D254041F5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66042" y="903288"/>
            <a:ext cx="3714750" cy="395763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 sz="1600">
                <a:solidFill>
                  <a:schemeClr val="bg1"/>
                </a:solidFill>
              </a:defRPr>
            </a:lvl2pPr>
            <a:lvl3pPr marL="0" indent="0">
              <a:buNone/>
              <a:defRPr sz="14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813092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io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5185-B6F2-DA27-97F5-A26100824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5E45AE-8CD3-04FD-8145-5F22A12DA9AD}"/>
              </a:ext>
            </a:extLst>
          </p:cNvPr>
          <p:cNvSpPr/>
          <p:nvPr userDrawn="1"/>
        </p:nvSpPr>
        <p:spPr>
          <a:xfrm>
            <a:off x="0" y="4220063"/>
            <a:ext cx="12192000" cy="1914037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3D3821-B7C2-E329-9CF4-E787569C31B2}"/>
              </a:ext>
            </a:extLst>
          </p:cNvPr>
          <p:cNvSpPr/>
          <p:nvPr userDrawn="1"/>
        </p:nvSpPr>
        <p:spPr>
          <a:xfrm>
            <a:off x="1233708" y="4220063"/>
            <a:ext cx="2398235" cy="190261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9B13CA-8DC4-867F-D557-D69CBB8B67DA}"/>
              </a:ext>
            </a:extLst>
          </p:cNvPr>
          <p:cNvSpPr/>
          <p:nvPr userDrawn="1"/>
        </p:nvSpPr>
        <p:spPr>
          <a:xfrm>
            <a:off x="4896883" y="4220063"/>
            <a:ext cx="2398235" cy="190261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147C2C-8AD5-4E0E-B86F-FB610E2E8D77}"/>
              </a:ext>
            </a:extLst>
          </p:cNvPr>
          <p:cNvSpPr/>
          <p:nvPr userDrawn="1"/>
        </p:nvSpPr>
        <p:spPr>
          <a:xfrm>
            <a:off x="8508434" y="4220063"/>
            <a:ext cx="2398235" cy="190261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152127-24A4-5B38-2225-CFB9E1AC963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33488" y="1567448"/>
            <a:ext cx="2398712" cy="2652615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4B1E2DD4-B1C2-7FB1-C1EA-A46F91A95F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896883" y="1567448"/>
            <a:ext cx="2398712" cy="2652615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5B101D83-A82D-5B8E-7FA6-80AB668E994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508434" y="1567448"/>
            <a:ext cx="2398712" cy="2652615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2A3F5B9-E2E5-EC83-A97F-CE3D399986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2803" y="4729251"/>
            <a:ext cx="3170237" cy="114776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marL="0" indent="0"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E3CD09CE-CBA6-D7B7-229E-1DC0D3426C3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10882" y="4729251"/>
            <a:ext cx="3170237" cy="114776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marL="0" indent="0"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50936DEA-0015-2C53-7764-81D237AA57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33080" y="4729251"/>
            <a:ext cx="3170237" cy="114776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marL="0" indent="0"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Footer Placeholder 5">
            <a:extLst>
              <a:ext uri="{FF2B5EF4-FFF2-40B4-BE49-F238E27FC236}">
                <a16:creationId xmlns:a16="http://schemas.microsoft.com/office/drawing/2014/main" id="{35EEC88B-64D7-58A8-A6A3-BAE15852F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2" name="Slide Number Placeholder 6">
            <a:extLst>
              <a:ext uri="{FF2B5EF4-FFF2-40B4-BE49-F238E27FC236}">
                <a16:creationId xmlns:a16="http://schemas.microsoft.com/office/drawing/2014/main" id="{9DA960EC-7047-D992-6A0D-B2B2BF704D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73B05B23-359F-5932-B1A5-F9056330233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2763" y="1051561"/>
            <a:ext cx="11166475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14201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27E08-94CF-6FA6-259A-D4B0215436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427" y="2357290"/>
            <a:ext cx="3593213" cy="980194"/>
          </a:xfrm>
        </p:spPr>
        <p:txBody>
          <a:bodyPr/>
          <a:lstStyle>
            <a:lvl1pPr>
              <a:defRPr sz="5400">
                <a:latin typeface="Georgia" panose="02040502050405020303" pitchFamily="18" charset="0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AF18C4-8E88-BC25-A282-A9E543495953}"/>
              </a:ext>
            </a:extLst>
          </p:cNvPr>
          <p:cNvSpPr/>
          <p:nvPr userDrawn="1"/>
        </p:nvSpPr>
        <p:spPr>
          <a:xfrm>
            <a:off x="4104640" y="619760"/>
            <a:ext cx="8087360" cy="51409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98F1CF70-BAC4-4070-0CC3-53C7E9D385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04641" y="5509548"/>
            <a:ext cx="8085245" cy="251171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1604BCD-BC3A-DE84-90AD-BB35133C98FF}"/>
              </a:ext>
            </a:extLst>
          </p:cNvPr>
          <p:cNvCxnSpPr>
            <a:cxnSpLocks/>
          </p:cNvCxnSpPr>
          <p:nvPr userDrawn="1"/>
        </p:nvCxnSpPr>
        <p:spPr>
          <a:xfrm>
            <a:off x="512763" y="1696519"/>
            <a:ext cx="1424596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7FF7787-EC31-5F16-15F3-D99D80060DC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217639"/>
            <a:ext cx="2977197" cy="402336"/>
          </a:xfrm>
        </p:spPr>
        <p:txBody>
          <a:bodyPr>
            <a:noAutofit/>
          </a:bodyPr>
          <a:lstStyle>
            <a:lvl1pPr>
              <a:defRPr sz="1800" i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Footer Placeholder 5">
            <a:extLst>
              <a:ext uri="{FF2B5EF4-FFF2-40B4-BE49-F238E27FC236}">
                <a16:creationId xmlns:a16="http://schemas.microsoft.com/office/drawing/2014/main" id="{C4E4B447-5E78-26D1-11D4-9F10C5ADB4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DE2CBB75-E971-3468-55D8-59660AE2D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923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2017E2-0C1F-52A1-C0B6-4354EC8C665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134100"/>
          </a:xfrm>
          <a:solidFill>
            <a:schemeClr val="accent2"/>
          </a:solidFill>
        </p:spPr>
        <p:txBody>
          <a:bodyPr anchor="ctr"/>
          <a:lstStyle>
            <a:lvl1pPr algn="ctr">
              <a:defRPr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Image only slide (click icon to add image)</a:t>
            </a:r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9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_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822EF925-F91E-CF0B-2906-3149E56CD5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537" y="6134100"/>
            <a:ext cx="12189463" cy="723901"/>
          </a:xfrm>
          <a:prstGeom prst="rect">
            <a:avLst/>
          </a:prstGeom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2017E2-0C1F-52A1-C0B6-4354EC8C665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134100"/>
          </a:xfrm>
          <a:solidFill>
            <a:schemeClr val="accent2"/>
          </a:solidFill>
        </p:spPr>
        <p:txBody>
          <a:bodyPr anchor="ctr"/>
          <a:lstStyle>
            <a:lvl1pPr algn="ctr">
              <a:defRPr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Image only slide (click icon to add image)</a:t>
            </a:r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E06A606-B049-1036-FB09-50B455B5BAA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1905"/>
          <a:stretch>
            <a:fillRect/>
          </a:stretch>
        </p:blipFill>
        <p:spPr>
          <a:xfrm>
            <a:off x="511426" y="6353070"/>
            <a:ext cx="1381169" cy="32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114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, subhead and gradien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822EF925-F91E-CF0B-2906-3149E56CD5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6134099"/>
            <a:ext cx="12190732" cy="723901"/>
          </a:xfrm>
          <a:prstGeom prst="rect">
            <a:avLst/>
          </a:prstGeom>
        </p:spPr>
      </p:pic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588FC03-5CCE-0D86-8A3A-F91943577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2BE9C5B-C374-57E0-7BD7-2A01F8707B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90BD3B1-489B-2447-0D11-E1BF10A2A18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1905"/>
          <a:stretch>
            <a:fillRect/>
          </a:stretch>
        </p:blipFill>
        <p:spPr>
          <a:xfrm>
            <a:off x="511426" y="6353070"/>
            <a:ext cx="1381169" cy="32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476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, subhead and red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03525CB-3575-15ED-8355-4B7991B1D33D}"/>
              </a:ext>
            </a:extLst>
          </p:cNvPr>
          <p:cNvSpPr/>
          <p:nvPr userDrawn="1"/>
        </p:nvSpPr>
        <p:spPr>
          <a:xfrm>
            <a:off x="0" y="6134099"/>
            <a:ext cx="12192000" cy="729206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588FC03-5CCE-0D86-8A3A-F91943577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2BE9C5B-C374-57E0-7BD7-2A01F8707B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A132C04-CB78-14F0-5958-754E3BF58D2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800"/>
          <a:stretch>
            <a:fillRect/>
          </a:stretch>
        </p:blipFill>
        <p:spPr>
          <a:xfrm>
            <a:off x="511426" y="6353070"/>
            <a:ext cx="1359904" cy="32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026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0EE4CDF9-A3FF-60F3-225A-734B768931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750F60-94FB-79D6-0C78-BB344949A7F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591" r="26918" b="32805"/>
          <a:stretch/>
        </p:blipFill>
        <p:spPr>
          <a:xfrm>
            <a:off x="5613242" y="0"/>
            <a:ext cx="6578757" cy="6858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9275B372-8BD2-273A-2BEE-315CE5994D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2466"/>
          <a:stretch>
            <a:fillRect/>
          </a:stretch>
        </p:blipFill>
        <p:spPr>
          <a:xfrm>
            <a:off x="512763" y="1500396"/>
            <a:ext cx="2377921" cy="562806"/>
          </a:xfrm>
          <a:prstGeom prst="rect">
            <a:avLst/>
          </a:prstGeom>
        </p:spPr>
      </p:pic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1298D4D4-817F-775A-F0A7-805017E618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2763" y="2451633"/>
            <a:ext cx="5472849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C51F79-C1BF-23EE-E735-4465B3DB39B0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</p:spTree>
    <p:extLst>
      <p:ext uri="{BB962C8B-B14F-4D97-AF65-F5344CB8AC3E}">
        <p14:creationId xmlns:p14="http://schemas.microsoft.com/office/powerpoint/2010/main" val="3817666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hD in Social Work - Brown School at Washington University in St. Louis">
            <a:extLst>
              <a:ext uri="{FF2B5EF4-FFF2-40B4-BE49-F238E27FC236}">
                <a16:creationId xmlns:a16="http://schemas.microsoft.com/office/drawing/2014/main" id="{4F9A68E1-9E2A-544D-6695-F11E6951FED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04"/>
          <a:stretch>
            <a:fillRect/>
          </a:stretch>
        </p:blipFill>
        <p:spPr bwMode="auto">
          <a:xfrm>
            <a:off x="0" y="-1"/>
            <a:ext cx="5135880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8F956D9F-0A69-EE76-C183-A385E517B7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302A3209-7CC7-A2A4-5597-06B82D23E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9921" y="1487665"/>
            <a:ext cx="4699317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2F57A4A-EAEE-8F7F-EA10-43FBDD977B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1317"/>
          <a:stretch>
            <a:fillRect/>
          </a:stretch>
        </p:blipFill>
        <p:spPr>
          <a:xfrm>
            <a:off x="6979921" y="755694"/>
            <a:ext cx="1493519" cy="34656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A2A41D4-AB3D-151D-66DD-4962AAC7904A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466E0752-FF39-E98C-C771-E737A49D9D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344416E3-AC56-3F3E-611F-87B839A4BD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3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Master of Social Work - Brown School at Washington University in St. Louis">
            <a:extLst>
              <a:ext uri="{FF2B5EF4-FFF2-40B4-BE49-F238E27FC236}">
                <a16:creationId xmlns:a16="http://schemas.microsoft.com/office/drawing/2014/main" id="{397DCBF1-43F9-4AFE-21A3-1A39F7F9B88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02" b="3202"/>
          <a:stretch>
            <a:fillRect/>
          </a:stretch>
        </p:blipFill>
        <p:spPr bwMode="auto">
          <a:xfrm>
            <a:off x="0" y="1"/>
            <a:ext cx="513588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8F956D9F-0A69-EE76-C183-A385E517B7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302A3209-7CC7-A2A4-5597-06B82D23E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9921" y="1487665"/>
            <a:ext cx="4699317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2F57A4A-EAEE-8F7F-EA10-43FBDD977B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2189"/>
          <a:stretch>
            <a:fillRect/>
          </a:stretch>
        </p:blipFill>
        <p:spPr>
          <a:xfrm>
            <a:off x="6979922" y="755694"/>
            <a:ext cx="1471352" cy="3465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1FFF015-5AA5-9FD6-BE0F-F0E14040F9A8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1CCE03-8C2C-223C-A359-11D05E7AE8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8CEF6-7196-D2B3-7D3B-ADF792888D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22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8F956D9F-0A69-EE76-C183-A385E517B76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07E073C-A36B-F166-AFE6-5A5B30179E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267450" cy="68580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302A3209-7CC7-A2A4-5597-06B82D23E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9921" y="1487665"/>
            <a:ext cx="4699317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2F57A4A-EAEE-8F7F-EA10-43FBDD977B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1856"/>
          <a:stretch>
            <a:fillRect/>
          </a:stretch>
        </p:blipFill>
        <p:spPr>
          <a:xfrm>
            <a:off x="6979921" y="755694"/>
            <a:ext cx="1479793" cy="3465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1FFF015-5AA5-9FD6-BE0F-F0E14040F9A8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234E558C-D3AB-836C-0C04-164B11135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46EC1455-E1D2-32ED-96F9-1FB01D1EDC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065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ement 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0EE4CDF9-A3FF-60F3-225A-734B768931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750F60-94FB-79D6-0C78-BB344949A7F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591" r="26918" b="32805"/>
          <a:stretch/>
        </p:blipFill>
        <p:spPr>
          <a:xfrm>
            <a:off x="5613242" y="0"/>
            <a:ext cx="6578757" cy="685800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D28EA1-5C18-4BC9-D6AE-63A3D89C12B3}"/>
              </a:ext>
            </a:extLst>
          </p:cNvPr>
          <p:cNvCxnSpPr>
            <a:cxnSpLocks/>
          </p:cNvCxnSpPr>
          <p:nvPr userDrawn="1"/>
        </p:nvCxnSpPr>
        <p:spPr>
          <a:xfrm>
            <a:off x="512764" y="1159727"/>
            <a:ext cx="1424596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021CCD9-6C33-1B29-15B6-F3FF2BB661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4" y="680847"/>
            <a:ext cx="4886555" cy="402336"/>
          </a:xfrm>
        </p:spPr>
        <p:txBody>
          <a:bodyPr>
            <a:noAutofit/>
          </a:bodyPr>
          <a:lstStyle>
            <a:lvl1pPr>
              <a:defRPr sz="1800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E56F3DC-9167-0BC6-E0AD-B6B4E6BDBD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2763" y="1487665"/>
            <a:ext cx="5472849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BEF91C-6E18-2231-3C63-8D5E788FA7F9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</p:spTree>
    <p:extLst>
      <p:ext uri="{BB962C8B-B14F-4D97-AF65-F5344CB8AC3E}">
        <p14:creationId xmlns:p14="http://schemas.microsoft.com/office/powerpoint/2010/main" val="2549844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D9A7C88-DE74-6283-B4A4-1DD45AE677E9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96" b="4206"/>
          <a:stretch>
            <a:fillRect/>
          </a:stretch>
        </p:blipFill>
        <p:spPr bwMode="auto">
          <a:xfrm>
            <a:off x="-6893" y="1"/>
            <a:ext cx="1219889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672B93-86ED-2C39-6490-F7DF186BF34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03720" y="0"/>
            <a:ext cx="4634970" cy="54864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578ACD-6DBC-F910-C01D-E10BC66954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04038" y="549275"/>
            <a:ext cx="4635500" cy="3849688"/>
          </a:xfrm>
          <a:solidFill>
            <a:schemeClr val="bg1"/>
          </a:solidFill>
        </p:spPr>
        <p:txBody>
          <a:bodyPr lIns="548640" anchor="ctr"/>
          <a:lstStyle>
            <a:lvl1pPr>
              <a:defRPr sz="3200"/>
            </a:lvl1pPr>
            <a:lvl2pPr>
              <a:spcBef>
                <a:spcPts val="2500"/>
              </a:spcBef>
              <a:defRPr sz="1600"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847C79-CC1A-B80C-4F37-51F734C13046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</p:spTree>
    <p:extLst>
      <p:ext uri="{BB962C8B-B14F-4D97-AF65-F5344CB8AC3E}">
        <p14:creationId xmlns:p14="http://schemas.microsoft.com/office/powerpoint/2010/main" val="1285567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7C4EBF34-8EB4-A4D6-7E35-2C97CE8F0B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3C86DE6-86C2-5AB7-06B8-F8A11E1456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2316"/>
          <a:stretch>
            <a:fillRect/>
          </a:stretch>
        </p:blipFill>
        <p:spPr>
          <a:xfrm>
            <a:off x="4398335" y="3028244"/>
            <a:ext cx="3395329" cy="80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174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1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980194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426" y="1710372"/>
            <a:ext cx="11167811" cy="4423728"/>
          </a:xfrm>
          <a:prstGeom prst="rect">
            <a:avLst/>
          </a:prstGeom>
          <a:ln>
            <a:noFill/>
          </a:ln>
        </p:spPr>
        <p:txBody>
          <a:bodyPr vert="horz" lIns="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011EB-C8DD-A0FA-332D-2345BA9928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015D9D-4496-53BC-5543-A7CD7127CB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A093176-96C9-BEE1-C4CD-B5CEAF9D77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 r="42790"/>
          <a:stretch>
            <a:fillRect/>
          </a:stretch>
        </p:blipFill>
        <p:spPr>
          <a:xfrm>
            <a:off x="509322" y="6326908"/>
            <a:ext cx="1360118" cy="32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511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51" r:id="rId3"/>
    <p:sldLayoutId id="2147483675" r:id="rId4"/>
    <p:sldLayoutId id="2147483670" r:id="rId5"/>
    <p:sldLayoutId id="2147483653" r:id="rId6"/>
    <p:sldLayoutId id="2147483654" r:id="rId7"/>
    <p:sldLayoutId id="2147483648" r:id="rId8"/>
    <p:sldLayoutId id="2147483652" r:id="rId9"/>
    <p:sldLayoutId id="2147483649" r:id="rId10"/>
    <p:sldLayoutId id="2147483659" r:id="rId11"/>
    <p:sldLayoutId id="2147483668" r:id="rId12"/>
    <p:sldLayoutId id="2147483660" r:id="rId13"/>
    <p:sldLayoutId id="2147483666" r:id="rId14"/>
    <p:sldLayoutId id="2147483672" r:id="rId15"/>
    <p:sldLayoutId id="2147483673" r:id="rId16"/>
    <p:sldLayoutId id="2147483663" r:id="rId17"/>
    <p:sldLayoutId id="2147483658" r:id="rId18"/>
    <p:sldLayoutId id="2147483669" r:id="rId19"/>
    <p:sldLayoutId id="2147483674" r:id="rId20"/>
    <p:sldLayoutId id="2147483676" r:id="rId21"/>
    <p:sldLayoutId id="2147483734" r:id="rId22"/>
    <p:sldLayoutId id="2147483655" r:id="rId23"/>
    <p:sldLayoutId id="2147483661" r:id="rId24"/>
    <p:sldLayoutId id="2147483662" r:id="rId25"/>
    <p:sldLayoutId id="2147483671" r:id="rId26"/>
    <p:sldLayoutId id="2147483656" r:id="rId27"/>
    <p:sldLayoutId id="2147483667" r:id="rId28"/>
    <p:sldLayoutId id="2147483657" r:id="rId2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457200" rtl="0" eaLnBrk="1" latinLnBrk="0" hangingPunct="1">
        <a:lnSpc>
          <a:spcPct val="85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Georgia" panose="02040502050405020303" pitchFamily="18" charset="0"/>
          <a:cs typeface="Times New Roman" charset="0"/>
        </a:defRPr>
      </a:lvl1pPr>
    </p:titleStyle>
    <p:bodyStyle>
      <a:lvl1pPr marL="0" indent="0" algn="l" defTabSz="457200" rtl="0" eaLnBrk="1" latinLnBrk="0" hangingPunct="1">
        <a:lnSpc>
          <a:spcPct val="90000"/>
        </a:lnSpc>
        <a:spcBef>
          <a:spcPct val="20000"/>
        </a:spcBef>
        <a:buFont typeface="Arial"/>
        <a:buNone/>
        <a:tabLst/>
        <a:defRPr sz="2200" b="1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0" indent="0" algn="l" defTabSz="457200" rtl="0" eaLnBrk="1" latinLnBrk="0" hangingPunct="1">
        <a:spcBef>
          <a:spcPts val="800"/>
        </a:spcBef>
        <a:buFont typeface="Arial" panose="020B0604020202020204" pitchFamily="34" charset="0"/>
        <a:buNone/>
        <a:tabLst/>
        <a:defRPr sz="18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39700" indent="-139700" algn="l" defTabSz="457200" rtl="0" eaLnBrk="1" latinLnBrk="0" hangingPunct="1">
        <a:spcBef>
          <a:spcPts val="1200"/>
        </a:spcBef>
        <a:buClr>
          <a:schemeClr val="accent3"/>
        </a:buClr>
        <a:buFont typeface="Arial" panose="020B0604020202020204" pitchFamily="34" charset="0"/>
        <a:buChar char="•"/>
        <a:tabLst/>
        <a:defRPr sz="18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482600" indent="-139700" algn="l" defTabSz="457200" rtl="0" eaLnBrk="1" latinLnBrk="0" hangingPunct="1">
        <a:spcBef>
          <a:spcPts val="800"/>
        </a:spcBef>
        <a:buClr>
          <a:schemeClr val="accent3"/>
        </a:buClr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974725" indent="-114300" algn="l" defTabSz="457200" rtl="0" eaLnBrk="1" latinLnBrk="0" hangingPunct="1">
        <a:spcBef>
          <a:spcPts val="800"/>
        </a:spcBef>
        <a:buClr>
          <a:schemeClr val="accent3"/>
        </a:buClr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357" userDrawn="1">
          <p15:clr>
            <a:srgbClr val="F26B43"/>
          </p15:clr>
        </p15:guide>
        <p15:guide id="2" pos="323" userDrawn="1">
          <p15:clr>
            <a:srgbClr val="F26B43"/>
          </p15:clr>
        </p15:guide>
        <p15:guide id="3" orient="horz" pos="1080" userDrawn="1">
          <p15:clr>
            <a:srgbClr val="F26B43"/>
          </p15:clr>
        </p15:guide>
        <p15:guide id="4" orient="horz" pos="38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png"/><Relationship Id="rId4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AI-Empowered Research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3657600" y="4434840"/>
            <a:ext cx="8138160" cy="457200"/>
          </a:xfrm>
        </p:spPr>
        <p:txBody>
          <a:bodyPr/>
          <a:lstStyle/>
          <a:p>
            <a:r>
              <a:rPr sz="2400"/>
              <a:t>Part 2 · Setup: Claude CLI, R &amp; the Project Folder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4983480"/>
            <a:ext cx="8138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F5F5F"/>
                </a:solidFill>
              </a:rPr>
              <a:t>Yung Chun · CERP³ · Hillman Hall 130 · 2026-10-16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548640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</a:rPr>
              <a:t>By 10:10 you will have:</a:t>
            </a:r>
          </a:p>
        </p:txBody>
      </p:sp>
      <p:pic>
        <p:nvPicPr>
          <p:cNvPr id="6" name="Picture 5" descr="FaCircle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592531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05072" y="5879592"/>
            <a:ext cx="1783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Claude CLI running</a:t>
            </a:r>
          </a:p>
        </p:txBody>
      </p:sp>
      <p:pic>
        <p:nvPicPr>
          <p:cNvPr id="8" name="Picture 7" descr="FaCircle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592531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08192" y="5879592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R connected</a:t>
            </a:r>
          </a:p>
        </p:txBody>
      </p:sp>
      <p:pic>
        <p:nvPicPr>
          <p:cNvPr id="10" name="Picture 9" descr="FaCircle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592531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45552" y="5879592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A project folder</a:t>
            </a:r>
          </a:p>
        </p:txBody>
      </p:sp>
      <p:pic>
        <p:nvPicPr>
          <p:cNvPr id="12" name="Picture 11" descr="FaCircle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5925312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20072" y="5879592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Your first CLAUDE.md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Access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Your account decides what you may do, before any command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A · Install and verify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2</a:t>
            </a:fld>
            <a:endParaRPr lang="en-US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12064" y="1920240"/>
          <a:ext cx="7406640" cy="26456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Account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Claude Code?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Approved data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Claude Edu (WashU)</a:t>
                      </a:r>
                    </a:p>
                  </a:txBody>
                  <a:tcPr marT="36576" marB="36576" anchor="ctr">
                    <a:solidFill>
                      <a:srgbClr val="F6E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2"/>
                          </a:solidFill>
                        </a:rPr>
                        <a:t>✔ Yes</a:t>
                      </a:r>
                    </a:p>
                  </a:txBody>
                  <a:tcPr marT="36576" marB="36576" anchor="ctr">
                    <a:solidFill>
                      <a:srgbClr val="F6E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2"/>
                          </a:solidFill>
                        </a:rPr>
                        <a:t>FERPA, institutional IP. Not PHI</a:t>
                      </a:r>
                    </a:p>
                  </a:txBody>
                  <a:tcPr marT="36576" marB="36576" anchor="ctr">
                    <a:solidFill>
                      <a:srgbClr val="F6E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Claude Secure (WashU)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✘ No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PHI and FERPA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Personal Pro / Max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✔ Yes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Personal account: no WashU data agreement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Free claude.ai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✘ No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—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8229600" y="1920240"/>
            <a:ext cx="3447287" cy="315468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icon_FaRightToBracket_circle"/>
          <p:cNvSpPr/>
          <p:nvPr/>
        </p:nvSpPr>
        <p:spPr>
          <a:xfrm>
            <a:off x="8503920" y="2194560"/>
            <a:ext cx="566928" cy="56692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Picture 15" descr="FaRightToBracket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5652" y="2336291"/>
            <a:ext cx="283464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503920" y="2926080"/>
            <a:ext cx="28986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chemeClr val="bg1"/>
                </a:solidFill>
              </a:rPr>
              <a:t>Sign in with WashU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383280"/>
            <a:ext cx="2898647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chemeClr val="bg1"/>
                </a:solidFill>
              </a:rPr>
              <a:t>claude.ai → WashU email → Continue with SSO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chemeClr val="bg1"/>
                </a:solidFill>
              </a:rPr>
              <a:t>Your workspace name appears in the lower-left sidebar.</a:t>
            </a:r>
          </a:p>
        </p:txBody>
      </p:sp>
      <p:pic>
        <p:nvPicPr>
          <p:cNvPr id="19" name="Picture 18" descr="FaCircleInfo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5303520"/>
            <a:ext cx="347472" cy="3474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14984" y="5230368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Students: confirm with WashU IT that your free Claude Edu seat includes Claude Code.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 on macOS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Open Terminal: Cmd+Space, type “Terminal”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A · Install and verify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512064" y="1920240"/>
            <a:ext cx="6949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chemeClr val="tx2"/>
                </a:solidFill>
              </a:rPr>
              <a:t>Native installer (recommended; updates itself)</a:t>
            </a:r>
          </a:p>
        </p:txBody>
      </p:sp>
      <p:sp>
        <p:nvSpPr>
          <p:cNvPr id="14" name="code_block"/>
          <p:cNvSpPr/>
          <p:nvPr/>
        </p:nvSpPr>
        <p:spPr>
          <a:xfrm>
            <a:off x="512064" y="2249424"/>
            <a:ext cx="6949440" cy="64008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2249424"/>
            <a:ext cx="658367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 dirty="0">
                <a:solidFill>
                  <a:srgbClr val="FFFFFF"/>
                </a:solidFill>
                <a:latin typeface="Courier New"/>
              </a:rPr>
              <a:t>curl -</a:t>
            </a:r>
            <a:r>
              <a:rPr sz="1500" b="0" i="0" dirty="0" err="1">
                <a:solidFill>
                  <a:srgbClr val="FFFFFF"/>
                </a:solidFill>
                <a:latin typeface="Courier New"/>
              </a:rPr>
              <a:t>fsSL</a:t>
            </a:r>
            <a:r>
              <a:rPr sz="1500" b="0" i="0" dirty="0">
                <a:solidFill>
                  <a:srgbClr val="FFFFFF"/>
                </a:solidFill>
                <a:latin typeface="Courier New"/>
              </a:rPr>
              <a:t> https://</a:t>
            </a:r>
            <a:r>
              <a:rPr sz="1500" b="0" i="0" dirty="0" err="1">
                <a:solidFill>
                  <a:srgbClr val="FFFFFF"/>
                </a:solidFill>
                <a:latin typeface="Courier New"/>
              </a:rPr>
              <a:t>claude.ai</a:t>
            </a:r>
            <a:r>
              <a:rPr sz="1500" b="0" i="0" dirty="0">
                <a:solidFill>
                  <a:srgbClr val="FFFFFF"/>
                </a:solidFill>
                <a:latin typeface="Courier New"/>
              </a:rPr>
              <a:t>/</a:t>
            </a:r>
            <a:r>
              <a:rPr sz="1500" b="0" i="0" dirty="0" err="1">
                <a:solidFill>
                  <a:srgbClr val="FFFFFF"/>
                </a:solidFill>
                <a:latin typeface="Courier New"/>
              </a:rPr>
              <a:t>install.sh</a:t>
            </a:r>
            <a:r>
              <a:rPr sz="1500" b="0" i="0" dirty="0">
                <a:solidFill>
                  <a:srgbClr val="FFFFFF"/>
                </a:solidFill>
                <a:latin typeface="Courier New"/>
              </a:rPr>
              <a:t> | bash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209544"/>
            <a:ext cx="6949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chemeClr val="tx1"/>
                </a:solidFill>
              </a:rPr>
              <a:t>Or Homebrew (does not auto-update)</a:t>
            </a:r>
          </a:p>
        </p:txBody>
      </p:sp>
      <p:sp>
        <p:nvSpPr>
          <p:cNvPr id="17" name="code_block"/>
          <p:cNvSpPr/>
          <p:nvPr/>
        </p:nvSpPr>
        <p:spPr>
          <a:xfrm>
            <a:off x="512064" y="3538728"/>
            <a:ext cx="6949440" cy="9144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538728"/>
            <a:ext cx="658367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 dirty="0">
                <a:solidFill>
                  <a:srgbClr val="FFFFFF"/>
                </a:solidFill>
                <a:latin typeface="Courier New"/>
              </a:rPr>
              <a:t>brew install --cask </a:t>
            </a:r>
            <a:r>
              <a:rPr sz="1500" b="0" i="0" dirty="0" err="1">
                <a:solidFill>
                  <a:srgbClr val="FFFFFF"/>
                </a:solidFill>
                <a:latin typeface="Courier New"/>
              </a:rPr>
              <a:t>claude</a:t>
            </a:r>
            <a:r>
              <a:rPr sz="1500" b="0" i="0" dirty="0">
                <a:solidFill>
                  <a:srgbClr val="FFFFFF"/>
                </a:solidFill>
                <a:latin typeface="Courier New"/>
              </a:rPr>
              <a:t>-code</a:t>
            </a:r>
          </a:p>
          <a:p>
            <a:pPr algn="l">
              <a:spcAft>
                <a:spcPts val="200"/>
              </a:spcAft>
            </a:pPr>
            <a:r>
              <a:rPr sz="1500" b="0" i="0" dirty="0">
                <a:solidFill>
                  <a:srgbClr val="FFFFFF"/>
                </a:solidFill>
                <a:latin typeface="Courier New"/>
              </a:rPr>
              <a:t>brew upgrade </a:t>
            </a:r>
            <a:r>
              <a:rPr sz="1500" b="0" i="0" dirty="0" err="1">
                <a:solidFill>
                  <a:srgbClr val="FFFFFF"/>
                </a:solidFill>
                <a:latin typeface="Courier New"/>
              </a:rPr>
              <a:t>claude</a:t>
            </a:r>
            <a:r>
              <a:rPr sz="1500" b="0" i="0" dirty="0">
                <a:solidFill>
                  <a:srgbClr val="FFFFFF"/>
                </a:solidFill>
                <a:latin typeface="Courier New"/>
              </a:rPr>
              <a:t>-code</a:t>
            </a:r>
            <a:r>
              <a:rPr sz="1500" b="0" i="0" dirty="0">
                <a:solidFill>
                  <a:srgbClr val="9FD3C7"/>
                </a:solidFill>
                <a:latin typeface="Courier New"/>
              </a:rPr>
              <a:t>  # later, by hand</a:t>
            </a:r>
          </a:p>
        </p:txBody>
      </p:sp>
      <p:pic>
        <p:nvPicPr>
          <p:cNvPr id="19" name="Picture 18" descr="FaTriangleExclamation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5349240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14984" y="5285232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npm still works but is no longer recommended. Never use sudo.</a:t>
            </a:r>
          </a:p>
        </p:txBody>
      </p:sp>
      <p:sp>
        <p:nvSpPr>
          <p:cNvPr id="21" name="icon_FaApple_circle"/>
          <p:cNvSpPr/>
          <p:nvPr/>
        </p:nvSpPr>
        <p:spPr>
          <a:xfrm>
            <a:off x="9290304" y="2011680"/>
            <a:ext cx="1097280" cy="109728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Picture 21" descr="FaApple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624" y="2286000"/>
            <a:ext cx="548640" cy="54864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001000" y="3429000"/>
            <a:ext cx="3675887" cy="62179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icon_FaCheck_circle"/>
          <p:cNvSpPr/>
          <p:nvPr/>
        </p:nvSpPr>
        <p:spPr>
          <a:xfrm>
            <a:off x="8165592" y="3520440"/>
            <a:ext cx="438912" cy="438912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Picture 24" descr="Fa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19" y="3630168"/>
            <a:ext cx="219456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741664" y="3429000"/>
            <a:ext cx="282549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macOS 13 or later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4206240"/>
            <a:ext cx="3675887" cy="62179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icon_FaCheck_circle"/>
          <p:cNvSpPr/>
          <p:nvPr/>
        </p:nvSpPr>
        <p:spPr>
          <a:xfrm>
            <a:off x="8165592" y="4297679"/>
            <a:ext cx="438912" cy="438912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9" name="Picture 28" descr="Fa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19" y="4407407"/>
            <a:ext cx="219456" cy="21945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741664" y="4206240"/>
            <a:ext cx="282549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Apple Silicon or Intel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4983480"/>
            <a:ext cx="3675887" cy="62179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icon_FaCheck_circle"/>
          <p:cNvSpPr/>
          <p:nvPr/>
        </p:nvSpPr>
        <p:spPr>
          <a:xfrm>
            <a:off x="8165592" y="5074920"/>
            <a:ext cx="438912" cy="438912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3" name="Picture 32" descr="Fa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19" y="5184648"/>
            <a:ext cx="219456" cy="21945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741664" y="4983480"/>
            <a:ext cx="282549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4 GB RAM or more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 on Windows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Runs natively. WSL is optional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A · Install and verify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512064" y="19202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chemeClr val="tx2"/>
                </a:solidFill>
              </a:rPr>
              <a:t>Which shell am I in?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1874520"/>
            <a:ext cx="4434840" cy="457200"/>
          </a:xfrm>
          <a:prstGeom prst="roundRect">
            <a:avLst>
              <a:gd name="adj" fmla="val 10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51760" y="187452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ourier New"/>
              </a:rPr>
              <a:t>PS C:\Users\you&gt;</a:t>
            </a:r>
            <a:r>
              <a:rPr sz="1500" b="1" i="0">
                <a:solidFill>
                  <a:srgbClr val="9FD3C7"/>
                </a:solidFill>
              </a:rPr>
              <a:t>  = PowerShell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1874520"/>
            <a:ext cx="4498848" cy="457200"/>
          </a:xfrm>
          <a:prstGeom prst="roundRect">
            <a:avLst>
              <a:gd name="adj" fmla="val 10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0" y="187452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ourier New"/>
              </a:rPr>
              <a:t>C:\Users\you&gt;</a:t>
            </a:r>
            <a:r>
              <a:rPr sz="1500" b="1" i="0">
                <a:solidFill>
                  <a:srgbClr val="9FD3C7"/>
                </a:solidFill>
              </a:rPr>
              <a:t>  = Command 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251460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</a:rPr>
              <a:t>PowerShell</a:t>
            </a:r>
          </a:p>
          <a:p>
            <a:pPr algn="l"/>
            <a:r>
              <a:rPr sz="1200" b="0" i="0">
                <a:solidFill>
                  <a:srgbClr val="5F5F5F"/>
                </a:solidFill>
              </a:rPr>
              <a:t>recommended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14600" y="2514600"/>
            <a:ext cx="9162288" cy="502920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624328" y="2514600"/>
            <a:ext cx="9006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ourier New"/>
              </a:rPr>
              <a:t>irm https://claude.ai/install.ps1 | iex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" y="3172968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Command Prompt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14600" y="3172968"/>
            <a:ext cx="9162288" cy="502920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624328" y="3172968"/>
            <a:ext cx="9006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ourier New"/>
              </a:rPr>
              <a:t>curl -fsSL https://claude.ai/install.cmd -o install.cmd &amp;&amp; install.cmd &amp;&amp; del install.cmd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3831335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WinGet</a:t>
            </a:r>
          </a:p>
          <a:p>
            <a:pPr algn="l"/>
            <a:r>
              <a:rPr sz="1200" b="0" i="0">
                <a:solidFill>
                  <a:srgbClr val="5F5F5F"/>
                </a:solidFill>
              </a:rPr>
              <a:t>no auto-update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14600" y="3831335"/>
            <a:ext cx="9162288" cy="502920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624328" y="3831335"/>
            <a:ext cx="9006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ourier New"/>
              </a:rPr>
              <a:t>winget install Anthropic.ClaudeCode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4572000"/>
            <a:ext cx="3538728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icon_FaWindows_circle"/>
          <p:cNvSpPr/>
          <p:nvPr/>
        </p:nvSpPr>
        <p:spPr>
          <a:xfrm>
            <a:off x="676656" y="468630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9" name="Picture 28" descr="FaWindow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" y="4800600"/>
            <a:ext cx="228600" cy="228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71016" y="4572000"/>
            <a:ext cx="26700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Runs natively; WSL is optional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5112" y="4572000"/>
            <a:ext cx="3538728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icon_FaUserGear_circle"/>
          <p:cNvSpPr/>
          <p:nvPr/>
        </p:nvSpPr>
        <p:spPr>
          <a:xfrm>
            <a:off x="4489704" y="468630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3" name="Picture 32" descr="FaUserGea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4004" y="4800600"/>
            <a:ext cx="228600" cy="2286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084064" y="4572000"/>
            <a:ext cx="26700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No Administrator rights needed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4572000"/>
            <a:ext cx="3538728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icon_FaGitAlt_circle"/>
          <p:cNvSpPr/>
          <p:nvPr/>
        </p:nvSpPr>
        <p:spPr>
          <a:xfrm>
            <a:off x="8302752" y="468630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7" name="Picture 36" descr="FaGitAl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052" y="4800600"/>
            <a:ext cx="228600" cy="2286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897112" y="4572000"/>
            <a:ext cx="26700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Git for Windows recommended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" y="5440680"/>
            <a:ext cx="11164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  <a:latin typeface="Courier New"/>
              </a:rPr>
              <a:t>'irm' is not recognized</a:t>
            </a:r>
            <a:r>
              <a:rPr sz="1500" b="0" i="0">
                <a:solidFill>
                  <a:schemeClr val="tx1"/>
                </a:solidFill>
              </a:rPr>
              <a:t>  means you're in Command Prompt. Nothing is broken; use the matching 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Verify and sign 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Three commands, then a show of hands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A · Install and verify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3" name="code_block"/>
          <p:cNvSpPr/>
          <p:nvPr/>
        </p:nvSpPr>
        <p:spPr>
          <a:xfrm>
            <a:off x="512064" y="1920240"/>
            <a:ext cx="6675120" cy="141732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1920240"/>
            <a:ext cx="6309359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claude --version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e.g., 2.1.284 (Claude Code)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claude doctor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read-only health check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claude     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first run: browser sign-in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3611880"/>
            <a:ext cx="6675120" cy="109728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icon_FaBan_circle"/>
          <p:cNvSpPr/>
          <p:nvPr/>
        </p:nvSpPr>
        <p:spPr>
          <a:xfrm>
            <a:off x="768096" y="3886200"/>
            <a:ext cx="548640" cy="54864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FaBan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4023360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17904" y="3611880"/>
            <a:ext cx="548640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chemeClr val="bg1"/>
                </a:solidFill>
              </a:rPr>
              <a:t>Never delete </a:t>
            </a:r>
            <a:r>
              <a:rPr sz="1700" b="1" i="0">
                <a:solidFill>
                  <a:schemeClr val="bg1"/>
                </a:solidFill>
                <a:latin typeface="Courier New"/>
              </a:rPr>
              <a:t>~/.local/bin/claude</a:t>
            </a:r>
            <a:r>
              <a:rPr sz="1700" b="1" i="0">
                <a:solidFill>
                  <a:schemeClr val="bg1"/>
                </a:solidFill>
              </a:rPr>
              <a:t>. It is Claude Code (the launcher the native installer manages).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920240"/>
            <a:ext cx="4178808" cy="27889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icon_FaWindows_circle"/>
          <p:cNvSpPr/>
          <p:nvPr/>
        </p:nvSpPr>
        <p:spPr>
          <a:xfrm>
            <a:off x="7772400" y="219456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1" name="Picture 20" descr="FaWindows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2331720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58200" y="2194560"/>
            <a:ext cx="299008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Windows: one more check</a:t>
            </a:r>
          </a:p>
        </p:txBody>
      </p:sp>
      <p:sp>
        <p:nvSpPr>
          <p:cNvPr id="23" name="code_block"/>
          <p:cNvSpPr/>
          <p:nvPr/>
        </p:nvSpPr>
        <p:spPr>
          <a:xfrm>
            <a:off x="7772400" y="2926080"/>
            <a:ext cx="3630168" cy="50292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73568" y="2926080"/>
            <a:ext cx="326440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Rscript --version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611880"/>
            <a:ext cx="363016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“Not recognized” means R isn't on your PATH yet. The installer never adds it (setup guide §2, Step 5).</a:t>
            </a:r>
          </a:p>
        </p:txBody>
      </p:sp>
      <p:sp>
        <p:nvSpPr>
          <p:cNvPr id="26" name="icon_FaUsers_circle"/>
          <p:cNvSpPr/>
          <p:nvPr/>
        </p:nvSpPr>
        <p:spPr>
          <a:xfrm>
            <a:off x="512064" y="5120640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7" name="Picture 26" descr="FaUs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" y="5234940"/>
            <a:ext cx="228600" cy="2286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52144" y="50749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Room check: hands up if claude --version printed a number. No number? Pair up with a neighbor for now.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 vs. PC: things to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Both platforms are fully supported. These are differences, not reasons to switch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A · Install and verify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6</a:t>
            </a:fld>
            <a:endParaRPr lang="en-US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12064" y="1920240"/>
          <a:ext cx="11164824" cy="3273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469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endParaRPr/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macOS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Windows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Terminal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Terminal (or Warp)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Windows Terminal + PowerShell (or Warp)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Paths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/Users/you/project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C:\Users\you\project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In R, always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here::here("data_raw", "file.csv")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Same; never a bare \ in R strings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Line endings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LF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CRLF → git config --global core.autocrlf true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Box / OneDrive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Always keep on this device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Always keep on this device; avoid very deep paths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4" name="Picture 13" descr="FaLightbulb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5349240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60704" y="5285232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here::here() makes the path difference disappear. That's why it's a rule in every CLAUDE.md today.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Permission modes: how much it does without asking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Shift+Tab cycles the modes; the current one shows at the bottom of the terminal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A · Install and verify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2585466" cy="2468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icon_FaWandMagicSparkles_circle"/>
          <p:cNvSpPr/>
          <p:nvPr/>
        </p:nvSpPr>
        <p:spPr>
          <a:xfrm>
            <a:off x="786384" y="2194560"/>
            <a:ext cx="640080" cy="64008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FaWandMagicSparkles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" y="2354579"/>
            <a:ext cx="32004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86384" y="2971800"/>
            <a:ext cx="203682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</a:rPr>
              <a:t>Auto</a:t>
            </a:r>
            <a:r>
              <a:rPr sz="1400" b="0" i="0">
                <a:solidFill>
                  <a:srgbClr val="5F5F5F"/>
                </a:solidFill>
              </a:rPr>
              <a:t>  (default)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429000"/>
            <a:ext cx="203682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Decides which actions are safe to run without asking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71850" y="1920240"/>
            <a:ext cx="2585466" cy="2468880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icon_FaHand_circle"/>
          <p:cNvSpPr/>
          <p:nvPr/>
        </p:nvSpPr>
        <p:spPr>
          <a:xfrm>
            <a:off x="3646170" y="2194560"/>
            <a:ext cx="640080" cy="64008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Picture 19" descr="FaHan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6189" y="235457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646170" y="2971800"/>
            <a:ext cx="203682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</a:rPr>
              <a:t>Manual</a:t>
            </a:r>
            <a:r>
              <a:rPr sz="1400" b="0" i="0">
                <a:solidFill>
                  <a:srgbClr val="5F5F5F"/>
                </a:solidFill>
              </a:rPr>
              <a:t>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6170" y="3429000"/>
            <a:ext cx="203682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Asks before every edit and command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1636" y="1920240"/>
            <a:ext cx="2585466" cy="2468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icon_FaPenToSquare_circle"/>
          <p:cNvSpPr/>
          <p:nvPr/>
        </p:nvSpPr>
        <p:spPr>
          <a:xfrm>
            <a:off x="6505955" y="2194560"/>
            <a:ext cx="640080" cy="64008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Picture 24" descr="FaPenToSquare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5975" y="2354579"/>
            <a:ext cx="320040" cy="320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05955" y="2971800"/>
            <a:ext cx="203682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</a:rPr>
              <a:t>Accept edits</a:t>
            </a:r>
            <a:r>
              <a:rPr sz="1400" b="0" i="0">
                <a:solidFill>
                  <a:srgbClr val="5F5F5F"/>
                </a:solidFill>
              </a:rPr>
              <a:t> 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5955" y="3429000"/>
            <a:ext cx="203682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Edits freely; asks before running commands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1422" y="1920240"/>
            <a:ext cx="2585466" cy="2468880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icon_FaClipboardList_circle"/>
          <p:cNvSpPr/>
          <p:nvPr/>
        </p:nvSpPr>
        <p:spPr>
          <a:xfrm>
            <a:off x="9365742" y="2194560"/>
            <a:ext cx="640080" cy="64008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Picture 29" descr="FaClipboardLis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762" y="2354579"/>
            <a:ext cx="320040" cy="320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365742" y="2971800"/>
            <a:ext cx="203682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</a:rPr>
              <a:t>Plan</a:t>
            </a:r>
            <a:r>
              <a:rPr sz="1400" b="0" i="0">
                <a:solidFill>
                  <a:srgbClr val="5F5F5F"/>
                </a:solidFill>
              </a:rPr>
              <a:t> 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65742" y="3429000"/>
            <a:ext cx="203682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Reads and proposes. Can't edit or run anything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2064" y="4663440"/>
            <a:ext cx="1234440" cy="457200"/>
          </a:xfrm>
          <a:prstGeom prst="roundRect">
            <a:avLst>
              <a:gd name="adj" fmla="val 1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12064" y="4663440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ourier New"/>
              </a:rPr>
              <a:t>Shift+Tab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37943" y="466344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cycle modes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80944" y="4663440"/>
            <a:ext cx="1234440" cy="457200"/>
          </a:xfrm>
          <a:prstGeom prst="roundRect">
            <a:avLst>
              <a:gd name="adj" fmla="val 1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980944" y="4663440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ourier New"/>
              </a:rPr>
              <a:t>Esc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06824" y="466344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stop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49824" y="4663440"/>
            <a:ext cx="1234440" cy="457200"/>
          </a:xfrm>
          <a:prstGeom prst="roundRect">
            <a:avLst>
              <a:gd name="adj" fmla="val 1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49824" y="4663440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ourier New"/>
              </a:rPr>
              <a:t>Esc Esc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75704" y="466344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rewind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01000" y="4526280"/>
            <a:ext cx="3675887" cy="1143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83879" y="4526280"/>
            <a:ext cx="33832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chemeClr val="bg1"/>
                </a:solidFill>
              </a:rPr>
              <a:t>While learning: </a:t>
            </a:r>
            <a:r>
              <a:rPr sz="1700" b="0" i="0">
                <a:solidFill>
                  <a:schemeClr val="bg1"/>
                </a:solidFill>
              </a:rPr>
              <a:t>Manual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chemeClr val="bg1"/>
                </a:solidFill>
              </a:rPr>
              <a:t>For design decisions: </a:t>
            </a:r>
            <a:r>
              <a:rPr sz="1700" b="0" i="0">
                <a:solidFill>
                  <a:schemeClr val="bg1"/>
                </a:solidFill>
              </a:rPr>
              <a:t>Plan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If it didn't work: the top five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Find your row. Two minutes, then we move 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A · Install and verify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8</a:t>
            </a:fld>
            <a:endParaRPr lang="en-US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12064" y="1920240"/>
          <a:ext cx="11164824" cy="3273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8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Symptom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Fix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'irm' is not recognized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You're in CMD. Open PowerShell, or use the CMD install line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claude: command not found / 'claude' is not recognized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Open a new terminal window (PATH refresh)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'Rscript' is not recognized (Windows)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Add R's bin folder to PATH (guide §2 Step 5), then open a new terminal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Sign-in loops or “no access”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Check the workspace: Claude Edu, not Secure. Students: confirm your seat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Dataset “empty” or file not found in Box / OneDrive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Always keep on this device; on Windows, shorten very deep paths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4" name="Picture 13" descr="FaStopwatch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5321808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60704" y="525780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Still stuck? Write down the exact error and keep going. Blocks C and D need no install. We'll fix it at the break.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MCP?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Model Context Protocol: a standard plug that lets Claude use other software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B · Connect Claude to your tools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5120640" cy="146304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icon_FaPlug_circle"/>
          <p:cNvSpPr/>
          <p:nvPr/>
        </p:nvSpPr>
        <p:spPr>
          <a:xfrm>
            <a:off x="786384" y="2194560"/>
            <a:ext cx="566928" cy="56692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FaPlu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116" y="2336291"/>
            <a:ext cx="283464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63624" y="2057400"/>
            <a:ext cx="388620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1">
                <a:solidFill>
                  <a:schemeClr val="bg1"/>
                </a:solidFill>
              </a:rPr>
              <a:t>“An open-source standard for connecting AI applications to external systems.”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45643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5F5F5F"/>
                </a:solidFill>
              </a:rPr>
              <a:t>modelcontextprotocol.io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3858768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chemeClr val="tx2"/>
                </a:solidFill>
              </a:rPr>
              <a:t>One command, any MCP tool</a:t>
            </a:r>
          </a:p>
        </p:txBody>
      </p:sp>
      <p:sp>
        <p:nvSpPr>
          <p:cNvPr id="19" name="code_block"/>
          <p:cNvSpPr/>
          <p:nvPr/>
        </p:nvSpPr>
        <p:spPr>
          <a:xfrm>
            <a:off x="512064" y="4251960"/>
            <a:ext cx="5120640" cy="841248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4251960"/>
            <a:ext cx="4754879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claude mcp add …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register a tool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/mcp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see what's connected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920240"/>
            <a:ext cx="56875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chemeClr val="tx2"/>
                </a:solidFill>
              </a:rPr>
              <a:t>Useful for researchers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2377440"/>
            <a:ext cx="5687568" cy="67665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icon_FaRProject_circle"/>
          <p:cNvSpPr/>
          <p:nvPr/>
        </p:nvSpPr>
        <p:spPr>
          <a:xfrm>
            <a:off x="6153912" y="2487168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Picture 23" descr="FaRProjec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8212" y="2601468"/>
            <a:ext cx="228600" cy="228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66559" y="2414016"/>
            <a:ext cx="477316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</a:rPr>
              <a:t>Your live R session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59" y="2724912"/>
            <a:ext cx="477316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5F5F5F"/>
                </a:solidFill>
              </a:rPr>
              <a:t>mcptools (Posit, CRAN): next slide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3163824"/>
            <a:ext cx="5687568" cy="67665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icon_FaBookOpen_circle"/>
          <p:cNvSpPr/>
          <p:nvPr/>
        </p:nvSpPr>
        <p:spPr>
          <a:xfrm>
            <a:off x="6153912" y="3273552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9" name="Picture 28" descr="FaBookOpe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8212" y="3387852"/>
            <a:ext cx="228600" cy="228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66559" y="3200400"/>
            <a:ext cx="477316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</a:rPr>
              <a:t>Your Zotero library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59" y="3511296"/>
            <a:ext cx="477316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5F5F5F"/>
                </a:solidFill>
              </a:rPr>
              <a:t>zotero-mcp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3950208"/>
            <a:ext cx="5687568" cy="67665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icon_FaNoteSticky_circle"/>
          <p:cNvSpPr/>
          <p:nvPr/>
        </p:nvSpPr>
        <p:spPr>
          <a:xfrm>
            <a:off x="6153912" y="4059936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Picture 33" descr="FaNoteSticky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8212" y="4174236"/>
            <a:ext cx="228600" cy="228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766559" y="3986784"/>
            <a:ext cx="477316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</a:rPr>
              <a:t>Your Obsidian notes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59" y="4297680"/>
            <a:ext cx="477316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5F5F5F"/>
                </a:solidFill>
              </a:rPr>
              <a:t>Obsidian Local REST API plugin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4800600"/>
            <a:ext cx="5687568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Same servers work in </a:t>
            </a:r>
            <a:r>
              <a:rPr sz="1500" b="1" i="0">
                <a:solidFill>
                  <a:schemeClr val="tx1"/>
                </a:solidFill>
              </a:rPr>
              <a:t>Codex CLI</a:t>
            </a:r>
            <a:r>
              <a:rPr sz="1500" b="0" i="0">
                <a:solidFill>
                  <a:schemeClr val="tx1"/>
                </a:solidFill>
              </a:rPr>
              <a:t> and </a:t>
            </a:r>
            <a:r>
              <a:rPr sz="1500" b="1" i="0">
                <a:solidFill>
                  <a:schemeClr val="tx1"/>
                </a:solidFill>
              </a:rPr>
              <a:t>Gemini CLI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2064" y="5321808"/>
            <a:ext cx="11164824" cy="749808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9" name="Picture 38" descr="FaTriangleExclamatio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" y="5532120"/>
            <a:ext cx="329184" cy="32918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43584" y="5321808"/>
            <a:ext cx="1025042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bg1"/>
                </a:solidFill>
              </a:rPr>
              <a:t>Optional: Claude runs R scripts directly, no MCP needed. </a:t>
            </a:r>
            <a:r>
              <a:rPr sz="1500" b="0" i="0">
                <a:solidFill>
                  <a:schemeClr val="bg1"/>
                </a:solidFill>
              </a:rPr>
              <a:t>Each connection costs context and tokens and exposes more data, so connect only what you need, from sources you trust.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Connect Claude to R: mcptools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Optional: lets Claude see the R session you have open right now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B · Connect Claude to your tools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512064" y="1975104"/>
            <a:ext cx="475488" cy="47548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064" y="1975104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1920240"/>
            <a:ext cx="292608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In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1920240"/>
            <a:ext cx="8019288" cy="585216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22191" y="1920240"/>
            <a:ext cx="77724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install.packages("mcptools")</a:t>
            </a:r>
          </a:p>
        </p:txBody>
      </p:sp>
      <p:sp>
        <p:nvSpPr>
          <p:cNvPr id="18" name="Oval 17"/>
          <p:cNvSpPr/>
          <p:nvPr/>
        </p:nvSpPr>
        <p:spPr>
          <a:xfrm>
            <a:off x="512064" y="2724912"/>
            <a:ext cx="475488" cy="47548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2064" y="2724912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2670048"/>
            <a:ext cx="292608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In the terminal (once)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2670048"/>
            <a:ext cx="8019288" cy="585216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22191" y="2670048"/>
            <a:ext cx="77724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claude mcp add -s user r-mcptools -- Rscript -e "mcptools::mcp_server()"</a:t>
            </a:r>
          </a:p>
        </p:txBody>
      </p:sp>
      <p:sp>
        <p:nvSpPr>
          <p:cNvPr id="23" name="Oval 22"/>
          <p:cNvSpPr/>
          <p:nvPr/>
        </p:nvSpPr>
        <p:spPr>
          <a:xfrm>
            <a:off x="512064" y="3474720"/>
            <a:ext cx="475488" cy="47548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2064" y="3474720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419856"/>
            <a:ext cx="292608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In RStudio (live session)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3419856"/>
            <a:ext cx="8019288" cy="585216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822191" y="3419856"/>
            <a:ext cx="77724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mcptools::mcp_session()</a:t>
            </a:r>
          </a:p>
        </p:txBody>
      </p:sp>
      <p:sp>
        <p:nvSpPr>
          <p:cNvPr id="28" name="Oval 27"/>
          <p:cNvSpPr/>
          <p:nvPr/>
        </p:nvSpPr>
        <p:spPr>
          <a:xfrm>
            <a:off x="512064" y="4224528"/>
            <a:ext cx="475488" cy="47548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2064" y="422452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4169664"/>
            <a:ext cx="292608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In Claude: check 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0" y="4169664"/>
            <a:ext cx="8019288" cy="585216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822191" y="4169664"/>
            <a:ext cx="77724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/mcp   → r-mcptools ✔ connected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2064" y="5029200"/>
            <a:ext cx="11164824" cy="7315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86384" y="502920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Make step 3 permanent (.Rprofile):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22191" y="5029200"/>
            <a:ext cx="76809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  <a:latin typeface="Courier New"/>
              </a:rPr>
              <a:t>if (interactive()) mcptools::mcp_session()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 work in VS Code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Same agent, same CLAUDE.md, different window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B · Connect Claude to your tools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4754880" cy="329184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icon_FaPuzzlePiece_circle"/>
          <p:cNvSpPr/>
          <p:nvPr/>
        </p:nvSpPr>
        <p:spPr>
          <a:xfrm>
            <a:off x="832104" y="2240280"/>
            <a:ext cx="731520" cy="7315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FaPuzzlePiece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42316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32104" y="315468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chemeClr val="bg1"/>
                </a:solidFill>
              </a:rPr>
              <a:t>“Claude Code” by Anthropic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370332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chemeClr val="bg1"/>
                </a:solidFill>
                <a:latin typeface="Courier New"/>
              </a:rPr>
              <a:t>anthropic.claude-code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4206240"/>
            <a:ext cx="4114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chemeClr val="bg1"/>
                </a:solidFill>
              </a:rPr>
              <a:t>VS Code 1.94 or later. Check that the publisher is Anthropic.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0" y="1920240"/>
            <a:ext cx="5961888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icon_FaKey_circle"/>
          <p:cNvSpPr/>
          <p:nvPr/>
        </p:nvSpPr>
        <p:spPr>
          <a:xfrm>
            <a:off x="5879592" y="214884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1" name="Picture 20" descr="FaKey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892" y="2263140"/>
            <a:ext cx="228600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3952" y="1920240"/>
            <a:ext cx="5093207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Signs in with your Claude account. No API key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0" y="3035808"/>
            <a:ext cx="5961888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icon_FaCodeCompare_circle"/>
          <p:cNvSpPr/>
          <p:nvPr/>
        </p:nvSpPr>
        <p:spPr>
          <a:xfrm>
            <a:off x="5879592" y="3264408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Picture 24" descr="FaCodeCompar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3892" y="3378708"/>
            <a:ext cx="228600" cy="228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73952" y="3035808"/>
            <a:ext cx="5093207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Side-by-side diffs: approve each edit; checkpoints to rewind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0" y="4151376"/>
            <a:ext cx="5961888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icon_FaKeyboard_circle"/>
          <p:cNvSpPr/>
          <p:nvPr/>
        </p:nvSpPr>
        <p:spPr>
          <a:xfrm>
            <a:off x="5879592" y="4379976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9" name="Picture 28" descr="FaKeyboard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3892" y="4494276"/>
            <a:ext cx="228600" cy="228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3952" y="4151376"/>
            <a:ext cx="5093207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@-mention a selection: Option+K (Mac) / Alt+K (Windows)</a:t>
            </a:r>
          </a:p>
        </p:txBody>
      </p:sp>
      <p:pic>
        <p:nvPicPr>
          <p:cNvPr id="31" name="Picture 30" descr="FaTriangleExclamation_r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064" y="5440680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4984" y="5376672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The extension doesn't add claude to your terminal. Keep the CLI install too.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tool stack that helps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All optional. Everything today works in the built-in terminal and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B · Connect Claude to your tools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3538728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icon_FaTerminal_circle"/>
          <p:cNvSpPr/>
          <p:nvPr/>
        </p:nvSpPr>
        <p:spPr>
          <a:xfrm>
            <a:off x="786384" y="2194560"/>
            <a:ext cx="640080" cy="64008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FaTerminal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" y="2354579"/>
            <a:ext cx="32004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63624" y="2194560"/>
            <a:ext cx="225856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chemeClr val="tx1"/>
                </a:solidFill>
              </a:rPr>
              <a:t>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17520"/>
            <a:ext cx="299008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A friendlier terminal: tabs, selectable output blocks, easier editing at the 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251960"/>
            <a:ext cx="29900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</a:rPr>
              <a:t>Free plan; login optional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709160"/>
            <a:ext cx="299008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5F5F5F"/>
                </a:solidFill>
              </a:rPr>
              <a:t>Has its own AI agent. Just type claude. Analytics on by default (Settings → Privacy).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5112" y="1920240"/>
            <a:ext cx="3538728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icon_FaMarkdown_circle"/>
          <p:cNvSpPr/>
          <p:nvPr/>
        </p:nvSpPr>
        <p:spPr>
          <a:xfrm>
            <a:off x="4599432" y="2194560"/>
            <a:ext cx="640080" cy="64008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Picture 21" descr="FaMarkdow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452" y="2354579"/>
            <a:ext cx="320040" cy="320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376672" y="2194560"/>
            <a:ext cx="225856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chemeClr val="tx1"/>
                </a:solidFill>
              </a:rPr>
              <a:t>Typora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9432" y="3017520"/>
            <a:ext cx="299008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Read and edit what Claude writes in writing/ as formatted text, one document at a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4251960"/>
            <a:ext cx="29900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</a:rPr>
              <a:t>$14.99 one-time; 15-day trial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2" y="4709160"/>
            <a:ext cx="299008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5F5F5F"/>
                </a:solidFill>
              </a:rPr>
              <a:t>Like a word processor for Markdown.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1920240"/>
            <a:ext cx="3538728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icon_FaNoteSticky_circle"/>
          <p:cNvSpPr/>
          <p:nvPr/>
        </p:nvSpPr>
        <p:spPr>
          <a:xfrm>
            <a:off x="8412480" y="2194560"/>
            <a:ext cx="640080" cy="64008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9" name="Picture 28" descr="FaNoteStick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2354579"/>
            <a:ext cx="320040" cy="3200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189720" y="2194560"/>
            <a:ext cx="225856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chemeClr val="tx1"/>
                </a:solidFill>
              </a:rPr>
              <a:t>Obsidian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017520"/>
            <a:ext cx="299008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A vault of linked notes (e.g., your literature); can connect to Claude via MCP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251960"/>
            <a:ext cx="29900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</a:rPr>
              <a:t>Free, including for work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709160"/>
            <a:ext cx="299008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5F5F5F"/>
                </a:solidFill>
              </a:rPr>
              <a:t>Plain .md files, so there's no lock-in.</a:t>
            </a:r>
          </a:p>
        </p:txBody>
      </p:sp>
      <p:sp>
        <p:nvSpPr>
          <p:cNvPr id="34" name="source"/>
          <p:cNvSpPr txBox="1"/>
          <p:nvPr/>
        </p:nvSpPr>
        <p:spPr>
          <a:xfrm>
            <a:off x="512064" y="5833872"/>
            <a:ext cx="11164824" cy="27432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100" b="0" i="1">
                <a:solidFill>
                  <a:srgbClr val="5F5F5F"/>
                </a:solidFill>
              </a:rPr>
              <a:t>Pricing and terms checked 2026-10-12 (warp.dev/pricing · typora.io/store · obsidian.md/pricing). Install commands: setup guide §8 (macOS) / §9 (Windows).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project folder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 place for everything, so the agent stops guessing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C · The project folder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13" name="code_block"/>
          <p:cNvSpPr/>
          <p:nvPr/>
        </p:nvSpPr>
        <p:spPr>
          <a:xfrm>
            <a:off x="512064" y="1920240"/>
            <a:ext cx="5760720" cy="3749039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1920240"/>
            <a:ext cx="5394959" cy="37490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my_project/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├── CLAUDE.md  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agent memory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├── README.md  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for humans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├── data_raw/  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IMMUTABLE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├── data_clean/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1000-series only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├── code/      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0000→3000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├── outputs/   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figures, tables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├── writing/   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Markdown drafts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└── my_project.Rproj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1920240"/>
            <a:ext cx="5093207" cy="10515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icon_FaLock_circle"/>
          <p:cNvSpPr/>
          <p:nvPr/>
        </p:nvSpPr>
        <p:spPr>
          <a:xfrm>
            <a:off x="6748272" y="221742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FaLo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572" y="2331720"/>
            <a:ext cx="228600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42632" y="1920240"/>
            <a:ext cx="4224527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data_raw/ is never modified, so you can always rebuild from the source.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3154680"/>
            <a:ext cx="5093207" cy="10515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icon_FaFileShield_circle"/>
          <p:cNvSpPr/>
          <p:nvPr/>
        </p:nvSpPr>
        <p:spPr>
          <a:xfrm>
            <a:off x="6748272" y="345186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1" name="Picture 20" descr="FaFileShiel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2572" y="3566160"/>
            <a:ext cx="228600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42632" y="3154680"/>
            <a:ext cx="4224527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Only cleaning scripts write to data_clean/, so every clean file has a known origin.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389120"/>
            <a:ext cx="5093207" cy="1280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0" y="4389120"/>
            <a:ext cx="4544568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chemeClr val="bg1"/>
                </a:solidFill>
              </a:rPr>
              <a:t>Copy it now: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chemeClr val="bg1"/>
                </a:solidFill>
                <a:latin typeface="Courier New"/>
              </a:rPr>
              <a:t>part2_setup/project_template/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chemeClr val="bg1"/>
                </a:solidFill>
              </a:rPr>
              <a:t>Rename it: lowercase, no spaces.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Names an agent can follow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Scripts are numbered by stage, with room to grow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C · The project folder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2423160" cy="14173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2057400"/>
            <a:ext cx="2057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  <a:latin typeface="Courier New"/>
              </a:rPr>
              <a:t>0000–0999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25146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</a:rPr>
              <a:t>Import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88036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5F5F"/>
                </a:solidFill>
              </a:rPr>
              <a:t>→ memory / data_clean/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80944" y="2633472"/>
            <a:ext cx="399288" cy="0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425952" y="1920240"/>
            <a:ext cx="2423160" cy="141732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08832" y="2057400"/>
            <a:ext cx="2057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chemeClr val="bg1"/>
                </a:solidFill>
                <a:latin typeface="Courier New"/>
              </a:rPr>
              <a:t>1000–1999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8832" y="25146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chemeClr val="bg1"/>
                </a:solidFill>
              </a:rPr>
              <a:t>Cleaning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8832" y="288036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chemeClr val="bg1"/>
                </a:solidFill>
              </a:rPr>
              <a:t>→ data_clean/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94832" y="2633472"/>
            <a:ext cx="399288" cy="0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339840" y="1920240"/>
            <a:ext cx="2423160" cy="14173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22720" y="2057400"/>
            <a:ext cx="2057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  <a:latin typeface="Courier New"/>
              </a:rPr>
              <a:t>2000–2999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2720" y="25146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</a:rPr>
              <a:t>Descriptives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22720" y="288036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5F5F"/>
                </a:solidFill>
              </a:rPr>
              <a:t>→ outputs/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08720" y="2633472"/>
            <a:ext cx="399288" cy="0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53728" y="1920240"/>
            <a:ext cx="2423160" cy="14173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36608" y="2057400"/>
            <a:ext cx="2057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  <a:latin typeface="Courier New"/>
              </a:rPr>
              <a:t>3000+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36608" y="25146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36608" y="288036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5F5F"/>
                </a:solidFill>
              </a:rPr>
              <a:t>→ outputs/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" y="3611880"/>
            <a:ext cx="11164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chemeClr val="tx2"/>
                </a:solidFill>
              </a:rPr>
              <a:t>Gaps are the point: </a:t>
            </a:r>
            <a:r>
              <a:rPr sz="1600" b="0" i="0">
                <a:solidFill>
                  <a:schemeClr val="tx1"/>
                </a:solidFill>
                <a:latin typeface="Courier New"/>
              </a:rPr>
              <a:t>1500_merge_waves.Rmd</a:t>
            </a:r>
            <a:r>
              <a:rPr sz="1600" b="0" i="0">
                <a:solidFill>
                  <a:schemeClr val="tx1"/>
                </a:solidFill>
              </a:rPr>
              <a:t> fits between cleaning and descriptives without renumbering anything.</a:t>
            </a:r>
          </a:p>
        </p:txBody>
      </p:sp>
      <p:pic>
        <p:nvPicPr>
          <p:cNvPr id="33" name="Picture 32" descr="FaCircle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251959"/>
            <a:ext cx="292608" cy="2926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69264" y="4206240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  <a:latin typeface="Courier New"/>
              </a:rPr>
              <a:t>1000_clean_enrollment.Rmd</a:t>
            </a:r>
          </a:p>
        </p:txBody>
      </p:sp>
      <p:pic>
        <p:nvPicPr>
          <p:cNvPr id="35" name="Picture 34" descr="FaCircle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709159"/>
            <a:ext cx="292608" cy="29260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69264" y="4663440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  <a:latin typeface="Courier New"/>
              </a:rPr>
              <a:t>methods_draft_2026-10-16.md</a:t>
            </a:r>
          </a:p>
        </p:txBody>
      </p:sp>
      <p:pic>
        <p:nvPicPr>
          <p:cNvPr id="37" name="Picture 36" descr="FaCircleXmar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5166359"/>
            <a:ext cx="292608" cy="29260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69264" y="5120640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  <a:latin typeface="Courier New"/>
              </a:rPr>
              <a:t>Clean Enrollment FINAL v2.Rmd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0" y="4206240"/>
            <a:ext cx="5001768" cy="129844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903720" y="4206240"/>
            <a:ext cx="4572000" cy="1298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chemeClr val="tx1"/>
                </a:solidFill>
              </a:rPr>
              <a:t>lowercase</a:t>
            </a:r>
          </a:p>
          <a:p>
            <a:pPr algn="l">
              <a:spcAft>
                <a:spcPts val="300"/>
              </a:spcAft>
            </a:pPr>
            <a:r>
              <a:rPr sz="1600" b="1" i="0">
                <a:solidFill>
                  <a:schemeClr val="tx1"/>
                </a:solidFill>
              </a:rPr>
              <a:t>snake_case or kebab-case</a:t>
            </a:r>
          </a:p>
          <a:p>
            <a:pPr algn="l">
              <a:spcAft>
                <a:spcPts val="300"/>
              </a:spcAft>
            </a:pPr>
            <a:r>
              <a:rPr sz="1600" b="1" i="0">
                <a:solidFill>
                  <a:schemeClr val="tx1"/>
                </a:solidFill>
              </a:rPr>
              <a:t>ISO dates (YYYY-MM-DD)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structure matters to an agent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An agent decides where to put things every time it writes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C · The project folder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310896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icon_FaSitemap_circle"/>
          <p:cNvSpPr/>
          <p:nvPr/>
        </p:nvSpPr>
        <p:spPr>
          <a:xfrm>
            <a:off x="786384" y="2304288"/>
            <a:ext cx="603504" cy="60350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FaSitem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2455164"/>
            <a:ext cx="301752" cy="301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63624" y="1920240"/>
            <a:ext cx="1920239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</a:rPr>
              <a:t>Predictable places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94176" y="2606040"/>
            <a:ext cx="772668" cy="0"/>
          </a:xfrm>
          <a:prstGeom prst="line">
            <a:avLst/>
          </a:prstGeom>
          <a:ln w="3175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539996" y="1920240"/>
            <a:ext cx="310896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icon_FaCircleQuestion_circle"/>
          <p:cNvSpPr/>
          <p:nvPr/>
        </p:nvSpPr>
        <p:spPr>
          <a:xfrm>
            <a:off x="4814316" y="2304288"/>
            <a:ext cx="603504" cy="60350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Picture 19" descr="FaCircleQuestio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2455164"/>
            <a:ext cx="301752" cy="3017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91556" y="1920240"/>
            <a:ext cx="1920239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</a:rPr>
              <a:t>Fewer guesses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22108" y="2606040"/>
            <a:ext cx="772668" cy="0"/>
          </a:xfrm>
          <a:prstGeom prst="line">
            <a:avLst/>
          </a:prstGeom>
          <a:ln w="3175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567928" y="1920240"/>
            <a:ext cx="310896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icon_FaFileShield_circle"/>
          <p:cNvSpPr/>
          <p:nvPr/>
        </p:nvSpPr>
        <p:spPr>
          <a:xfrm>
            <a:off x="8842248" y="2304288"/>
            <a:ext cx="603504" cy="603504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Picture 24" descr="FaFileShield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124" y="2455164"/>
            <a:ext cx="301752" cy="3017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19488" y="1920240"/>
            <a:ext cx="1920239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chemeClr val="bg1"/>
                </a:solidFill>
              </a:rPr>
              <a:t>Fewer overwritten files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611880"/>
            <a:ext cx="11164824" cy="60350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icon_FaFolderTree_circle"/>
          <p:cNvSpPr/>
          <p:nvPr/>
        </p:nvSpPr>
        <p:spPr>
          <a:xfrm>
            <a:off x="676656" y="3703320"/>
            <a:ext cx="420624" cy="42062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9" name="Picture 28" descr="FaFolderTre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" y="380847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34440" y="3611880"/>
            <a:ext cx="103327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Give it one right answer for where each thing goes.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2064" y="4343400"/>
            <a:ext cx="11164824" cy="60350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icon_FaCheck_circle"/>
          <p:cNvSpPr/>
          <p:nvPr/>
        </p:nvSpPr>
        <p:spPr>
          <a:xfrm>
            <a:off x="676656" y="4434840"/>
            <a:ext cx="420624" cy="42062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3" name="Picture 32" descr="FaCheck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812" y="4539996"/>
            <a:ext cx="210312" cy="21031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34440" y="4343400"/>
            <a:ext cx="103327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“Read only from data_raw/” is a rule it can check. “Be careful with the data” is not.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2064" y="5074920"/>
            <a:ext cx="11164824" cy="60350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icon_FaClockRotateLeft_circle"/>
          <p:cNvSpPr/>
          <p:nvPr/>
        </p:nvSpPr>
        <p:spPr>
          <a:xfrm>
            <a:off x="676656" y="5166360"/>
            <a:ext cx="420624" cy="42062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7" name="Picture 36" descr="FaClockRotateLeft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" y="5271516"/>
            <a:ext cx="210312" cy="2103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234440" y="5074920"/>
            <a:ext cx="103327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The structure is also your record: scripts in order, every output traceable to a script.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CLAUDE.md: memory at two levels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Read at the start of every session. Rules you write once instead of repeating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D · CLAUDE.md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5445252" cy="23774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icon_FaUser_circle"/>
          <p:cNvSpPr/>
          <p:nvPr/>
        </p:nvSpPr>
        <p:spPr>
          <a:xfrm>
            <a:off x="832104" y="2240280"/>
            <a:ext cx="731520" cy="73152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FaUs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42316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92224" y="224028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chemeClr val="tx1"/>
                </a:solidFill>
              </a:rPr>
              <a:t>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3154680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chemeClr val="tx2"/>
                </a:solidFill>
                <a:latin typeface="Courier New"/>
              </a:rPr>
              <a:t>~/.claude/CLAUDE.md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361188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chemeClr val="tx1"/>
                </a:solidFill>
              </a:rPr>
              <a:t>How you work, in every project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1636" y="1920240"/>
            <a:ext cx="5445252" cy="2377440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icon_FaFolderOpen_circle"/>
          <p:cNvSpPr/>
          <p:nvPr/>
        </p:nvSpPr>
        <p:spPr>
          <a:xfrm>
            <a:off x="6551675" y="2240280"/>
            <a:ext cx="731520" cy="73152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1" name="Picture 20" descr="FaFolderOpe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4555" y="2423160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511796" y="224028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chemeClr val="tx1"/>
                </a:solidFill>
              </a:rPr>
              <a:t>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1675" y="3154680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chemeClr val="tx2"/>
                </a:solidFill>
                <a:latin typeface="Courier New"/>
              </a:rPr>
              <a:t>my_project/CLAUDE.md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1675" y="361188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chemeClr val="tx1"/>
                </a:solidFill>
              </a:rPr>
              <a:t>This study: question, data, folders, standards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" y="4572000"/>
            <a:ext cx="11164824" cy="10972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" y="4572000"/>
            <a:ext cx="10524744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chemeClr val="bg1"/>
                </a:solidFill>
              </a:rPr>
              <a:t>Files add up: </a:t>
            </a:r>
            <a:r>
              <a:rPr sz="1700" b="0" i="0">
                <a:solidFill>
                  <a:schemeClr val="bg1"/>
                </a:solidFill>
              </a:rPr>
              <a:t>Claude reads both, broad to specific.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chemeClr val="bg1"/>
                </a:solidFill>
              </a:rPr>
              <a:t>Guidance, not a lock: </a:t>
            </a:r>
            <a:r>
              <a:rPr sz="1700" b="0" i="0">
                <a:solidFill>
                  <a:schemeClr val="bg1"/>
                </a:solidFill>
              </a:rPr>
              <a:t>back hard rules with real controls (.gitignore).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user-level rule worth stealing: ask before acting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The Task Clarification Protocol, from the instructor's ~/.claude/CLAUDE.md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D · CLAUDE.md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6675120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786384" y="2240279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2240279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2194560"/>
            <a:ext cx="55778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Before any task: are there ambiguous requirements or several reasonable approaches?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" y="301752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30175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2971800"/>
            <a:ext cx="55778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</a:rPr>
              <a:t>If so, STOP and ask first.</a:t>
            </a:r>
          </a:p>
        </p:txBody>
      </p:sp>
      <p:sp>
        <p:nvSpPr>
          <p:cNvPr id="20" name="Oval 19"/>
          <p:cNvSpPr/>
          <p:nvPr/>
        </p:nvSpPr>
        <p:spPr>
          <a:xfrm>
            <a:off x="786384" y="3794759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6384" y="3794759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6464" y="3749039"/>
            <a:ext cx="55778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Numbered multiple-choice options, 2–4 per question.</a:t>
            </a:r>
          </a:p>
        </p:txBody>
      </p:sp>
      <p:sp>
        <p:nvSpPr>
          <p:cNvPr id="23" name="Oval 22"/>
          <p:cNvSpPr/>
          <p:nvPr/>
        </p:nvSpPr>
        <p:spPr>
          <a:xfrm>
            <a:off x="786384" y="4571999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86384" y="4571999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6464" y="4526279"/>
            <a:ext cx="55778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Mark one [Recommended]; end with “Reply with the numbers (e.g., 1A, 2B).”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257800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chemeClr val="tx2"/>
                </a:solidFill>
              </a:rPr>
              <a:t>Do NOT proceed until the user confirms.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79" y="1920240"/>
            <a:ext cx="4178808" cy="37947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18119" y="2194560"/>
            <a:ext cx="353872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chemeClr val="bg1"/>
                </a:solidFill>
              </a:rPr>
              <a:t>The more it asks, the better the output.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19" y="4251960"/>
            <a:ext cx="3538728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chemeClr val="bg1"/>
                </a:solidFill>
              </a:rPr>
              <a:t>Hidden decisions become deliberate ones, and “1A, 2B, 3A” takes five seconds to answer.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Anatomy of a project CLAUDE.md, and rules that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Template: part2_setup/project_template/CLAUDE.md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D · CLAUDE.md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7784" y="1920240"/>
            <a:ext cx="1051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1 Overview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64792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810512" y="1920240"/>
            <a:ext cx="1051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2 Folder contract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63240" y="1920240"/>
            <a:ext cx="1051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3 Script naming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15968" y="1920240"/>
            <a:ext cx="1051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4 R conventions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22976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568696" y="1920240"/>
            <a:ext cx="1051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bg1"/>
                </a:solidFill>
              </a:rPr>
              <a:t>5 Data security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75704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21424" y="1920240"/>
            <a:ext cx="1051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6 Analysis standards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2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74152" y="1920240"/>
            <a:ext cx="1051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7 Writing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26880" y="1920240"/>
            <a:ext cx="1051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8 Working agreement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33888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579608" y="1920240"/>
            <a:ext cx="1051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9 Project log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12064" y="2834640"/>
          <a:ext cx="11164823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29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✘  Vague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✔  Specific and checkable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Be careful with the data.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Never create, modify, rename, or delete anything in data_raw/.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Protect privacy.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Never print individual records; use glimpse(), summary(), counts.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Cite sources.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Never invent citations; write [CITATION NEEDED].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2" name="Picture 31" descr="FaListOl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5257800"/>
            <a:ext cx="365760" cy="3657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60704" y="5193792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</a:rPr>
              <a:t>Keep it under 200 lines. </a:t>
            </a:r>
            <a:r>
              <a:rPr sz="1600" b="0" i="0">
                <a:solidFill>
                  <a:schemeClr val="tx1"/>
                </a:solidFill>
              </a:rPr>
              <a:t>For each line: would removing it cause a mistake?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never goes in, and how to draft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Treat CLAUDE.md as something you'd publish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D · CLAUDE.md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3538728" cy="37947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icon_FaBan_circle"/>
          <p:cNvSpPr/>
          <p:nvPr/>
        </p:nvSpPr>
        <p:spPr>
          <a:xfrm>
            <a:off x="786384" y="2194560"/>
            <a:ext cx="640080" cy="64008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FaBan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" y="2354579"/>
            <a:ext cx="32004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63624" y="2194560"/>
            <a:ext cx="225856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chemeClr val="bg1"/>
                </a:solidFill>
              </a:rPr>
              <a:t>Never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108960"/>
            <a:ext cx="2990088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bg1"/>
                </a:solidFill>
              </a:rPr>
              <a:t>Passwords, API keys, tokens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bg1"/>
                </a:solidFill>
              </a:rPr>
              <a:t>Identifiable data or example records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bg1"/>
                </a:solidFill>
              </a:rPr>
              <a:t>Access instructions for restricted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1920240"/>
            <a:ext cx="3538728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icon_FaPenToSquare_circle"/>
          <p:cNvSpPr/>
          <p:nvPr/>
        </p:nvSpPr>
        <p:spPr>
          <a:xfrm>
            <a:off x="4599432" y="2194560"/>
            <a:ext cx="640080" cy="64008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Picture 19" descr="FaPenToSquar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452" y="235457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376672" y="2194560"/>
            <a:ext cx="225856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chemeClr val="tx1"/>
                </a:solidFill>
              </a:rPr>
              <a:t>Draft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9432" y="3108960"/>
            <a:ext cx="2990088" cy="15645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 dirty="0">
                <a:solidFill>
                  <a:schemeClr val="tx1"/>
                </a:solidFill>
              </a:rPr>
              <a:t>Gemini (free) for the research-question and standards prose</a:t>
            </a:r>
          </a:p>
          <a:p>
            <a:pPr algn="l">
              <a:spcAft>
                <a:spcPts val="1000"/>
              </a:spcAft>
            </a:pPr>
            <a:r>
              <a:rPr sz="1700" b="0" i="0" dirty="0">
                <a:solidFill>
                  <a:schemeClr val="tx1"/>
                </a:solidFill>
              </a:rPr>
              <a:t>Refine inside the project with Claude</a:t>
            </a:r>
          </a:p>
          <a:p>
            <a:pPr algn="l">
              <a:spcAft>
                <a:spcPts val="1000"/>
              </a:spcAft>
            </a:pPr>
            <a:r>
              <a:rPr sz="1700" b="1" i="0" dirty="0">
                <a:solidFill>
                  <a:srgbClr val="FF0000"/>
                </a:solidFill>
              </a:rPr>
              <a:t>/</a:t>
            </a:r>
            <a:r>
              <a:rPr sz="1700" b="1" i="0" dirty="0" err="1">
                <a:solidFill>
                  <a:srgbClr val="FF0000"/>
                </a:solidFill>
              </a:rPr>
              <a:t>init</a:t>
            </a:r>
            <a:r>
              <a:rPr sz="1700" b="0" i="0" dirty="0">
                <a:solidFill>
                  <a:schemeClr val="tx1"/>
                </a:solidFill>
              </a:rPr>
              <a:t> can generate a starter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1920240"/>
            <a:ext cx="3538728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icon_FaRotate_circle"/>
          <p:cNvSpPr/>
          <p:nvPr/>
        </p:nvSpPr>
        <p:spPr>
          <a:xfrm>
            <a:off x="8412480" y="2194560"/>
            <a:ext cx="640080" cy="64008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Picture 24" descr="FaRotat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2354579"/>
            <a:ext cx="320040" cy="320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89720" y="2194560"/>
            <a:ext cx="225856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chemeClr val="tx1"/>
                </a:solidFill>
              </a:rPr>
              <a:t>Maintain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108960"/>
            <a:ext cx="2990088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tx1"/>
                </a:solidFill>
              </a:rPr>
              <a:t>Corrected the agent twice?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tx1"/>
                </a:solidFill>
              </a:rPr>
              <a:t>“Add this to CLAUDE.md.”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tx1"/>
                </a:solidFill>
              </a:rPr>
              <a:t>Log each session (§9)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Live: write your CLAUDE.md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No project yet? Use the Part 3 case. Checklist: claude_md_guide.md §9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D · Live activity · 7 minutes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512064" y="1947672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064" y="19476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1920240"/>
            <a:ext cx="67665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Copy project_template/ and rename it (lowercase, no spaces)</a:t>
            </a:r>
          </a:p>
        </p:txBody>
      </p:sp>
      <p:sp>
        <p:nvSpPr>
          <p:cNvPr id="16" name="Oval 15"/>
          <p:cNvSpPr/>
          <p:nvPr/>
        </p:nvSpPr>
        <p:spPr>
          <a:xfrm>
            <a:off x="512064" y="260604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" y="2606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2578608"/>
            <a:ext cx="67665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Open CLAUDE.md and fill in:</a:t>
            </a:r>
          </a:p>
        </p:txBody>
      </p:sp>
      <p:pic>
        <p:nvPicPr>
          <p:cNvPr id="19" name="Picture 18" descr="Fa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3200400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63624" y="3136392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§1 research question, design, data sources (no access details)</a:t>
            </a:r>
          </a:p>
        </p:txBody>
      </p:sp>
      <p:pic>
        <p:nvPicPr>
          <p:cNvPr id="21" name="Picture 20" descr="Fa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3584448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63624" y="352044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§4 your packages</a:t>
            </a:r>
          </a:p>
        </p:txBody>
      </p:sp>
      <p:pic>
        <p:nvPicPr>
          <p:cNvPr id="23" name="Picture 22" descr="Fa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396849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63624" y="3904488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§5 data classification and small-cell threshold</a:t>
            </a:r>
          </a:p>
        </p:txBody>
      </p:sp>
      <p:pic>
        <p:nvPicPr>
          <p:cNvPr id="25" name="Picture 24" descr="Fa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4352544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63624" y="4288536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§6 primary specification (tentative is fine)</a:t>
            </a:r>
          </a:p>
        </p:txBody>
      </p:sp>
      <p:pic>
        <p:nvPicPr>
          <p:cNvPr id="27" name="Picture 26" descr="Fa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4736592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63624" y="4672584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One rule of your own, written so it's checkable</a:t>
            </a:r>
          </a:p>
        </p:txBody>
      </p:sp>
      <p:sp>
        <p:nvSpPr>
          <p:cNvPr id="29" name="Oval 28"/>
          <p:cNvSpPr/>
          <p:nvPr/>
        </p:nvSpPr>
        <p:spPr>
          <a:xfrm>
            <a:off x="512064" y="521208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064" y="52120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" y="5184648"/>
            <a:ext cx="67665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cd into the folder → claude → “Summarize the data-security rules in CLAUDE.md.”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0" y="1920240"/>
            <a:ext cx="3447287" cy="37947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icon_FaStopwatch_circle"/>
          <p:cNvSpPr/>
          <p:nvPr/>
        </p:nvSpPr>
        <p:spPr>
          <a:xfrm>
            <a:off x="9541764" y="2240280"/>
            <a:ext cx="822960" cy="82296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Picture 33" descr="FaStopwatch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7504" y="2446020"/>
            <a:ext cx="411480" cy="4114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503920" y="3246120"/>
            <a:ext cx="28986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1" i="0">
                <a:solidFill>
                  <a:schemeClr val="bg1"/>
                </a:solidFill>
              </a:rPr>
              <a:t>7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069080"/>
            <a:ext cx="2898647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chemeClr val="bg1"/>
                </a:solidFill>
              </a:rPr>
              <a:t>If Claude's summary is wrong or vague, the rule isn't clear enough.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WashU Medicine">
      <a:dk1>
        <a:srgbClr val="000000"/>
      </a:dk1>
      <a:lt1>
        <a:srgbClr val="FFFFFF"/>
      </a:lt1>
      <a:dk2>
        <a:srgbClr val="BA0C2F"/>
      </a:dk2>
      <a:lt2>
        <a:srgbClr val="F5F2EE"/>
      </a:lt2>
      <a:accent1>
        <a:srgbClr val="971B2F"/>
      </a:accent1>
      <a:accent2>
        <a:srgbClr val="D9D9D6"/>
      </a:accent2>
      <a:accent3>
        <a:srgbClr val="215732"/>
      </a:accent3>
      <a:accent4>
        <a:srgbClr val="B5E3D8"/>
      </a:accent4>
      <a:accent5>
        <a:srgbClr val="13322B"/>
      </a:accent5>
      <a:accent6>
        <a:srgbClr val="007D8A"/>
      </a:accent6>
      <a:hlink>
        <a:srgbClr val="BA0C2F"/>
      </a:hlink>
      <a:folHlink>
        <a:srgbClr val="BA0C2F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6"/>
        </a:lnRef>
        <a:fillRef idx="0">
          <a:schemeClr val="accent6"/>
        </a:fillRef>
        <a:effectRef idx="0">
          <a:schemeClr val="accent6"/>
        </a:effectRef>
        <a:fontRef idx="minor">
          <a:schemeClr val="tx1"/>
        </a:fontRef>
      </a:style>
    </a:lnDef>
  </a:objectDefaults>
  <a:extraClrSchemeLst/>
  <a:custClrLst>
    <a:custClr name="WashU Green">
      <a:srgbClr val="215732"/>
    </a:custClr>
    <a:custClr name="Dark Green">
      <a:srgbClr val="13322B"/>
    </a:custClr>
    <a:custClr name="Coral">
      <a:srgbClr val="FF6D6A"/>
    </a:custClr>
    <a:custClr name="Custom Color 4">
      <a:srgbClr val="F1B434"/>
    </a:custClr>
    <a:custClr name="Teal">
      <a:srgbClr val="007D8A"/>
    </a:custClr>
    <a:custClr name="Mint">
      <a:srgbClr val="B5E3D8"/>
    </a:custClr>
    <a:custClr name="Gray">
      <a:srgbClr val="D9D9D6"/>
    </a:custClr>
  </a:custClrLst>
  <a:extLst>
    <a:ext uri="{05A4C25C-085E-4340-85A3-A5531E510DB2}">
      <thm15:themeFamily xmlns:thm15="http://schemas.microsoft.com/office/thememl/2012/main" name="Office Theme" id="{67E72386-5798-4EAD-80CA-990DB467CECF}" vid="{42220F3D-D07F-48BC-873E-53EDB36425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14367</TotalTime>
  <Words>4700</Words>
  <Application>Microsoft Macintosh PowerPoint</Application>
  <PresentationFormat>Widescreen</PresentationFormat>
  <Paragraphs>411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Courier New</vt:lpstr>
      <vt:lpstr>Georgia</vt:lpstr>
      <vt:lpstr>Office Theme</vt:lpstr>
      <vt:lpstr>PowerPoint Presentation</vt:lpstr>
      <vt:lpstr>Access first</vt:lpstr>
      <vt:lpstr>Install on macOS</vt:lpstr>
      <vt:lpstr>Install on Windows</vt:lpstr>
      <vt:lpstr>Verify and sign in</vt:lpstr>
      <vt:lpstr>Mac vs. PC: things to know</vt:lpstr>
      <vt:lpstr>Permission modes: how much it does without asking</vt:lpstr>
      <vt:lpstr>If it didn't work: the top five</vt:lpstr>
      <vt:lpstr>What is MCP?</vt:lpstr>
      <vt:lpstr>Connect Claude to R: mcptools</vt:lpstr>
      <vt:lpstr>Or work in VS Code</vt:lpstr>
      <vt:lpstr>A tool stack that helps</vt:lpstr>
      <vt:lpstr>The project folder</vt:lpstr>
      <vt:lpstr>Names an agent can follow</vt:lpstr>
      <vt:lpstr>Why structure matters to an agent</vt:lpstr>
      <vt:lpstr>CLAUDE.md: memory at two levels</vt:lpstr>
      <vt:lpstr>A user-level rule worth stealing: ask before acting</vt:lpstr>
      <vt:lpstr>Anatomy of a project CLAUDE.md, and rules that work</vt:lpstr>
      <vt:lpstr>What never goes in, and how to draft it</vt:lpstr>
      <vt:lpstr>Live: write your CLAUDE.md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default</dc:creator>
  <cp:lastModifiedBy>Chun, Yung</cp:lastModifiedBy>
  <cp:revision>679</cp:revision>
  <dcterms:created xsi:type="dcterms:W3CDTF">2013-07-09T17:46:55Z</dcterms:created>
  <dcterms:modified xsi:type="dcterms:W3CDTF">2026-10-16T01:32:30Z</dcterms:modified>
</cp:coreProperties>
</file>