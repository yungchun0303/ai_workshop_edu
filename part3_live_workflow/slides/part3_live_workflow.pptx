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4.png"/><Relationship Id="rId4"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8.png"/><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AI-Empowered Research</a:t>
            </a:r>
          </a:p>
        </p:txBody>
      </p:sp>
      <p:sp>
        <p:nvSpPr>
          <p:cNvPr id="3" name="Text Placeholder 2"/>
          <p:cNvSpPr>
            <a:spLocks noGrp="1"/>
          </p:cNvSpPr>
          <p:nvPr>
            <p:ph type="body" idx="14" sz="quarter"/>
          </p:nvPr>
        </p:nvSpPr>
        <p:spPr>
          <a:xfrm>
            <a:off x="3657600" y="4434840"/>
            <a:ext cx="8138160" cy="457200"/>
          </a:xfrm>
        </p:spPr>
        <p:txBody>
          <a:bodyPr/>
          <a:lstStyle/>
          <a:p>
            <a:r>
              <a:rPr sz="2400"/>
              <a:t>Part 3 · Live Workflow: An Education-Policy Study</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Yung Chun · CERP³ · Hillman Hall 130 · 2026-10-16</a:t>
            </a:r>
          </a:p>
        </p:txBody>
      </p:sp>
      <p:pic>
        <p:nvPicPr>
          <p:cNvPr id="5" name="Picture 4" descr="FaTriangleExclamation_red.png"/>
          <p:cNvPicPr>
            <a:picLocks noChangeAspect="1"/>
          </p:cNvPicPr>
          <p:nvPr/>
        </p:nvPicPr>
        <p:blipFill>
          <a:blip r:embed="rId3"/>
          <a:stretch>
            <a:fillRect/>
          </a:stretch>
        </p:blipFill>
        <p:spPr>
          <a:xfrm>
            <a:off x="3657600" y="5577840"/>
            <a:ext cx="310896" cy="310896"/>
          </a:xfrm>
          <a:prstGeom prst="rect">
            <a:avLst/>
          </a:prstGeom>
        </p:spPr>
      </p:pic>
      <p:sp>
        <p:nvSpPr>
          <p:cNvPr id="6" name="TextBox 5"/>
          <p:cNvSpPr txBox="1"/>
          <p:nvPr/>
        </p:nvSpPr>
        <p:spPr>
          <a:xfrm>
            <a:off x="4114800" y="5513832"/>
            <a:ext cx="7680960" cy="438912"/>
          </a:xfrm>
          <a:prstGeom prst="rect">
            <a:avLst/>
          </a:prstGeom>
          <a:noFill/>
        </p:spPr>
        <p:txBody>
          <a:bodyPr wrap="square" lIns="0" rIns="0" tIns="0" bIns="0" anchor="ctr">
            <a:spAutoFit/>
          </a:bodyPr>
          <a:lstStyle/>
          <a:p>
            <a:pPr algn="l"/>
            <a:r>
              <a:rPr sz="1700" b="1" i="0">
                <a:solidFill>
                  <a:schemeClr val="tx2"/>
                </a:solidFill>
              </a:rPr>
              <a:t>All data are synthetic. The results are hypothetical.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starting point</a:t>
            </a:r>
          </a:p>
        </p:txBody>
      </p:sp>
      <p:sp>
        <p:nvSpPr>
          <p:cNvPr id="3" name="Text Placeholder 2"/>
          <p:cNvSpPr>
            <a:spLocks noGrp="1"/>
          </p:cNvSpPr>
          <p:nvPr>
            <p:ph type="body" idx="12" sz="quarter"/>
          </p:nvPr>
        </p:nvSpPr>
        <p:spPr/>
        <p:txBody>
          <a:bodyPr/>
          <a:lstStyle/>
          <a:p>
            <a:r>
              <a:t>A research question, raw data, and five prompts. Nothing else</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code_block"/>
          <p:cNvSpPr/>
          <p:nvPr/>
        </p:nvSpPr>
        <p:spPr>
          <a:xfrm>
            <a:off x="512064" y="1920240"/>
            <a:ext cx="5394960" cy="30175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1920240"/>
            <a:ext cx="5029200" cy="30175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part3_live_workflow/</a:t>
            </a:r>
          </a:p>
          <a:p>
            <a:pPr algn="l">
              <a:spcAft>
                <a:spcPts val="200"/>
              </a:spcAft>
            </a:pPr>
            <a:r>
              <a:rPr sz="1500" b="0" i="0">
                <a:solidFill>
                  <a:srgbClr val="FFFFFF"/>
                </a:solidFill>
                <a:latin typeface="Courier New"/>
              </a:rPr>
              <a:t>├── CLAUDE.md   </a:t>
            </a:r>
            <a:r>
              <a:rPr sz="1500" b="0" i="0">
                <a:solidFill>
                  <a:srgbClr val="9FD3C7"/>
                </a:solidFill>
                <a:latin typeface="Courier New"/>
              </a:rPr>
              <a:t>  # question + rules</a:t>
            </a:r>
          </a:p>
          <a:p>
            <a:pPr algn="l">
              <a:spcAft>
                <a:spcPts val="200"/>
              </a:spcAft>
            </a:pPr>
            <a:r>
              <a:rPr sz="1500" b="0" i="0">
                <a:solidFill>
                  <a:srgbClr val="FFFFFF"/>
                </a:solidFill>
                <a:latin typeface="Courier New"/>
              </a:rPr>
              <a:t>├── prompts/    </a:t>
            </a:r>
            <a:r>
              <a:rPr sz="1500" b="0" i="0">
                <a:solidFill>
                  <a:srgbClr val="9FD3C7"/>
                </a:solidFill>
                <a:latin typeface="Courier New"/>
              </a:rPr>
              <a:t>  # 01 → 05</a:t>
            </a:r>
          </a:p>
          <a:p>
            <a:pPr algn="l">
              <a:spcAft>
                <a:spcPts val="200"/>
              </a:spcAft>
            </a:pPr>
            <a:r>
              <a:rPr sz="1500" b="0" i="0">
                <a:solidFill>
                  <a:srgbClr val="FFFFFF"/>
                </a:solidFill>
                <a:latin typeface="Courier New"/>
              </a:rPr>
              <a:t>├── data_raw/   </a:t>
            </a:r>
            <a:r>
              <a:rPr sz="1500" b="0" i="0">
                <a:solidFill>
                  <a:srgbClr val="9FD3C7"/>
                </a:solidFill>
                <a:latin typeface="Courier New"/>
              </a:rPr>
              <a:t>  # 7 CSVs + codebook</a:t>
            </a:r>
          </a:p>
          <a:p>
            <a:pPr algn="l">
              <a:spcAft>
                <a:spcPts val="200"/>
              </a:spcAft>
            </a:pPr>
            <a:r>
              <a:rPr sz="1500" b="0" i="0">
                <a:solidFill>
                  <a:srgbClr val="FFFFFF"/>
                </a:solidFill>
                <a:latin typeface="Courier New"/>
              </a:rPr>
              <a:t>├── code/       </a:t>
            </a:r>
            <a:r>
              <a:rPr sz="1500" b="0" i="0">
                <a:solidFill>
                  <a:srgbClr val="9FD3C7"/>
                </a:solidFill>
                <a:latin typeface="Courier New"/>
              </a:rPr>
              <a:t>  # empty</a:t>
            </a:r>
          </a:p>
          <a:p>
            <a:pPr algn="l">
              <a:spcAft>
                <a:spcPts val="200"/>
              </a:spcAft>
            </a:pPr>
            <a:r>
              <a:rPr sz="1500" b="0" i="0">
                <a:solidFill>
                  <a:srgbClr val="FFFFFF"/>
                </a:solidFill>
                <a:latin typeface="Courier New"/>
              </a:rPr>
              <a:t>├── data_clean/ </a:t>
            </a:r>
            <a:r>
              <a:rPr sz="1500" b="0" i="0">
                <a:solidFill>
                  <a:srgbClr val="9FD3C7"/>
                </a:solidFill>
                <a:latin typeface="Courier New"/>
              </a:rPr>
              <a:t>  # empty</a:t>
            </a:r>
          </a:p>
          <a:p>
            <a:pPr algn="l">
              <a:spcAft>
                <a:spcPts val="200"/>
              </a:spcAft>
            </a:pPr>
            <a:r>
              <a:rPr sz="1500" b="0" i="0">
                <a:solidFill>
                  <a:srgbClr val="FFFFFF"/>
                </a:solidFill>
                <a:latin typeface="Courier New"/>
              </a:rPr>
              <a:t>├── outputs/    </a:t>
            </a:r>
            <a:r>
              <a:rPr sz="1500" b="0" i="0">
                <a:solidFill>
                  <a:srgbClr val="9FD3C7"/>
                </a:solidFill>
                <a:latin typeface="Courier New"/>
              </a:rPr>
              <a:t>  # empty</a:t>
            </a:r>
          </a:p>
          <a:p>
            <a:pPr algn="l">
              <a:spcAft>
                <a:spcPts val="200"/>
              </a:spcAft>
            </a:pPr>
            <a:r>
              <a:rPr sz="1500" b="0" i="0">
                <a:solidFill>
                  <a:srgbClr val="FFFFFF"/>
                </a:solidFill>
                <a:latin typeface="Courier New"/>
              </a:rPr>
              <a:t>└── writing/    </a:t>
            </a:r>
            <a:r>
              <a:rPr sz="1500" b="0" i="0">
                <a:solidFill>
                  <a:srgbClr val="9FD3C7"/>
                </a:solidFill>
                <a:latin typeface="Courier New"/>
              </a:rPr>
              <a:t>  # empty</a:t>
            </a:r>
          </a:p>
        </p:txBody>
      </p:sp>
      <p:sp>
        <p:nvSpPr>
          <p:cNvPr id="15" name="TextBox 14"/>
          <p:cNvSpPr txBox="1"/>
          <p:nvPr/>
        </p:nvSpPr>
        <p:spPr>
          <a:xfrm>
            <a:off x="512064" y="5074920"/>
            <a:ext cx="5394960" cy="548640"/>
          </a:xfrm>
          <a:prstGeom prst="rect">
            <a:avLst/>
          </a:prstGeom>
          <a:noFill/>
        </p:spPr>
        <p:txBody>
          <a:bodyPr wrap="square" lIns="0" rIns="0" tIns="0" bIns="0" anchor="t">
            <a:spAutoFit/>
          </a:bodyPr>
          <a:lstStyle/>
          <a:p>
            <a:pPr algn="l"/>
            <a:r>
              <a:rPr sz="1500" b="0" i="1">
                <a:solidFill>
                  <a:srgbClr val="5F5F5F"/>
                </a:solidFill>
              </a:rPr>
              <a:t>Everything in the empty folders at the end was produced in this room.</a:t>
            </a:r>
          </a:p>
        </p:txBody>
      </p:sp>
      <p:sp>
        <p:nvSpPr>
          <p:cNvPr id="16" name="Rounded Rectangle 15"/>
          <p:cNvSpPr/>
          <p:nvPr/>
        </p:nvSpPr>
        <p:spPr>
          <a:xfrm>
            <a:off x="6263640" y="1920240"/>
            <a:ext cx="5413248" cy="2697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con_FaCircleQuestion_circle"/>
          <p:cNvSpPr/>
          <p:nvPr/>
        </p:nvSpPr>
        <p:spPr>
          <a:xfrm>
            <a:off x="6537959" y="2176272"/>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aCircleQuestion_white.png"/>
          <p:cNvPicPr>
            <a:picLocks noChangeAspect="1"/>
          </p:cNvPicPr>
          <p:nvPr/>
        </p:nvPicPr>
        <p:blipFill>
          <a:blip r:embed="rId3"/>
          <a:stretch>
            <a:fillRect/>
          </a:stretch>
        </p:blipFill>
        <p:spPr>
          <a:xfrm>
            <a:off x="6675120" y="2313432"/>
            <a:ext cx="274320" cy="274320"/>
          </a:xfrm>
          <a:prstGeom prst="rect">
            <a:avLst/>
          </a:prstGeom>
        </p:spPr>
      </p:pic>
      <p:sp>
        <p:nvSpPr>
          <p:cNvPr id="19" name="TextBox 18"/>
          <p:cNvSpPr txBox="1"/>
          <p:nvPr/>
        </p:nvSpPr>
        <p:spPr>
          <a:xfrm>
            <a:off x="7269479" y="2176272"/>
            <a:ext cx="4224528" cy="548640"/>
          </a:xfrm>
          <a:prstGeom prst="rect">
            <a:avLst/>
          </a:prstGeom>
          <a:noFill/>
        </p:spPr>
        <p:txBody>
          <a:bodyPr wrap="square" lIns="0" rIns="0" tIns="0" bIns="0" anchor="ctr">
            <a:spAutoFit/>
          </a:bodyPr>
          <a:lstStyle/>
          <a:p>
            <a:pPr algn="l"/>
            <a:r>
              <a:rPr sz="1800" b="1" i="0">
                <a:solidFill>
                  <a:schemeClr val="tx1"/>
                </a:solidFill>
              </a:rPr>
              <a:t>Research question</a:t>
            </a:r>
          </a:p>
        </p:txBody>
      </p:sp>
      <p:sp>
        <p:nvSpPr>
          <p:cNvPr id="20" name="TextBox 19"/>
          <p:cNvSpPr txBox="1"/>
          <p:nvPr/>
        </p:nvSpPr>
        <p:spPr>
          <a:xfrm>
            <a:off x="6537959" y="2834640"/>
            <a:ext cx="4864608" cy="1737360"/>
          </a:xfrm>
          <a:prstGeom prst="rect">
            <a:avLst/>
          </a:prstGeom>
          <a:noFill/>
        </p:spPr>
        <p:txBody>
          <a:bodyPr wrap="square" lIns="0" rIns="0" tIns="0" bIns="0" anchor="t">
            <a:spAutoFit/>
          </a:bodyPr>
          <a:lstStyle/>
          <a:p>
            <a:pPr algn="l"/>
            <a:r>
              <a:rPr sz="1500" b="0" i="0">
                <a:solidFill>
                  <a:schemeClr val="tx1"/>
                </a:solidFill>
              </a:rPr>
              <a:t>Did the Choice Neighborhoods Initiative (CNI), which began in 2019 in ZIP 63106 and five schools, (a) change who lives in the neighborhood and (b) raise test scores for students who entered CNI schools or moved in?</a:t>
            </a:r>
          </a:p>
        </p:txBody>
      </p:sp>
      <p:sp>
        <p:nvSpPr>
          <p:cNvPr id="21" name="Rounded Rectangle 20"/>
          <p:cNvSpPr/>
          <p:nvPr/>
        </p:nvSpPr>
        <p:spPr>
          <a:xfrm>
            <a:off x="6263640" y="4800600"/>
            <a:ext cx="5413248" cy="9144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TriangleExclamation_white.png"/>
          <p:cNvPicPr>
            <a:picLocks noChangeAspect="1"/>
          </p:cNvPicPr>
          <p:nvPr/>
        </p:nvPicPr>
        <p:blipFill>
          <a:blip r:embed="rId4"/>
          <a:stretch>
            <a:fillRect/>
          </a:stretch>
        </p:blipFill>
        <p:spPr>
          <a:xfrm>
            <a:off x="6537959" y="5056632"/>
            <a:ext cx="402336" cy="402336"/>
          </a:xfrm>
          <a:prstGeom prst="rect">
            <a:avLst/>
          </a:prstGeom>
        </p:spPr>
      </p:pic>
      <p:sp>
        <p:nvSpPr>
          <p:cNvPr id="23" name="TextBox 22"/>
          <p:cNvSpPr txBox="1"/>
          <p:nvPr/>
        </p:nvSpPr>
        <p:spPr>
          <a:xfrm>
            <a:off x="7132320" y="4800600"/>
            <a:ext cx="4361688" cy="914400"/>
          </a:xfrm>
          <a:prstGeom prst="rect">
            <a:avLst/>
          </a:prstGeom>
          <a:noFill/>
        </p:spPr>
        <p:txBody>
          <a:bodyPr wrap="square" lIns="0" rIns="0" tIns="0" bIns="0" anchor="ctr">
            <a:spAutoFit/>
          </a:bodyPr>
          <a:lstStyle/>
          <a:p>
            <a:pPr algn="l"/>
            <a:r>
              <a:rPr sz="1800" b="1" i="0">
                <a:solidFill>
                  <a:schemeClr val="bg1"/>
                </a:solidFill>
              </a:rPr>
              <a:t>All data are synthetic. The results are hypothetical.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steps, five checkpoints</a:t>
            </a:r>
          </a:p>
        </p:txBody>
      </p:sp>
      <p:sp>
        <p:nvSpPr>
          <p:cNvPr id="3" name="Text Placeholder 2"/>
          <p:cNvSpPr>
            <a:spLocks noGrp="1"/>
          </p:cNvSpPr>
          <p:nvPr>
            <p:ph type="body" idx="12" sz="quarter"/>
          </p:nvPr>
        </p:nvSpPr>
        <p:spPr/>
        <p:txBody>
          <a:bodyPr/>
          <a:lstStyle/>
          <a:p>
            <a:r>
              <a:t>Each prompt ends with: stop and wait for the researcher</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94944"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03120"/>
            <a:ext cx="548640" cy="548640"/>
          </a:xfrm>
          <a:prstGeom prst="rect">
            <a:avLst/>
          </a:prstGeom>
          <a:noFill/>
        </p:spPr>
        <p:txBody>
          <a:bodyPr wrap="square" lIns="0" rIns="0" tIns="0" bIns="0" anchor="ctr">
            <a:spAutoFit/>
          </a:bodyPr>
          <a:lstStyle/>
          <a:p>
            <a:pPr algn="ctr"/>
            <a:r>
              <a:rPr sz="1600" b="1" i="0">
                <a:solidFill>
                  <a:schemeClr val="bg1"/>
                </a:solidFill>
              </a:rPr>
              <a:t>01</a:t>
            </a:r>
          </a:p>
        </p:txBody>
      </p:sp>
      <p:sp>
        <p:nvSpPr>
          <p:cNvPr id="16" name="TextBox 15"/>
          <p:cNvSpPr txBox="1"/>
          <p:nvPr/>
        </p:nvSpPr>
        <p:spPr>
          <a:xfrm>
            <a:off x="1380744" y="2103120"/>
            <a:ext cx="1126540" cy="548640"/>
          </a:xfrm>
          <a:prstGeom prst="rect">
            <a:avLst/>
          </a:prstGeom>
          <a:noFill/>
        </p:spPr>
        <p:txBody>
          <a:bodyPr wrap="square" lIns="0" rIns="0" tIns="0" bIns="0" anchor="ctr">
            <a:spAutoFit/>
          </a:bodyPr>
          <a:lstStyle/>
          <a:p>
            <a:pPr algn="l"/>
            <a:r>
              <a:rPr sz="1800" b="1" i="0">
                <a:solidFill>
                  <a:schemeClr val="tx1"/>
                </a:solidFill>
              </a:rPr>
              <a:t>Data audit</a:t>
            </a:r>
          </a:p>
        </p:txBody>
      </p:sp>
      <p:sp>
        <p:nvSpPr>
          <p:cNvPr id="17" name="TextBox 16"/>
          <p:cNvSpPr txBox="1"/>
          <p:nvPr/>
        </p:nvSpPr>
        <p:spPr>
          <a:xfrm>
            <a:off x="694944"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18" name="TextBox 17"/>
          <p:cNvSpPr txBox="1"/>
          <p:nvPr/>
        </p:nvSpPr>
        <p:spPr>
          <a:xfrm>
            <a:off x="694944" y="3108960"/>
            <a:ext cx="1720900" cy="914400"/>
          </a:xfrm>
          <a:prstGeom prst="rect">
            <a:avLst/>
          </a:prstGeom>
          <a:noFill/>
        </p:spPr>
        <p:txBody>
          <a:bodyPr wrap="square" lIns="0" rIns="0" tIns="0" bIns="0" anchor="t">
            <a:spAutoFit/>
          </a:bodyPr>
          <a:lstStyle/>
          <a:p>
            <a:pPr algn="l"/>
            <a:r>
              <a:rPr sz="1400" b="0" i="0">
                <a:solidFill>
                  <a:schemeClr val="tx1"/>
                </a:solidFill>
              </a:rPr>
              <a:t>An import script and a data audit</a:t>
            </a:r>
          </a:p>
        </p:txBody>
      </p:sp>
      <p:sp>
        <p:nvSpPr>
          <p:cNvPr id="19" name="TextBox 18"/>
          <p:cNvSpPr txBox="1"/>
          <p:nvPr/>
        </p:nvSpPr>
        <p:spPr>
          <a:xfrm>
            <a:off x="694944"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20" name="TextBox 19"/>
          <p:cNvSpPr txBox="1"/>
          <p:nvPr/>
        </p:nvSpPr>
        <p:spPr>
          <a:xfrm>
            <a:off x="694944" y="4297680"/>
            <a:ext cx="1720900" cy="731520"/>
          </a:xfrm>
          <a:prstGeom prst="rect">
            <a:avLst/>
          </a:prstGeom>
          <a:noFill/>
        </p:spPr>
        <p:txBody>
          <a:bodyPr wrap="square" lIns="0" rIns="0" tIns="0" bIns="0" anchor="t">
            <a:spAutoFit/>
          </a:bodyPr>
          <a:lstStyle/>
          <a:p>
            <a:pPr algn="l"/>
            <a:r>
              <a:rPr sz="1500" b="1" i="0">
                <a:solidFill>
                  <a:schemeClr val="tx2"/>
                </a:solidFill>
              </a:rPr>
              <a:t>How to fix each issue</a:t>
            </a:r>
          </a:p>
        </p:txBody>
      </p:sp>
      <p:sp>
        <p:nvSpPr>
          <p:cNvPr id="21" name="Rounded Rectangle 20"/>
          <p:cNvSpPr/>
          <p:nvPr/>
        </p:nvSpPr>
        <p:spPr>
          <a:xfrm>
            <a:off x="2781604"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2964484"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964484" y="2103120"/>
            <a:ext cx="548640" cy="548640"/>
          </a:xfrm>
          <a:prstGeom prst="rect">
            <a:avLst/>
          </a:prstGeom>
          <a:noFill/>
        </p:spPr>
        <p:txBody>
          <a:bodyPr wrap="square" lIns="0" rIns="0" tIns="0" bIns="0" anchor="ctr">
            <a:spAutoFit/>
          </a:bodyPr>
          <a:lstStyle/>
          <a:p>
            <a:pPr algn="ctr"/>
            <a:r>
              <a:rPr sz="1600" b="1" i="0">
                <a:solidFill>
                  <a:schemeClr val="bg1"/>
                </a:solidFill>
              </a:rPr>
              <a:t>02</a:t>
            </a:r>
          </a:p>
        </p:txBody>
      </p:sp>
      <p:sp>
        <p:nvSpPr>
          <p:cNvPr id="24" name="TextBox 23"/>
          <p:cNvSpPr txBox="1"/>
          <p:nvPr/>
        </p:nvSpPr>
        <p:spPr>
          <a:xfrm>
            <a:off x="3650284" y="2103120"/>
            <a:ext cx="1126540" cy="548640"/>
          </a:xfrm>
          <a:prstGeom prst="rect">
            <a:avLst/>
          </a:prstGeom>
          <a:noFill/>
        </p:spPr>
        <p:txBody>
          <a:bodyPr wrap="square" lIns="0" rIns="0" tIns="0" bIns="0" anchor="ctr">
            <a:spAutoFit/>
          </a:bodyPr>
          <a:lstStyle/>
          <a:p>
            <a:pPr algn="l"/>
            <a:r>
              <a:rPr sz="1800" b="1" i="0">
                <a:solidFill>
                  <a:schemeClr val="tx1"/>
                </a:solidFill>
              </a:rPr>
              <a:t>Cleaning</a:t>
            </a:r>
          </a:p>
        </p:txBody>
      </p:sp>
      <p:sp>
        <p:nvSpPr>
          <p:cNvPr id="25" name="TextBox 24"/>
          <p:cNvSpPr txBox="1"/>
          <p:nvPr/>
        </p:nvSpPr>
        <p:spPr>
          <a:xfrm>
            <a:off x="2964484"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26" name="TextBox 25"/>
          <p:cNvSpPr txBox="1"/>
          <p:nvPr/>
        </p:nvSpPr>
        <p:spPr>
          <a:xfrm>
            <a:off x="2964484" y="3108960"/>
            <a:ext cx="1720900" cy="914400"/>
          </a:xfrm>
          <a:prstGeom prst="rect">
            <a:avLst/>
          </a:prstGeom>
          <a:noFill/>
        </p:spPr>
        <p:txBody>
          <a:bodyPr wrap="square" lIns="0" rIns="0" tIns="0" bIns="0" anchor="t">
            <a:spAutoFit/>
          </a:bodyPr>
          <a:lstStyle/>
          <a:p>
            <a:pPr algn="l"/>
            <a:r>
              <a:rPr sz="1400" b="0" i="0">
                <a:solidFill>
                  <a:schemeClr val="tx1"/>
                </a:solidFill>
              </a:rPr>
              <a:t>1000-series scripts, clean .rds files, a cleaning log</a:t>
            </a:r>
          </a:p>
        </p:txBody>
      </p:sp>
      <p:sp>
        <p:nvSpPr>
          <p:cNvPr id="27" name="TextBox 26"/>
          <p:cNvSpPr txBox="1"/>
          <p:nvPr/>
        </p:nvSpPr>
        <p:spPr>
          <a:xfrm>
            <a:off x="2964484"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28" name="TextBox 27"/>
          <p:cNvSpPr txBox="1"/>
          <p:nvPr/>
        </p:nvSpPr>
        <p:spPr>
          <a:xfrm>
            <a:off x="2964484" y="4297680"/>
            <a:ext cx="1720900" cy="731520"/>
          </a:xfrm>
          <a:prstGeom prst="rect">
            <a:avLst/>
          </a:prstGeom>
          <a:noFill/>
        </p:spPr>
        <p:txBody>
          <a:bodyPr wrap="square" lIns="0" rIns="0" tIns="0" bIns="0" anchor="t">
            <a:spAutoFit/>
          </a:bodyPr>
          <a:lstStyle/>
          <a:p>
            <a:pPr algn="l"/>
            <a:r>
              <a:rPr sz="1500" b="1" i="0">
                <a:solidFill>
                  <a:schemeClr val="tx2"/>
                </a:solidFill>
              </a:rPr>
              <a:t>Whether the clean data look right</a:t>
            </a:r>
          </a:p>
        </p:txBody>
      </p:sp>
      <p:sp>
        <p:nvSpPr>
          <p:cNvPr id="29" name="Rounded Rectangle 28"/>
          <p:cNvSpPr/>
          <p:nvPr/>
        </p:nvSpPr>
        <p:spPr>
          <a:xfrm>
            <a:off x="5051145" y="1920240"/>
            <a:ext cx="2086660" cy="31546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5234025"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34025" y="2103120"/>
            <a:ext cx="548640" cy="548640"/>
          </a:xfrm>
          <a:prstGeom prst="rect">
            <a:avLst/>
          </a:prstGeom>
          <a:noFill/>
        </p:spPr>
        <p:txBody>
          <a:bodyPr wrap="square" lIns="0" rIns="0" tIns="0" bIns="0" anchor="ctr">
            <a:spAutoFit/>
          </a:bodyPr>
          <a:lstStyle/>
          <a:p>
            <a:pPr algn="ctr"/>
            <a:r>
              <a:rPr sz="1600" b="1" i="0">
                <a:solidFill>
                  <a:schemeClr val="bg1"/>
                </a:solidFill>
              </a:rPr>
              <a:t>03</a:t>
            </a:r>
          </a:p>
        </p:txBody>
      </p:sp>
      <p:sp>
        <p:nvSpPr>
          <p:cNvPr id="32" name="TextBox 31"/>
          <p:cNvSpPr txBox="1"/>
          <p:nvPr/>
        </p:nvSpPr>
        <p:spPr>
          <a:xfrm>
            <a:off x="5919825" y="2103120"/>
            <a:ext cx="1126540" cy="548640"/>
          </a:xfrm>
          <a:prstGeom prst="rect">
            <a:avLst/>
          </a:prstGeom>
          <a:noFill/>
        </p:spPr>
        <p:txBody>
          <a:bodyPr wrap="square" lIns="0" rIns="0" tIns="0" bIns="0" anchor="ctr">
            <a:spAutoFit/>
          </a:bodyPr>
          <a:lstStyle/>
          <a:p>
            <a:pPr algn="l"/>
            <a:r>
              <a:rPr sz="1800" b="1" i="0">
                <a:solidFill>
                  <a:schemeClr val="tx1"/>
                </a:solidFill>
              </a:rPr>
              <a:t>Strategy</a:t>
            </a:r>
          </a:p>
        </p:txBody>
      </p:sp>
      <p:sp>
        <p:nvSpPr>
          <p:cNvPr id="33" name="TextBox 32"/>
          <p:cNvSpPr txBox="1"/>
          <p:nvPr/>
        </p:nvSpPr>
        <p:spPr>
          <a:xfrm>
            <a:off x="5234025"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34" name="TextBox 33"/>
          <p:cNvSpPr txBox="1"/>
          <p:nvPr/>
        </p:nvSpPr>
        <p:spPr>
          <a:xfrm>
            <a:off x="5234025" y="3108960"/>
            <a:ext cx="1720900" cy="914400"/>
          </a:xfrm>
          <a:prstGeom prst="rect">
            <a:avLst/>
          </a:prstGeom>
          <a:noFill/>
        </p:spPr>
        <p:txBody>
          <a:bodyPr wrap="square" lIns="0" rIns="0" tIns="0" bIns="0" anchor="t">
            <a:spAutoFit/>
          </a:bodyPr>
          <a:lstStyle/>
          <a:p>
            <a:pPr algn="l"/>
            <a:r>
              <a:rPr sz="1400" b="0" i="0">
                <a:solidFill>
                  <a:schemeClr val="tx1"/>
                </a:solidFill>
              </a:rPr>
              <a:t>An analysis plan (in plan mode)</a:t>
            </a:r>
          </a:p>
        </p:txBody>
      </p:sp>
      <p:sp>
        <p:nvSpPr>
          <p:cNvPr id="35" name="TextBox 34"/>
          <p:cNvSpPr txBox="1"/>
          <p:nvPr/>
        </p:nvSpPr>
        <p:spPr>
          <a:xfrm>
            <a:off x="5234025"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36" name="TextBox 35"/>
          <p:cNvSpPr txBox="1"/>
          <p:nvPr/>
        </p:nvSpPr>
        <p:spPr>
          <a:xfrm>
            <a:off x="5234025" y="4297680"/>
            <a:ext cx="1720900" cy="731520"/>
          </a:xfrm>
          <a:prstGeom prst="rect">
            <a:avLst/>
          </a:prstGeom>
          <a:noFill/>
        </p:spPr>
        <p:txBody>
          <a:bodyPr wrap="square" lIns="0" rIns="0" tIns="0" bIns="0" anchor="t">
            <a:spAutoFit/>
          </a:bodyPr>
          <a:lstStyle/>
          <a:p>
            <a:pPr algn="l"/>
            <a:r>
              <a:rPr sz="1500" b="1" i="0">
                <a:solidFill>
                  <a:schemeClr val="tx2"/>
                </a:solidFill>
              </a:rPr>
              <a:t>Which design</a:t>
            </a:r>
          </a:p>
        </p:txBody>
      </p:sp>
      <p:sp>
        <p:nvSpPr>
          <p:cNvPr id="37" name="Rounded Rectangle 36"/>
          <p:cNvSpPr/>
          <p:nvPr/>
        </p:nvSpPr>
        <p:spPr>
          <a:xfrm>
            <a:off x="7320686"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503566"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03566" y="2103120"/>
            <a:ext cx="548640" cy="548640"/>
          </a:xfrm>
          <a:prstGeom prst="rect">
            <a:avLst/>
          </a:prstGeom>
          <a:noFill/>
        </p:spPr>
        <p:txBody>
          <a:bodyPr wrap="square" lIns="0" rIns="0" tIns="0" bIns="0" anchor="ctr">
            <a:spAutoFit/>
          </a:bodyPr>
          <a:lstStyle/>
          <a:p>
            <a:pPr algn="ctr"/>
            <a:r>
              <a:rPr sz="1600" b="1" i="0">
                <a:solidFill>
                  <a:schemeClr val="bg1"/>
                </a:solidFill>
              </a:rPr>
              <a:t>04</a:t>
            </a:r>
          </a:p>
        </p:txBody>
      </p:sp>
      <p:sp>
        <p:nvSpPr>
          <p:cNvPr id="40" name="TextBox 39"/>
          <p:cNvSpPr txBox="1"/>
          <p:nvPr/>
        </p:nvSpPr>
        <p:spPr>
          <a:xfrm>
            <a:off x="8189366" y="2103120"/>
            <a:ext cx="1126540" cy="548640"/>
          </a:xfrm>
          <a:prstGeom prst="rect">
            <a:avLst/>
          </a:prstGeom>
          <a:noFill/>
        </p:spPr>
        <p:txBody>
          <a:bodyPr wrap="square" lIns="0" rIns="0" tIns="0" bIns="0" anchor="ctr">
            <a:spAutoFit/>
          </a:bodyPr>
          <a:lstStyle/>
          <a:p>
            <a:pPr algn="l"/>
            <a:r>
              <a:rPr sz="1800" b="1" i="0">
                <a:solidFill>
                  <a:schemeClr val="tx1"/>
                </a:solidFill>
              </a:rPr>
              <a:t>Analysis</a:t>
            </a:r>
          </a:p>
        </p:txBody>
      </p:sp>
      <p:sp>
        <p:nvSpPr>
          <p:cNvPr id="41" name="TextBox 40"/>
          <p:cNvSpPr txBox="1"/>
          <p:nvPr/>
        </p:nvSpPr>
        <p:spPr>
          <a:xfrm>
            <a:off x="7503566"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42" name="TextBox 41"/>
          <p:cNvSpPr txBox="1"/>
          <p:nvPr/>
        </p:nvSpPr>
        <p:spPr>
          <a:xfrm>
            <a:off x="7503566" y="3108960"/>
            <a:ext cx="1720900" cy="914400"/>
          </a:xfrm>
          <a:prstGeom prst="rect">
            <a:avLst/>
          </a:prstGeom>
          <a:noFill/>
        </p:spPr>
        <p:txBody>
          <a:bodyPr wrap="square" lIns="0" rIns="0" tIns="0" bIns="0" anchor="t">
            <a:spAutoFit/>
          </a:bodyPr>
          <a:lstStyle/>
          <a:p>
            <a:pPr algn="l"/>
            <a:r>
              <a:rPr sz="1400" b="0" i="0">
                <a:solidFill>
                  <a:schemeClr val="tx1"/>
                </a:solidFill>
              </a:rPr>
              <a:t>2000/3000 scripts, figures and tables</a:t>
            </a:r>
          </a:p>
        </p:txBody>
      </p:sp>
      <p:sp>
        <p:nvSpPr>
          <p:cNvPr id="43" name="TextBox 42"/>
          <p:cNvSpPr txBox="1"/>
          <p:nvPr/>
        </p:nvSpPr>
        <p:spPr>
          <a:xfrm>
            <a:off x="7503566"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44" name="TextBox 43"/>
          <p:cNvSpPr txBox="1"/>
          <p:nvPr/>
        </p:nvSpPr>
        <p:spPr>
          <a:xfrm>
            <a:off x="7503566" y="4297680"/>
            <a:ext cx="1720900" cy="731520"/>
          </a:xfrm>
          <a:prstGeom prst="rect">
            <a:avLst/>
          </a:prstGeom>
          <a:noFill/>
        </p:spPr>
        <p:txBody>
          <a:bodyPr wrap="square" lIns="0" rIns="0" tIns="0" bIns="0" anchor="t">
            <a:spAutoFit/>
          </a:bodyPr>
          <a:lstStyle/>
          <a:p>
            <a:pPr algn="l"/>
            <a:r>
              <a:rPr sz="1500" b="1" i="0">
                <a:solidFill>
                  <a:schemeClr val="tx2"/>
                </a:solidFill>
              </a:rPr>
              <a:t>Whether results are plausible</a:t>
            </a:r>
          </a:p>
        </p:txBody>
      </p:sp>
      <p:sp>
        <p:nvSpPr>
          <p:cNvPr id="45" name="Rounded Rectangle 44"/>
          <p:cNvSpPr/>
          <p:nvPr/>
        </p:nvSpPr>
        <p:spPr>
          <a:xfrm>
            <a:off x="9590227"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9773107"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773107" y="2103120"/>
            <a:ext cx="548640" cy="548640"/>
          </a:xfrm>
          <a:prstGeom prst="rect">
            <a:avLst/>
          </a:prstGeom>
          <a:noFill/>
        </p:spPr>
        <p:txBody>
          <a:bodyPr wrap="square" lIns="0" rIns="0" tIns="0" bIns="0" anchor="ctr">
            <a:spAutoFit/>
          </a:bodyPr>
          <a:lstStyle/>
          <a:p>
            <a:pPr algn="ctr"/>
            <a:r>
              <a:rPr sz="1600" b="1" i="0">
                <a:solidFill>
                  <a:schemeClr val="bg1"/>
                </a:solidFill>
              </a:rPr>
              <a:t>05</a:t>
            </a:r>
          </a:p>
        </p:txBody>
      </p:sp>
      <p:sp>
        <p:nvSpPr>
          <p:cNvPr id="48" name="TextBox 47"/>
          <p:cNvSpPr txBox="1"/>
          <p:nvPr/>
        </p:nvSpPr>
        <p:spPr>
          <a:xfrm>
            <a:off x="10458907" y="2103120"/>
            <a:ext cx="1126540" cy="548640"/>
          </a:xfrm>
          <a:prstGeom prst="rect">
            <a:avLst/>
          </a:prstGeom>
          <a:noFill/>
        </p:spPr>
        <p:txBody>
          <a:bodyPr wrap="square" lIns="0" rIns="0" tIns="0" bIns="0" anchor="ctr">
            <a:spAutoFit/>
          </a:bodyPr>
          <a:lstStyle/>
          <a:p>
            <a:pPr algn="l"/>
            <a:r>
              <a:rPr sz="1800" b="1" i="0">
                <a:solidFill>
                  <a:schemeClr val="tx1"/>
                </a:solidFill>
              </a:rPr>
              <a:t>Brief</a:t>
            </a:r>
          </a:p>
        </p:txBody>
      </p:sp>
      <p:sp>
        <p:nvSpPr>
          <p:cNvPr id="49" name="TextBox 48"/>
          <p:cNvSpPr txBox="1"/>
          <p:nvPr/>
        </p:nvSpPr>
        <p:spPr>
          <a:xfrm>
            <a:off x="9773107"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50" name="TextBox 49"/>
          <p:cNvSpPr txBox="1"/>
          <p:nvPr/>
        </p:nvSpPr>
        <p:spPr>
          <a:xfrm>
            <a:off x="9773107" y="3108960"/>
            <a:ext cx="1720900" cy="914400"/>
          </a:xfrm>
          <a:prstGeom prst="rect">
            <a:avLst/>
          </a:prstGeom>
          <a:noFill/>
        </p:spPr>
        <p:txBody>
          <a:bodyPr wrap="square" lIns="0" rIns="0" tIns="0" bIns="0" anchor="t">
            <a:spAutoFit/>
          </a:bodyPr>
          <a:lstStyle/>
          <a:p>
            <a:pPr algn="l"/>
            <a:r>
              <a:rPr sz="1400" b="0" i="0">
                <a:solidFill>
                  <a:schemeClr val="tx1"/>
                </a:solidFill>
              </a:rPr>
              <a:t>A manuscript brief</a:t>
            </a:r>
          </a:p>
        </p:txBody>
      </p:sp>
      <p:sp>
        <p:nvSpPr>
          <p:cNvPr id="51" name="TextBox 50"/>
          <p:cNvSpPr txBox="1"/>
          <p:nvPr/>
        </p:nvSpPr>
        <p:spPr>
          <a:xfrm>
            <a:off x="9773107"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52" name="TextBox 51"/>
          <p:cNvSpPr txBox="1"/>
          <p:nvPr/>
        </p:nvSpPr>
        <p:spPr>
          <a:xfrm>
            <a:off x="9773107" y="4297680"/>
            <a:ext cx="1720900" cy="731520"/>
          </a:xfrm>
          <a:prstGeom prst="rect">
            <a:avLst/>
          </a:prstGeom>
          <a:noFill/>
        </p:spPr>
        <p:txBody>
          <a:bodyPr wrap="square" lIns="0" rIns="0" tIns="0" bIns="0" anchor="t">
            <a:spAutoFit/>
          </a:bodyPr>
          <a:lstStyle/>
          <a:p>
            <a:pPr algn="l"/>
            <a:r>
              <a:rPr sz="1500" b="1" i="0">
                <a:solidFill>
                  <a:schemeClr val="tx2"/>
                </a:solidFill>
              </a:rPr>
              <a:t>Framing, interpretation, claims</a:t>
            </a:r>
          </a:p>
        </p:txBody>
      </p:sp>
      <p:sp>
        <p:nvSpPr>
          <p:cNvPr id="53" name="Rounded Rectangle 52"/>
          <p:cNvSpPr/>
          <p:nvPr/>
        </p:nvSpPr>
        <p:spPr>
          <a:xfrm>
            <a:off x="512064" y="5257800"/>
            <a:ext cx="11164824" cy="548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86384" y="5257800"/>
            <a:ext cx="10616184" cy="548640"/>
          </a:xfrm>
          <a:prstGeom prst="rect">
            <a:avLst/>
          </a:prstGeom>
          <a:noFill/>
        </p:spPr>
        <p:txBody>
          <a:bodyPr wrap="square" lIns="0" rIns="0" tIns="0" bIns="0" anchor="ctr">
            <a:spAutoFit/>
          </a:bodyPr>
          <a:lstStyle/>
          <a:p>
            <a:pPr algn="l"/>
            <a:r>
              <a:rPr sz="1500" b="1" i="0">
                <a:solidFill>
                  <a:schemeClr val="bg1"/>
                </a:solidFill>
              </a:rPr>
              <a:t>Standing rules → </a:t>
            </a:r>
            <a:r>
              <a:rPr sz="1500" b="0" i="0">
                <a:solidFill>
                  <a:schemeClr val="bg1"/>
                </a:solidFill>
                <a:latin typeface="Courier New"/>
              </a:rPr>
              <a:t>CLAUDE.md</a:t>
            </a:r>
            <a:r>
              <a:rPr sz="1500" b="1" i="0">
                <a:solidFill>
                  <a:schemeClr val="bg1"/>
                </a:solidFill>
              </a:rPr>
              <a:t>      Step instructions → </a:t>
            </a:r>
            <a:r>
              <a:rPr sz="1500" b="0" i="0">
                <a:solidFill>
                  <a:schemeClr val="bg1"/>
                </a:solidFill>
                <a:latin typeface="Courier New"/>
              </a:rPr>
              <a:t>prompts/</a:t>
            </a:r>
            <a:r>
              <a:rPr sz="1500" b="1" i="0">
                <a:solidFill>
                  <a:schemeClr val="bg1"/>
                </a:solidFill>
              </a:rPr>
              <a:t>      Run: </a:t>
            </a:r>
            <a:r>
              <a:rPr sz="1500" b="0" i="0">
                <a:solidFill>
                  <a:schemeClr val="bg1"/>
                </a:solidFill>
                <a:latin typeface="Courier New"/>
              </a:rPr>
              <a:t>Follow @prompts/01_data_audit.md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audit</a:t>
            </a:r>
          </a:p>
        </p:txBody>
      </p:sp>
      <p:sp>
        <p:nvSpPr>
          <p:cNvPr id="3" name="Text Placeholder 2"/>
          <p:cNvSpPr>
            <a:spLocks noGrp="1"/>
          </p:cNvSpPr>
          <p:nvPr>
            <p:ph type="body" idx="12" sz="quarter"/>
          </p:nvPr>
        </p:nvSpPr>
        <p:spPr/>
        <p:txBody>
          <a:bodyPr/>
          <a:lstStyle/>
          <a:p>
            <a:r>
              <a:t>Read before writing. Report each problem with a count, not a record</a:t>
            </a:r>
          </a:p>
        </p:txBody>
      </p:sp>
      <p:sp>
        <p:nvSpPr>
          <p:cNvPr id="4" name="Text Placeholder 3"/>
          <p:cNvSpPr>
            <a:spLocks noGrp="1"/>
          </p:cNvSpPr>
          <p:nvPr>
            <p:ph type="body" idx="14" sz="quarter"/>
          </p:nvPr>
        </p:nvSpPr>
        <p:spPr/>
        <p:txBody>
          <a:bodyPr/>
          <a:lstStyle/>
          <a:p>
            <a:r>
              <a:t>Part 3 · Live workflow · step 01</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01</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6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@prompts/01_data_audit.md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code/0000_import.Rmd (inspection only)</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writing/data_audit.md: inventory and links</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Each issue with evidence (a count) and a fix</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Open questions for the researcher</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Issues the codebook doesn't mention: mid-year movers, ZIP+4 and blank ZIPs, out-of-area students, no 2020 tests…</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Approve, change, or reject each proposed fix.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a:t>
            </a:r>
          </a:p>
        </p:txBody>
      </p:sp>
      <p:sp>
        <p:nvSpPr>
          <p:cNvPr id="3" name="Text Placeholder 2"/>
          <p:cNvSpPr>
            <a:spLocks noGrp="1"/>
          </p:cNvSpPr>
          <p:nvPr>
            <p:ph type="body" idx="12" sz="quarter"/>
          </p:nvPr>
        </p:nvSpPr>
        <p:spPr/>
        <p:txBody>
          <a:bodyPr/>
          <a:lstStyle/>
          <a:p>
            <a:r>
              <a:t>Apply exactly the approved fixes, and nothing else</a:t>
            </a:r>
          </a:p>
        </p:txBody>
      </p:sp>
      <p:sp>
        <p:nvSpPr>
          <p:cNvPr id="4" name="Text Placeholder 3"/>
          <p:cNvSpPr>
            <a:spLocks noGrp="1"/>
          </p:cNvSpPr>
          <p:nvPr>
            <p:ph type="body" idx="14" sz="quarter"/>
          </p:nvPr>
        </p:nvSpPr>
        <p:spPr/>
        <p:txBody>
          <a:bodyPr/>
          <a:lstStyle/>
          <a:p>
            <a:r>
              <a:t>Part 3 · Live workflow · step 02</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02</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@prompts/02_data_cleaning.md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One row per student-year, with treatment timing</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A ZIP-year panel for the neighborhood question</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A cleaning log: rows and students after each step</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Checks that stop the script if keys aren't unique</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data_raw/ is never touched. Only 1000-series scripts write to data_clean/.</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Do the clean data look right? About 4,000 students, minus a few blank ZIPs.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Empirical strategy</a:t>
            </a:r>
          </a:p>
        </p:txBody>
      </p:sp>
      <p:sp>
        <p:nvSpPr>
          <p:cNvPr id="3" name="Text Placeholder 2"/>
          <p:cNvSpPr>
            <a:spLocks noGrp="1"/>
          </p:cNvSpPr>
          <p:nvPr>
            <p:ph type="body" idx="12" sz="quarter"/>
          </p:nvPr>
        </p:nvSpPr>
        <p:spPr/>
        <p:txBody>
          <a:bodyPr/>
          <a:lstStyle/>
          <a:p>
            <a:r>
              <a:t>Claude can read and think, but can't edit anything</a:t>
            </a:r>
          </a:p>
        </p:txBody>
      </p:sp>
      <p:sp>
        <p:nvSpPr>
          <p:cNvPr id="4" name="Text Placeholder 3"/>
          <p:cNvSpPr>
            <a:spLocks noGrp="1"/>
          </p:cNvSpPr>
          <p:nvPr>
            <p:ph type="body" idx="14" sz="quarter"/>
          </p:nvPr>
        </p:nvSpPr>
        <p:spPr/>
        <p:txBody>
          <a:bodyPr/>
          <a:lstStyle/>
          <a:p>
            <a:r>
              <a:t>Part 3 · Live workflow · step 03</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03</a:t>
            </a:r>
          </a:p>
        </p:txBody>
      </p:sp>
      <p:sp>
        <p:nvSpPr>
          <p:cNvPr id="15" name="Rounded Rectangle 14"/>
          <p:cNvSpPr/>
          <p:nvPr/>
        </p:nvSpPr>
        <p:spPr>
          <a:xfrm>
            <a:off x="1426464" y="2057400"/>
            <a:ext cx="3017520" cy="457200"/>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426464" y="2057400"/>
            <a:ext cx="3017520" cy="457200"/>
          </a:xfrm>
          <a:prstGeom prst="rect">
            <a:avLst/>
          </a:prstGeom>
          <a:noFill/>
        </p:spPr>
        <p:txBody>
          <a:bodyPr wrap="square" lIns="0" rIns="0" tIns="0" bIns="0" anchor="ctr">
            <a:spAutoFit/>
          </a:bodyPr>
          <a:lstStyle/>
          <a:p>
            <a:pPr algn="ctr"/>
            <a:r>
              <a:rPr sz="1400" b="1" i="0">
                <a:solidFill>
                  <a:schemeClr val="bg1"/>
                </a:solidFill>
              </a:rPr>
              <a:t>Shift+Tab → plan mode first</a:t>
            </a:r>
          </a:p>
        </p:txBody>
      </p:sp>
      <p:sp>
        <p:nvSpPr>
          <p:cNvPr id="17" name="Rounded Rectangle 16"/>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9"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@prompts/03_empirical_strategy.md</a:t>
            </a:r>
          </a:p>
        </p:txBody>
      </p:sp>
      <p:sp>
        <p:nvSpPr>
          <p:cNvPr id="21" name="Rounded Rectangle 20"/>
          <p:cNvSpPr/>
          <p:nvPr/>
        </p:nvSpPr>
        <p:spPr>
          <a:xfrm>
            <a:off x="512064" y="3611880"/>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_FaListOl_circle"/>
          <p:cNvSpPr/>
          <p:nvPr/>
        </p:nvSpPr>
        <p:spPr>
          <a:xfrm>
            <a:off x="676656" y="3703320"/>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ListOl_white.png"/>
          <p:cNvPicPr>
            <a:picLocks noChangeAspect="1"/>
          </p:cNvPicPr>
          <p:nvPr/>
        </p:nvPicPr>
        <p:blipFill>
          <a:blip r:embed="rId3"/>
          <a:stretch>
            <a:fillRect/>
          </a:stretch>
        </p:blipFill>
        <p:spPr>
          <a:xfrm>
            <a:off x="777240" y="3803904"/>
            <a:ext cx="201168" cy="201168"/>
          </a:xfrm>
          <a:prstGeom prst="rect">
            <a:avLst/>
          </a:prstGeom>
        </p:spPr>
      </p:pic>
      <p:sp>
        <p:nvSpPr>
          <p:cNvPr id="24" name="TextBox 23"/>
          <p:cNvSpPr txBox="1"/>
          <p:nvPr/>
        </p:nvSpPr>
        <p:spPr>
          <a:xfrm>
            <a:off x="1216152" y="3611880"/>
            <a:ext cx="5440679" cy="585216"/>
          </a:xfrm>
          <a:prstGeom prst="rect">
            <a:avLst/>
          </a:prstGeom>
          <a:noFill/>
        </p:spPr>
        <p:txBody>
          <a:bodyPr wrap="square" lIns="0" rIns="0" tIns="0" bIns="0" anchor="ctr">
            <a:spAutoFit/>
          </a:bodyPr>
          <a:lstStyle/>
          <a:p>
            <a:pPr algn="l"/>
            <a:r>
              <a:rPr sz="1600" b="0" i="0">
                <a:solidFill>
                  <a:schemeClr val="tx1"/>
                </a:solidFill>
              </a:rPr>
              <a:t>2–3 candidate designs per question</a:t>
            </a:r>
          </a:p>
        </p:txBody>
      </p:sp>
      <p:sp>
        <p:nvSpPr>
          <p:cNvPr id="25" name="Rounded Rectangle 24"/>
          <p:cNvSpPr/>
          <p:nvPr/>
        </p:nvSpPr>
        <p:spPr>
          <a:xfrm>
            <a:off x="512064" y="4325112"/>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_FaFlask_circle"/>
          <p:cNvSpPr/>
          <p:nvPr/>
        </p:nvSpPr>
        <p:spPr>
          <a:xfrm>
            <a:off x="676656" y="4416552"/>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Flask_white.png"/>
          <p:cNvPicPr>
            <a:picLocks noChangeAspect="1"/>
          </p:cNvPicPr>
          <p:nvPr/>
        </p:nvPicPr>
        <p:blipFill>
          <a:blip r:embed="rId4"/>
          <a:stretch>
            <a:fillRect/>
          </a:stretch>
        </p:blipFill>
        <p:spPr>
          <a:xfrm>
            <a:off x="777240" y="4517136"/>
            <a:ext cx="201168" cy="201168"/>
          </a:xfrm>
          <a:prstGeom prst="rect">
            <a:avLst/>
          </a:prstGeom>
        </p:spPr>
      </p:pic>
      <p:sp>
        <p:nvSpPr>
          <p:cNvPr id="28" name="TextBox 27"/>
          <p:cNvSpPr txBox="1"/>
          <p:nvPr/>
        </p:nvSpPr>
        <p:spPr>
          <a:xfrm>
            <a:off x="1216152" y="4325112"/>
            <a:ext cx="5440679" cy="585216"/>
          </a:xfrm>
          <a:prstGeom prst="rect">
            <a:avLst/>
          </a:prstGeom>
          <a:noFill/>
        </p:spPr>
        <p:txBody>
          <a:bodyPr wrap="square" lIns="0" rIns="0" tIns="0" bIns="0" anchor="ctr">
            <a:spAutoFit/>
          </a:bodyPr>
          <a:lstStyle/>
          <a:p>
            <a:pPr algn="l"/>
            <a:r>
              <a:rPr sz="1600" b="0" i="0">
                <a:solidFill>
                  <a:schemeClr val="tx1"/>
                </a:solidFill>
              </a:rPr>
              <a:t>Assumption · how to check it · threats</a:t>
            </a:r>
          </a:p>
        </p:txBody>
      </p:sp>
      <p:sp>
        <p:nvSpPr>
          <p:cNvPr id="29" name="Rounded Rectangle 28"/>
          <p:cNvSpPr/>
          <p:nvPr/>
        </p:nvSpPr>
        <p:spPr>
          <a:xfrm>
            <a:off x="512064" y="5038344"/>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icon_FaLightbulb_circle"/>
          <p:cNvSpPr/>
          <p:nvPr/>
        </p:nvSpPr>
        <p:spPr>
          <a:xfrm>
            <a:off x="676656" y="5129783"/>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FaLightbulb_white.png"/>
          <p:cNvPicPr>
            <a:picLocks noChangeAspect="1"/>
          </p:cNvPicPr>
          <p:nvPr/>
        </p:nvPicPr>
        <p:blipFill>
          <a:blip r:embed="rId5"/>
          <a:stretch>
            <a:fillRect/>
          </a:stretch>
        </p:blipFill>
        <p:spPr>
          <a:xfrm>
            <a:off x="777240" y="5230368"/>
            <a:ext cx="201168" cy="201168"/>
          </a:xfrm>
          <a:prstGeom prst="rect">
            <a:avLst/>
          </a:prstGeom>
        </p:spPr>
      </p:pic>
      <p:sp>
        <p:nvSpPr>
          <p:cNvPr id="32" name="TextBox 31"/>
          <p:cNvSpPr txBox="1"/>
          <p:nvPr/>
        </p:nvSpPr>
        <p:spPr>
          <a:xfrm>
            <a:off x="1216152" y="5038344"/>
            <a:ext cx="5440679" cy="585216"/>
          </a:xfrm>
          <a:prstGeom prst="rect">
            <a:avLst/>
          </a:prstGeom>
          <a:noFill/>
        </p:spPr>
        <p:txBody>
          <a:bodyPr wrap="square" lIns="0" rIns="0" tIns="0" bIns="0" anchor="ctr">
            <a:spAutoFit/>
          </a:bodyPr>
          <a:lstStyle/>
          <a:p>
            <a:pPr algn="l"/>
            <a:r>
              <a:rPr sz="1600" b="0" i="0">
                <a:solidFill>
                  <a:schemeClr val="tx1"/>
                </a:solidFill>
              </a:rPr>
              <a:t>A recommendation, not a choice</a:t>
            </a:r>
          </a:p>
        </p:txBody>
      </p:sp>
      <p:sp>
        <p:nvSpPr>
          <p:cNvPr id="33" name="Rounded Rectangle 32"/>
          <p:cNvSpPr/>
          <p:nvPr/>
        </p:nvSpPr>
        <p:spPr>
          <a:xfrm>
            <a:off x="7086600" y="1920240"/>
            <a:ext cx="4590288" cy="1828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406640" y="1920240"/>
            <a:ext cx="3950207" cy="1828800"/>
          </a:xfrm>
          <a:prstGeom prst="rect">
            <a:avLst/>
          </a:prstGeom>
          <a:noFill/>
        </p:spPr>
        <p:txBody>
          <a:bodyPr wrap="square" lIns="0" rIns="0" tIns="0" bIns="0" anchor="ctr">
            <a:spAutoFit/>
          </a:bodyPr>
          <a:lstStyle/>
          <a:p>
            <a:pPr algn="l"/>
            <a:r>
              <a:rPr sz="2600" b="1" i="0">
                <a:solidFill>
                  <a:schemeClr val="bg1"/>
                </a:solidFill>
              </a:rPr>
              <a:t>The design is the researcher's decision.</a:t>
            </a:r>
          </a:p>
        </p:txBody>
      </p:sp>
      <p:sp>
        <p:nvSpPr>
          <p:cNvPr id="35" name="TextBox 34"/>
          <p:cNvSpPr txBox="1"/>
          <p:nvPr/>
        </p:nvSpPr>
        <p:spPr>
          <a:xfrm>
            <a:off x="7086600" y="3931920"/>
            <a:ext cx="4590288" cy="320040"/>
          </a:xfrm>
          <a:prstGeom prst="rect">
            <a:avLst/>
          </a:prstGeom>
          <a:noFill/>
        </p:spPr>
        <p:txBody>
          <a:bodyPr wrap="square" lIns="0" rIns="0" tIns="0" bIns="0" anchor="t">
            <a:spAutoFit/>
          </a:bodyPr>
          <a:lstStyle/>
          <a:p>
            <a:pPr algn="l"/>
            <a:r>
              <a:rPr sz="1500" b="1" i="0">
                <a:solidFill>
                  <a:schemeClr val="tx2"/>
                </a:solidFill>
              </a:rPr>
              <a:t>Today's choice</a:t>
            </a:r>
          </a:p>
        </p:txBody>
      </p:sp>
      <p:sp>
        <p:nvSpPr>
          <p:cNvPr id="36" name="Rounded Rectangle 35"/>
          <p:cNvSpPr/>
          <p:nvPr/>
        </p:nvSpPr>
        <p:spPr>
          <a:xfrm>
            <a:off x="7086600" y="4297680"/>
            <a:ext cx="4590288"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icon_FaHouse_circle"/>
          <p:cNvSpPr/>
          <p:nvPr/>
        </p:nvSpPr>
        <p:spPr>
          <a:xfrm>
            <a:off x="7251192" y="4398264"/>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FaHouse_white.png"/>
          <p:cNvPicPr>
            <a:picLocks noChangeAspect="1"/>
          </p:cNvPicPr>
          <p:nvPr/>
        </p:nvPicPr>
        <p:blipFill>
          <a:blip r:embed="rId6"/>
          <a:stretch>
            <a:fillRect/>
          </a:stretch>
        </p:blipFill>
        <p:spPr>
          <a:xfrm>
            <a:off x="7356348" y="4503420"/>
            <a:ext cx="210312" cy="210312"/>
          </a:xfrm>
          <a:prstGeom prst="rect">
            <a:avLst/>
          </a:prstGeom>
        </p:spPr>
      </p:pic>
      <p:sp>
        <p:nvSpPr>
          <p:cNvPr id="39" name="TextBox 38"/>
          <p:cNvSpPr txBox="1"/>
          <p:nvPr/>
        </p:nvSpPr>
        <p:spPr>
          <a:xfrm>
            <a:off x="7818120" y="4297680"/>
            <a:ext cx="3721607" cy="621792"/>
          </a:xfrm>
          <a:prstGeom prst="rect">
            <a:avLst/>
          </a:prstGeom>
          <a:noFill/>
        </p:spPr>
        <p:txBody>
          <a:bodyPr wrap="square" lIns="0" rIns="0" tIns="0" bIns="0" anchor="ctr">
            <a:spAutoFit/>
          </a:bodyPr>
          <a:lstStyle/>
          <a:p>
            <a:pPr algn="l"/>
            <a:r>
              <a:rPr sz="1500" b="1" i="0">
                <a:solidFill>
                  <a:schemeClr val="tx1"/>
                </a:solidFill>
              </a:rPr>
              <a:t>Neighborhood: </a:t>
            </a:r>
            <a:r>
              <a:rPr sz="1500" b="0" i="0">
                <a:solidFill>
                  <a:schemeClr val="tx1"/>
                </a:solidFill>
              </a:rPr>
              <a:t>Synthetic control on the ACS ZIP panel</a:t>
            </a:r>
          </a:p>
        </p:txBody>
      </p:sp>
      <p:sp>
        <p:nvSpPr>
          <p:cNvPr id="40" name="Rounded Rectangle 39"/>
          <p:cNvSpPr/>
          <p:nvPr/>
        </p:nvSpPr>
        <p:spPr>
          <a:xfrm>
            <a:off x="7086600" y="5029200"/>
            <a:ext cx="4590288"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icon_FaSchool_circle"/>
          <p:cNvSpPr/>
          <p:nvPr/>
        </p:nvSpPr>
        <p:spPr>
          <a:xfrm>
            <a:off x="7251192" y="5129784"/>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FaSchool_white.png"/>
          <p:cNvPicPr>
            <a:picLocks noChangeAspect="1"/>
          </p:cNvPicPr>
          <p:nvPr/>
        </p:nvPicPr>
        <p:blipFill>
          <a:blip r:embed="rId7"/>
          <a:stretch>
            <a:fillRect/>
          </a:stretch>
        </p:blipFill>
        <p:spPr>
          <a:xfrm>
            <a:off x="7356348" y="5234940"/>
            <a:ext cx="210312" cy="210312"/>
          </a:xfrm>
          <a:prstGeom prst="rect">
            <a:avLst/>
          </a:prstGeom>
        </p:spPr>
      </p:pic>
      <p:sp>
        <p:nvSpPr>
          <p:cNvPr id="43" name="TextBox 42"/>
          <p:cNvSpPr txBox="1"/>
          <p:nvPr/>
        </p:nvSpPr>
        <p:spPr>
          <a:xfrm>
            <a:off x="7818120" y="5029200"/>
            <a:ext cx="3721607" cy="621792"/>
          </a:xfrm>
          <a:prstGeom prst="rect">
            <a:avLst/>
          </a:prstGeom>
          <a:noFill/>
        </p:spPr>
        <p:txBody>
          <a:bodyPr wrap="square" lIns="0" rIns="0" tIns="0" bIns="0" anchor="ctr">
            <a:spAutoFit/>
          </a:bodyPr>
          <a:lstStyle/>
          <a:p>
            <a:pPr algn="l"/>
            <a:r>
              <a:rPr sz="1500" b="1" i="0">
                <a:solidFill>
                  <a:schemeClr val="tx1"/>
                </a:solidFill>
              </a:rPr>
              <a:t>Students: </a:t>
            </a:r>
            <a:r>
              <a:rPr sz="1500" b="0" i="0">
                <a:solidFill>
                  <a:schemeClr val="tx1"/>
                </a:solidFill>
              </a:rPr>
              <a:t>Callaway &amp; Sant'Anna staggered DiD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Analysis</a:t>
            </a:r>
          </a:p>
        </p:txBody>
      </p:sp>
      <p:sp>
        <p:nvSpPr>
          <p:cNvPr id="3" name="Text Placeholder 2"/>
          <p:cNvSpPr>
            <a:spLocks noGrp="1"/>
          </p:cNvSpPr>
          <p:nvPr>
            <p:ph type="body" idx="12" sz="quarter"/>
          </p:nvPr>
        </p:nvSpPr>
        <p:spPr/>
        <p:txBody>
          <a:bodyPr/>
          <a:lstStyle/>
          <a:p>
            <a:r>
              <a:t>Implement the approved plan exactly, then check whether it makes sense</a:t>
            </a:r>
          </a:p>
        </p:txBody>
      </p:sp>
      <p:sp>
        <p:nvSpPr>
          <p:cNvPr id="4" name="Text Placeholder 3"/>
          <p:cNvSpPr>
            <a:spLocks noGrp="1"/>
          </p:cNvSpPr>
          <p:nvPr>
            <p:ph type="body" idx="14" sz="quarter"/>
          </p:nvPr>
        </p:nvSpPr>
        <p:spPr/>
        <p:txBody>
          <a:bodyPr/>
          <a:lstStyle/>
          <a:p>
            <a:r>
              <a:t>Part 3 · Live workflow · step 04</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04</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@prompts/04_analysis.md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2000 descriptives: sample, gaps, timing, trends</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3000 CSDID (students) · 3100 synthetic control</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Diagnostics: event study · placebo ZIPs</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Sanity check against a benchmark; flag anything odd</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Nothing extra run and quietly dropped. Extra specifications must be reported.</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Are the results plausible?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+23 points plausible?</a:t>
            </a:r>
          </a:p>
        </p:txBody>
      </p:sp>
      <p:sp>
        <p:nvSpPr>
          <p:cNvPr id="3" name="Text Placeholder 2"/>
          <p:cNvSpPr>
            <a:spLocks noGrp="1"/>
          </p:cNvSpPr>
          <p:nvPr>
            <p:ph type="body" idx="12" sz="quarter"/>
          </p:nvPr>
        </p:nvSpPr>
        <p:spPr/>
        <p:txBody>
          <a:bodyPr/>
          <a:lstStyle/>
          <a:p>
            <a:r>
              <a:t>Year 3 after entering a CNI school. The code ran without errors. Which estimate is right?</a:t>
            </a:r>
          </a:p>
        </p:txBody>
      </p:sp>
      <p:sp>
        <p:nvSpPr>
          <p:cNvPr id="4" name="Text Placeholder 3"/>
          <p:cNvSpPr>
            <a:spLocks noGrp="1"/>
          </p:cNvSpPr>
          <p:nvPr>
            <p:ph type="body" idx="14" sz="quarter"/>
          </p:nvPr>
        </p:nvSpPr>
        <p:spPr/>
        <p:txBody>
          <a:bodyPr/>
          <a:lstStyle/>
          <a:p>
            <a:r>
              <a:t>Part 3 · Live workflow · step 04</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120640" cy="21945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 y="2148840"/>
            <a:ext cx="4572000" cy="365760"/>
          </a:xfrm>
          <a:prstGeom prst="rect">
            <a:avLst/>
          </a:prstGeom>
          <a:noFill/>
        </p:spPr>
        <p:txBody>
          <a:bodyPr wrap="square" lIns="0" rIns="0" tIns="0" bIns="0" anchor="t">
            <a:spAutoFit/>
          </a:bodyPr>
          <a:lstStyle/>
          <a:p>
            <a:pPr algn="l"/>
            <a:r>
              <a:rPr sz="1600" b="1" i="0">
                <a:solidFill>
                  <a:schemeClr val="bg1"/>
                </a:solidFill>
              </a:rPr>
              <a:t>CSDID on raw MAP points</a:t>
            </a:r>
          </a:p>
        </p:txBody>
      </p:sp>
      <p:sp>
        <p:nvSpPr>
          <p:cNvPr id="15" name="TextBox 14"/>
          <p:cNvSpPr txBox="1"/>
          <p:nvPr/>
        </p:nvSpPr>
        <p:spPr>
          <a:xfrm>
            <a:off x="832104" y="2560320"/>
            <a:ext cx="4572000" cy="1005840"/>
          </a:xfrm>
          <a:prstGeom prst="rect">
            <a:avLst/>
          </a:prstGeom>
          <a:noFill/>
        </p:spPr>
        <p:txBody>
          <a:bodyPr wrap="square" lIns="0" rIns="0" tIns="0" bIns="0" anchor="t">
            <a:spAutoFit/>
          </a:bodyPr>
          <a:lstStyle/>
          <a:p>
            <a:pPr algn="l"/>
            <a:r>
              <a:rPr sz="5400" b="1" i="0">
                <a:solidFill>
                  <a:schemeClr val="bg1"/>
                </a:solidFill>
              </a:rPr>
              <a:t>+23 to +25</a:t>
            </a:r>
          </a:p>
        </p:txBody>
      </p:sp>
      <p:sp>
        <p:nvSpPr>
          <p:cNvPr id="16" name="TextBox 15"/>
          <p:cNvSpPr txBox="1"/>
          <p:nvPr/>
        </p:nvSpPr>
        <p:spPr>
          <a:xfrm>
            <a:off x="832104" y="3566160"/>
            <a:ext cx="4572000" cy="365760"/>
          </a:xfrm>
          <a:prstGeom prst="rect">
            <a:avLst/>
          </a:prstGeom>
          <a:noFill/>
        </p:spPr>
        <p:txBody>
          <a:bodyPr wrap="square" lIns="0" rIns="0" tIns="0" bIns="0" anchor="t">
            <a:spAutoFit/>
          </a:bodyPr>
          <a:lstStyle/>
          <a:p>
            <a:pPr algn="l"/>
            <a:r>
              <a:rPr sz="1600" b="0" i="0">
                <a:solidFill>
                  <a:schemeClr val="bg1"/>
                </a:solidFill>
              </a:rPr>
              <a:t>points, ELA to Math</a:t>
            </a:r>
          </a:p>
        </p:txBody>
      </p:sp>
      <p:sp>
        <p:nvSpPr>
          <p:cNvPr id="17" name="TextBox 16"/>
          <p:cNvSpPr txBox="1"/>
          <p:nvPr/>
        </p:nvSpPr>
        <p:spPr>
          <a:xfrm>
            <a:off x="5669280" y="1920240"/>
            <a:ext cx="822960" cy="2194560"/>
          </a:xfrm>
          <a:prstGeom prst="rect">
            <a:avLst/>
          </a:prstGeom>
          <a:noFill/>
        </p:spPr>
        <p:txBody>
          <a:bodyPr wrap="square" lIns="0" rIns="0" tIns="0" bIns="0" anchor="ctr">
            <a:spAutoFit/>
          </a:bodyPr>
          <a:lstStyle/>
          <a:p>
            <a:pPr algn="ctr"/>
            <a:r>
              <a:rPr sz="2600" b="1" i="0">
                <a:solidFill>
                  <a:srgbClr val="5F5F5F"/>
                </a:solidFill>
              </a:rPr>
              <a:t>vs.</a:t>
            </a:r>
          </a:p>
        </p:txBody>
      </p:sp>
      <p:sp>
        <p:nvSpPr>
          <p:cNvPr id="18" name="Rounded Rectangle 17"/>
          <p:cNvSpPr/>
          <p:nvPr/>
        </p:nvSpPr>
        <p:spPr>
          <a:xfrm>
            <a:off x="6556248" y="1920240"/>
            <a:ext cx="5120640" cy="2194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76288" y="2148840"/>
            <a:ext cx="4572000" cy="365760"/>
          </a:xfrm>
          <a:prstGeom prst="rect">
            <a:avLst/>
          </a:prstGeom>
          <a:noFill/>
        </p:spPr>
        <p:txBody>
          <a:bodyPr wrap="square" lIns="0" rIns="0" tIns="0" bIns="0" anchor="t">
            <a:spAutoFit/>
          </a:bodyPr>
          <a:lstStyle/>
          <a:p>
            <a:pPr algn="l"/>
            <a:r>
              <a:rPr sz="1600" b="1" i="0">
                <a:solidFill>
                  <a:schemeClr val="tx2"/>
                </a:solidFill>
              </a:rPr>
              <a:t>Standardized within grade × year</a:t>
            </a:r>
          </a:p>
        </p:txBody>
      </p:sp>
      <p:sp>
        <p:nvSpPr>
          <p:cNvPr id="20" name="TextBox 19"/>
          <p:cNvSpPr txBox="1"/>
          <p:nvPr/>
        </p:nvSpPr>
        <p:spPr>
          <a:xfrm>
            <a:off x="6876288" y="2560320"/>
            <a:ext cx="4572000" cy="1005840"/>
          </a:xfrm>
          <a:prstGeom prst="rect">
            <a:avLst/>
          </a:prstGeom>
          <a:noFill/>
        </p:spPr>
        <p:txBody>
          <a:bodyPr wrap="square" lIns="0" rIns="0" tIns="0" bIns="0" anchor="t">
            <a:spAutoFit/>
          </a:bodyPr>
          <a:lstStyle/>
          <a:p>
            <a:pPr algn="l"/>
            <a:r>
              <a:rPr sz="5400" b="1" i="0">
                <a:solidFill>
                  <a:schemeClr val="tx1"/>
                </a:solidFill>
              </a:rPr>
              <a:t>+13 to +14</a:t>
            </a:r>
          </a:p>
        </p:txBody>
      </p:sp>
      <p:sp>
        <p:nvSpPr>
          <p:cNvPr id="21" name="TextBox 20"/>
          <p:cNvSpPr txBox="1"/>
          <p:nvPr/>
        </p:nvSpPr>
        <p:spPr>
          <a:xfrm>
            <a:off x="6876288" y="3566160"/>
            <a:ext cx="4572000" cy="365760"/>
          </a:xfrm>
          <a:prstGeom prst="rect">
            <a:avLst/>
          </a:prstGeom>
          <a:noFill/>
        </p:spPr>
        <p:txBody>
          <a:bodyPr wrap="square" lIns="0" rIns="0" tIns="0" bIns="0" anchor="t">
            <a:spAutoFit/>
          </a:bodyPr>
          <a:lstStyle/>
          <a:p>
            <a:pPr algn="l"/>
            <a:r>
              <a:rPr sz="1600" b="0" i="0">
                <a:solidFill>
                  <a:srgbClr val="5F5F5F"/>
                </a:solidFill>
              </a:rPr>
              <a:t>points (SD ≈ 12), ELA to Math</a:t>
            </a:r>
          </a:p>
        </p:txBody>
      </p:sp>
      <p:sp>
        <p:nvSpPr>
          <p:cNvPr id="22" name="TextBox 21"/>
          <p:cNvSpPr txBox="1"/>
          <p:nvPr/>
        </p:nvSpPr>
        <p:spPr>
          <a:xfrm>
            <a:off x="512064" y="4206240"/>
            <a:ext cx="11164824" cy="685800"/>
          </a:xfrm>
          <a:prstGeom prst="rect">
            <a:avLst/>
          </a:prstGeom>
          <a:noFill/>
        </p:spPr>
        <p:txBody>
          <a:bodyPr wrap="square" lIns="0" rIns="0" tIns="0" bIns="0" anchor="ctr">
            <a:spAutoFit/>
          </a:bodyPr>
          <a:lstStyle/>
          <a:p>
            <a:pPr algn="ctr"/>
            <a:r>
              <a:rPr sz="1900" b="1" i="0">
                <a:solidFill>
                  <a:schemeClr val="tx1"/>
                </a:solidFill>
              </a:rPr>
              <a:t>A year of school is worth 5–6 points. </a:t>
            </a:r>
            <a:r>
              <a:rPr sz="1900" b="0" i="0">
                <a:solidFill>
                  <a:schemeClr val="tx1"/>
                </a:solidFill>
              </a:rPr>
              <a:t>The raw number is bigger by about two years of growth. Which one is measuring the program?</a:t>
            </a:r>
          </a:p>
        </p:txBody>
      </p:sp>
      <p:sp>
        <p:nvSpPr>
          <p:cNvPr id="23" name="Rounded Rectangle 22"/>
          <p:cNvSpPr/>
          <p:nvPr/>
        </p:nvSpPr>
        <p:spPr>
          <a:xfrm>
            <a:off x="512064" y="4983480"/>
            <a:ext cx="11164824"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Ruler_white.png"/>
          <p:cNvPicPr>
            <a:picLocks noChangeAspect="1"/>
          </p:cNvPicPr>
          <p:nvPr/>
        </p:nvPicPr>
        <p:blipFill>
          <a:blip r:embed="rId3"/>
          <a:stretch>
            <a:fillRect/>
          </a:stretch>
        </p:blipFill>
        <p:spPr>
          <a:xfrm>
            <a:off x="786384" y="5138928"/>
            <a:ext cx="420624" cy="420624"/>
          </a:xfrm>
          <a:prstGeom prst="rect">
            <a:avLst/>
          </a:prstGeom>
        </p:spPr>
      </p:pic>
      <p:sp>
        <p:nvSpPr>
          <p:cNvPr id="25" name="TextBox 24"/>
          <p:cNvSpPr txBox="1"/>
          <p:nvPr/>
        </p:nvSpPr>
        <p:spPr>
          <a:xfrm>
            <a:off x="1426464" y="4983480"/>
            <a:ext cx="9976104" cy="731520"/>
          </a:xfrm>
          <a:prstGeom prst="rect">
            <a:avLst/>
          </a:prstGeom>
          <a:noFill/>
        </p:spPr>
        <p:txBody>
          <a:bodyPr wrap="square" lIns="0" rIns="0" tIns="0" bIns="0" anchor="ctr">
            <a:spAutoFit/>
          </a:bodyPr>
          <a:lstStyle/>
          <a:p>
            <a:pPr algn="l"/>
            <a:r>
              <a:rPr sz="1800" b="0" i="0">
                <a:solidFill>
                  <a:schemeClr val="bg1"/>
                </a:solidFill>
              </a:rPr>
              <a:t>Grade growth was counted as treatment effect. </a:t>
            </a:r>
            <a:r>
              <a:rPr sz="1800" b="1" i="0">
                <a:solidFill>
                  <a:schemeClr val="bg1"/>
                </a:solidFill>
              </a:rPr>
              <a:t>Standardize within grade ×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Callback: where Gemini fits</a:t>
            </a:r>
          </a:p>
        </p:txBody>
      </p:sp>
      <p:sp>
        <p:nvSpPr>
          <p:cNvPr id="3" name="Text Placeholder 2"/>
          <p:cNvSpPr>
            <a:spLocks noGrp="1"/>
          </p:cNvSpPr>
          <p:nvPr>
            <p:ph type="body" idx="12" sz="quarter"/>
          </p:nvPr>
        </p:nvSpPr>
        <p:spPr/>
        <p:txBody>
          <a:bodyPr/>
          <a:lstStyle/>
          <a:p>
            <a:r>
              <a:t>Reading is file-free work. Do it for free, then hand it over as a file</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291840" cy="23774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ookOpenReader_circle"/>
          <p:cNvSpPr/>
          <p:nvPr/>
        </p:nvSpPr>
        <p:spPr>
          <a:xfrm>
            <a:off x="786384" y="2194560"/>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ookOpenReader_dark.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786384" y="2971800"/>
            <a:ext cx="2743200" cy="411480"/>
          </a:xfrm>
          <a:prstGeom prst="rect">
            <a:avLst/>
          </a:prstGeom>
          <a:noFill/>
        </p:spPr>
        <p:txBody>
          <a:bodyPr wrap="square" lIns="0" rIns="0" tIns="0" bIns="0" anchor="t">
            <a:spAutoFit/>
          </a:bodyPr>
          <a:lstStyle/>
          <a:p>
            <a:pPr algn="l"/>
            <a:r>
              <a:rPr sz="2200" b="1" i="0">
                <a:solidFill>
                  <a:schemeClr val="tx1"/>
                </a:solidFill>
              </a:rPr>
              <a:t>Gemini</a:t>
            </a:r>
          </a:p>
        </p:txBody>
      </p:sp>
      <p:sp>
        <p:nvSpPr>
          <p:cNvPr id="17" name="TextBox 16"/>
          <p:cNvSpPr txBox="1"/>
          <p:nvPr/>
        </p:nvSpPr>
        <p:spPr>
          <a:xfrm>
            <a:off x="786384" y="3383280"/>
            <a:ext cx="2743200" cy="320040"/>
          </a:xfrm>
          <a:prstGeom prst="rect">
            <a:avLst/>
          </a:prstGeom>
          <a:noFill/>
        </p:spPr>
        <p:txBody>
          <a:bodyPr wrap="square" lIns="0" rIns="0" tIns="0" bIns="0" anchor="t">
            <a:spAutoFit/>
          </a:bodyPr>
          <a:lstStyle/>
          <a:p>
            <a:pPr algn="l"/>
            <a:r>
              <a:rPr sz="1400" b="0" i="0">
                <a:solidFill>
                  <a:srgbClr val="5F5F5F"/>
                </a:solidFill>
              </a:rPr>
              <a:t>free through WashU</a:t>
            </a:r>
          </a:p>
        </p:txBody>
      </p:sp>
      <p:sp>
        <p:nvSpPr>
          <p:cNvPr id="18" name="TextBox 17"/>
          <p:cNvSpPr txBox="1"/>
          <p:nvPr/>
        </p:nvSpPr>
        <p:spPr>
          <a:xfrm>
            <a:off x="786384" y="3703320"/>
            <a:ext cx="2743200" cy="548640"/>
          </a:xfrm>
          <a:prstGeom prst="rect">
            <a:avLst/>
          </a:prstGeom>
          <a:noFill/>
        </p:spPr>
        <p:txBody>
          <a:bodyPr wrap="square" lIns="0" rIns="0" tIns="0" bIns="0" anchor="t">
            <a:spAutoFit/>
          </a:bodyPr>
          <a:lstStyle/>
          <a:p>
            <a:pPr algn="l"/>
            <a:r>
              <a:rPr sz="1500" b="0" i="0">
                <a:solidFill>
                  <a:schemeClr val="tx1"/>
                </a:solidFill>
              </a:rPr>
              <a:t>Literature map and framing for the paper</a:t>
            </a:r>
          </a:p>
        </p:txBody>
      </p:sp>
      <p:cxnSp>
        <p:nvCxnSpPr>
          <p:cNvPr id="19" name="Connector 18"/>
          <p:cNvCxnSpPr/>
          <p:nvPr/>
        </p:nvCxnSpPr>
        <p:spPr>
          <a:xfrm>
            <a:off x="3877056" y="3108960"/>
            <a:ext cx="498348"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448556" y="1920240"/>
            <a:ext cx="3291840" cy="237744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FileLines_circle"/>
          <p:cNvSpPr/>
          <p:nvPr/>
        </p:nvSpPr>
        <p:spPr>
          <a:xfrm>
            <a:off x="4722876"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FileLines_white.png"/>
          <p:cNvPicPr>
            <a:picLocks noChangeAspect="1"/>
          </p:cNvPicPr>
          <p:nvPr/>
        </p:nvPicPr>
        <p:blipFill>
          <a:blip r:embed="rId4"/>
          <a:stretch>
            <a:fillRect/>
          </a:stretch>
        </p:blipFill>
        <p:spPr>
          <a:xfrm>
            <a:off x="4882896" y="2354579"/>
            <a:ext cx="320040" cy="320040"/>
          </a:xfrm>
          <a:prstGeom prst="rect">
            <a:avLst/>
          </a:prstGeom>
        </p:spPr>
      </p:pic>
      <p:sp>
        <p:nvSpPr>
          <p:cNvPr id="23" name="TextBox 22"/>
          <p:cNvSpPr txBox="1"/>
          <p:nvPr/>
        </p:nvSpPr>
        <p:spPr>
          <a:xfrm>
            <a:off x="4722876" y="2971800"/>
            <a:ext cx="2743200" cy="411480"/>
          </a:xfrm>
          <a:prstGeom prst="rect">
            <a:avLst/>
          </a:prstGeom>
          <a:noFill/>
        </p:spPr>
        <p:txBody>
          <a:bodyPr wrap="square" lIns="0" rIns="0" tIns="0" bIns="0" anchor="t">
            <a:spAutoFit/>
          </a:bodyPr>
          <a:lstStyle/>
          <a:p>
            <a:pPr algn="l"/>
            <a:r>
              <a:rPr sz="2200" b="1" i="0">
                <a:solidFill>
                  <a:schemeClr val="tx1"/>
                </a:solidFill>
              </a:rPr>
              <a:t>The handoff</a:t>
            </a:r>
          </a:p>
        </p:txBody>
      </p:sp>
      <p:sp>
        <p:nvSpPr>
          <p:cNvPr id="24" name="TextBox 23"/>
          <p:cNvSpPr txBox="1"/>
          <p:nvPr/>
        </p:nvSpPr>
        <p:spPr>
          <a:xfrm>
            <a:off x="4722876" y="3383280"/>
            <a:ext cx="2743200" cy="320040"/>
          </a:xfrm>
          <a:prstGeom prst="rect">
            <a:avLst/>
          </a:prstGeom>
          <a:noFill/>
        </p:spPr>
        <p:txBody>
          <a:bodyPr wrap="square" lIns="0" rIns="0" tIns="0" bIns="0" anchor="t">
            <a:spAutoFit/>
          </a:bodyPr>
          <a:lstStyle/>
          <a:p>
            <a:pPr algn="l"/>
            <a:r>
              <a:rPr sz="1400" b="0" i="0">
                <a:solidFill>
                  <a:srgbClr val="5F5F5F"/>
                </a:solidFill>
              </a:rPr>
              <a:t>is just a file</a:t>
            </a:r>
          </a:p>
        </p:txBody>
      </p:sp>
      <p:sp>
        <p:nvSpPr>
          <p:cNvPr id="25" name="TextBox 24"/>
          <p:cNvSpPr txBox="1"/>
          <p:nvPr/>
        </p:nvSpPr>
        <p:spPr>
          <a:xfrm>
            <a:off x="4722876" y="3703320"/>
            <a:ext cx="2743200" cy="548640"/>
          </a:xfrm>
          <a:prstGeom prst="rect">
            <a:avLst/>
          </a:prstGeom>
          <a:noFill/>
        </p:spPr>
        <p:txBody>
          <a:bodyPr wrap="square" lIns="0" rIns="0" tIns="0" bIns="0" anchor="t">
            <a:spAutoFit/>
          </a:bodyPr>
          <a:lstStyle/>
          <a:p>
            <a:pPr algn="l"/>
            <a:r>
              <a:rPr sz="1400" b="1" i="0">
                <a:solidFill>
                  <a:schemeClr val="tx1"/>
                </a:solidFill>
                <a:latin typeface="Courier New"/>
              </a:rPr>
              <a:t>writing/literature_map.md</a:t>
            </a:r>
          </a:p>
        </p:txBody>
      </p:sp>
      <p:cxnSp>
        <p:nvCxnSpPr>
          <p:cNvPr id="26" name="Connector 25"/>
          <p:cNvCxnSpPr/>
          <p:nvPr/>
        </p:nvCxnSpPr>
        <p:spPr>
          <a:xfrm>
            <a:off x="7813548" y="3108960"/>
            <a:ext cx="498348"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385048" y="1920240"/>
            <a:ext cx="3291840" cy="23774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Terminal_circle"/>
          <p:cNvSpPr/>
          <p:nvPr/>
        </p:nvSpPr>
        <p:spPr>
          <a:xfrm>
            <a:off x="8659368"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Terminal_white.png"/>
          <p:cNvPicPr>
            <a:picLocks noChangeAspect="1"/>
          </p:cNvPicPr>
          <p:nvPr/>
        </p:nvPicPr>
        <p:blipFill>
          <a:blip r:embed="rId5"/>
          <a:stretch>
            <a:fillRect/>
          </a:stretch>
        </p:blipFill>
        <p:spPr>
          <a:xfrm>
            <a:off x="8819388" y="2354579"/>
            <a:ext cx="320040" cy="320040"/>
          </a:xfrm>
          <a:prstGeom prst="rect">
            <a:avLst/>
          </a:prstGeom>
        </p:spPr>
      </p:pic>
      <p:sp>
        <p:nvSpPr>
          <p:cNvPr id="30" name="TextBox 29"/>
          <p:cNvSpPr txBox="1"/>
          <p:nvPr/>
        </p:nvSpPr>
        <p:spPr>
          <a:xfrm>
            <a:off x="8659368" y="2971800"/>
            <a:ext cx="2743200" cy="411480"/>
          </a:xfrm>
          <a:prstGeom prst="rect">
            <a:avLst/>
          </a:prstGeom>
          <a:noFill/>
        </p:spPr>
        <p:txBody>
          <a:bodyPr wrap="square" lIns="0" rIns="0" tIns="0" bIns="0" anchor="t">
            <a:spAutoFit/>
          </a:bodyPr>
          <a:lstStyle/>
          <a:p>
            <a:pPr algn="l"/>
            <a:r>
              <a:rPr sz="2200" b="1" i="0">
                <a:solidFill>
                  <a:schemeClr val="tx1"/>
                </a:solidFill>
              </a:rPr>
              <a:t>Claude CLI</a:t>
            </a:r>
          </a:p>
        </p:txBody>
      </p:sp>
      <p:sp>
        <p:nvSpPr>
          <p:cNvPr id="31" name="TextBox 30"/>
          <p:cNvSpPr txBox="1"/>
          <p:nvPr/>
        </p:nvSpPr>
        <p:spPr>
          <a:xfrm>
            <a:off x="8659368" y="3383280"/>
            <a:ext cx="2743200" cy="320040"/>
          </a:xfrm>
          <a:prstGeom prst="rect">
            <a:avLst/>
          </a:prstGeom>
          <a:noFill/>
        </p:spPr>
        <p:txBody>
          <a:bodyPr wrap="square" lIns="0" rIns="0" tIns="0" bIns="0" anchor="t">
            <a:spAutoFit/>
          </a:bodyPr>
          <a:lstStyle/>
          <a:p>
            <a:pPr algn="l"/>
            <a:r>
              <a:rPr sz="1400" b="0" i="0">
                <a:solidFill>
                  <a:srgbClr val="5F5F5F"/>
                </a:solidFill>
              </a:rPr>
              <a:t>reads it as context</a:t>
            </a:r>
          </a:p>
        </p:txBody>
      </p:sp>
      <p:sp>
        <p:nvSpPr>
          <p:cNvPr id="32" name="TextBox 31"/>
          <p:cNvSpPr txBox="1"/>
          <p:nvPr/>
        </p:nvSpPr>
        <p:spPr>
          <a:xfrm>
            <a:off x="8659368" y="3703320"/>
            <a:ext cx="2743200" cy="548640"/>
          </a:xfrm>
          <a:prstGeom prst="rect">
            <a:avLst/>
          </a:prstGeom>
          <a:noFill/>
        </p:spPr>
        <p:txBody>
          <a:bodyPr wrap="square" lIns="0" rIns="0" tIns="0" bIns="0" anchor="t">
            <a:spAutoFit/>
          </a:bodyPr>
          <a:lstStyle/>
          <a:p>
            <a:pPr algn="l"/>
            <a:r>
              <a:rPr sz="1500" b="0" i="0">
                <a:solidFill>
                  <a:schemeClr val="tx1"/>
                </a:solidFill>
              </a:rPr>
              <a:t>Uses it for the brief in step 05</a:t>
            </a:r>
          </a:p>
        </p:txBody>
      </p:sp>
      <p:sp>
        <p:nvSpPr>
          <p:cNvPr id="33" name="Rounded Rectangle 32"/>
          <p:cNvSpPr/>
          <p:nvPr/>
        </p:nvSpPr>
        <p:spPr>
          <a:xfrm>
            <a:off x="512064" y="4572000"/>
            <a:ext cx="11164824" cy="10972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32104" y="4572000"/>
            <a:ext cx="10524744" cy="1097280"/>
          </a:xfrm>
          <a:prstGeom prst="rect">
            <a:avLst/>
          </a:prstGeom>
          <a:noFill/>
        </p:spPr>
        <p:txBody>
          <a:bodyPr wrap="square" lIns="0" rIns="0" tIns="0" bIns="0" anchor="ctr">
            <a:spAutoFit/>
          </a:bodyPr>
          <a:lstStyle/>
          <a:p>
            <a:pPr algn="l">
              <a:spcAft>
                <a:spcPts val="400"/>
              </a:spcAft>
            </a:pPr>
            <a:r>
              <a:rPr sz="1700" b="0" i="0">
                <a:solidFill>
                  <a:schemeClr val="bg1"/>
                </a:solidFill>
              </a:rPr>
              <a:t>Never invents a citation: it writes </a:t>
            </a:r>
            <a:r>
              <a:rPr sz="1700" b="1" i="0">
                <a:solidFill>
                  <a:schemeClr val="bg1"/>
                </a:solidFill>
                <a:latin typeface="Courier New"/>
              </a:rPr>
              <a:t>[CITATION NEEDED]</a:t>
            </a:r>
            <a:r>
              <a:rPr sz="1700" b="0" i="0">
                <a:solidFill>
                  <a:schemeClr val="bg1"/>
                </a:solidFill>
              </a:rPr>
              <a:t>.</a:t>
            </a:r>
          </a:p>
          <a:p>
            <a:pPr algn="l">
              <a:spcAft>
                <a:spcPts val="400"/>
              </a:spcAft>
            </a:pPr>
            <a:r>
              <a:rPr sz="1700" b="1" i="0">
                <a:solidFill>
                  <a:schemeClr val="bg1"/>
                </a:solidFill>
              </a:rPr>
              <a:t>Any citation that does appear, a person opens and verifies (a Part 4 red 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Manuscript brief</a:t>
            </a:r>
          </a:p>
        </p:txBody>
      </p:sp>
      <p:sp>
        <p:nvSpPr>
          <p:cNvPr id="3" name="Text Placeholder 2"/>
          <p:cNvSpPr>
            <a:spLocks noGrp="1"/>
          </p:cNvSpPr>
          <p:nvPr>
            <p:ph type="body" idx="12" sz="quarter"/>
          </p:nvPr>
        </p:nvSpPr>
        <p:spPr/>
        <p:txBody>
          <a:bodyPr/>
          <a:lstStyle/>
          <a:p>
            <a:r>
              <a:t>Not the paper: a brief to draft Methods and Results from</a:t>
            </a:r>
          </a:p>
        </p:txBody>
      </p:sp>
      <p:sp>
        <p:nvSpPr>
          <p:cNvPr id="4" name="Text Placeholder 3"/>
          <p:cNvSpPr>
            <a:spLocks noGrp="1"/>
          </p:cNvSpPr>
          <p:nvPr>
            <p:ph type="body" idx="14" sz="quarter"/>
          </p:nvPr>
        </p:nvSpPr>
        <p:spPr/>
        <p:txBody>
          <a:bodyPr/>
          <a:lstStyle/>
          <a:p>
            <a:r>
              <a:t>Part 3 · Live workflow · step 05</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05</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6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@prompts/05_manuscript_brief.md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Every number → &lt;!-- source: outputs/... --&gt;</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Causal language only where the design supports it</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Decisions left to the researcher</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A draft AI-use disclosure</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Spot-check one number: find its source comment, open the CSV, confirm it matches.</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What did it get right? What did it overstate? What can only you decide?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Take it home</a:t>
            </a:r>
          </a:p>
        </p:txBody>
      </p:sp>
      <p:sp>
        <p:nvSpPr>
          <p:cNvPr id="3" name="TextBox 2"/>
          <p:cNvSpPr txBox="1"/>
          <p:nvPr/>
        </p:nvSpPr>
        <p:spPr>
          <a:xfrm>
            <a:off x="6172200" y="777240"/>
            <a:ext cx="5486400" cy="548640"/>
          </a:xfrm>
          <a:prstGeom prst="rect">
            <a:avLst/>
          </a:prstGeom>
          <a:noFill/>
        </p:spPr>
        <p:txBody>
          <a:bodyPr wrap="square" lIns="0" rIns="0" tIns="0" bIns="0" anchor="t">
            <a:spAutoFit/>
          </a:bodyPr>
          <a:lstStyle/>
          <a:p>
            <a:pPr algn="l"/>
            <a:r>
              <a:rPr sz="2200" b="1" i="0">
                <a:solidFill>
                  <a:schemeClr val="bg1"/>
                </a:solidFill>
              </a:rPr>
              <a:t>The prompts work on your project too.</a:t>
            </a:r>
          </a:p>
        </p:txBody>
      </p:sp>
      <p:sp>
        <p:nvSpPr>
          <p:cNvPr id="4" name="Oval 3"/>
          <p:cNvSpPr/>
          <p:nvPr/>
        </p:nvSpPr>
        <p:spPr>
          <a:xfrm>
            <a:off x="6172200" y="160020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72200" y="1600200"/>
            <a:ext cx="457200" cy="457200"/>
          </a:xfrm>
          <a:prstGeom prst="rect">
            <a:avLst/>
          </a:prstGeom>
          <a:noFill/>
        </p:spPr>
        <p:txBody>
          <a:bodyPr wrap="square" lIns="0" rIns="0" tIns="0" bIns="0" anchor="ctr">
            <a:spAutoFit/>
          </a:bodyPr>
          <a:lstStyle/>
          <a:p>
            <a:pPr algn="ctr"/>
            <a:r>
              <a:rPr sz="1600" b="1" i="0">
                <a:solidFill>
                  <a:schemeClr val="tx2"/>
                </a:solidFill>
              </a:rPr>
              <a:t>1</a:t>
            </a:r>
          </a:p>
        </p:txBody>
      </p:sp>
      <p:sp>
        <p:nvSpPr>
          <p:cNvPr id="6" name="TextBox 5"/>
          <p:cNvSpPr txBox="1"/>
          <p:nvPr/>
        </p:nvSpPr>
        <p:spPr>
          <a:xfrm>
            <a:off x="6812280" y="1554480"/>
            <a:ext cx="4846320" cy="566928"/>
          </a:xfrm>
          <a:prstGeom prst="rect">
            <a:avLst/>
          </a:prstGeom>
          <a:noFill/>
        </p:spPr>
        <p:txBody>
          <a:bodyPr wrap="square" lIns="0" rIns="0" tIns="0" bIns="0" anchor="ctr">
            <a:spAutoFit/>
          </a:bodyPr>
          <a:lstStyle/>
          <a:p>
            <a:pPr algn="l"/>
            <a:r>
              <a:rPr sz="1600" b="0" i="0">
                <a:solidFill>
                  <a:schemeClr val="bg1"/>
                </a:solidFill>
              </a:rPr>
              <a:t>Copy part2_setup/project_template/</a:t>
            </a:r>
          </a:p>
        </p:txBody>
      </p:sp>
      <p:sp>
        <p:nvSpPr>
          <p:cNvPr id="7" name="Oval 6"/>
          <p:cNvSpPr/>
          <p:nvPr/>
        </p:nvSpPr>
        <p:spPr>
          <a:xfrm>
            <a:off x="6172200" y="2313432"/>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2313432"/>
            <a:ext cx="457200" cy="457200"/>
          </a:xfrm>
          <a:prstGeom prst="rect">
            <a:avLst/>
          </a:prstGeom>
          <a:noFill/>
        </p:spPr>
        <p:txBody>
          <a:bodyPr wrap="square" lIns="0" rIns="0" tIns="0" bIns="0" anchor="ctr">
            <a:spAutoFit/>
          </a:bodyPr>
          <a:lstStyle/>
          <a:p>
            <a:pPr algn="ctr"/>
            <a:r>
              <a:rPr sz="1600" b="1" i="0">
                <a:solidFill>
                  <a:schemeClr val="tx2"/>
                </a:solidFill>
              </a:rPr>
              <a:t>2</a:t>
            </a:r>
          </a:p>
        </p:txBody>
      </p:sp>
      <p:sp>
        <p:nvSpPr>
          <p:cNvPr id="9" name="TextBox 8"/>
          <p:cNvSpPr txBox="1"/>
          <p:nvPr/>
        </p:nvSpPr>
        <p:spPr>
          <a:xfrm>
            <a:off x="6812280" y="2267712"/>
            <a:ext cx="4846320" cy="566928"/>
          </a:xfrm>
          <a:prstGeom prst="rect">
            <a:avLst/>
          </a:prstGeom>
          <a:noFill/>
        </p:spPr>
        <p:txBody>
          <a:bodyPr wrap="square" lIns="0" rIns="0" tIns="0" bIns="0" anchor="ctr">
            <a:spAutoFit/>
          </a:bodyPr>
          <a:lstStyle/>
          <a:p>
            <a:pPr algn="l"/>
            <a:r>
              <a:rPr sz="1600" b="0" i="0">
                <a:solidFill>
                  <a:schemeClr val="bg1"/>
                </a:solidFill>
              </a:rPr>
              <a:t>Fill in CLAUDE.md (compare with part3_live_workflow/CLAUDE.md)</a:t>
            </a:r>
          </a:p>
        </p:txBody>
      </p:sp>
      <p:sp>
        <p:nvSpPr>
          <p:cNvPr id="10" name="Oval 9"/>
          <p:cNvSpPr/>
          <p:nvPr/>
        </p:nvSpPr>
        <p:spPr>
          <a:xfrm>
            <a:off x="6172200" y="3026664"/>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72200" y="3026664"/>
            <a:ext cx="457200" cy="457200"/>
          </a:xfrm>
          <a:prstGeom prst="rect">
            <a:avLst/>
          </a:prstGeom>
          <a:noFill/>
        </p:spPr>
        <p:txBody>
          <a:bodyPr wrap="square" lIns="0" rIns="0" tIns="0" bIns="0" anchor="ctr">
            <a:spAutoFit/>
          </a:bodyPr>
          <a:lstStyle/>
          <a:p>
            <a:pPr algn="ctr"/>
            <a:r>
              <a:rPr sz="1600" b="1" i="0">
                <a:solidFill>
                  <a:schemeClr val="tx2"/>
                </a:solidFill>
              </a:rPr>
              <a:t>3</a:t>
            </a:r>
          </a:p>
        </p:txBody>
      </p:sp>
      <p:sp>
        <p:nvSpPr>
          <p:cNvPr id="12" name="TextBox 11"/>
          <p:cNvSpPr txBox="1"/>
          <p:nvPr/>
        </p:nvSpPr>
        <p:spPr>
          <a:xfrm>
            <a:off x="6812280" y="2980944"/>
            <a:ext cx="4846320" cy="566928"/>
          </a:xfrm>
          <a:prstGeom prst="rect">
            <a:avLst/>
          </a:prstGeom>
          <a:noFill/>
        </p:spPr>
        <p:txBody>
          <a:bodyPr wrap="square" lIns="0" rIns="0" tIns="0" bIns="0" anchor="ctr">
            <a:spAutoFit/>
          </a:bodyPr>
          <a:lstStyle/>
          <a:p>
            <a:pPr algn="l"/>
            <a:r>
              <a:rPr sz="1600" b="0" i="0">
                <a:solidFill>
                  <a:schemeClr val="bg1"/>
                </a:solidFill>
              </a:rPr>
              <a:t>Put your files in data_raw/; copy in prompts/</a:t>
            </a:r>
          </a:p>
        </p:txBody>
      </p:sp>
      <p:sp>
        <p:nvSpPr>
          <p:cNvPr id="13" name="Oval 12"/>
          <p:cNvSpPr/>
          <p:nvPr/>
        </p:nvSpPr>
        <p:spPr>
          <a:xfrm>
            <a:off x="6172200" y="3739896"/>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172200" y="3739896"/>
            <a:ext cx="457200" cy="457200"/>
          </a:xfrm>
          <a:prstGeom prst="rect">
            <a:avLst/>
          </a:prstGeom>
          <a:noFill/>
        </p:spPr>
        <p:txBody>
          <a:bodyPr wrap="square" lIns="0" rIns="0" tIns="0" bIns="0" anchor="ctr">
            <a:spAutoFit/>
          </a:bodyPr>
          <a:lstStyle/>
          <a:p>
            <a:pPr algn="ctr"/>
            <a:r>
              <a:rPr sz="1600" b="1" i="0">
                <a:solidFill>
                  <a:schemeClr val="tx2"/>
                </a:solidFill>
              </a:rPr>
              <a:t>4</a:t>
            </a:r>
          </a:p>
        </p:txBody>
      </p:sp>
      <p:sp>
        <p:nvSpPr>
          <p:cNvPr id="15" name="TextBox 14"/>
          <p:cNvSpPr txBox="1"/>
          <p:nvPr/>
        </p:nvSpPr>
        <p:spPr>
          <a:xfrm>
            <a:off x="6812280" y="3694176"/>
            <a:ext cx="4846320" cy="566928"/>
          </a:xfrm>
          <a:prstGeom prst="rect">
            <a:avLst/>
          </a:prstGeom>
          <a:noFill/>
        </p:spPr>
        <p:txBody>
          <a:bodyPr wrap="square" lIns="0" rIns="0" tIns="0" bIns="0" anchor="ctr">
            <a:spAutoFit/>
          </a:bodyPr>
          <a:lstStyle/>
          <a:p>
            <a:pPr algn="l"/>
            <a:r>
              <a:rPr sz="1600" b="0" i="0">
                <a:solidFill>
                  <a:schemeClr val="bg1"/>
                </a:solidFill>
              </a:rPr>
              <a:t>Follow @prompts/01_data_audit.md</a:t>
            </a:r>
          </a:p>
        </p:txBody>
      </p:sp>
      <p:sp>
        <p:nvSpPr>
          <p:cNvPr id="16" name="TextBox 15"/>
          <p:cNvSpPr txBox="1"/>
          <p:nvPr/>
        </p:nvSpPr>
        <p:spPr>
          <a:xfrm>
            <a:off x="6172200" y="4526280"/>
            <a:ext cx="5486400" cy="411480"/>
          </a:xfrm>
          <a:prstGeom prst="rect">
            <a:avLst/>
          </a:prstGeom>
          <a:noFill/>
        </p:spPr>
        <p:txBody>
          <a:bodyPr wrap="square" lIns="0" rIns="0" tIns="0" bIns="0" anchor="t">
            <a:spAutoFit/>
          </a:bodyPr>
          <a:lstStyle/>
          <a:p>
            <a:pPr algn="l"/>
            <a:r>
              <a:rPr sz="1400" b="0" i="0">
                <a:solidFill>
                  <a:schemeClr val="bg1"/>
                </a:solidFill>
              </a:rPr>
              <a:t>Answer key and finished outputs: </a:t>
            </a:r>
            <a:r>
              <a:rPr sz="1400" b="0" i="0">
                <a:solidFill>
                  <a:schemeClr val="bg1"/>
                </a:solidFill>
                <a:latin typeface="Courier New"/>
              </a:rPr>
              <a:t>part3_live_workflow/answer_key/</a:t>
            </a:r>
          </a:p>
        </p:txBody>
      </p:sp>
      <p:sp>
        <p:nvSpPr>
          <p:cNvPr id="17" name="TextBox 16"/>
          <p:cNvSpPr txBox="1"/>
          <p:nvPr/>
        </p:nvSpPr>
        <p:spPr>
          <a:xfrm>
            <a:off x="6172200" y="5257800"/>
            <a:ext cx="5486400" cy="548640"/>
          </a:xfrm>
          <a:prstGeom prst="rect">
            <a:avLst/>
          </a:prstGeom>
          <a:noFill/>
        </p:spPr>
        <p:txBody>
          <a:bodyPr wrap="square" lIns="0" rIns="0" tIns="0" bIns="0" anchor="t">
            <a:spAutoFit/>
          </a:bodyPr>
          <a:lstStyle/>
          <a:p>
            <a:pPr algn="l"/>
            <a:r>
              <a:rPr sz="2000" b="1" i="0">
                <a:solidFill>
                  <a:schemeClr val="bg1"/>
                </a:solidFill>
              </a:rPr>
              <a:t>Next: </a:t>
            </a:r>
            <a:r>
              <a:rPr sz="2000" b="0" i="0">
                <a:solidFill>
                  <a:schemeClr val="bg1"/>
                </a:solidFill>
              </a:rPr>
              <a:t>Part 4 · Who answers for this?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B1 · What the audit finds</a:t>
            </a:r>
          </a:p>
        </p:txBody>
      </p:sp>
      <p:sp>
        <p:nvSpPr>
          <p:cNvPr id="3" name="Text Placeholder 2"/>
          <p:cNvSpPr>
            <a:spLocks noGrp="1"/>
          </p:cNvSpPr>
          <p:nvPr>
            <p:ph type="body" idx="12" sz="quarter"/>
          </p:nvPr>
        </p:nvSpPr>
        <p:spPr/>
        <p:txBody>
          <a:bodyPr/>
          <a:lstStyle/>
          <a:p>
            <a:r>
              <a:t>Eight built-in issues. The codebook documents only #1 and #5</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810512"/>
          <a:ext cx="11164824" cy="4023360"/>
        </p:xfrm>
        <a:graphic>
          <a:graphicData uri="http://schemas.openxmlformats.org/drawingml/2006/table">
            <a:tbl>
              <a:tblPr firstRow="1">
                <a:tableStyleId>{5C22544A-7EE6-4342-B048-85BDC9FD1C3A}</a:tableStyleId>
              </a:tblPr>
              <a:tblGrid>
                <a:gridCol w="411480"/>
                <a:gridCol w="4069080"/>
                <a:gridCol w="3703320"/>
                <a:gridCol w="2980944"/>
              </a:tblGrid>
              <a:tr h="365760">
                <a:tc>
                  <a:txBody>
                    <a:bodyPr wrap="square"/>
                    <a:lstStyle/>
                    <a:p>
                      <a:r>
                        <a:rPr sz="1400" b="1">
                          <a:solidFill>
                            <a:schemeClr val="bg1"/>
                          </a:solidFill>
                        </a:rPr>
                        <a:t>#</a:t>
                      </a:r>
                    </a:p>
                  </a:txBody>
                  <a:tcPr marL="91440" marR="91440" marT="36576" marB="36576" anchor="ctr">
                    <a:solidFill>
                      <a:schemeClr val="tx2"/>
                    </a:solidFill>
                  </a:tcPr>
                </a:tc>
                <a:tc>
                  <a:txBody>
                    <a:bodyPr wrap="square"/>
                    <a:lstStyle/>
                    <a:p>
                      <a:r>
                        <a:rPr sz="1400" b="1">
                          <a:solidFill>
                            <a:schemeClr val="bg1"/>
                          </a:solidFill>
                        </a:rPr>
                        <a:t>Issue</a:t>
                      </a:r>
                    </a:p>
                  </a:txBody>
                  <a:tcPr marL="91440" marR="91440" marT="36576" marB="36576" anchor="ctr">
                    <a:solidFill>
                      <a:schemeClr val="tx2"/>
                    </a:solidFill>
                  </a:tcPr>
                </a:tc>
                <a:tc>
                  <a:txBody>
                    <a:bodyPr wrap="square"/>
                    <a:lstStyle/>
                    <a:p>
                      <a:r>
                        <a:rPr sz="1400" b="1">
                          <a:solidFill>
                            <a:schemeClr val="bg1"/>
                          </a:solidFill>
                        </a:rPr>
                        <a:t>Expected evidence</a:t>
                      </a:r>
                    </a:p>
                  </a:txBody>
                  <a:tcPr marL="91440" marR="91440" marT="36576" marB="36576" anchor="ctr">
                    <a:solidFill>
                      <a:schemeClr val="tx2"/>
                    </a:solidFill>
                  </a:tcPr>
                </a:tc>
                <a:tc>
                  <a:txBody>
                    <a:bodyPr wrap="square"/>
                    <a:lstStyle/>
                    <a:p>
                      <a:r>
                        <a:rPr sz="1400" b="1">
                          <a:solidFill>
                            <a:schemeClr val="bg1"/>
                          </a:solidFill>
                        </a:rPr>
                        <a:t>Fix to approve</a:t>
                      </a:r>
                    </a:p>
                  </a:txBody>
                  <a:tcPr marL="91440" marR="91440" marT="36576" marB="36576" anchor="ctr">
                    <a:solidFill>
                      <a:schemeClr val="tx2"/>
                    </a:solidFill>
                  </a:tcPr>
                </a:tc>
              </a:tr>
              <a:tr h="457200">
                <a:tc>
                  <a:txBody>
                    <a:bodyPr wrap="square"/>
                    <a:lstStyle/>
                    <a:p>
                      <a:r>
                        <a:rPr sz="1400" b="1">
                          <a:solidFill>
                            <a:schemeClr val="tx1"/>
                          </a:solidFill>
                        </a:rPr>
                        <a:t>1</a:t>
                      </a:r>
                    </a:p>
                  </a:txBody>
                  <a:tcPr marL="91440" marR="91440" marT="36576" marB="36576" anchor="ctr">
                    <a:solidFill>
                      <a:srgbClr val="F6E2E6"/>
                    </a:solidFill>
                  </a:tcPr>
                </a:tc>
                <a:tc>
                  <a:txBody>
                    <a:bodyPr wrap="square"/>
                    <a:lstStyle/>
                    <a:p>
                      <a:r>
                        <a:rPr sz="1400" b="0">
                          <a:solidFill>
                            <a:schemeClr val="tx1"/>
                          </a:solidFill>
                        </a:rPr>
                        <a:t>Mid-year movers have two core records (seq)</a:t>
                      </a:r>
                    </a:p>
                  </a:txBody>
                  <a:tcPr marL="91440" marR="91440" marT="36576" marB="36576" anchor="ctr">
                    <a:solidFill>
                      <a:srgbClr val="F6E2E6"/>
                    </a:solidFill>
                  </a:tcPr>
                </a:tc>
                <a:tc>
                  <a:txBody>
                    <a:bodyPr wrap="square"/>
                    <a:lstStyle/>
                    <a:p>
                      <a:r>
                        <a:rPr sz="1400" b="0">
                          <a:solidFill>
                            <a:schemeClr val="tx1"/>
                          </a:solidFill>
                        </a:rPr>
                        <a:t>2,592 student-years with seq = 2</a:t>
                      </a:r>
                    </a:p>
                  </a:txBody>
                  <a:tcPr marL="91440" marR="91440" marT="36576" marB="36576" anchor="ctr">
                    <a:solidFill>
                      <a:srgbClr val="F6E2E6"/>
                    </a:solidFill>
                  </a:tcPr>
                </a:tc>
                <a:tc>
                  <a:txBody>
                    <a:bodyPr wrap="square"/>
                    <a:lstStyle/>
                    <a:p>
                      <a:r>
                        <a:rPr sz="1400" b="0">
                          <a:solidFill>
                            <a:schemeClr val="tx1"/>
                          </a:solidFill>
                        </a:rPr>
                        <a:t>Keep highest seq</a:t>
                      </a:r>
                    </a:p>
                  </a:txBody>
                  <a:tcPr marL="91440" marR="91440" marT="36576" marB="36576" anchor="ctr">
                    <a:solidFill>
                      <a:srgbClr val="F6E2E6"/>
                    </a:solidFill>
                  </a:tcPr>
                </a:tc>
              </a:tr>
              <a:tr h="457200">
                <a:tc>
                  <a:txBody>
                    <a:bodyPr wrap="square"/>
                    <a:lstStyle/>
                    <a:p>
                      <a:r>
                        <a:rPr sz="1400" b="1">
                          <a:solidFill>
                            <a:schemeClr val="tx1"/>
                          </a:solidFill>
                        </a:rPr>
                        <a:t>2</a:t>
                      </a:r>
                    </a:p>
                  </a:txBody>
                  <a:tcPr marL="91440" marR="91440" marT="36576" marB="36576" anchor="ctr">
                    <a:solidFill>
                      <a:schemeClr val="bg1"/>
                    </a:solidFill>
                  </a:tcPr>
                </a:tc>
                <a:tc>
                  <a:txBody>
                    <a:bodyPr wrap="square"/>
                    <a:lstStyle/>
                    <a:p>
                      <a:r>
                        <a:rPr sz="1400" b="0">
                          <a:solidFill>
                            <a:schemeClr val="tx1"/>
                          </a:solidFill>
                        </a:rPr>
                        <a:t>Years before the study period</a:t>
                      </a:r>
                    </a:p>
                  </a:txBody>
                  <a:tcPr marL="91440" marR="91440" marT="36576" marB="36576" anchor="ctr">
                    <a:solidFill>
                      <a:schemeClr val="bg1"/>
                    </a:solidFill>
                  </a:tcPr>
                </a:tc>
                <a:tc>
                  <a:txBody>
                    <a:bodyPr wrap="square"/>
                    <a:lstStyle/>
                    <a:p>
                      <a:r>
                        <a:rPr sz="1400" b="0">
                          <a:solidFill>
                            <a:schemeClr val="tx1"/>
                          </a:solidFill>
                        </a:rPr>
                        <a:t>2,970 core rows in 2012–2013</a:t>
                      </a:r>
                    </a:p>
                  </a:txBody>
                  <a:tcPr marL="91440" marR="91440" marT="36576" marB="36576" anchor="ctr">
                    <a:solidFill>
                      <a:schemeClr val="bg1"/>
                    </a:solidFill>
                  </a:tcPr>
                </a:tc>
                <a:tc>
                  <a:txBody>
                    <a:bodyPr wrap="square"/>
                    <a:lstStyle/>
                    <a:p>
                      <a:r>
                        <a:rPr sz="1400" b="0">
                          <a:solidFill>
                            <a:schemeClr val="tx1"/>
                          </a:solidFill>
                        </a:rPr>
                        <a:t>Drop years &lt; 2014</a:t>
                      </a:r>
                    </a:p>
                  </a:txBody>
                  <a:tcPr marL="91440" marR="91440" marT="36576" marB="36576" anchor="ctr">
                    <a:solidFill>
                      <a:schemeClr val="bg1"/>
                    </a:solidFill>
                  </a:tcPr>
                </a:tc>
              </a:tr>
              <a:tr h="457200">
                <a:tc>
                  <a:txBody>
                    <a:bodyPr wrap="square"/>
                    <a:lstStyle/>
                    <a:p>
                      <a:r>
                        <a:rPr sz="1400" b="1">
                          <a:solidFill>
                            <a:schemeClr val="tx1"/>
                          </a:solidFill>
                        </a:rPr>
                        <a:t>3</a:t>
                      </a:r>
                    </a:p>
                  </a:txBody>
                  <a:tcPr marL="91440" marR="91440" marT="36576" marB="36576" anchor="ctr">
                    <a:solidFill>
                      <a:schemeClr val="bg1"/>
                    </a:solidFill>
                  </a:tcPr>
                </a:tc>
                <a:tc>
                  <a:txBody>
                    <a:bodyPr wrap="square"/>
                    <a:lstStyle/>
                    <a:p>
                      <a:r>
                        <a:rPr sz="1400" b="0">
                          <a:solidFill>
                            <a:schemeClr val="tx1"/>
                          </a:solidFill>
                        </a:rPr>
                        <a:t>ZIP formats</a:t>
                      </a:r>
                    </a:p>
                  </a:txBody>
                  <a:tcPr marL="91440" marR="91440" marT="36576" marB="36576" anchor="ctr">
                    <a:solidFill>
                      <a:schemeClr val="bg1"/>
                    </a:solidFill>
                  </a:tcPr>
                </a:tc>
                <a:tc>
                  <a:txBody>
                    <a:bodyPr wrap="square"/>
                    <a:lstStyle/>
                    <a:p>
                      <a:r>
                        <a:rPr sz="1400" b="0">
                          <a:solidFill>
                            <a:schemeClr val="tx1"/>
                          </a:solidFill>
                        </a:rPr>
                        <a:t>3,468 ZIP+4 and 450 blank (of 23,077)</a:t>
                      </a:r>
                    </a:p>
                  </a:txBody>
                  <a:tcPr marL="91440" marR="91440" marT="36576" marB="36576" anchor="ctr">
                    <a:solidFill>
                      <a:schemeClr val="bg1"/>
                    </a:solidFill>
                  </a:tcPr>
                </a:tc>
                <a:tc>
                  <a:txBody>
                    <a:bodyPr wrap="square"/>
                    <a:lstStyle/>
                    <a:p>
                      <a:r>
                        <a:rPr sz="1400" b="0">
                          <a:solidFill>
                            <a:schemeClr val="tx1"/>
                          </a:solidFill>
                        </a:rPr>
                        <a:t>Cut to 5 digits; drop blank</a:t>
                      </a:r>
                    </a:p>
                  </a:txBody>
                  <a:tcPr marL="91440" marR="91440" marT="36576" marB="36576" anchor="ctr">
                    <a:solidFill>
                      <a:schemeClr val="bg1"/>
                    </a:solidFill>
                  </a:tcPr>
                </a:tc>
              </a:tr>
              <a:tr h="457200">
                <a:tc>
                  <a:txBody>
                    <a:bodyPr wrap="square"/>
                    <a:lstStyle/>
                    <a:p>
                      <a:r>
                        <a:rPr sz="1400" b="1">
                          <a:solidFill>
                            <a:schemeClr val="tx1"/>
                          </a:solidFill>
                        </a:rPr>
                        <a:t>4</a:t>
                      </a:r>
                    </a:p>
                  </a:txBody>
                  <a:tcPr marL="91440" marR="91440" marT="36576" marB="36576" anchor="ctr">
                    <a:solidFill>
                      <a:schemeClr val="bg1"/>
                    </a:solidFill>
                  </a:tcPr>
                </a:tc>
                <a:tc>
                  <a:txBody>
                    <a:bodyPr wrap="square"/>
                    <a:lstStyle/>
                    <a:p>
                      <a:r>
                        <a:rPr sz="1400" b="0">
                          <a:solidFill>
                            <a:schemeClr val="tx1"/>
                          </a:solidFill>
                        </a:rPr>
                        <a:t>Out-of-area students</a:t>
                      </a:r>
                    </a:p>
                  </a:txBody>
                  <a:tcPr marL="91440" marR="91440" marT="36576" marB="36576" anchor="ctr">
                    <a:solidFill>
                      <a:schemeClr val="bg1"/>
                    </a:solidFill>
                  </a:tcPr>
                </a:tc>
                <a:tc>
                  <a:txBody>
                    <a:bodyPr wrap="square"/>
                    <a:lstStyle/>
                    <a:p>
                      <a:r>
                        <a:rPr sz="1400" b="0">
                          <a:solidFill>
                            <a:schemeClr val="tx1"/>
                          </a:solidFill>
                        </a:rPr>
                        <a:t>400 students in 641xx / 652xx / 658xx</a:t>
                      </a:r>
                    </a:p>
                  </a:txBody>
                  <a:tcPr marL="91440" marR="91440" marT="36576" marB="36576" anchor="ctr">
                    <a:solidFill>
                      <a:schemeClr val="bg1"/>
                    </a:solidFill>
                  </a:tcPr>
                </a:tc>
                <a:tc>
                  <a:txBody>
                    <a:bodyPr wrap="square"/>
                    <a:lstStyle/>
                    <a:p>
                      <a:r>
                        <a:rPr sz="1400" b="0">
                          <a:solidFill>
                            <a:schemeClr val="tx1"/>
                          </a:solidFill>
                        </a:rPr>
                        <a:t>Drop</a:t>
                      </a:r>
                    </a:p>
                  </a:txBody>
                  <a:tcPr marL="91440" marR="91440" marT="36576" marB="36576" anchor="ctr">
                    <a:solidFill>
                      <a:schemeClr val="bg1"/>
                    </a:solidFill>
                  </a:tcPr>
                </a:tc>
              </a:tr>
              <a:tr h="457200">
                <a:tc>
                  <a:txBody>
                    <a:bodyPr wrap="square"/>
                    <a:lstStyle/>
                    <a:p>
                      <a:r>
                        <a:rPr sz="1400" b="1">
                          <a:solidFill>
                            <a:schemeClr val="tx1"/>
                          </a:solidFill>
                        </a:rPr>
                        <a:t>5</a:t>
                      </a:r>
                    </a:p>
                  </a:txBody>
                  <a:tcPr marL="91440" marR="91440" marT="36576" marB="36576" anchor="ctr">
                    <a:solidFill>
                      <a:srgbClr val="F6E2E6"/>
                    </a:solidFill>
                  </a:tcPr>
                </a:tc>
                <a:tc>
                  <a:txBody>
                    <a:bodyPr wrap="square"/>
                    <a:lstStyle/>
                    <a:p>
                      <a:r>
                        <a:rPr sz="1400" b="0">
                          <a:solidFill>
                            <a:schemeClr val="tx1"/>
                          </a:solidFill>
                        </a:rPr>
                        <a:t>MAP +2000 flag</a:t>
                      </a:r>
                    </a:p>
                  </a:txBody>
                  <a:tcPr marL="91440" marR="91440" marT="36576" marB="36576" anchor="ctr">
                    <a:solidFill>
                      <a:srgbClr val="F6E2E6"/>
                    </a:solidFill>
                  </a:tcPr>
                </a:tc>
                <a:tc>
                  <a:txBody>
                    <a:bodyPr wrap="square"/>
                    <a:lstStyle/>
                    <a:p>
                      <a:r>
                        <a:rPr sz="1400" b="0">
                          <a:solidFill>
                            <a:schemeClr val="tx1"/>
                          </a:solidFill>
                        </a:rPr>
                        <a:t>548 of 13,697 scores ≥ 2000</a:t>
                      </a:r>
                    </a:p>
                  </a:txBody>
                  <a:tcPr marL="91440" marR="91440" marT="36576" marB="36576" anchor="ctr">
                    <a:solidFill>
                      <a:srgbClr val="F6E2E6"/>
                    </a:solidFill>
                  </a:tcPr>
                </a:tc>
                <a:tc>
                  <a:txBody>
                    <a:bodyPr wrap="square"/>
                    <a:lstStyle/>
                    <a:p>
                      <a:r>
                        <a:rPr sz="1400" b="0">
                          <a:solidFill>
                            <a:schemeClr val="tx1"/>
                          </a:solidFill>
                        </a:rPr>
                        <a:t>Subtract 2000</a:t>
                      </a:r>
                    </a:p>
                  </a:txBody>
                  <a:tcPr marL="91440" marR="91440" marT="36576" marB="36576" anchor="ctr">
                    <a:solidFill>
                      <a:srgbClr val="F6E2E6"/>
                    </a:solidFill>
                  </a:tcPr>
                </a:tc>
              </a:tr>
              <a:tr h="457200">
                <a:tc>
                  <a:txBody>
                    <a:bodyPr wrap="square"/>
                    <a:lstStyle/>
                    <a:p>
                      <a:r>
                        <a:rPr sz="1400" b="1">
                          <a:solidFill>
                            <a:schemeClr val="tx1"/>
                          </a:solidFill>
                        </a:rPr>
                        <a:t>6</a:t>
                      </a:r>
                    </a:p>
                  </a:txBody>
                  <a:tcPr marL="91440" marR="91440" marT="36576" marB="36576" anchor="ctr">
                    <a:solidFill>
                      <a:schemeClr val="bg1"/>
                    </a:solidFill>
                  </a:tcPr>
                </a:tc>
                <a:tc>
                  <a:txBody>
                    <a:bodyPr wrap="square"/>
                    <a:lstStyle/>
                    <a:p>
                      <a:r>
                        <a:rPr sz="1400" b="0">
                          <a:solidFill>
                            <a:schemeClr val="tx1"/>
                          </a:solidFill>
                        </a:rPr>
                        <a:t>No MAP tests in 2020; one subject missing</a:t>
                      </a:r>
                    </a:p>
                  </a:txBody>
                  <a:tcPr marL="91440" marR="91440" marT="36576" marB="36576" anchor="ctr">
                    <a:solidFill>
                      <a:schemeClr val="bg1"/>
                    </a:solidFill>
                  </a:tcPr>
                </a:tc>
                <a:tc>
                  <a:txBody>
                    <a:bodyPr wrap="square"/>
                    <a:lstStyle/>
                    <a:p>
                      <a:r>
                        <a:rPr sz="1400" b="0">
                          <a:solidFill>
                            <a:schemeClr val="tx1"/>
                          </a:solidFill>
                        </a:rPr>
                        <a:t>0 rows in 2020; 405 with one blank</a:t>
                      </a:r>
                    </a:p>
                  </a:txBody>
                  <a:tcPr marL="91440" marR="91440" marT="36576" marB="36576" anchor="ctr">
                    <a:solidFill>
                      <a:schemeClr val="bg1"/>
                    </a:solidFill>
                  </a:tcPr>
                </a:tc>
                <a:tc>
                  <a:txBody>
                    <a:bodyPr wrap="square"/>
                    <a:lstStyle/>
                    <a:p>
                      <a:r>
                        <a:rPr sz="1400" b="0">
                          <a:solidFill>
                            <a:schemeClr val="tx1"/>
                          </a:solidFill>
                        </a:rPr>
                        <a:t>Keep as NA</a:t>
                      </a:r>
                    </a:p>
                  </a:txBody>
                  <a:tcPr marL="91440" marR="91440" marT="36576" marB="36576" anchor="ctr">
                    <a:solidFill>
                      <a:schemeClr val="bg1"/>
                    </a:solidFill>
                  </a:tcPr>
                </a:tc>
              </a:tr>
              <a:tr h="457200">
                <a:tc>
                  <a:txBody>
                    <a:bodyPr wrap="square"/>
                    <a:lstStyle/>
                    <a:p>
                      <a:r>
                        <a:rPr sz="1400" b="1">
                          <a:solidFill>
                            <a:schemeClr val="tx1"/>
                          </a:solidFill>
                        </a:rPr>
                        <a:t>7</a:t>
                      </a:r>
                    </a:p>
                  </a:txBody>
                  <a:tcPr marL="91440" marR="91440" marT="36576" marB="36576" anchor="ctr">
                    <a:solidFill>
                      <a:schemeClr val="bg1"/>
                    </a:solidFill>
                  </a:tcPr>
                </a:tc>
                <a:tc>
                  <a:txBody>
                    <a:bodyPr wrap="square"/>
                    <a:lstStyle/>
                    <a:p>
                      <a:r>
                        <a:rPr sz="1400" b="0">
                          <a:solidFill>
                            <a:schemeClr val="tx1"/>
                          </a:solidFill>
                        </a:rPr>
                        <a:t>Discipline is long; missing lengths; one 180-day expulsion</a:t>
                      </a:r>
                    </a:p>
                  </a:txBody>
                  <a:tcPr marL="91440" marR="91440" marT="36576" marB="36576" anchor="ctr">
                    <a:solidFill>
                      <a:schemeClr val="bg1"/>
                    </a:solidFill>
                  </a:tcPr>
                </a:tc>
                <a:tc>
                  <a:txBody>
                    <a:bodyPr wrap="square"/>
                    <a:lstStyle/>
                    <a:p>
                      <a:r>
                        <a:rPr sz="1400" b="0">
                          <a:solidFill>
                            <a:schemeClr val="tx1"/>
                          </a:solidFill>
                        </a:rPr>
                        <a:t>2,652 incidents; 97 missing</a:t>
                      </a:r>
                    </a:p>
                  </a:txBody>
                  <a:tcPr marL="91440" marR="91440" marT="36576" marB="36576" anchor="ctr">
                    <a:solidFill>
                      <a:schemeClr val="bg1"/>
                    </a:solidFill>
                  </a:tcPr>
                </a:tc>
                <a:tc>
                  <a:txBody>
                    <a:bodyPr wrap="square"/>
                    <a:lstStyle/>
                    <a:p>
                      <a:r>
                        <a:rPr sz="1400" b="0">
                          <a:solidFill>
                            <a:schemeClr val="tx1"/>
                          </a:solidFill>
                        </a:rPr>
                        <a:t>Sum ISS + OSS days; no row = 0</a:t>
                      </a:r>
                    </a:p>
                  </a:txBody>
                  <a:tcPr marL="91440" marR="91440" marT="36576" marB="36576" anchor="ctr">
                    <a:solidFill>
                      <a:schemeClr val="bg1"/>
                    </a:solidFill>
                  </a:tcPr>
                </a:tc>
              </a:tr>
              <a:tr h="457200">
                <a:tc>
                  <a:txBody>
                    <a:bodyPr wrap="square"/>
                    <a:lstStyle/>
                    <a:p>
                      <a:r>
                        <a:rPr sz="1400" b="1">
                          <a:solidFill>
                            <a:schemeClr val="tx1"/>
                          </a:solidFill>
                        </a:rPr>
                        <a:t>8</a:t>
                      </a:r>
                    </a:p>
                  </a:txBody>
                  <a:tcPr marL="91440" marR="91440" marT="36576" marB="36576" anchor="ctr">
                    <a:solidFill>
                      <a:schemeClr val="bg1"/>
                    </a:solidFill>
                  </a:tcPr>
                </a:tc>
                <a:tc>
                  <a:txBody>
                    <a:bodyPr wrap="square"/>
                    <a:lstStyle/>
                    <a:p>
                      <a:r>
                        <a:rPr sz="1400" b="0">
                          <a:solidFill>
                            <a:schemeClr val="tx1"/>
                          </a:solidFill>
                        </a:rPr>
                        <a:t>Enrollment duplicates for movers</a:t>
                      </a:r>
                    </a:p>
                  </a:txBody>
                  <a:tcPr marL="91440" marR="91440" marT="36576" marB="36576" anchor="ctr">
                    <a:solidFill>
                      <a:schemeClr val="bg1"/>
                    </a:solidFill>
                  </a:tcPr>
                </a:tc>
                <a:tc>
                  <a:txBody>
                    <a:bodyPr wrap="square"/>
                    <a:lstStyle/>
                    <a:p>
                      <a:r>
                        <a:rPr sz="1400" b="0">
                          <a:solidFill>
                            <a:schemeClr val="tx1"/>
                          </a:solidFill>
                        </a:rPr>
                        <a:t>2,592 student-years with two rows</a:t>
                      </a:r>
                    </a:p>
                  </a:txBody>
                  <a:tcPr marL="91440" marR="91440" marT="36576" marB="36576" anchor="ctr">
                    <a:solidFill>
                      <a:schemeClr val="bg1"/>
                    </a:solidFill>
                  </a:tcPr>
                </a:tc>
                <a:tc>
                  <a:txBody>
                    <a:bodyPr wrap="square"/>
                    <a:lstStyle/>
                    <a:p>
                      <a:r>
                        <a:rPr sz="1400" b="0">
                          <a:solidFill>
                            <a:schemeClr val="tx1"/>
                          </a:solidFill>
                        </a:rPr>
                        <a:t>Collapse; weight attendance by days</a:t>
                      </a:r>
                    </a:p>
                  </a:txBody>
                  <a:tcPr marL="91440" marR="91440" marT="36576" marB="36576" anchor="ctr">
                    <a:solidFill>
                      <a:schemeClr val="bg1"/>
                    </a:solidFill>
                  </a:tcPr>
                </a:tc>
              </a:tr>
            </a:tbl>
          </a:graphicData>
        </a:graphic>
      </p:graphicFrame>
      <p:sp>
        <p:nvSpPr>
          <p:cNvPr id="1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Counts computed from data_raw/ on 2026-10-12. Highlighted rows: documented in the codebook.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B2 · Cleaning log and treatment cohorts</a:t>
            </a:r>
          </a:p>
        </p:txBody>
      </p:sp>
      <p:sp>
        <p:nvSpPr>
          <p:cNvPr id="3" name="Text Placeholder 2"/>
          <p:cNvSpPr>
            <a:spLocks noGrp="1"/>
          </p:cNvSpPr>
          <p:nvPr>
            <p:ph type="body" idx="12" sz="quarter"/>
          </p:nvPr>
        </p:nvSpPr>
        <p:spPr/>
        <p:txBody>
          <a:bodyPr/>
          <a:lstStyle/>
          <a:p>
            <a:r>
              <a:t>From answer_key/code/1000_clean_demo.Rmd</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6675120" cy="2926080"/>
        </p:xfrm>
        <a:graphic>
          <a:graphicData uri="http://schemas.openxmlformats.org/drawingml/2006/table">
            <a:tbl>
              <a:tblPr firstRow="1">
                <a:tableStyleId>{5C22544A-7EE6-4342-B048-85BDC9FD1C3A}</a:tableStyleId>
              </a:tblPr>
              <a:tblGrid>
                <a:gridCol w="4114800"/>
                <a:gridCol w="1280160"/>
                <a:gridCol w="1280160"/>
              </a:tblGrid>
              <a:tr h="411480">
                <a:tc>
                  <a:txBody>
                    <a:bodyPr wrap="square"/>
                    <a:lstStyle/>
                    <a:p>
                      <a:r>
                        <a:rPr sz="1500" b="1">
                          <a:solidFill>
                            <a:schemeClr val="bg1"/>
                          </a:solidFill>
                        </a:rPr>
                        <a:t>Step</a:t>
                      </a:r>
                    </a:p>
                  </a:txBody>
                  <a:tcPr marL="91440" marR="91440" marT="36576" marB="36576" anchor="ctr">
                    <a:solidFill>
                      <a:schemeClr val="tx2"/>
                    </a:solidFill>
                  </a:tcPr>
                </a:tc>
                <a:tc>
                  <a:txBody>
                    <a:bodyPr wrap="square"/>
                    <a:lstStyle/>
                    <a:p>
                      <a:r>
                        <a:rPr sz="1500" b="1">
                          <a:solidFill>
                            <a:schemeClr val="bg1"/>
                          </a:solidFill>
                        </a:rPr>
                        <a:t>Rows</a:t>
                      </a:r>
                    </a:p>
                  </a:txBody>
                  <a:tcPr marL="91440" marR="91440" marT="36576" marB="36576" anchor="ctr">
                    <a:solidFill>
                      <a:schemeClr val="tx2"/>
                    </a:solidFill>
                  </a:tcPr>
                </a:tc>
                <a:tc>
                  <a:txBody>
                    <a:bodyPr wrap="square"/>
                    <a:lstStyle/>
                    <a:p>
                      <a:r>
                        <a:rPr sz="1500" b="1">
                          <a:solidFill>
                            <a:schemeClr val="bg1"/>
                          </a:solidFill>
                        </a:rPr>
                        <a:t>Students</a:t>
                      </a:r>
                    </a:p>
                  </a:txBody>
                  <a:tcPr marL="91440" marR="91440" marT="36576" marB="36576" anchor="ctr">
                    <a:solidFill>
                      <a:schemeClr val="tx2"/>
                    </a:solidFill>
                  </a:tcPr>
                </a:tc>
              </a:tr>
              <a:tr h="502920">
                <a:tc>
                  <a:txBody>
                    <a:bodyPr wrap="square"/>
                    <a:lstStyle/>
                    <a:p>
                      <a:r>
                        <a:rPr sz="1500" b="1">
                          <a:solidFill>
                            <a:schemeClr val="tx1"/>
                          </a:solidFill>
                        </a:rPr>
                        <a:t>Raw core records</a:t>
                      </a:r>
                    </a:p>
                  </a:txBody>
                  <a:tcPr marL="91440" marR="91440" marT="36576" marB="36576" anchor="ctr">
                    <a:solidFill>
                      <a:schemeClr val="bg1"/>
                    </a:solidFill>
                  </a:tcPr>
                </a:tc>
                <a:tc>
                  <a:txBody>
                    <a:bodyPr wrap="square"/>
                    <a:lstStyle/>
                    <a:p>
                      <a:r>
                        <a:rPr sz="1500" b="0">
                          <a:solidFill>
                            <a:schemeClr val="tx1"/>
                          </a:solidFill>
                        </a:rPr>
                        <a:t>23,077</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Drop years before 2014</a:t>
                      </a:r>
                    </a:p>
                  </a:txBody>
                  <a:tcPr marL="91440" marR="91440" marT="36576" marB="36576" anchor="ctr">
                    <a:solidFill>
                      <a:schemeClr val="bg1"/>
                    </a:solidFill>
                  </a:tcPr>
                </a:tc>
                <a:tc>
                  <a:txBody>
                    <a:bodyPr wrap="square"/>
                    <a:lstStyle/>
                    <a:p>
                      <a:r>
                        <a:rPr sz="1500" b="0">
                          <a:solidFill>
                            <a:schemeClr val="tx1"/>
                          </a:solidFill>
                        </a:rPr>
                        <a:t>20,107</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Keep highest seq per student-year</a:t>
                      </a:r>
                    </a:p>
                  </a:txBody>
                  <a:tcPr marL="91440" marR="91440" marT="36576" marB="36576" anchor="ctr">
                    <a:solidFill>
                      <a:schemeClr val="bg1"/>
                    </a:solidFill>
                  </a:tcPr>
                </a:tc>
                <a:tc>
                  <a:txBody>
                    <a:bodyPr wrap="square"/>
                    <a:lstStyle/>
                    <a:p>
                      <a:r>
                        <a:rPr sz="1500" b="0">
                          <a:solidFill>
                            <a:schemeClr val="tx1"/>
                          </a:solidFill>
                        </a:rPr>
                        <a:t>17,698</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Drop blank ZIPs (ZIP+4 cut to 5 digits)</a:t>
                      </a:r>
                    </a:p>
                  </a:txBody>
                  <a:tcPr marL="91440" marR="91440" marT="36576" marB="36576" anchor="ctr">
                    <a:solidFill>
                      <a:schemeClr val="bg1"/>
                    </a:solidFill>
                  </a:tcPr>
                </a:tc>
                <a:tc>
                  <a:txBody>
                    <a:bodyPr wrap="square"/>
                    <a:lstStyle/>
                    <a:p>
                      <a:r>
                        <a:rPr sz="1500" b="0">
                          <a:solidFill>
                            <a:schemeClr val="tx1"/>
                          </a:solidFill>
                        </a:rPr>
                        <a:t>17,360</a:t>
                      </a:r>
                    </a:p>
                  </a:txBody>
                  <a:tcPr marL="91440" marR="91440" marT="36576" marB="36576" anchor="ctr">
                    <a:solidFill>
                      <a:schemeClr val="bg1"/>
                    </a:solidFill>
                  </a:tcPr>
                </a:tc>
                <a:tc>
                  <a:txBody>
                    <a:bodyPr wrap="square"/>
                    <a:lstStyle/>
                    <a:p>
                      <a:r>
                        <a:rPr sz="1500" b="0">
                          <a:solidFill>
                            <a:schemeClr val="tx1"/>
                          </a:solidFill>
                        </a:rPr>
                        <a:t>4,375</a:t>
                      </a:r>
                    </a:p>
                  </a:txBody>
                  <a:tcPr marL="91440" marR="91440" marT="36576" marB="36576" anchor="ctr">
                    <a:solidFill>
                      <a:schemeClr val="bg1"/>
                    </a:solidFill>
                  </a:tcPr>
                </a:tc>
              </a:tr>
              <a:tr h="502920">
                <a:tc>
                  <a:txBody>
                    <a:bodyPr wrap="square"/>
                    <a:lstStyle/>
                    <a:p>
                      <a:r>
                        <a:rPr sz="1500" b="1">
                          <a:solidFill>
                            <a:schemeClr val="tx1"/>
                          </a:solidFill>
                        </a:rPr>
                        <a:t>Keep St. Louis City/County ZIPs</a:t>
                      </a:r>
                    </a:p>
                  </a:txBody>
                  <a:tcPr marL="91440" marR="91440" marT="36576" marB="36576" anchor="ctr">
                    <a:solidFill>
                      <a:srgbClr val="F6E2E6"/>
                    </a:solidFill>
                  </a:tcPr>
                </a:tc>
                <a:tc>
                  <a:txBody>
                    <a:bodyPr wrap="square"/>
                    <a:lstStyle/>
                    <a:p>
                      <a:r>
                        <a:rPr sz="1500" b="1">
                          <a:solidFill>
                            <a:schemeClr val="tx2"/>
                          </a:solidFill>
                        </a:rPr>
                        <a:t>15,737</a:t>
                      </a:r>
                    </a:p>
                  </a:txBody>
                  <a:tcPr marL="91440" marR="91440" marT="36576" marB="36576" anchor="ctr">
                    <a:solidFill>
                      <a:srgbClr val="F6E2E6"/>
                    </a:solidFill>
                  </a:tcPr>
                </a:tc>
                <a:tc>
                  <a:txBody>
                    <a:bodyPr wrap="square"/>
                    <a:lstStyle/>
                    <a:p>
                      <a:r>
                        <a:rPr sz="1500" b="1">
                          <a:solidFill>
                            <a:schemeClr val="tx2"/>
                          </a:solidFill>
                        </a:rPr>
                        <a:t>3,975</a:t>
                      </a:r>
                    </a:p>
                  </a:txBody>
                  <a:tcPr marL="91440" marR="91440" marT="36576" marB="36576" anchor="ctr">
                    <a:solidFill>
                      <a:srgbClr val="F6E2E6"/>
                    </a:solidFill>
                  </a:tcPr>
                </a:tc>
              </a:tr>
            </a:tbl>
          </a:graphicData>
        </a:graphic>
      </p:graphicFrame>
      <p:graphicFrame>
        <p:nvGraphicFramePr>
          <p:cNvPr id="14" name="Table 13"/>
          <p:cNvGraphicFramePr>
            <a:graphicFrameLocks noGrp="1"/>
          </p:cNvGraphicFramePr>
          <p:nvPr/>
        </p:nvGraphicFramePr>
        <p:xfrm>
          <a:off x="7498079" y="1920240"/>
          <a:ext cx="4178808" cy="2990088"/>
        </p:xfrm>
        <a:graphic>
          <a:graphicData uri="http://schemas.openxmlformats.org/drawingml/2006/table">
            <a:tbl>
              <a:tblPr firstRow="1">
                <a:tableStyleId>{5C22544A-7EE6-4342-B048-85BDC9FD1C3A}</a:tableStyleId>
              </a:tblPr>
              <a:tblGrid>
                <a:gridCol w="1188720"/>
                <a:gridCol w="1463040"/>
                <a:gridCol w="1527048"/>
              </a:tblGrid>
              <a:tr h="411480">
                <a:tc>
                  <a:txBody>
                    <a:bodyPr wrap="square"/>
                    <a:lstStyle/>
                    <a:p>
                      <a:r>
                        <a:rPr sz="1500" b="1">
                          <a:solidFill>
                            <a:schemeClr val="bg1"/>
                          </a:solidFill>
                        </a:rPr>
                        <a:t>Cohort</a:t>
                      </a:r>
                    </a:p>
                  </a:txBody>
                  <a:tcPr marL="91440" marR="91440" marT="36576" marB="36576" anchor="ctr">
                    <a:solidFill>
                      <a:schemeClr val="tx2"/>
                    </a:solidFill>
                  </a:tcPr>
                </a:tc>
                <a:tc>
                  <a:txBody>
                    <a:bodyPr wrap="square"/>
                    <a:lstStyle/>
                    <a:p>
                      <a:r>
                        <a:rPr sz="1500" b="1">
                          <a:solidFill>
                            <a:schemeClr val="bg1"/>
                          </a:solidFill>
                        </a:rPr>
                        <a:t>CNI school</a:t>
                      </a:r>
                    </a:p>
                  </a:txBody>
                  <a:tcPr marL="91440" marR="91440" marT="36576" marB="36576" anchor="ctr">
                    <a:solidFill>
                      <a:schemeClr val="tx2"/>
                    </a:solidFill>
                  </a:tcPr>
                </a:tc>
                <a:tc>
                  <a:txBody>
                    <a:bodyPr wrap="square"/>
                    <a:lstStyle/>
                    <a:p>
                      <a:r>
                        <a:rPr sz="1500" b="1">
                          <a:solidFill>
                            <a:schemeClr val="bg1"/>
                          </a:solidFill>
                        </a:rPr>
                        <a:t>ZIP 63106</a:t>
                      </a:r>
                    </a:p>
                  </a:txBody>
                  <a:tcPr marL="91440" marR="91440" marT="36576" marB="36576" anchor="ctr">
                    <a:solidFill>
                      <a:schemeClr val="tx2"/>
                    </a:solidFill>
                  </a:tcPr>
                </a:tc>
              </a:tr>
              <a:tr h="429768">
                <a:tc>
                  <a:txBody>
                    <a:bodyPr wrap="square"/>
                    <a:lstStyle/>
                    <a:p>
                      <a:r>
                        <a:rPr sz="1500" b="1">
                          <a:solidFill>
                            <a:schemeClr val="tx1"/>
                          </a:solidFill>
                        </a:rPr>
                        <a:t>2019</a:t>
                      </a:r>
                    </a:p>
                  </a:txBody>
                  <a:tcPr marL="91440" marR="91440" marT="36576" marB="36576" anchor="ctr">
                    <a:solidFill>
                      <a:schemeClr val="bg1"/>
                    </a:solidFill>
                  </a:tcPr>
                </a:tc>
                <a:tc>
                  <a:txBody>
                    <a:bodyPr wrap="square"/>
                    <a:lstStyle/>
                    <a:p>
                      <a:r>
                        <a:rPr sz="1500" b="0">
                          <a:solidFill>
                            <a:schemeClr val="tx1"/>
                          </a:solidFill>
                        </a:rPr>
                        <a:t>214</a:t>
                      </a:r>
                    </a:p>
                  </a:txBody>
                  <a:tcPr marL="91440" marR="91440" marT="36576" marB="36576" anchor="ctr">
                    <a:solidFill>
                      <a:schemeClr val="bg1"/>
                    </a:solidFill>
                  </a:tcPr>
                </a:tc>
                <a:tc>
                  <a:txBody>
                    <a:bodyPr wrap="square"/>
                    <a:lstStyle/>
                    <a:p>
                      <a:r>
                        <a:rPr sz="1500" b="0">
                          <a:solidFill>
                            <a:schemeClr val="tx1"/>
                          </a:solidFill>
                        </a:rPr>
                        <a:t>74</a:t>
                      </a:r>
                    </a:p>
                  </a:txBody>
                  <a:tcPr marL="91440" marR="91440" marT="36576" marB="36576" anchor="ctr">
                    <a:solidFill>
                      <a:schemeClr val="bg1"/>
                    </a:solidFill>
                  </a:tcPr>
                </a:tc>
              </a:tr>
              <a:tr h="429768">
                <a:tc>
                  <a:txBody>
                    <a:bodyPr wrap="square"/>
                    <a:lstStyle/>
                    <a:p>
                      <a:r>
                        <a:rPr sz="1500" b="1">
                          <a:solidFill>
                            <a:schemeClr val="tx1"/>
                          </a:solidFill>
                        </a:rPr>
                        <a:t>2020</a:t>
                      </a:r>
                    </a:p>
                  </a:txBody>
                  <a:tcPr marL="91440" marR="91440" marT="36576" marB="36576" anchor="ctr">
                    <a:solidFill>
                      <a:schemeClr val="bg1"/>
                    </a:solidFill>
                  </a:tcPr>
                </a:tc>
                <a:tc>
                  <a:txBody>
                    <a:bodyPr wrap="square"/>
                    <a:lstStyle/>
                    <a:p>
                      <a:r>
                        <a:rPr sz="1500" b="0">
                          <a:solidFill>
                            <a:schemeClr val="tx1"/>
                          </a:solidFill>
                        </a:rPr>
                        <a:t>92</a:t>
                      </a:r>
                    </a:p>
                  </a:txBody>
                  <a:tcPr marL="91440" marR="91440" marT="36576" marB="36576" anchor="ctr">
                    <a:solidFill>
                      <a:schemeClr val="bg1"/>
                    </a:solidFill>
                  </a:tcPr>
                </a:tc>
                <a:tc>
                  <a:txBody>
                    <a:bodyPr wrap="square"/>
                    <a:lstStyle/>
                    <a:p>
                      <a:r>
                        <a:rPr sz="1500" b="0">
                          <a:solidFill>
                            <a:schemeClr val="tx1"/>
                          </a:solidFill>
                        </a:rPr>
                        <a:t>35</a:t>
                      </a:r>
                    </a:p>
                  </a:txBody>
                  <a:tcPr marL="91440" marR="91440" marT="36576" marB="36576" anchor="ctr">
                    <a:solidFill>
                      <a:schemeClr val="bg1"/>
                    </a:solidFill>
                  </a:tcPr>
                </a:tc>
              </a:tr>
              <a:tr h="429768">
                <a:tc>
                  <a:txBody>
                    <a:bodyPr wrap="square"/>
                    <a:lstStyle/>
                    <a:p>
                      <a:r>
                        <a:rPr sz="1500" b="1">
                          <a:solidFill>
                            <a:schemeClr val="tx1"/>
                          </a:solidFill>
                        </a:rPr>
                        <a:t>2021</a:t>
                      </a:r>
                    </a:p>
                  </a:txBody>
                  <a:tcPr marL="91440" marR="91440" marT="36576" marB="36576" anchor="ctr">
                    <a:solidFill>
                      <a:schemeClr val="bg1"/>
                    </a:solidFill>
                  </a:tcPr>
                </a:tc>
                <a:tc>
                  <a:txBody>
                    <a:bodyPr wrap="square"/>
                    <a:lstStyle/>
                    <a:p>
                      <a:r>
                        <a:rPr sz="1500" b="0">
                          <a:solidFill>
                            <a:schemeClr val="tx1"/>
                          </a:solidFill>
                        </a:rPr>
                        <a:t>91</a:t>
                      </a:r>
                    </a:p>
                  </a:txBody>
                  <a:tcPr marL="91440" marR="91440" marT="36576" marB="36576" anchor="ctr">
                    <a:solidFill>
                      <a:schemeClr val="bg1"/>
                    </a:solidFill>
                  </a:tcPr>
                </a:tc>
                <a:tc>
                  <a:txBody>
                    <a:bodyPr wrap="square"/>
                    <a:lstStyle/>
                    <a:p>
                      <a:r>
                        <a:rPr sz="1500" b="0">
                          <a:solidFill>
                            <a:schemeClr val="tx1"/>
                          </a:solidFill>
                        </a:rPr>
                        <a:t>32</a:t>
                      </a:r>
                    </a:p>
                  </a:txBody>
                  <a:tcPr marL="91440" marR="91440" marT="36576" marB="36576" anchor="ctr">
                    <a:solidFill>
                      <a:schemeClr val="bg1"/>
                    </a:solidFill>
                  </a:tcPr>
                </a:tc>
              </a:tr>
              <a:tr h="429768">
                <a:tc>
                  <a:txBody>
                    <a:bodyPr wrap="square"/>
                    <a:lstStyle/>
                    <a:p>
                      <a:r>
                        <a:rPr sz="1500" b="1">
                          <a:solidFill>
                            <a:schemeClr val="tx1"/>
                          </a:solidFill>
                        </a:rPr>
                        <a:t>2022</a:t>
                      </a:r>
                    </a:p>
                  </a:txBody>
                  <a:tcPr marL="91440" marR="91440" marT="36576" marB="36576" anchor="ctr">
                    <a:solidFill>
                      <a:schemeClr val="bg1"/>
                    </a:solidFill>
                  </a:tcPr>
                </a:tc>
                <a:tc>
                  <a:txBody>
                    <a:bodyPr wrap="square"/>
                    <a:lstStyle/>
                    <a:p>
                      <a:r>
                        <a:rPr sz="1500" b="0">
                          <a:solidFill>
                            <a:schemeClr val="tx1"/>
                          </a:solidFill>
                        </a:rPr>
                        <a:t>107</a:t>
                      </a:r>
                    </a:p>
                  </a:txBody>
                  <a:tcPr marL="91440" marR="91440" marT="36576" marB="36576" anchor="ctr">
                    <a:solidFill>
                      <a:schemeClr val="bg1"/>
                    </a:solidFill>
                  </a:tcPr>
                </a:tc>
                <a:tc>
                  <a:txBody>
                    <a:bodyPr wrap="square"/>
                    <a:lstStyle/>
                    <a:p>
                      <a:r>
                        <a:rPr sz="1500" b="0">
                          <a:solidFill>
                            <a:schemeClr val="tx1"/>
                          </a:solidFill>
                        </a:rPr>
                        <a:t>31</a:t>
                      </a:r>
                    </a:p>
                  </a:txBody>
                  <a:tcPr marL="91440" marR="91440" marT="36576" marB="36576" anchor="ctr">
                    <a:solidFill>
                      <a:schemeClr val="bg1"/>
                    </a:solidFill>
                  </a:tcPr>
                </a:tc>
              </a:tr>
              <a:tr h="429768">
                <a:tc>
                  <a:txBody>
                    <a:bodyPr wrap="square"/>
                    <a:lstStyle/>
                    <a:p>
                      <a:r>
                        <a:rPr sz="1500" b="1">
                          <a:solidFill>
                            <a:schemeClr val="tx1"/>
                          </a:solidFill>
                        </a:rPr>
                        <a:t>2023</a:t>
                      </a:r>
                    </a:p>
                  </a:txBody>
                  <a:tcPr marL="91440" marR="91440" marT="36576" marB="36576" anchor="ctr">
                    <a:solidFill>
                      <a:schemeClr val="bg1"/>
                    </a:solidFill>
                  </a:tcPr>
                </a:tc>
                <a:tc>
                  <a:txBody>
                    <a:bodyPr wrap="square"/>
                    <a:lstStyle/>
                    <a:p>
                      <a:r>
                        <a:rPr sz="1500" b="0">
                          <a:solidFill>
                            <a:schemeClr val="tx1"/>
                          </a:solidFill>
                        </a:rPr>
                        <a:t>132</a:t>
                      </a:r>
                    </a:p>
                  </a:txBody>
                  <a:tcPr marL="91440" marR="91440" marT="36576" marB="36576" anchor="ctr">
                    <a:solidFill>
                      <a:schemeClr val="bg1"/>
                    </a:solidFill>
                  </a:tcPr>
                </a:tc>
                <a:tc>
                  <a:txBody>
                    <a:bodyPr wrap="square"/>
                    <a:lstStyle/>
                    <a:p>
                      <a:r>
                        <a:rPr sz="1500" b="0">
                          <a:solidFill>
                            <a:schemeClr val="tx1"/>
                          </a:solidFill>
                        </a:rPr>
                        <a:t>54</a:t>
                      </a:r>
                    </a:p>
                  </a:txBody>
                  <a:tcPr marL="91440" marR="91440" marT="36576" marB="36576" anchor="ctr">
                    <a:solidFill>
                      <a:schemeClr val="bg1"/>
                    </a:solidFill>
                  </a:tcPr>
                </a:tc>
              </a:tr>
              <a:tr h="429768">
                <a:tc>
                  <a:txBody>
                    <a:bodyPr wrap="square"/>
                    <a:lstStyle/>
                    <a:p>
                      <a:r>
                        <a:rPr sz="1500" b="1">
                          <a:solidFill>
                            <a:schemeClr val="tx1"/>
                          </a:solidFill>
                        </a:rPr>
                        <a:t>Never</a:t>
                      </a:r>
                    </a:p>
                  </a:txBody>
                  <a:tcPr marL="91440" marR="91440" marT="36576" marB="36576" anchor="ctr">
                    <a:solidFill>
                      <a:schemeClr val="bg1"/>
                    </a:solidFill>
                  </a:tcPr>
                </a:tc>
                <a:tc>
                  <a:txBody>
                    <a:bodyPr wrap="square"/>
                    <a:lstStyle/>
                    <a:p>
                      <a:r>
                        <a:rPr sz="1500" b="0">
                          <a:solidFill>
                            <a:schemeClr val="tx1"/>
                          </a:solidFill>
                        </a:rPr>
                        <a:t>3,339</a:t>
                      </a:r>
                    </a:p>
                  </a:txBody>
                  <a:tcPr marL="91440" marR="91440" marT="36576" marB="36576" anchor="ctr">
                    <a:solidFill>
                      <a:schemeClr val="bg1"/>
                    </a:solidFill>
                  </a:tcPr>
                </a:tc>
                <a:tc>
                  <a:txBody>
                    <a:bodyPr wrap="square"/>
                    <a:lstStyle/>
                    <a:p>
                      <a:r>
                        <a:rPr sz="1500" b="0">
                          <a:solidFill>
                            <a:schemeClr val="tx1"/>
                          </a:solidFill>
                        </a:rPr>
                        <a:t>3,749</a:t>
                      </a:r>
                    </a:p>
                  </a:txBody>
                  <a:tcPr marL="91440" marR="91440" marT="36576" marB="36576" anchor="ctr">
                    <a:solidFill>
                      <a:schemeClr val="bg1"/>
                    </a:solidFill>
                  </a:tcPr>
                </a:tc>
              </a:tr>
            </a:tbl>
          </a:graphicData>
        </a:graphic>
      </p:graphicFrame>
      <p:sp>
        <p:nvSpPr>
          <p:cNvPr id="15" name="TextBox 14"/>
          <p:cNvSpPr txBox="1"/>
          <p:nvPr/>
        </p:nvSpPr>
        <p:spPr>
          <a:xfrm>
            <a:off x="512064" y="5120640"/>
            <a:ext cx="11164824" cy="548640"/>
          </a:xfrm>
          <a:prstGeom prst="rect">
            <a:avLst/>
          </a:prstGeom>
          <a:noFill/>
        </p:spPr>
        <p:txBody>
          <a:bodyPr wrap="square" lIns="0" rIns="0" tIns="0" bIns="0" anchor="ctr">
            <a:spAutoFit/>
          </a:bodyPr>
          <a:lstStyle/>
          <a:p>
            <a:pPr algn="l"/>
            <a:r>
              <a:rPr sz="1600" b="0" i="1">
                <a:solidFill>
                  <a:srgbClr val="5F5F5F"/>
                </a:solidFill>
              </a:rPr>
              <a:t>Treatment is absorbing (intent-to-treat): once a student is in a cohort, they stay in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B3 · Descriptives</a:t>
            </a:r>
          </a:p>
        </p:txBody>
      </p:sp>
      <p:sp>
        <p:nvSpPr>
          <p:cNvPr id="3" name="Text Placeholder 2"/>
          <p:cNvSpPr>
            <a:spLocks noGrp="1"/>
          </p:cNvSpPr>
          <p:nvPr>
            <p:ph type="body" idx="12" sz="quarter"/>
          </p:nvPr>
        </p:nvSpPr>
        <p:spPr/>
        <p:txBody>
          <a:bodyPr/>
          <a:lstStyle/>
          <a:p>
            <a:r>
              <a:t>Staggered timing; noisy pre-2019 trends are a picture, not an estimate</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4901184" cy="282092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2000_treatment_timing.png"/>
          <p:cNvPicPr>
            <a:picLocks noChangeAspect="1"/>
          </p:cNvPicPr>
          <p:nvPr/>
        </p:nvPicPr>
        <p:blipFill>
          <a:blip r:embed="rId3"/>
          <a:stretch>
            <a:fillRect/>
          </a:stretch>
        </p:blipFill>
        <p:spPr>
          <a:xfrm>
            <a:off x="585216" y="1874519"/>
            <a:ext cx="4754880" cy="2674620"/>
          </a:xfrm>
          <a:prstGeom prst="rect">
            <a:avLst/>
          </a:prstGeom>
        </p:spPr>
      </p:pic>
      <p:sp>
        <p:nvSpPr>
          <p:cNvPr id="15" name="Rounded Rectangle 14"/>
          <p:cNvSpPr/>
          <p:nvPr/>
        </p:nvSpPr>
        <p:spPr>
          <a:xfrm>
            <a:off x="5596128" y="1801367"/>
            <a:ext cx="6089904" cy="311810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2000_map_trends.png"/>
          <p:cNvPicPr>
            <a:picLocks noChangeAspect="1"/>
          </p:cNvPicPr>
          <p:nvPr/>
        </p:nvPicPr>
        <p:blipFill>
          <a:blip r:embed="rId4"/>
          <a:stretch>
            <a:fillRect/>
          </a:stretch>
        </p:blipFill>
        <p:spPr>
          <a:xfrm>
            <a:off x="5669280" y="1874519"/>
            <a:ext cx="5943600" cy="29718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B4 · Students: CSDID</a:t>
            </a:r>
          </a:p>
        </p:txBody>
      </p:sp>
      <p:sp>
        <p:nvSpPr>
          <p:cNvPr id="3" name="Text Placeholder 2"/>
          <p:cNvSpPr>
            <a:spLocks noGrp="1"/>
          </p:cNvSpPr>
          <p:nvPr>
            <p:ph type="body" idx="12" sz="quarter"/>
          </p:nvPr>
        </p:nvSpPr>
        <p:spPr/>
        <p:txBody>
          <a:bodyPr/>
          <a:lstStyle/>
          <a:p>
            <a:r>
              <a:t>MAP standardized within grade × year; not-yet-treated controls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6547104" cy="334670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000_event_study_school.png"/>
          <p:cNvPicPr>
            <a:picLocks noChangeAspect="1"/>
          </p:cNvPicPr>
          <p:nvPr/>
        </p:nvPicPr>
        <p:blipFill>
          <a:blip r:embed="rId3"/>
          <a:stretch>
            <a:fillRect/>
          </a:stretch>
        </p:blipFill>
        <p:spPr>
          <a:xfrm>
            <a:off x="585216" y="1874519"/>
            <a:ext cx="6400800" cy="3200400"/>
          </a:xfrm>
          <a:prstGeom prst="rect">
            <a:avLst/>
          </a:prstGeom>
        </p:spPr>
      </p:pic>
      <p:graphicFrame>
        <p:nvGraphicFramePr>
          <p:cNvPr id="15" name="Table 14"/>
          <p:cNvGraphicFramePr>
            <a:graphicFrameLocks noGrp="1"/>
          </p:cNvGraphicFramePr>
          <p:nvPr/>
        </p:nvGraphicFramePr>
        <p:xfrm>
          <a:off x="7269480" y="1828800"/>
          <a:ext cx="4407408" cy="2212848"/>
        </p:xfrm>
        <a:graphic>
          <a:graphicData uri="http://schemas.openxmlformats.org/drawingml/2006/table">
            <a:tbl>
              <a:tblPr firstRow="1">
                <a:tableStyleId>{5C22544A-7EE6-4342-B048-85BDC9FD1C3A}</a:tableStyleId>
              </a:tblPr>
              <a:tblGrid>
                <a:gridCol w="1463040"/>
                <a:gridCol w="1463040"/>
                <a:gridCol w="1481328"/>
              </a:tblGrid>
              <a:tr h="384048">
                <a:tc>
                  <a:txBody>
                    <a:bodyPr wrap="square"/>
                    <a:lstStyle/>
                    <a:p>
                      <a:r>
                        <a:rPr sz="1400" b="1">
                          <a:solidFill>
                            <a:schemeClr val="bg1"/>
                          </a:solidFill>
                        </a:rPr>
                        <a:t>Since entry</a:t>
                      </a:r>
                    </a:p>
                  </a:txBody>
                  <a:tcPr marL="91440" marR="91440" marT="36576" marB="36576" anchor="ctr">
                    <a:solidFill>
                      <a:schemeClr val="tx2"/>
                    </a:solidFill>
                  </a:tcPr>
                </a:tc>
                <a:tc>
                  <a:txBody>
                    <a:bodyPr wrap="square"/>
                    <a:lstStyle/>
                    <a:p>
                      <a:r>
                        <a:rPr sz="1400" b="1">
                          <a:solidFill>
                            <a:schemeClr val="bg1"/>
                          </a:solidFill>
                        </a:rPr>
                        <a:t>ELA (pts)</a:t>
                      </a:r>
                    </a:p>
                  </a:txBody>
                  <a:tcPr marL="91440" marR="91440" marT="36576" marB="36576" anchor="ctr">
                    <a:solidFill>
                      <a:schemeClr val="tx2"/>
                    </a:solidFill>
                  </a:tcPr>
                </a:tc>
                <a:tc>
                  <a:txBody>
                    <a:bodyPr wrap="square"/>
                    <a:lstStyle/>
                    <a:p>
                      <a:r>
                        <a:rPr sz="1400" b="1">
                          <a:solidFill>
                            <a:schemeClr val="bg1"/>
                          </a:solidFill>
                        </a:rPr>
                        <a:t>Math (pts)</a:t>
                      </a:r>
                    </a:p>
                  </a:txBody>
                  <a:tcPr marL="91440" marR="91440" marT="36576" marB="36576" anchor="ctr">
                    <a:solidFill>
                      <a:schemeClr val="tx2"/>
                    </a:solidFill>
                  </a:tcPr>
                </a:tc>
              </a:tr>
              <a:tr h="365760">
                <a:tc>
                  <a:txBody>
                    <a:bodyPr wrap="square"/>
                    <a:lstStyle/>
                    <a:p>
                      <a:r>
                        <a:rPr sz="1400" b="1">
                          <a:solidFill>
                            <a:schemeClr val="tx1"/>
                          </a:solidFill>
                        </a:rPr>
                        <a:t>Year 1</a:t>
                      </a:r>
                    </a:p>
                  </a:txBody>
                  <a:tcPr marL="91440" marR="91440" marT="36576" marB="36576" anchor="ctr">
                    <a:solidFill>
                      <a:schemeClr val="bg1"/>
                    </a:solidFill>
                  </a:tcPr>
                </a:tc>
                <a:tc>
                  <a:txBody>
                    <a:bodyPr wrap="square"/>
                    <a:lstStyle/>
                    <a:p>
                      <a:r>
                        <a:rPr sz="1400" b="0">
                          <a:solidFill>
                            <a:schemeClr val="tx1"/>
                          </a:solidFill>
                        </a:rPr>
                        <a:t>+4.2</a:t>
                      </a:r>
                    </a:p>
                  </a:txBody>
                  <a:tcPr marL="91440" marR="91440" marT="36576" marB="36576" anchor="ctr">
                    <a:solidFill>
                      <a:schemeClr val="bg1"/>
                    </a:solidFill>
                  </a:tcPr>
                </a:tc>
                <a:tc>
                  <a:txBody>
                    <a:bodyPr wrap="square"/>
                    <a:lstStyle/>
                    <a:p>
                      <a:r>
                        <a:rPr sz="1400" b="0">
                          <a:solidFill>
                            <a:schemeClr val="tx1"/>
                          </a:solidFill>
                        </a:rPr>
                        <a:t>+4.6</a:t>
                      </a:r>
                    </a:p>
                  </a:txBody>
                  <a:tcPr marL="91440" marR="91440" marT="36576" marB="36576" anchor="ctr">
                    <a:solidFill>
                      <a:schemeClr val="bg1"/>
                    </a:solidFill>
                  </a:tcPr>
                </a:tc>
              </a:tr>
              <a:tr h="365760">
                <a:tc>
                  <a:txBody>
                    <a:bodyPr wrap="square"/>
                    <a:lstStyle/>
                    <a:p>
                      <a:r>
                        <a:rPr sz="1400" b="1">
                          <a:solidFill>
                            <a:schemeClr val="tx1"/>
                          </a:solidFill>
                        </a:rPr>
                        <a:t>Year 2</a:t>
                      </a:r>
                    </a:p>
                  </a:txBody>
                  <a:tcPr marL="91440" marR="91440" marT="36576" marB="36576" anchor="ctr">
                    <a:solidFill>
                      <a:schemeClr val="bg1"/>
                    </a:solidFill>
                  </a:tcPr>
                </a:tc>
                <a:tc>
                  <a:txBody>
                    <a:bodyPr wrap="square"/>
                    <a:lstStyle/>
                    <a:p>
                      <a:r>
                        <a:rPr sz="1400" b="0">
                          <a:solidFill>
                            <a:schemeClr val="tx1"/>
                          </a:solidFill>
                        </a:rPr>
                        <a:t>+7.0</a:t>
                      </a:r>
                    </a:p>
                  </a:txBody>
                  <a:tcPr marL="91440" marR="91440" marT="36576" marB="36576" anchor="ctr">
                    <a:solidFill>
                      <a:schemeClr val="bg1"/>
                    </a:solidFill>
                  </a:tcPr>
                </a:tc>
                <a:tc>
                  <a:txBody>
                    <a:bodyPr wrap="square"/>
                    <a:lstStyle/>
                    <a:p>
                      <a:r>
                        <a:rPr sz="1400" b="0">
                          <a:solidFill>
                            <a:schemeClr val="tx1"/>
                          </a:solidFill>
                        </a:rPr>
                        <a:t>+8.0</a:t>
                      </a:r>
                    </a:p>
                  </a:txBody>
                  <a:tcPr marL="91440" marR="91440" marT="36576" marB="36576" anchor="ctr">
                    <a:solidFill>
                      <a:schemeClr val="bg1"/>
                    </a:solidFill>
                  </a:tcPr>
                </a:tc>
              </a:tr>
              <a:tr h="365760">
                <a:tc>
                  <a:txBody>
                    <a:bodyPr wrap="square"/>
                    <a:lstStyle/>
                    <a:p>
                      <a:r>
                        <a:rPr sz="1400" b="1">
                          <a:solidFill>
                            <a:schemeClr val="tx1"/>
                          </a:solidFill>
                        </a:rPr>
                        <a:t>Year 3</a:t>
                      </a:r>
                    </a:p>
                  </a:txBody>
                  <a:tcPr marL="91440" marR="91440" marT="36576" marB="36576" anchor="ctr">
                    <a:solidFill>
                      <a:srgbClr val="F6E2E6"/>
                    </a:solidFill>
                  </a:tcPr>
                </a:tc>
                <a:tc>
                  <a:txBody>
                    <a:bodyPr wrap="square"/>
                    <a:lstStyle/>
                    <a:p>
                      <a:r>
                        <a:rPr sz="1400" b="1">
                          <a:solidFill>
                            <a:schemeClr val="tx2"/>
                          </a:solidFill>
                        </a:rPr>
                        <a:t>+12.9</a:t>
                      </a:r>
                    </a:p>
                  </a:txBody>
                  <a:tcPr marL="91440" marR="91440" marT="36576" marB="36576" anchor="ctr">
                    <a:solidFill>
                      <a:srgbClr val="F6E2E6"/>
                    </a:solidFill>
                  </a:tcPr>
                </a:tc>
                <a:tc>
                  <a:txBody>
                    <a:bodyPr wrap="square"/>
                    <a:lstStyle/>
                    <a:p>
                      <a:r>
                        <a:rPr sz="1400" b="1">
                          <a:solidFill>
                            <a:schemeClr val="tx2"/>
                          </a:solidFill>
                        </a:rPr>
                        <a:t>+13.8</a:t>
                      </a:r>
                    </a:p>
                  </a:txBody>
                  <a:tcPr marL="91440" marR="91440" marT="36576" marB="36576" anchor="ctr">
                    <a:solidFill>
                      <a:srgbClr val="F6E2E6"/>
                    </a:solidFill>
                  </a:tcPr>
                </a:tc>
              </a:tr>
              <a:tr h="365760">
                <a:tc>
                  <a:txBody>
                    <a:bodyPr wrap="square"/>
                    <a:lstStyle/>
                    <a:p>
                      <a:r>
                        <a:rPr sz="1400" b="1">
                          <a:solidFill>
                            <a:schemeClr val="tx1"/>
                          </a:solidFill>
                        </a:rPr>
                        <a:t>Year 4</a:t>
                      </a:r>
                    </a:p>
                  </a:txBody>
                  <a:tcPr marL="91440" marR="91440" marT="36576" marB="36576" anchor="ctr">
                    <a:solidFill>
                      <a:schemeClr val="bg1"/>
                    </a:solidFill>
                  </a:tcPr>
                </a:tc>
                <a:tc>
                  <a:txBody>
                    <a:bodyPr wrap="square"/>
                    <a:lstStyle/>
                    <a:p>
                      <a:r>
                        <a:rPr sz="1400" b="0">
                          <a:solidFill>
                            <a:schemeClr val="tx1"/>
                          </a:solidFill>
                        </a:rPr>
                        <a:t>+4.6</a:t>
                      </a:r>
                    </a:p>
                  </a:txBody>
                  <a:tcPr marL="91440" marR="91440" marT="36576" marB="36576" anchor="ctr">
                    <a:solidFill>
                      <a:schemeClr val="bg1"/>
                    </a:solidFill>
                  </a:tcPr>
                </a:tc>
                <a:tc>
                  <a:txBody>
                    <a:bodyPr wrap="square"/>
                    <a:lstStyle/>
                    <a:p>
                      <a:r>
                        <a:rPr sz="1400" b="0">
                          <a:solidFill>
                            <a:schemeClr val="tx1"/>
                          </a:solidFill>
                        </a:rPr>
                        <a:t>+4.7</a:t>
                      </a:r>
                    </a:p>
                  </a:txBody>
                  <a:tcPr marL="91440" marR="91440" marT="36576" marB="36576" anchor="ctr">
                    <a:solidFill>
                      <a:schemeClr val="bg1"/>
                    </a:solidFill>
                  </a:tcPr>
                </a:tc>
              </a:tr>
              <a:tr h="365760">
                <a:tc>
                  <a:txBody>
                    <a:bodyPr wrap="square"/>
                    <a:lstStyle/>
                    <a:p>
                      <a:r>
                        <a:rPr sz="1400" b="1">
                          <a:solidFill>
                            <a:schemeClr val="tx1"/>
                          </a:solidFill>
                        </a:rPr>
                        <a:t>Year 5</a:t>
                      </a:r>
                    </a:p>
                  </a:txBody>
                  <a:tcPr marL="91440" marR="91440" marT="36576" marB="36576" anchor="ctr">
                    <a:solidFill>
                      <a:schemeClr val="bg1"/>
                    </a:solidFill>
                  </a:tcPr>
                </a:tc>
                <a:tc>
                  <a:txBody>
                    <a:bodyPr wrap="square"/>
                    <a:lstStyle/>
                    <a:p>
                      <a:r>
                        <a:rPr sz="1400" b="0">
                          <a:solidFill>
                            <a:schemeClr val="tx1"/>
                          </a:solidFill>
                        </a:rPr>
                        <a:t>+4.3</a:t>
                      </a:r>
                    </a:p>
                  </a:txBody>
                  <a:tcPr marL="91440" marR="91440" marT="36576" marB="36576" anchor="ctr">
                    <a:solidFill>
                      <a:schemeClr val="bg1"/>
                    </a:solidFill>
                  </a:tcPr>
                </a:tc>
                <a:tc>
                  <a:txBody>
                    <a:bodyPr wrap="square"/>
                    <a:lstStyle/>
                    <a:p>
                      <a:r>
                        <a:rPr sz="1400" b="0">
                          <a:solidFill>
                            <a:schemeClr val="tx1"/>
                          </a:solidFill>
                        </a:rPr>
                        <a:t>+4.9</a:t>
                      </a:r>
                    </a:p>
                  </a:txBody>
                  <a:tcPr marL="91440" marR="91440" marT="36576" marB="36576" anchor="ctr">
                    <a:solidFill>
                      <a:schemeClr val="bg1"/>
                    </a:solidFill>
                  </a:tcPr>
                </a:tc>
              </a:tr>
            </a:tbl>
          </a:graphicData>
        </a:graphic>
      </p:graphicFrame>
      <p:sp>
        <p:nvSpPr>
          <p:cNvPr id="16" name="Rounded Rectangle 15"/>
          <p:cNvSpPr/>
          <p:nvPr/>
        </p:nvSpPr>
        <p:spPr>
          <a:xfrm>
            <a:off x="7269480" y="4206240"/>
            <a:ext cx="4407408" cy="13258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98079" y="4206240"/>
            <a:ext cx="4023360" cy="1325880"/>
          </a:xfrm>
          <a:prstGeom prst="rect">
            <a:avLst/>
          </a:prstGeom>
          <a:noFill/>
        </p:spPr>
        <p:txBody>
          <a:bodyPr wrap="square" lIns="0" rIns="0" tIns="0" bIns="0" anchor="ctr">
            <a:spAutoFit/>
          </a:bodyPr>
          <a:lstStyle/>
          <a:p>
            <a:pPr algn="l">
              <a:spcAft>
                <a:spcPts val="200"/>
              </a:spcAft>
            </a:pPr>
            <a:r>
              <a:rPr sz="1500" b="1" i="0">
                <a:solidFill>
                  <a:schemeClr val="bg1"/>
                </a:solidFill>
              </a:rPr>
              <a:t>Pitfall, raw points, year 3: </a:t>
            </a:r>
          </a:p>
          <a:p>
            <a:pPr algn="l">
              <a:spcAft>
                <a:spcPts val="200"/>
              </a:spcAft>
            </a:pPr>
            <a:r>
              <a:rPr sz="2000" b="1" i="0">
                <a:solidFill>
                  <a:schemeClr val="bg1"/>
                </a:solidFill>
              </a:rPr>
              <a:t>ELA +23 · Math +25</a:t>
            </a:r>
          </a:p>
          <a:p>
            <a:pPr algn="l">
              <a:spcAft>
                <a:spcPts val="200"/>
              </a:spcAft>
            </a:pPr>
            <a:r>
              <a:rPr sz="1500" b="0" i="0">
                <a:solidFill>
                  <a:schemeClr val="bg1"/>
                </a:solidFill>
              </a:rPr>
              <a:t>vs. the standardized row above (Slide 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B5 · Neighborhood: synthetic control</a:t>
            </a:r>
          </a:p>
        </p:txBody>
      </p:sp>
      <p:sp>
        <p:nvSpPr>
          <p:cNvPr id="3" name="Text Placeholder 2"/>
          <p:cNvSpPr>
            <a:spLocks noGrp="1"/>
          </p:cNvSpPr>
          <p:nvPr>
            <p:ph type="body" idx="12" sz="quarter"/>
          </p:nvPr>
        </p:nvSpPr>
        <p:spPr/>
        <p:txBody>
          <a:bodyPr/>
          <a:lstStyle/>
          <a:p>
            <a:r>
              <a:t>ZIP 63106 vs. a weighted combination of 43 donor ZIPs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7095744" cy="327355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100_synth_trends.png"/>
          <p:cNvPicPr>
            <a:picLocks noChangeAspect="1"/>
          </p:cNvPicPr>
          <p:nvPr/>
        </p:nvPicPr>
        <p:blipFill>
          <a:blip r:embed="rId3"/>
          <a:stretch>
            <a:fillRect/>
          </a:stretch>
        </p:blipFill>
        <p:spPr>
          <a:xfrm>
            <a:off x="585216" y="1874519"/>
            <a:ext cx="6949440" cy="3127248"/>
          </a:xfrm>
          <a:prstGeom prst="rect">
            <a:avLst/>
          </a:prstGeom>
        </p:spPr>
      </p:pic>
      <p:graphicFrame>
        <p:nvGraphicFramePr>
          <p:cNvPr id="15" name="Table 14"/>
          <p:cNvGraphicFramePr>
            <a:graphicFrameLocks noGrp="1"/>
          </p:cNvGraphicFramePr>
          <p:nvPr/>
        </p:nvGraphicFramePr>
        <p:xfrm>
          <a:off x="7818120" y="1828800"/>
          <a:ext cx="3858768" cy="2331720"/>
        </p:xfrm>
        <a:graphic>
          <a:graphicData uri="http://schemas.openxmlformats.org/drawingml/2006/table">
            <a:tbl>
              <a:tblPr firstRow="1">
                <a:tableStyleId>{5C22544A-7EE6-4342-B048-85BDC9FD1C3A}</a:tableStyleId>
              </a:tblPr>
              <a:tblGrid>
                <a:gridCol w="731520"/>
                <a:gridCol w="1097280"/>
                <a:gridCol w="978408"/>
                <a:gridCol w="1051560"/>
              </a:tblGrid>
              <a:tr h="502920">
                <a:tc>
                  <a:txBody>
                    <a:bodyPr wrap="square"/>
                    <a:lstStyle/>
                    <a:p>
                      <a:r>
                        <a:rPr sz="1300" b="1">
                          <a:solidFill>
                            <a:schemeClr val="bg1"/>
                          </a:solidFill>
                        </a:rPr>
                        <a:t>Year</a:t>
                      </a:r>
                    </a:p>
                  </a:txBody>
                  <a:tcPr marL="91440" marR="91440" marT="36576" marB="36576" anchor="ctr">
                    <a:solidFill>
                      <a:schemeClr val="tx2"/>
                    </a:solidFill>
                  </a:tcPr>
                </a:tc>
                <a:tc>
                  <a:txBody>
                    <a:bodyPr wrap="square"/>
                    <a:lstStyle/>
                    <a:p>
                      <a:r>
                        <a:rPr sz="1300" b="1">
                          <a:solidFill>
                            <a:schemeClr val="bg1"/>
                          </a:solidFill>
                        </a:rPr>
                        <a:t>Pop.</a:t>
                      </a:r>
                    </a:p>
                  </a:txBody>
                  <a:tcPr marL="91440" marR="91440" marT="36576" marB="36576" anchor="ctr">
                    <a:solidFill>
                      <a:schemeClr val="tx2"/>
                    </a:solidFill>
                  </a:tcPr>
                </a:tc>
                <a:tc>
                  <a:txBody>
                    <a:bodyPr wrap="square"/>
                    <a:lstStyle/>
                    <a:p>
                      <a:r>
                        <a:rPr sz="1300" b="1">
                          <a:solidFill>
                            <a:schemeClr val="bg1"/>
                          </a:solidFill>
                        </a:rPr>
                        <a:t>Share Black</a:t>
                      </a:r>
                    </a:p>
                  </a:txBody>
                  <a:tcPr marL="91440" marR="91440" marT="36576" marB="36576" anchor="ctr">
                    <a:solidFill>
                      <a:schemeClr val="tx2"/>
                    </a:solidFill>
                  </a:tcPr>
                </a:tc>
                <a:tc>
                  <a:txBody>
                    <a:bodyPr wrap="square"/>
                    <a:lstStyle/>
                    <a:p>
                      <a:r>
                        <a:rPr sz="1300" b="1">
                          <a:solidFill>
                            <a:schemeClr val="bg1"/>
                          </a:solidFill>
                        </a:rPr>
                        <a:t>Income</a:t>
                      </a:r>
                    </a:p>
                  </a:txBody>
                  <a:tcPr marL="91440" marR="91440" marT="36576" marB="36576" anchor="ctr">
                    <a:solidFill>
                      <a:schemeClr val="tx2"/>
                    </a:solidFill>
                  </a:tcPr>
                </a:tc>
              </a:tr>
              <a:tr h="365760">
                <a:tc>
                  <a:txBody>
                    <a:bodyPr wrap="square"/>
                    <a:lstStyle/>
                    <a:p>
                      <a:r>
                        <a:rPr sz="1300" b="1">
                          <a:solidFill>
                            <a:schemeClr val="tx1"/>
                          </a:solidFill>
                        </a:rPr>
                        <a:t>2019</a:t>
                      </a:r>
                    </a:p>
                  </a:txBody>
                  <a:tcPr marL="91440" marR="91440" marT="36576" marB="36576" anchor="ctr">
                    <a:solidFill>
                      <a:schemeClr val="bg1"/>
                    </a:solidFill>
                  </a:tcPr>
                </a:tc>
                <a:tc>
                  <a:txBody>
                    <a:bodyPr wrap="square"/>
                    <a:lstStyle/>
                    <a:p>
                      <a:r>
                        <a:rPr sz="1300" b="0">
                          <a:solidFill>
                            <a:schemeClr val="tx1"/>
                          </a:solidFill>
                        </a:rPr>
                        <a:t>-11.7%</a:t>
                      </a:r>
                    </a:p>
                  </a:txBody>
                  <a:tcPr marL="91440" marR="91440" marT="36576" marB="36576" anchor="ctr">
                    <a:solidFill>
                      <a:schemeClr val="bg1"/>
                    </a:solidFill>
                  </a:tcPr>
                </a:tc>
                <a:tc>
                  <a:txBody>
                    <a:bodyPr wrap="square"/>
                    <a:lstStyle/>
                    <a:p>
                      <a:r>
                        <a:rPr sz="1300" b="0">
                          <a:solidFill>
                            <a:schemeClr val="tx1"/>
                          </a:solidFill>
                        </a:rPr>
                        <a:t>+0.005</a:t>
                      </a:r>
                    </a:p>
                  </a:txBody>
                  <a:tcPr marL="91440" marR="91440" marT="36576" marB="36576" anchor="ctr">
                    <a:solidFill>
                      <a:schemeClr val="bg1"/>
                    </a:solidFill>
                  </a:tcPr>
                </a:tc>
                <a:tc>
                  <a:txBody>
                    <a:bodyPr wrap="square"/>
                    <a:lstStyle/>
                    <a:p>
                      <a:r>
                        <a:rPr sz="1300" b="0">
                          <a:solidFill>
                            <a:schemeClr val="tx1"/>
                          </a:solidFill>
                        </a:rPr>
                        <a:t>-2.1%</a:t>
                      </a:r>
                    </a:p>
                  </a:txBody>
                  <a:tcPr marL="91440" marR="91440" marT="36576" marB="36576" anchor="ctr">
                    <a:solidFill>
                      <a:schemeClr val="bg1"/>
                    </a:solidFill>
                  </a:tcPr>
                </a:tc>
              </a:tr>
              <a:tr h="365760">
                <a:tc>
                  <a:txBody>
                    <a:bodyPr wrap="square"/>
                    <a:lstStyle/>
                    <a:p>
                      <a:r>
                        <a:rPr sz="1300" b="1">
                          <a:solidFill>
                            <a:schemeClr val="tx1"/>
                          </a:solidFill>
                        </a:rPr>
                        <a:t>2020</a:t>
                      </a:r>
                    </a:p>
                  </a:txBody>
                  <a:tcPr marL="91440" marR="91440" marT="36576" marB="36576" anchor="ctr">
                    <a:solidFill>
                      <a:schemeClr val="bg1"/>
                    </a:solidFill>
                  </a:tcPr>
                </a:tc>
                <a:tc>
                  <a:txBody>
                    <a:bodyPr wrap="square"/>
                    <a:lstStyle/>
                    <a:p>
                      <a:r>
                        <a:rPr sz="1300" b="0">
                          <a:solidFill>
                            <a:schemeClr val="tx1"/>
                          </a:solidFill>
                        </a:rPr>
                        <a:t>-4.0%</a:t>
                      </a:r>
                    </a:p>
                  </a:txBody>
                  <a:tcPr marL="91440" marR="91440" marT="36576" marB="36576" anchor="ctr">
                    <a:solidFill>
                      <a:schemeClr val="bg1"/>
                    </a:solidFill>
                  </a:tcPr>
                </a:tc>
                <a:tc>
                  <a:txBody>
                    <a:bodyPr wrap="square"/>
                    <a:lstStyle/>
                    <a:p>
                      <a:r>
                        <a:rPr sz="1300" b="0">
                          <a:solidFill>
                            <a:schemeClr val="tx1"/>
                          </a:solidFill>
                        </a:rPr>
                        <a:t>+0.004</a:t>
                      </a:r>
                    </a:p>
                  </a:txBody>
                  <a:tcPr marL="91440" marR="91440" marT="36576" marB="36576" anchor="ctr">
                    <a:solidFill>
                      <a:schemeClr val="bg1"/>
                    </a:solidFill>
                  </a:tcPr>
                </a:tc>
                <a:tc>
                  <a:txBody>
                    <a:bodyPr wrap="square"/>
                    <a:lstStyle/>
                    <a:p>
                      <a:r>
                        <a:rPr sz="1300" b="0">
                          <a:solidFill>
                            <a:schemeClr val="tx1"/>
                          </a:solidFill>
                        </a:rPr>
                        <a:t>-1.5%</a:t>
                      </a:r>
                    </a:p>
                  </a:txBody>
                  <a:tcPr marL="91440" marR="91440" marT="36576" marB="36576" anchor="ctr">
                    <a:solidFill>
                      <a:schemeClr val="bg1"/>
                    </a:solidFill>
                  </a:tcPr>
                </a:tc>
              </a:tr>
              <a:tr h="365760">
                <a:tc>
                  <a:txBody>
                    <a:bodyPr wrap="square"/>
                    <a:lstStyle/>
                    <a:p>
                      <a:r>
                        <a:rPr sz="1300" b="1">
                          <a:solidFill>
                            <a:schemeClr val="tx1"/>
                          </a:solidFill>
                        </a:rPr>
                        <a:t>2021</a:t>
                      </a:r>
                    </a:p>
                  </a:txBody>
                  <a:tcPr marL="91440" marR="91440" marT="36576" marB="36576" anchor="ctr">
                    <a:solidFill>
                      <a:schemeClr val="bg1"/>
                    </a:solidFill>
                  </a:tcPr>
                </a:tc>
                <a:tc>
                  <a:txBody>
                    <a:bodyPr wrap="square"/>
                    <a:lstStyle/>
                    <a:p>
                      <a:r>
                        <a:rPr sz="1300" b="0">
                          <a:solidFill>
                            <a:schemeClr val="tx1"/>
                          </a:solidFill>
                        </a:rPr>
                        <a:t>-0.1%</a:t>
                      </a:r>
                    </a:p>
                  </a:txBody>
                  <a:tcPr marL="91440" marR="91440" marT="36576" marB="36576" anchor="ctr">
                    <a:solidFill>
                      <a:schemeClr val="bg1"/>
                    </a:solidFill>
                  </a:tcPr>
                </a:tc>
                <a:tc>
                  <a:txBody>
                    <a:bodyPr wrap="square"/>
                    <a:lstStyle/>
                    <a:p>
                      <a:r>
                        <a:rPr sz="1300" b="0">
                          <a:solidFill>
                            <a:schemeClr val="tx1"/>
                          </a:solidFill>
                        </a:rPr>
                        <a:t>+0.016</a:t>
                      </a:r>
                    </a:p>
                  </a:txBody>
                  <a:tcPr marL="91440" marR="91440" marT="36576" marB="36576" anchor="ctr">
                    <a:solidFill>
                      <a:schemeClr val="bg1"/>
                    </a:solidFill>
                  </a:tcPr>
                </a:tc>
                <a:tc>
                  <a:txBody>
                    <a:bodyPr wrap="square"/>
                    <a:lstStyle/>
                    <a:p>
                      <a:r>
                        <a:rPr sz="1300" b="0">
                          <a:solidFill>
                            <a:schemeClr val="tx1"/>
                          </a:solidFill>
                        </a:rPr>
                        <a:t>+3.1%</a:t>
                      </a:r>
                    </a:p>
                  </a:txBody>
                  <a:tcPr marL="91440" marR="91440" marT="36576" marB="36576" anchor="ctr">
                    <a:solidFill>
                      <a:schemeClr val="bg1"/>
                    </a:solidFill>
                  </a:tcPr>
                </a:tc>
              </a:tr>
              <a:tr h="365760">
                <a:tc>
                  <a:txBody>
                    <a:bodyPr wrap="square"/>
                    <a:lstStyle/>
                    <a:p>
                      <a:r>
                        <a:rPr sz="1300" b="1">
                          <a:solidFill>
                            <a:schemeClr val="tx1"/>
                          </a:solidFill>
                        </a:rPr>
                        <a:t>2022</a:t>
                      </a:r>
                    </a:p>
                  </a:txBody>
                  <a:tcPr marL="91440" marR="91440" marT="36576" marB="36576" anchor="ctr">
                    <a:solidFill>
                      <a:schemeClr val="bg1"/>
                    </a:solidFill>
                  </a:tcPr>
                </a:tc>
                <a:tc>
                  <a:txBody>
                    <a:bodyPr wrap="square"/>
                    <a:lstStyle/>
                    <a:p>
                      <a:r>
                        <a:rPr sz="1300" b="0">
                          <a:solidFill>
                            <a:schemeClr val="tx1"/>
                          </a:solidFill>
                        </a:rPr>
                        <a:t>-0.6%</a:t>
                      </a:r>
                    </a:p>
                  </a:txBody>
                  <a:tcPr marL="91440" marR="91440" marT="36576" marB="36576" anchor="ctr">
                    <a:solidFill>
                      <a:schemeClr val="bg1"/>
                    </a:solidFill>
                  </a:tcPr>
                </a:tc>
                <a:tc>
                  <a:txBody>
                    <a:bodyPr wrap="square"/>
                    <a:lstStyle/>
                    <a:p>
                      <a:r>
                        <a:rPr sz="1300" b="0">
                          <a:solidFill>
                            <a:schemeClr val="tx1"/>
                          </a:solidFill>
                        </a:rPr>
                        <a:t>+0.021</a:t>
                      </a:r>
                    </a:p>
                  </a:txBody>
                  <a:tcPr marL="91440" marR="91440" marT="36576" marB="36576" anchor="ctr">
                    <a:solidFill>
                      <a:schemeClr val="bg1"/>
                    </a:solidFill>
                  </a:tcPr>
                </a:tc>
                <a:tc>
                  <a:txBody>
                    <a:bodyPr wrap="square"/>
                    <a:lstStyle/>
                    <a:p>
                      <a:r>
                        <a:rPr sz="1300" b="0">
                          <a:solidFill>
                            <a:schemeClr val="tx1"/>
                          </a:solidFill>
                        </a:rPr>
                        <a:t>+8.9%</a:t>
                      </a:r>
                    </a:p>
                  </a:txBody>
                  <a:tcPr marL="91440" marR="91440" marT="36576" marB="36576" anchor="ctr">
                    <a:solidFill>
                      <a:schemeClr val="bg1"/>
                    </a:solidFill>
                  </a:tcPr>
                </a:tc>
              </a:tr>
              <a:tr h="365760">
                <a:tc>
                  <a:txBody>
                    <a:bodyPr wrap="square"/>
                    <a:lstStyle/>
                    <a:p>
                      <a:r>
                        <a:rPr sz="1300" b="1">
                          <a:solidFill>
                            <a:schemeClr val="tx1"/>
                          </a:solidFill>
                        </a:rPr>
                        <a:t>2023</a:t>
                      </a:r>
                    </a:p>
                  </a:txBody>
                  <a:tcPr marL="91440" marR="91440" marT="36576" marB="36576" anchor="ctr">
                    <a:solidFill>
                      <a:schemeClr val="bg1"/>
                    </a:solidFill>
                  </a:tcPr>
                </a:tc>
                <a:tc>
                  <a:txBody>
                    <a:bodyPr wrap="square"/>
                    <a:lstStyle/>
                    <a:p>
                      <a:r>
                        <a:rPr sz="1300" b="0">
                          <a:solidFill>
                            <a:schemeClr val="tx1"/>
                          </a:solidFill>
                        </a:rPr>
                        <a:t>+0.5%</a:t>
                      </a:r>
                    </a:p>
                  </a:txBody>
                  <a:tcPr marL="91440" marR="91440" marT="36576" marB="36576" anchor="ctr">
                    <a:solidFill>
                      <a:schemeClr val="bg1"/>
                    </a:solidFill>
                  </a:tcPr>
                </a:tc>
                <a:tc>
                  <a:txBody>
                    <a:bodyPr wrap="square"/>
                    <a:lstStyle/>
                    <a:p>
                      <a:r>
                        <a:rPr sz="1300" b="0">
                          <a:solidFill>
                            <a:schemeClr val="tx1"/>
                          </a:solidFill>
                        </a:rPr>
                        <a:t>+0.015</a:t>
                      </a:r>
                    </a:p>
                  </a:txBody>
                  <a:tcPr marL="91440" marR="91440" marT="36576" marB="36576" anchor="ctr">
                    <a:solidFill>
                      <a:schemeClr val="bg1"/>
                    </a:solidFill>
                  </a:tcPr>
                </a:tc>
                <a:tc>
                  <a:txBody>
                    <a:bodyPr wrap="square"/>
                    <a:lstStyle/>
                    <a:p>
                      <a:r>
                        <a:rPr sz="1300" b="0">
                          <a:solidFill>
                            <a:schemeClr val="tx1"/>
                          </a:solidFill>
                        </a:rPr>
                        <a:t>+12.9%</a:t>
                      </a:r>
                    </a:p>
                  </a:txBody>
                  <a:tcPr marL="91440" marR="91440" marT="36576" marB="36576" anchor="ctr">
                    <a:solidFill>
                      <a:schemeClr val="bg1"/>
                    </a:solidFill>
                  </a:tcPr>
                </a:tc>
              </a:tr>
            </a:tbl>
          </a:graphicData>
        </a:graphic>
      </p:graphicFrame>
      <p:sp>
        <p:nvSpPr>
          <p:cNvPr id="16" name="Rounded Rectangle 15"/>
          <p:cNvSpPr/>
          <p:nvPr/>
        </p:nvSpPr>
        <p:spPr>
          <a:xfrm>
            <a:off x="7818120" y="4343400"/>
            <a:ext cx="3858768" cy="11430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01000" y="4343400"/>
            <a:ext cx="3566160" cy="1143000"/>
          </a:xfrm>
          <a:prstGeom prst="rect">
            <a:avLst/>
          </a:prstGeom>
          <a:noFill/>
        </p:spPr>
        <p:txBody>
          <a:bodyPr wrap="square" lIns="0" rIns="0" tIns="0" bIns="0" anchor="ctr">
            <a:spAutoFit/>
          </a:bodyPr>
          <a:lstStyle/>
          <a:p>
            <a:pPr algn="l">
              <a:spcAft>
                <a:spcPts val="200"/>
              </a:spcAft>
            </a:pPr>
            <a:r>
              <a:rPr sz="1400" b="1" i="0">
                <a:solidFill>
                  <a:schemeClr val="bg1"/>
                </a:solidFill>
              </a:rPr>
              <a:t>Rank of 44 (Fisher p)</a:t>
            </a:r>
          </a:p>
          <a:p>
            <a:pPr algn="l">
              <a:spcAft>
                <a:spcPts val="200"/>
              </a:spcAft>
            </a:pPr>
            <a:r>
              <a:rPr sz="1400" b="0" i="0">
                <a:solidFill>
                  <a:schemeClr val="bg1"/>
                </a:solidFill>
              </a:rPr>
              <a:t>Pop. 2 (0.045) · Black 6 (0.14) · Income 1 (0.023)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B6 · Placebo ZIPs</a:t>
            </a:r>
          </a:p>
        </p:txBody>
      </p:sp>
      <p:sp>
        <p:nvSpPr>
          <p:cNvPr id="3" name="Text Placeholder 2"/>
          <p:cNvSpPr>
            <a:spLocks noGrp="1"/>
          </p:cNvSpPr>
          <p:nvPr>
            <p:ph type="body" idx="12" sz="quarter"/>
          </p:nvPr>
        </p:nvSpPr>
        <p:spPr/>
        <p:txBody>
          <a:bodyPr/>
          <a:lstStyle/>
          <a:p>
            <a:r>
              <a:t>Each gray line is a donor ZIP run as if it were treated</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8010144" cy="368503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100_synth_placebos.png"/>
          <p:cNvPicPr>
            <a:picLocks noChangeAspect="1"/>
          </p:cNvPicPr>
          <p:nvPr/>
        </p:nvPicPr>
        <p:blipFill>
          <a:blip r:embed="rId3"/>
          <a:stretch>
            <a:fillRect/>
          </a:stretch>
        </p:blipFill>
        <p:spPr>
          <a:xfrm>
            <a:off x="585216" y="1874519"/>
            <a:ext cx="7863840" cy="3538728"/>
          </a:xfrm>
          <a:prstGeom prst="rect">
            <a:avLst/>
          </a:prstGeom>
        </p:spPr>
      </p:pic>
      <p:sp>
        <p:nvSpPr>
          <p:cNvPr id="15" name="Rounded Rectangle 14"/>
          <p:cNvSpPr/>
          <p:nvPr/>
        </p:nvSpPr>
        <p:spPr>
          <a:xfrm>
            <a:off x="8778240" y="1828800"/>
            <a:ext cx="2898648" cy="35661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06840" y="1828800"/>
            <a:ext cx="2468880" cy="3566160"/>
          </a:xfrm>
          <a:prstGeom prst="rect">
            <a:avLst/>
          </a:prstGeom>
          <a:noFill/>
        </p:spPr>
        <p:txBody>
          <a:bodyPr wrap="square" lIns="0" rIns="0" tIns="0" bIns="0" anchor="ctr">
            <a:spAutoFit/>
          </a:bodyPr>
          <a:lstStyle/>
          <a:p>
            <a:pPr algn="l">
              <a:spcAft>
                <a:spcPts val="800"/>
              </a:spcAft>
            </a:pPr>
            <a:r>
              <a:rPr sz="1600" b="1" i="0">
                <a:solidFill>
                  <a:schemeClr val="bg1"/>
                </a:solidFill>
              </a:rPr>
              <a:t>The 2019 population dip and the income rise from 2021 stand out from the placebo ZIPs.</a:t>
            </a:r>
          </a:p>
          <a:p>
            <a:pPr algn="l">
              <a:spcAft>
                <a:spcPts val="800"/>
              </a:spcAft>
            </a:pPr>
            <a:r>
              <a:rPr sz="1600" b="0" i="0">
                <a:solidFill>
                  <a:schemeClr val="bg1"/>
                </a:solidFill>
              </a:rPr>
              <a:t>Share Black stays inside the gray cloud: no change, as planted. A null result is a result.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B7 · Raw ZIP trends</a:t>
            </a:r>
          </a:p>
        </p:txBody>
      </p:sp>
      <p:sp>
        <p:nvSpPr>
          <p:cNvPr id="3" name="Text Placeholder 2"/>
          <p:cNvSpPr>
            <a:spLocks noGrp="1"/>
          </p:cNvSpPr>
          <p:nvPr>
            <p:ph type="body" idx="12" sz="quarter"/>
          </p:nvPr>
        </p:nvSpPr>
        <p:spPr/>
        <p:txBody>
          <a:bodyPr/>
          <a:lstStyle/>
          <a:p>
            <a:r>
              <a:t>ZIP 63106 vs. other St. Louis City and County ZIPs (mock ACS)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8010144" cy="368503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2000_zip_trends.png"/>
          <p:cNvPicPr>
            <a:picLocks noChangeAspect="1"/>
          </p:cNvPicPr>
          <p:nvPr/>
        </p:nvPicPr>
        <p:blipFill>
          <a:blip r:embed="rId3"/>
          <a:stretch>
            <a:fillRect/>
          </a:stretch>
        </p:blipFill>
        <p:spPr>
          <a:xfrm>
            <a:off x="585216" y="1874519"/>
            <a:ext cx="7863840" cy="3538728"/>
          </a:xfrm>
          <a:prstGeom prst="rect">
            <a:avLst/>
          </a:prstGeom>
        </p:spPr>
      </p:pic>
      <p:sp>
        <p:nvSpPr>
          <p:cNvPr id="15" name="Rounded Rectangle 14"/>
          <p:cNvSpPr/>
          <p:nvPr/>
        </p:nvSpPr>
        <p:spPr>
          <a:xfrm>
            <a:off x="8778240" y="1828800"/>
            <a:ext cx="2898648" cy="35661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06840" y="1828800"/>
            <a:ext cx="2468880" cy="3566160"/>
          </a:xfrm>
          <a:prstGeom prst="rect">
            <a:avLst/>
          </a:prstGeom>
          <a:noFill/>
        </p:spPr>
        <p:txBody>
          <a:bodyPr wrap="square" lIns="0" rIns="0" tIns="0" bIns="0" anchor="ctr">
            <a:spAutoFit/>
          </a:bodyPr>
          <a:lstStyle/>
          <a:p>
            <a:pPr algn="l">
              <a:spcAft>
                <a:spcPts val="800"/>
              </a:spcAft>
            </a:pPr>
            <a:r>
              <a:rPr sz="1600" b="1" i="0">
                <a:solidFill>
                  <a:schemeClr val="tx2"/>
                </a:solidFill>
              </a:rPr>
              <a:t>A picture, not an estimate.</a:t>
            </a:r>
          </a:p>
          <a:p>
            <a:pPr algn="l">
              <a:spcAft>
                <a:spcPts val="800"/>
              </a:spcAft>
            </a:pPr>
            <a:r>
              <a:rPr sz="1600" b="0" i="0">
                <a:solidFill>
                  <a:schemeClr val="tx1"/>
                </a:solidFill>
              </a:rPr>
              <a:t>The synthetic control (B5) is the comparison; these raw trends show why 63106 needed a matched counterfactual.</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