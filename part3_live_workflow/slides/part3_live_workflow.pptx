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5.svg" ContentType="image/svg+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1"/>
  </p:sldMasterIdLst>
  <p:notesMasterIdLst>
    <p:notesMasterId r:id="rId3"/>
  </p:notesMasterIdLst>
  <p:sldIdLst>
    <p:sldId id="256" r:id="rId2"/>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240647-945F-4420-2BF3-6A3F96553581}" name="Meghan Doil" initials="MD" userId="S::Meghan@notionpartners.com::a8ec7eb1-6349-4529-b98e-40f78974ff70" providerId="AD"/>
  <p188:author id="{68575DE0-E424-2A10-766E-B786959A84E9}" name="Michelle Markee" initials="" userId="S::Michelle@notionpartners.com::55fc8d82-3871-406d-994c-c40c9b164a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42A"/>
    <a:srgbClr val="5C646B"/>
    <a:srgbClr val="8C979A"/>
    <a:srgbClr val="8FD1C9"/>
    <a:srgbClr val="C41039"/>
    <a:srgbClr val="EBE8E5"/>
    <a:srgbClr val="009999"/>
    <a:srgbClr val="C08782"/>
    <a:srgbClr val="E7E7E7"/>
    <a:srgbClr val="F4EE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60" autoAdjust="0"/>
    <p:restoredTop sz="90223" autoAdjust="0"/>
  </p:normalViewPr>
  <p:slideViewPr>
    <p:cSldViewPr snapToGrid="0" snapToObjects="1">
      <p:cViewPr>
        <p:scale>
          <a:sx n="130" d="100"/>
          <a:sy n="130" d="100"/>
        </p:scale>
        <p:origin x="808" y="624"/>
      </p:cViewPr>
      <p:guideLst/>
    </p:cSldViewPr>
  </p:slideViewPr>
  <p:outlineViewPr>
    <p:cViewPr>
      <p:scale>
        <a:sx n="33" d="100"/>
        <a:sy n="33" d="100"/>
      </p:scale>
      <p:origin x="0" y="-8563"/>
    </p:cViewPr>
  </p:outlineViewPr>
  <p:notesTextViewPr>
    <p:cViewPr>
      <p:scale>
        <a:sx n="100" d="100"/>
        <a:sy n="100" d="100"/>
      </p:scale>
      <p:origin x="0" y="0"/>
    </p:cViewPr>
  </p:notesTextViewPr>
  <p:sorterViewPr>
    <p:cViewPr>
      <p:scale>
        <a:sx n="54" d="100"/>
        <a:sy n="54"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8/10/relationships/authors" Target="authors.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E3AD09-9720-9047-BB14-484CD98DBB2F}" type="datetimeFigureOut">
              <a:rPr lang="en-US" smtClean="0"/>
              <a:t>9/25/25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80D64-6F43-4C4D-BE6A-3F3482AA5165}" type="slidenum">
              <a:rPr lang="en-US" smtClean="0"/>
              <a:t>‹#›</a:t>
            </a:fld>
            <a:endParaRPr lang="en-US"/>
          </a:p>
        </p:txBody>
      </p:sp>
    </p:spTree>
    <p:extLst>
      <p:ext uri="{BB962C8B-B14F-4D97-AF65-F5344CB8AC3E}">
        <p14:creationId xmlns:p14="http://schemas.microsoft.com/office/powerpoint/2010/main" val="425239001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(0 min)]</a:t>
            </a:r>
          </a:p>
          <a:p/>
          <a:p>
            <a:r>
              <a:t>Part 3 starts at 10:20, right after the break. Go straight to the next slide. Reminder: the live copy of the project has no answer_key/ or slides/ folder; backups B1–B7 at the end of this deck use the instructor copy. All data are synthetic; the planted effects were revised on 2026-10-15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Point (1.5 min)]</a:t>
            </a:r>
          </a:p>
          <a:p/>
          <a:p>
            <a:r>
              <a:t>The demo mirrors the workflow of a real, funded study of school mobility in St. Louis. The real data can't be shared, so everything here is simulated: about 4,400 students, 2012–2023, plus an ACS-style ZIP panel. CNI is fictional. The ZIP codes are real so that maps work, but every attribute attached to them is fake (data_raw/codebook.md).</a:t>
            </a:r>
          </a:p>
          <a:p/>
          <a:p>
            <a:r>
              <a:t>Make two points. First, the code/, data_clean/, outputs/, and writing/ folders start empty, so everything in them at the end was produced during this session. Second, CLAUDE.md deliberately leaves the design open ("To be decided … in step 03"), so the agent can't jump ahead to estimation.</a:t>
            </a:r>
          </a:p>
          <a:p/>
          <a:p>
            <a:r>
              <a:t>The live copy has no answer_key/ folder. CLAUDE.md also forbids reading it, as a second safeguard.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Five Checkpoints (1.5 min)]</a:t>
            </a:r>
          </a:p>
          <a:p/>
          <a:p>
            <a:r>
              <a:t>The table comes from prompts/README.md. Point at the right-hand column: that's the researcher's job, and the agent stops at every row. It's the design principle from Part 1, Slide 7 (Brodeur et al.): AI-assisted beats AI-led.</a:t>
            </a:r>
          </a:p>
          <a:p/>
          <a:p>
            <a:r>
              <a:t>Explain the split. CLAUDE.md holds what's true for the whole project (the question, folder rules, "never print individual records," naming). The prompts hold what to do in each step. That's why the prompts never mention St. Louis and can be reused unchanged on another project.</a:t>
            </a:r>
          </a:p>
          <a:p/>
          <a:p>
            <a:r>
              <a:t>How each step runs: Follow @prompts/01_data_audit.md. The @ attaches the file to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01: Data Audit (6 min)]</a:t>
            </a:r>
          </a:p>
          <a:p/>
          <a:p>
            <a:r>
              <a:t>Live: Follow @prompts/01_data_audit.md. Claude writes and knits code/0000_import.Rmd (inspection only) and writes writing/data_audit.md.</a:t>
            </a:r>
          </a:p>
          <a:p/>
          <a:p>
            <a:r>
              <a:t>Expected findings (counts from data_raw/, computed 2026-10-12; issues from ground_truth.md). The codebook documents only the first and fifth.</a:t>
            </a:r>
          </a:p>
          <a:p/>
          <a:p>
            <a:r>
              <a:t>| # | Issue | Expected evidence | Fix to approve |</a:t>
            </a:r>
          </a:p>
          <a:p>
            <a:r>
              <a:t>|---|---|---|---|</a:t>
            </a:r>
          </a:p>
          <a:p>
            <a:r>
              <a:t>| 1 | Mid-year movers have two core records (seq) | 2,592 student-years with a seq = 2 record | Keep highest seq |</a:t>
            </a:r>
          </a:p>
          <a:p>
            <a:r>
              <a:t>| 2 | Years before the study period | 2,970 core rows in 2012–2013 | Drop &lt; 2014 |</a:t>
            </a:r>
          </a:p>
          <a:p>
            <a:r>
              <a:t>| 3 | ZIP formats | 3,468 ZIP+4 and 450 blank (of 23,077 core rows) | Cut to 5 digits; drop blank |</a:t>
            </a:r>
          </a:p>
          <a:p>
            <a:r>
              <a:t>| 4 | Out-of-area students | 400 students in 641xx / 652xx / 658xx | Drop (study area is STL City/County) |</a:t>
            </a:r>
          </a:p>
          <a:p>
            <a:r>
              <a:t>| 5 | MAP +2000 flag | 548 of 13,697 scores ≥ 2000 | Subtract 2000 |</a:t>
            </a:r>
          </a:p>
          <a:p>
            <a:r>
              <a:t>| 6 | No MAP tests in 2020; one subject missing | 0 test rows in 2020; 405 rows with one subject blank | Keep as NA |</a:t>
            </a:r>
          </a:p>
          <a:p>
            <a:r>
              <a:t>| 7 | Discipline is long; lengthremoved missing; one 180-day expulsion | 2,652 incidents; 97 missing lengths | Sum ISS + OSS days; no row = 0 |</a:t>
            </a:r>
          </a:p>
          <a:p>
            <a:r>
              <a:t>| 8 | Enrollment duplicates for movers | 2,592 student-years with two rows | Collapse; weight attendance by days enrolled |</a:t>
            </a:r>
          </a:p>
          <a:p/>
          <a:p>
            <a:r>
              <a:t>What to point out: it reads the codebook and every file before writing anything, it reports counts and never prints a student row (CLAUDE.md §5), and it lists open questions for the researcher. If it misses an issue, say so. That's part of the lesson: the audit is a draft, and you're the reviewer.</a:t>
            </a:r>
          </a:p>
          <a:p/>
          <a:p>
            <a:r>
              <a:t>Researcher decision to give: approve all eight fixes as listed. For #7, say "use suspension days (ISS + OSS); don't let the single expulsion drive totals."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02: Cleaning (8 min)]</a:t>
            </a:r>
          </a:p>
          <a:p/>
          <a:p>
            <a:r>
              <a:t>Live: Follow @prompts/02_data_cleaning.md. Expect code/1000_*.Rmd (student-year panel) and a 1100_*.Rmd (ZIP panel from the ACS file), saved as .rds.</a:t>
            </a:r>
          </a:p>
          <a:p/>
          <a:p>
            <a:r>
              <a:t>Expected cleaning log (answer key 1000_clean_demo.Rmd; the live run may order steps differently):</a:t>
            </a:r>
          </a:p>
          <a:p/>
          <a:p>
            <a:r>
              <a:t>| Step | Rows | Students |</a:t>
            </a:r>
          </a:p>
          <a:p>
            <a:r>
              <a:t>|---|---|---|</a:t>
            </a:r>
          </a:p>
          <a:p>
            <a:r>
              <a:t>| Raw core records | 23,077 | 4,400 |</a:t>
            </a:r>
          </a:p>
          <a:p>
            <a:r>
              <a:t>| Drop years before 2014 | 20,107 | 4,400 |</a:t>
            </a:r>
          </a:p>
          <a:p>
            <a:r>
              <a:t>| Keep highest seq per student-year | 17,698 | 4,400 |</a:t>
            </a:r>
          </a:p>
          <a:p>
            <a:r>
              <a:t>| Drop blank ZIPs (ZIP+4 cut to 5 digits) | 17,360 | 4,375 |</a:t>
            </a:r>
          </a:p>
          <a:p>
            <a:r>
              <a:t>| Keep St. Louis City/County ZIPs | 15,737 | 3,975 |</a:t>
            </a:r>
          </a:p>
          <a:p/>
          <a:p>
            <a:r>
              <a:t>Treatment cohorts (answer key): CNI school 214 / 92 / 91 / 107 / 132 students first exposed in 2019–2023, 3,339 never; ZIP 63106 74 / 35 / 32 / 31 / 54, 3,749 never. Exposure is absorbing (intent-to-treat).</a:t>
            </a:r>
          </a:p>
          <a:p/>
          <a:p>
            <a:r>
              <a:t>What to point out: the cleaning log is what goes in a Methods section; the stopifnot() checks; .rds outputs; the knitted HTML. Ask the room: "Would you have written the log yourself?" A good sign is that the agent asks before making an unapproved research decision, such as redefining treatment (prompt 02, "Do not").</a:t>
            </a:r>
          </a:p>
          <a:p/>
          <a:p>
            <a:r>
              <a:t>Researcher decision to give: accept, after checking that the final counts make sense (about 4,000 students minus a few dropped for blank ZIPs).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03: Empirical Strategy (8 min)]</a:t>
            </a:r>
          </a:p>
          <a:p/>
          <a:p>
            <a:r>
              <a:t>Live: press Shift+Tab until the status bar shows plan mode, then Follow @prompts/03_empirical_strategy.md. (Desktop app: Cmd+Shift+M / Ctrl+Shift+M, per prompts/03_empirical_strategy.md.)</a:t>
            </a:r>
          </a:p>
          <a:p/>
          <a:p>
            <a:r>
              <a:t>Likely candidates, and why to choose as we do (ground_truth.md, "Things to expect"):</a:t>
            </a:r>
          </a:p>
          <a:p>
            <a:r>
              <a:t>- Neighborhood: synthetic control on the ACS panel (one treated ZIP, 2014–2018 pre-period, 43 donor ZIPs). Alternatives: DiD with all other ZIPs; student-level ZIP averages, which are too thin (median about 30 students per ZIP-year).</a:t>
            </a:r>
          </a:p>
          <a:p>
            <a:r>
              <a:t>- Students: CSDID with not-yet-treated controls, because timing is staggered and TWFE is biased under heterogeneous effects. Alternatives: TWFE event study; matched comparison.</a:t>
            </a:r>
          </a:p>
          <a:p>
            <a:r>
              <a:t>- Rejected: school-level synthetic control. Donor schools lose the families who move into CNI schools, so they aren't clean controls (spillover).</a:t>
            </a:r>
          </a:p>
          <a:p/>
          <a:p>
            <a:r>
              <a:t>Researcher decision to give: choose the two designs above; MAP standardized within grade × year; robustness = TWFE comparison; placebos = attendance rate and suspension days; diagnostics = event study and placebo-in-space. Then tell Claude to record the decision in CLAUDE.md §6 (the prompt's checkpoint asks for this). Switch out of plan mode before step 04.</a:t>
            </a:r>
          </a:p>
          <a:p/>
          <a:p>
            <a:r>
              <a:t>Point out the plausibility benchmarks in the plan (typical yearly MAP growth). They set up the moment on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04: Analysis (8 min)]</a:t>
            </a:r>
          </a:p>
          <a:p/>
          <a:p>
            <a:r>
              <a:t>Live: Follow @prompts/04_analysis.md. This is the longest agent run. CSDID and the synthetic-control placebos take a while to knit, so narrate the descriptives while they run.</a:t>
            </a:r>
          </a:p>
          <a:p/>
          <a:p>
            <a:r>
              <a:t>Expected results (answer key, re-knit 2026-10-15; live numbers may differ with different but defensible choices):</a:t>
            </a:r>
          </a:p>
          <a:p/>
          <a:p>
            <a:r>
              <a:t>- Synthetic control (3100_synth_trends.png, 3100_synth_placebos.png):</a:t>
            </a:r>
          </a:p>
          <a:p>
            <a:r>
              <a:t>  - Population dips −11.7% in 2019 and −4.0% in 2020, then is back with its synthetic from 2021 (rank 2 of 44, p = 0.045). Story: temporary displacement during redevelopment.</a:t>
            </a:r>
          </a:p>
          <a:p>
            <a:r>
              <a:t>  - Share Black: no change (gaps under 0.02; rank 6 of 44, p = 0.14). A null result is a result.</a:t>
            </a:r>
          </a:p>
          <a:p>
            <a:r>
              <a:t>  - Median income rises from 2021: +3%, +9%, +13% (2021–2023; rank 1 of 44, p = 0.023 = 1/44, the smallest possible).</a:t>
            </a:r>
          </a:p>
          <a:p>
            <a:r>
              <a:t>- CSDID event study (3000_event_study_school.png, converted to points with SD ≈ 12): ELA +4.2, +7.0, +12.9, then +4.6 and +4.3; Math +4.6, +8.0, +13.8, then +4.7 and +4.9 (years 1–5 after entering a CNI school). Pre-entry estimates near zero. The simple average (CNI-school cohort 0.56 SD ELA, 0.61 SD Math) hides this peak-and-settle shape.</a:t>
            </a:r>
          </a:p>
          <a:p>
            <a:r>
              <a:t>- Placebos: attendance about −0.005; suspension days 0.03 (school) and −0.42 (SE 0.33, ZIP), none distinguishable from zero.</a:t>
            </a:r>
          </a:p>
          <a:p>
            <a:r>
              <a:t>- Convergence: both models run without convergence warnings; did prints informational "No units in group … in time period …" messages (later cohorts have no tested students in early years). Filtering rows with a missing outcome first avoids its "dropped rows" message.</a:t>
            </a:r>
          </a:p>
          <a:p/>
          <a:p>
            <a:r>
              <a:t>Descriptive traps to name if they appear: pre-2019 MAP trends are noisy (few tested students in early cohorts), and the ZIP-63106 group's raw mean falls after 2019 because the new arrivals are lower-income. That's composition, not harm.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+23 Points Plausible? (4 min)]</a:t>
            </a:r>
          </a:p>
          <a:p/>
          <a:p>
            <a:r>
              <a:t>The teaching moment (ground_truth.md), reframed 2026-10-15 for the revised effects. With an unbalanced student panel, did::att_gt() falls back to repeated cross-sections and compares each cohort with its own younger, lower-grade self, so normal grade growth shows up as treatment effect. Answer key (3000_pitfall_by_year.csv), year 3 after entry: raw points +23.1 (ELA) and +25.1 (Math); standardized and converted to points +12.9 and +13.8 (planted +13.5). Pooled over all years: raw 13.4 / 14.6 points vs. standardized 0.56 / 0.61 SD.</a:t>
            </a:r>
          </a:p>
          <a:p/>
          <a:p>
            <a:r>
              <a:t>The effect is large in year 3 (about 1.1 SD), so the question is no longer "is any big number implausible?" but "does the raw number agree with the standardized one?" It doesn't: the gap is about two years of normal growth, which tells you the raw estimate is contaminated.</a:t>
            </a:r>
          </a:p>
          <a:p/>
          <a:p>
            <a:r>
              <a:t>How to stage it: if the live run uses raw points, let the number appear, then ask the room. If Claude standardized on its own (the plan from step 03 asks for it), show answer_key/outputs/tables/3000_pitfall_by_year.csv from the instructor copy instead, and credit the plan for preventing the error.</a:t>
            </a:r>
          </a:p>
          <a:p/>
          <a:p>
            <a:r>
              <a:t>The lesson is why prompt 04 requires a sanity check and why step 03 asked for benchmarks. The code ran without errors, and the estimate was still wrong. Only someone who knows how MAP scores behave catches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[Callback: Where Gemini Fits (1 min)]</a:t>
            </a:r>
          </a:p>
          <a:p/>
          <a:p>
            <a:r>
              <a:t>A callback to Part 1, Slide 13 ("Division of labor"). Reading the CNI, mobility, and neighborhood-effects literature is high-volume, file-free work, so do it in Gemini at no cost. Save the output as a file (e.g., writing/literature_map.md) and the agent can use it. Any citation it contains still has to be opened and verified by a person (a Part 4 red line). CLAUDE.md §7 tells Claude to write [CITATION NEEDED] rather than fill gaps itself.</a:t>
            </a:r>
          </a:p>
          <a:p/>
          <a:p>
            <a:r>
              <a:t>[Optional, author to decide: drop a prepared Gemini literature map into writing/ before step 05 so the brief can reference it. If you do, check it contains no unverified citations presented as fact.]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05: Manuscript Brief (6 min)]</a:t>
            </a:r>
          </a:p>
          <a:p/>
          <a:p>
            <a:r>
              <a:t>Live: Follow @prompts/05_manuscript_brief.md. Open writing/manuscript_brief.md and scroll through it with the room.</a:t>
            </a:r>
          </a:p>
          <a:p/>
          <a:p>
            <a:r>
              <a:t>What to look for in the review:</a:t>
            </a:r>
          </a:p>
          <a:p>
            <a:r>
              <a:t>- Right: sample counts match the cleaning log; each number carries a source comment; the methods section names the scripts.</a:t>
            </a:r>
          </a:p>
          <a:p>
            <a:r>
              <a:t>- Likely overstated: the ZIP-63106 student effect read as a neighborhood effect. Most ZIP movers also enroll in CNI schools, so that cohort's estimate mixes both exposures (ground_truth.md: living in 63106 has no planted effect; the ZIP cohort's 0.5 SD comes entirely through CNI schools). Also watch for causal language about the neighborhood change; synthetic control shows 63106 diverged, not why.</a:t>
            </a:r>
          </a:p>
          <a:p>
            <a:r>
              <a:t>- Only the researcher decides: what the change means (displacement? revitalization? for whom?), policy implications, and which limitations matter most.</a:t>
            </a:r>
          </a:p>
          <a:p>
            <a:r>
              <a:t>- The disclosure draft: read it aloud. It's the bridge to Part 4.</a:t>
            </a:r>
          </a:p>
          <a:p/>
          <a:p>
            <a:r>
              <a:t>Spot-check one number live: pick a figure in the brief, open the cited CSV, and confirm it matches.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It Home (1 min)]</a:t>
            </a:r>
          </a:p>
          <a:p/>
          <a:p>
            <a:r>
              <a:t>From prompts/README.md ("Use them on your own project"). The prompts never name the St. Louis study, so they work as written; edit them wherever your field or data differ. Bridge: "Everything you just watched left a file. That trail is what makes the next question, who answers for this work, answerable."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(use only if the live demo stalls)]</a:t>
            </a:r>
          </a:p>
          <a:p/>
          <a:p>
            <a:r>
              <a:t>Audit: the eight built-in data issues with expected evidence (counts computed from data_raw/; unchanged by the 2026-10-15 revision) and the fix to approve. Use if step 01 stalls; say 'This is what the audit finds; I ran it during rehearsal,' then give the approval anyway.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(use only if the live demo stalls)]</a:t>
            </a:r>
          </a:p>
          <a:p/>
          <a:p>
            <a:r>
              <a:t>Cleaning: the answer-key cleaning log and treatment cohorts (answer_key/code/1000_clean_demo.Rmd). Use if step 02 stalls. 15,737 student-years and 3,975 students is about 4,000 minus a few blank ZIPs.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(use only if the live demo stalls)]</a:t>
            </a:r>
          </a:p>
          <a:p/>
          <a:p>
            <a:r>
              <a:t>Descriptives (answer_key/outputs/figures/2000_*). Treatment timing is staggered (2019–2023), which motivates Callaway &amp; Sant'Anna. MAP trends are noisy before 2019 because few cohort students were tested early; a picture, not an estimate.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(use only if the live demo stalls)]</a:t>
            </a:r>
          </a:p>
          <a:p/>
          <a:p>
            <a:r>
              <a:t>CSDID (3000_event_study_school.png, 3000_pitfall_by_year.csv). The effect rises for three years after entering a CNI school and then settles: in points, ELA +4.2, +7.0, +12.9, then +4.6 and +4.3; Math +4.6, +8.0, +13.8, then +4.7 and +4.9. Red × marks are the planted values (ELA's year-4+ value is planted at 7.5 because this estimator understates later ELA years by about 3 points; see ground_truth.md). Raw-points pitfall in year 3: +23 / +25 vs. +13 / +14 standardized. Use with Slide 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(use only if the live demo stalls)]</a:t>
            </a:r>
          </a:p>
          <a:p/>
          <a:p>
            <a:r>
              <a:t>Synthetic control (3100_synth_trends.png, 3100_synth_gaps_by_year.csv, 3100_synth_results.csv). Population dips about 12% in 2019 and 4% in 2020, then matches its synthetic (rank 2 of 44, p = 0.045). Share Black does not change (rank 6, p = 0.14). Income rises from 2021: +3%, +9%, +13% (rank 1, p = 0.023 = 1/44, the floor). It shows that 63106 diverged, not why: displacement then recovery? who benefits from rising incomes? Those are researcher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(use only if the live demo stalls)]</a:t>
            </a:r>
          </a:p>
          <a:p/>
          <a:p>
            <a:r>
              <a:t>Placebo-in-space (3100_synth_placebos.png). Each donor ZIP is run as if treated. The 2019 population dip and the 2021–23 income rise stand outside the gray cloud; share Black stays inside it (no effect, as planted).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(use only if the live demo stalls)]</a:t>
            </a:r>
          </a:p>
          <a:p/>
          <a:p>
            <a:r>
              <a:t>Raw ACS trends (2000_zip_trends.png): ZIP 63106 against averages of other St. Louis City and County ZIPs. Descriptive only; the synthetic control in B5 is the comparison. Student-level ZIP aggregates are too thin (median about 30 students per ZIP-year), which is why the neighborhood question uses the ACS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6.jpeg"/><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gif"/><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eg"/><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 Id="rId3" Type="http://schemas.openxmlformats.org/officeDocument/2006/relationships/image" Target="../media/image2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4.png"/><Relationship Id="rId4" Type="http://schemas.openxmlformats.org/officeDocument/2006/relationships/image" Target="../media/image1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2548E1-D411-DEF1-E24E-40436650157F}"/>
              </a:ext>
            </a:extLst>
          </p:cNvPr>
          <p:cNvSpPr/>
          <p:nvPr userDrawn="1"/>
        </p:nvSpPr>
        <p:spPr>
          <a:xfrm>
            <a:off x="393539" y="6134100"/>
            <a:ext cx="4130040" cy="59753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22CF4B-9F6B-E5CF-44C0-5E3A7B34A6F4}"/>
              </a:ext>
            </a:extLst>
          </p:cNvPr>
          <p:cNvPicPr>
            <a:picLocks noChangeAspect="1"/>
          </p:cNvPicPr>
          <p:nvPr userDrawn="1"/>
        </p:nvPicPr>
        <p:blipFill>
          <a:blip r:embed="rId2"/>
          <a:srcRect l="50000"/>
          <a:stretch/>
        </p:blipFill>
        <p:spPr>
          <a:xfrm>
            <a:off x="0" y="0"/>
            <a:ext cx="2998240" cy="6858000"/>
          </a:xfrm>
          <a:prstGeom prst="rect">
            <a:avLst/>
          </a:prstGeom>
        </p:spPr>
      </p:pic>
      <p:pic>
        <p:nvPicPr>
          <p:cNvPr id="6" name="Graphic 5">
            <a:extLst>
              <a:ext uri="{FF2B5EF4-FFF2-40B4-BE49-F238E27FC236}">
                <a16:creationId xmlns:a16="http://schemas.microsoft.com/office/drawing/2014/main" id="{90864918-E79B-7A8B-4C60-23558A97CF83}"/>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021"/>
          <a:stretch>
            <a:fillRect/>
          </a:stretch>
        </p:blipFill>
        <p:spPr>
          <a:xfrm>
            <a:off x="3660140" y="1720629"/>
            <a:ext cx="2435860" cy="562388"/>
          </a:xfrm>
          <a:prstGeom prst="rect">
            <a:avLst/>
          </a:prstGeom>
        </p:spPr>
      </p:pic>
      <p:sp>
        <p:nvSpPr>
          <p:cNvPr id="8" name="Text Placeholder 15">
            <a:extLst>
              <a:ext uri="{FF2B5EF4-FFF2-40B4-BE49-F238E27FC236}">
                <a16:creationId xmlns:a16="http://schemas.microsoft.com/office/drawing/2014/main" id="{CF7FAA7F-60A9-60B1-A86E-874760113022}"/>
              </a:ext>
            </a:extLst>
          </p:cNvPr>
          <p:cNvSpPr>
            <a:spLocks noGrp="1"/>
          </p:cNvSpPr>
          <p:nvPr>
            <p:ph type="body" sz="quarter" idx="13"/>
          </p:nvPr>
        </p:nvSpPr>
        <p:spPr>
          <a:xfrm>
            <a:off x="3660140" y="2642024"/>
            <a:ext cx="8145780" cy="1797262"/>
          </a:xfrm>
        </p:spPr>
        <p:txBody>
          <a:bodyPr/>
          <a:lstStyle>
            <a:lvl1pPr>
              <a:defRPr sz="4400">
                <a:solidFill>
                  <a:schemeClr val="tx1"/>
                </a:solidFill>
              </a:defRPr>
            </a:lvl1pPr>
            <a:lvl2pPr>
              <a:spcBef>
                <a:spcPts val="6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cxnSp>
        <p:nvCxnSpPr>
          <p:cNvPr id="10" name="Straight Connector 9">
            <a:extLst>
              <a:ext uri="{FF2B5EF4-FFF2-40B4-BE49-F238E27FC236}">
                <a16:creationId xmlns:a16="http://schemas.microsoft.com/office/drawing/2014/main" id="{94FA57CF-6C6E-168E-2F7F-1158C0BEE878}"/>
              </a:ext>
            </a:extLst>
          </p:cNvPr>
          <p:cNvCxnSpPr>
            <a:cxnSpLocks/>
          </p:cNvCxnSpPr>
          <p:nvPr userDrawn="1"/>
        </p:nvCxnSpPr>
        <p:spPr>
          <a:xfrm>
            <a:off x="3660140" y="3462220"/>
            <a:ext cx="2034540"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7" name="Footer Placeholder 5">
            <a:extLst>
              <a:ext uri="{FF2B5EF4-FFF2-40B4-BE49-F238E27FC236}">
                <a16:creationId xmlns:a16="http://schemas.microsoft.com/office/drawing/2014/main" id="{BFF417B7-BA1B-C990-93ED-20D10BD3523F}"/>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8" name="Slide Number Placeholder 6">
            <a:extLst>
              <a:ext uri="{FF2B5EF4-FFF2-40B4-BE49-F238E27FC236}">
                <a16:creationId xmlns:a16="http://schemas.microsoft.com/office/drawing/2014/main" id="{955F34C6-03B5-47CC-EAC6-3F5653F8CFB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Text Placeholder 2">
            <a:extLst>
              <a:ext uri="{FF2B5EF4-FFF2-40B4-BE49-F238E27FC236}">
                <a16:creationId xmlns:a16="http://schemas.microsoft.com/office/drawing/2014/main" id="{CC049CDA-75A6-0E73-DBA8-3993E947D961}"/>
              </a:ext>
            </a:extLst>
          </p:cNvPr>
          <p:cNvSpPr>
            <a:spLocks noGrp="1"/>
          </p:cNvSpPr>
          <p:nvPr>
            <p:ph type="body" sz="quarter" idx="14" hasCustomPrompt="1"/>
          </p:nvPr>
        </p:nvSpPr>
        <p:spPr>
          <a:xfrm>
            <a:off x="3660140" y="443928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40659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16F10-6790-8294-12D4-3833019EFBFB}"/>
              </a:ext>
            </a:extLst>
          </p:cNvPr>
          <p:cNvPicPr>
            <a:picLocks noChangeAspect="1"/>
          </p:cNvPicPr>
          <p:nvPr userDrawn="1"/>
        </p:nvPicPr>
        <p:blipFill>
          <a:blip r:embed="rId2"/>
          <a:srcRect l="50000"/>
          <a:stretch/>
        </p:blipFill>
        <p:spPr>
          <a:xfrm flipH="1">
            <a:off x="9193760" y="0"/>
            <a:ext cx="2998240" cy="6858000"/>
          </a:xfrm>
          <a:prstGeom prst="rect">
            <a:avLst/>
          </a:prstGeom>
        </p:spPr>
      </p:pic>
      <p:pic>
        <p:nvPicPr>
          <p:cNvPr id="15" name="Content Placeholder 4">
            <a:extLst>
              <a:ext uri="{FF2B5EF4-FFF2-40B4-BE49-F238E27FC236}">
                <a16:creationId xmlns:a16="http://schemas.microsoft.com/office/drawing/2014/main" id="{CBC87B14-0FFC-6198-5CA7-BB9431393B7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6238754"/>
            <a:ext cx="12192000" cy="619246"/>
          </a:xfrm>
          <a:prstGeom prst="rect">
            <a:avLst/>
          </a:prstGeom>
        </p:spPr>
      </p:pic>
      <p:pic>
        <p:nvPicPr>
          <p:cNvPr id="7" name="Graphic 6">
            <a:extLst>
              <a:ext uri="{FF2B5EF4-FFF2-40B4-BE49-F238E27FC236}">
                <a16:creationId xmlns:a16="http://schemas.microsoft.com/office/drawing/2014/main" id="{E4EC3F75-69F9-2C08-F055-BD90C356C06E}"/>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140"/>
          <a:stretch>
            <a:fillRect/>
          </a:stretch>
        </p:blipFill>
        <p:spPr>
          <a:xfrm>
            <a:off x="802079" y="1041717"/>
            <a:ext cx="2408954" cy="566928"/>
          </a:xfrm>
          <a:prstGeom prst="rect">
            <a:avLst/>
          </a:prstGeom>
        </p:spPr>
      </p:pic>
      <p:sp>
        <p:nvSpPr>
          <p:cNvPr id="8" name="Text Placeholder 15">
            <a:extLst>
              <a:ext uri="{FF2B5EF4-FFF2-40B4-BE49-F238E27FC236}">
                <a16:creationId xmlns:a16="http://schemas.microsoft.com/office/drawing/2014/main" id="{551975D7-9DC4-036D-19B5-938790318739}"/>
              </a:ext>
            </a:extLst>
          </p:cNvPr>
          <p:cNvSpPr>
            <a:spLocks noGrp="1"/>
          </p:cNvSpPr>
          <p:nvPr>
            <p:ph type="body" sz="quarter" idx="13"/>
          </p:nvPr>
        </p:nvSpPr>
        <p:spPr>
          <a:xfrm>
            <a:off x="802079" y="2079636"/>
            <a:ext cx="8145780" cy="1455410"/>
          </a:xfrm>
        </p:spPr>
        <p:txBody>
          <a:bodyPr/>
          <a:lstStyle>
            <a:lvl1pPr>
              <a:defRPr sz="4400">
                <a:solidFill>
                  <a:schemeClr val="tx1"/>
                </a:solidFill>
              </a:defRPr>
            </a:lvl1pPr>
            <a:lvl2pPr>
              <a:spcBef>
                <a:spcPts val="3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806552A6-AC76-4702-722D-4879A234F34C}"/>
              </a:ext>
            </a:extLst>
          </p:cNvPr>
          <p:cNvSpPr txBox="1"/>
          <p:nvPr userDrawn="1"/>
        </p:nvSpPr>
        <p:spPr>
          <a:xfrm>
            <a:off x="802079"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8" name="Footer Placeholder 5">
            <a:extLst>
              <a:ext uri="{FF2B5EF4-FFF2-40B4-BE49-F238E27FC236}">
                <a16:creationId xmlns:a16="http://schemas.microsoft.com/office/drawing/2014/main" id="{09E0364A-5ACD-50B5-E100-9276E5A1876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9" name="Slide Number Placeholder 6">
            <a:extLst>
              <a:ext uri="{FF2B5EF4-FFF2-40B4-BE49-F238E27FC236}">
                <a16:creationId xmlns:a16="http://schemas.microsoft.com/office/drawing/2014/main" id="{C65694F4-5083-6131-E4C6-96AFFC17BED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2" name="Text Placeholder 2">
            <a:extLst>
              <a:ext uri="{FF2B5EF4-FFF2-40B4-BE49-F238E27FC236}">
                <a16:creationId xmlns:a16="http://schemas.microsoft.com/office/drawing/2014/main" id="{A066CD63-C27E-9D94-BFC5-3C2B52146AA2}"/>
              </a:ext>
            </a:extLst>
          </p:cNvPr>
          <p:cNvSpPr>
            <a:spLocks noGrp="1"/>
          </p:cNvSpPr>
          <p:nvPr>
            <p:ph type="body" sz="quarter" idx="14" hasCustomPrompt="1"/>
          </p:nvPr>
        </p:nvSpPr>
        <p:spPr>
          <a:xfrm>
            <a:off x="802079" y="353504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8830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and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A143-75D6-42B0-B93D-4D5487BFCDF2}"/>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4751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er and Subhead Only">
    <p:spTree>
      <p:nvGrpSpPr>
        <p:cNvPr id="1" name=""/>
        <p:cNvGrpSpPr/>
        <p:nvPr/>
      </p:nvGrpSpPr>
      <p:grpSpPr>
        <a:xfrm>
          <a:off x="0" y="0"/>
          <a:ext cx="0" cy="0"/>
          <a:chOff x="0" y="0"/>
          <a:chExt cx="0" cy="0"/>
        </a:xfrm>
      </p:grpSpPr>
      <p:pic>
        <p:nvPicPr>
          <p:cNvPr id="3" name="Content Placeholder 4" descr="A red and green background&#10;&#10;AI-generated content may be incorrect.">
            <a:extLst>
              <a:ext uri="{FF2B5EF4-FFF2-40B4-BE49-F238E27FC236}">
                <a16:creationId xmlns:a16="http://schemas.microsoft.com/office/drawing/2014/main" id="{FD4370C0-4089-AEA2-CC5A-49F16AA4731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1950720"/>
          </a:xfrm>
          <a:prstGeom prst="rect">
            <a:avLst/>
          </a:prstGeom>
        </p:spPr>
      </p:pic>
      <p:sp>
        <p:nvSpPr>
          <p:cNvPr id="2" name="Title 1">
            <a:extLst>
              <a:ext uri="{FF2B5EF4-FFF2-40B4-BE49-F238E27FC236}">
                <a16:creationId xmlns:a16="http://schemas.microsoft.com/office/drawing/2014/main" id="{EB99A143-75D6-42B0-B93D-4D5487BFCDF2}"/>
              </a:ext>
            </a:extLst>
          </p:cNvPr>
          <p:cNvSpPr>
            <a:spLocks noGrp="1"/>
          </p:cNvSpPr>
          <p:nvPr>
            <p:ph type="title" hasCustomPrompt="1"/>
          </p:nvPr>
        </p:nvSpPr>
        <p:spPr>
          <a:xfrm>
            <a:off x="511427" y="437444"/>
            <a:ext cx="11167811" cy="614116"/>
          </a:xfrm>
        </p:spPr>
        <p:txBody>
          <a:bodyPr/>
          <a:lstStyle>
            <a:lvl1pPr>
              <a:defRPr>
                <a:solidFill>
                  <a:schemeClr val="bg1"/>
                </a:solidFill>
              </a:defRPr>
            </a:lvl1pPr>
          </a:lstStyle>
          <a:p>
            <a:r>
              <a:rPr lang="en-US" dirty="0"/>
              <a:t>Impact header slide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hasCustomPrompt="1"/>
          </p:nvPr>
        </p:nvSpPr>
        <p:spPr>
          <a:xfrm>
            <a:off x="512763" y="1051561"/>
            <a:ext cx="11169916" cy="413346"/>
          </a:xfrm>
        </p:spPr>
        <p:txBody>
          <a:bodyPr>
            <a:normAutofit/>
          </a:bodyPr>
          <a:lstStyle>
            <a:lvl1pPr>
              <a:defRPr sz="1800">
                <a:solidFill>
                  <a:schemeClr val="bg1"/>
                </a:solidFill>
              </a:defRPr>
            </a:lvl1pPr>
          </a:lstStyle>
          <a:p>
            <a:pPr lvl="0"/>
            <a:r>
              <a:rPr lang="en-US" dirty="0"/>
              <a:t>Subhead placeholder</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494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Footer Placeholder 5">
            <a:extLst>
              <a:ext uri="{FF2B5EF4-FFF2-40B4-BE49-F238E27FC236}">
                <a16:creationId xmlns:a16="http://schemas.microsoft.com/office/drawing/2014/main" id="{56C9FE06-64EE-C25B-F18C-630C89E5E5A4}"/>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9" name="Slide Number Placeholder 6">
            <a:extLst>
              <a:ext uri="{FF2B5EF4-FFF2-40B4-BE49-F238E27FC236}">
                <a16:creationId xmlns:a16="http://schemas.microsoft.com/office/drawing/2014/main" id="{0876FF27-5FCA-80F6-A141-CE82FE49E4D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72438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yebrow, Header, Subhead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4" name="Text Placeholder 13">
            <a:extLst>
              <a:ext uri="{FF2B5EF4-FFF2-40B4-BE49-F238E27FC236}">
                <a16:creationId xmlns:a16="http://schemas.microsoft.com/office/drawing/2014/main" id="{FC59531D-1141-BBE9-8A89-93DE69D59CE5}"/>
              </a:ext>
            </a:extLst>
          </p:cNvPr>
          <p:cNvSpPr>
            <a:spLocks noGrp="1"/>
          </p:cNvSpPr>
          <p:nvPr>
            <p:ph type="body" sz="quarter" idx="13"/>
          </p:nvPr>
        </p:nvSpPr>
        <p:spPr>
          <a:xfrm>
            <a:off x="511175" y="1996440"/>
            <a:ext cx="11171238"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Footer Placeholder 5">
            <a:extLst>
              <a:ext uri="{FF2B5EF4-FFF2-40B4-BE49-F238E27FC236}">
                <a16:creationId xmlns:a16="http://schemas.microsoft.com/office/drawing/2014/main" id="{C91AEADF-3622-2AB3-401A-88D3A20DDC8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6" name="Slide Number Placeholder 6">
            <a:extLst>
              <a:ext uri="{FF2B5EF4-FFF2-40B4-BE49-F238E27FC236}">
                <a16:creationId xmlns:a16="http://schemas.microsoft.com/office/drawing/2014/main" id="{A20AAE59-81C0-3F77-5EFF-205232CD68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14196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yebrow, Header,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
        <p:nvSpPr>
          <p:cNvPr id="10" name="Footer Placeholder 5">
            <a:extLst>
              <a:ext uri="{FF2B5EF4-FFF2-40B4-BE49-F238E27FC236}">
                <a16:creationId xmlns:a16="http://schemas.microsoft.com/office/drawing/2014/main" id="{40E89BBD-2DB3-5F60-B4AC-F04E8A8E897B}"/>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97303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1F54-83F2-F09A-0540-B4F2FD1B513A}"/>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10" name="Text Placeholder 5">
            <a:extLst>
              <a:ext uri="{FF2B5EF4-FFF2-40B4-BE49-F238E27FC236}">
                <a16:creationId xmlns:a16="http://schemas.microsoft.com/office/drawing/2014/main" id="{31F7FA2B-4B6F-717B-2654-D8A994BCA176}"/>
              </a:ext>
            </a:extLst>
          </p:cNvPr>
          <p:cNvSpPr>
            <a:spLocks noGrp="1"/>
          </p:cNvSpPr>
          <p:nvPr>
            <p:ph type="body" sz="quarter" idx="13"/>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Text Placeholder 13">
            <a:extLst>
              <a:ext uri="{FF2B5EF4-FFF2-40B4-BE49-F238E27FC236}">
                <a16:creationId xmlns:a16="http://schemas.microsoft.com/office/drawing/2014/main" id="{6899807B-0AFF-AB51-FFC9-AA3708B60EC7}"/>
              </a:ext>
            </a:extLst>
          </p:cNvPr>
          <p:cNvSpPr>
            <a:spLocks noGrp="1"/>
          </p:cNvSpPr>
          <p:nvPr>
            <p:ph type="body" sz="quarter" idx="14"/>
          </p:nvPr>
        </p:nvSpPr>
        <p:spPr>
          <a:xfrm>
            <a:off x="511175" y="1714500"/>
            <a:ext cx="11168063"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5">
            <a:extLst>
              <a:ext uri="{FF2B5EF4-FFF2-40B4-BE49-F238E27FC236}">
                <a16:creationId xmlns:a16="http://schemas.microsoft.com/office/drawing/2014/main" id="{56CCB6A1-D661-D876-C30B-640D3FF67D63}"/>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BBA0A6B3-6359-0588-6505-D6ACADE4B64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2035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C199-15AC-D14D-0AA6-CBE1203062E3}"/>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8E38F124-4CF3-FF0E-022F-8601D0A20F45}"/>
              </a:ext>
            </a:extLst>
          </p:cNvPr>
          <p:cNvSpPr>
            <a:spLocks noGrp="1"/>
          </p:cNvSpPr>
          <p:nvPr>
            <p:ph type="body" sz="quarter" idx="12"/>
          </p:nvPr>
        </p:nvSpPr>
        <p:spPr>
          <a:xfrm>
            <a:off x="512763" y="1714500"/>
            <a:ext cx="5399560" cy="4419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0D0020D2-7B92-3072-B9F5-1D6B5C920B52}"/>
              </a:ext>
            </a:extLst>
          </p:cNvPr>
          <p:cNvSpPr>
            <a:spLocks noGrp="1"/>
          </p:cNvSpPr>
          <p:nvPr>
            <p:ph type="body" sz="quarter" idx="13"/>
          </p:nvPr>
        </p:nvSpPr>
        <p:spPr>
          <a:xfrm>
            <a:off x="6279678" y="1714500"/>
            <a:ext cx="539956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D19B4353-EEBD-5EA1-93A8-2494728D2F2D}"/>
              </a:ext>
            </a:extLst>
          </p:cNvPr>
          <p:cNvSpPr>
            <a:spLocks noGrp="1"/>
          </p:cNvSpPr>
          <p:nvPr>
            <p:ph type="body" sz="quarter" idx="14"/>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FA790335-AB91-2292-A583-68F8ED88AE61}"/>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D1373D57-1AFC-40C1-C22B-486A74BFB23E}"/>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0973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4C5A-8BA0-81C6-0A5B-801985C85265}"/>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0526CDC-D763-BB32-5B81-7D599455BF38}"/>
              </a:ext>
            </a:extLst>
          </p:cNvPr>
          <p:cNvSpPr>
            <a:spLocks noGrp="1"/>
          </p:cNvSpPr>
          <p:nvPr>
            <p:ph type="body" sz="quarter" idx="12"/>
          </p:nvPr>
        </p:nvSpPr>
        <p:spPr>
          <a:xfrm>
            <a:off x="512763" y="1714500"/>
            <a:ext cx="3503645"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1B60661A-EDC7-0966-9BFE-A0BC07258B87}"/>
              </a:ext>
            </a:extLst>
          </p:cNvPr>
          <p:cNvSpPr>
            <a:spLocks noGrp="1"/>
          </p:cNvSpPr>
          <p:nvPr>
            <p:ph type="body" sz="quarter" idx="13"/>
          </p:nvPr>
        </p:nvSpPr>
        <p:spPr>
          <a:xfrm>
            <a:off x="4345898"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66A65CEC-5869-5D52-EAAE-4CE2E8B83312}"/>
              </a:ext>
            </a:extLst>
          </p:cNvPr>
          <p:cNvSpPr>
            <a:spLocks noGrp="1"/>
          </p:cNvSpPr>
          <p:nvPr>
            <p:ph type="body" sz="quarter" idx="14"/>
          </p:nvPr>
        </p:nvSpPr>
        <p:spPr>
          <a:xfrm>
            <a:off x="8179034"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F947AB0C-C375-6941-8123-42C74C4D44D6}"/>
              </a:ext>
            </a:extLst>
          </p:cNvPr>
          <p:cNvSpPr>
            <a:spLocks noGrp="1"/>
          </p:cNvSpPr>
          <p:nvPr>
            <p:ph type="body" sz="quarter" idx="15"/>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C469125A-AA88-702A-7398-FB0D80AE487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447CDAC8-C02C-3859-3C4F-64D38BF4F482}"/>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24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with Call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691438" y="0"/>
            <a:ext cx="4500562" cy="6858000"/>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7180011"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71786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9" name="Content Placeholder 4" descr="A red and green background&#10;&#10;AI-generated content may be incorrect.">
            <a:extLst>
              <a:ext uri="{FF2B5EF4-FFF2-40B4-BE49-F238E27FC236}">
                <a16:creationId xmlns:a16="http://schemas.microsoft.com/office/drawing/2014/main" id="{22DF9E99-5AA7-9ED8-F61D-1D5954C3C29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226809" y="3962400"/>
            <a:ext cx="464312" cy="1818640"/>
          </a:xfrm>
          <a:prstGeom prst="rect">
            <a:avLst/>
          </a:prstGeom>
        </p:spPr>
      </p:pic>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691438" y="3962400"/>
            <a:ext cx="4500562" cy="1819275"/>
          </a:xfrm>
          <a:solidFill>
            <a:schemeClr val="bg1"/>
          </a:solidFill>
        </p:spPr>
        <p:txBody>
          <a:bodyPr lIns="365760" anchor="ct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66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with 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0E2021-1BFC-E013-D60B-D3C38949C163}"/>
              </a:ext>
            </a:extLst>
          </p:cNvPr>
          <p:cNvSpPr/>
          <p:nvPr userDrawn="1"/>
        </p:nvSpPr>
        <p:spPr>
          <a:xfrm>
            <a:off x="7691121" y="0"/>
            <a:ext cx="4500879"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8" y="437444"/>
            <a:ext cx="6715382"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71404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226809" y="437444"/>
            <a:ext cx="4965191" cy="1819275"/>
          </a:xfrm>
          <a:blipFill dpi="0" rotWithShape="1">
            <a:blip r:embed="rId2"/>
            <a:srcRect/>
            <a:stretch>
              <a:fillRect/>
            </a:stretch>
          </a:blipFill>
        </p:spPr>
        <p:txBody>
          <a:bodyPr lIns="365760" anchor="ctr"/>
          <a:lstStyle>
            <a:lvl1pPr>
              <a:defRPr>
                <a:solidFill>
                  <a:schemeClr val="bg1"/>
                </a:solidFill>
              </a:defRPr>
            </a:lvl1pPr>
            <a:lvl2pPr>
              <a:defRPr>
                <a:solidFill>
                  <a:schemeClr val="bg1"/>
                </a:solidFill>
              </a:defRPr>
            </a:lvl2pP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C88AAD13-4032-E181-7A51-74A7C8DCE327}"/>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2CDA17C2-87F8-D622-C9C6-0DA48C2C31F7}"/>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56119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058822" y="0"/>
            <a:ext cx="4623857" cy="5772223"/>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6547395"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54617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Content Placeholder 4">
            <a:extLst>
              <a:ext uri="{FF2B5EF4-FFF2-40B4-BE49-F238E27FC236}">
                <a16:creationId xmlns:a16="http://schemas.microsoft.com/office/drawing/2014/main" id="{1C759DE5-C518-1864-07A2-605A29BED7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058820" y="5772223"/>
            <a:ext cx="4622583" cy="361877"/>
          </a:xfrm>
          <a:prstGeom prst="rect">
            <a:avLst/>
          </a:prstGeom>
        </p:spPr>
      </p:pic>
      <p:sp>
        <p:nvSpPr>
          <p:cNvPr id="15" name="Footer Placeholder 5">
            <a:extLst>
              <a:ext uri="{FF2B5EF4-FFF2-40B4-BE49-F238E27FC236}">
                <a16:creationId xmlns:a16="http://schemas.microsoft.com/office/drawing/2014/main" id="{5C587A4E-B51B-38B5-EABB-058A87A0394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6" name="Slide Number Placeholder 6">
            <a:extLst>
              <a:ext uri="{FF2B5EF4-FFF2-40B4-BE49-F238E27FC236}">
                <a16:creationId xmlns:a16="http://schemas.microsoft.com/office/drawing/2014/main" id="{371DED4E-8776-2AD9-D89C-89D43DA7BC5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91879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3398-F58C-AA7E-2DE2-6E5364D58DBF}"/>
              </a:ext>
            </a:extLst>
          </p:cNvPr>
          <p:cNvSpPr>
            <a:spLocks noGrp="1"/>
          </p:cNvSpPr>
          <p:nvPr>
            <p:ph type="title"/>
          </p:nvPr>
        </p:nvSpPr>
        <p:spPr>
          <a:xfrm>
            <a:off x="511427" y="437444"/>
            <a:ext cx="11167811" cy="614117"/>
          </a:xfrm>
        </p:spPr>
        <p:txBody>
          <a:bodyPr/>
          <a:lstStyle/>
          <a:p>
            <a:r>
              <a:rPr lang="en-US"/>
              <a:t>Click to edit Master title style</a:t>
            </a:r>
          </a:p>
        </p:txBody>
      </p:sp>
      <p:sp>
        <p:nvSpPr>
          <p:cNvPr id="8" name="Text Placeholder 5">
            <a:extLst>
              <a:ext uri="{FF2B5EF4-FFF2-40B4-BE49-F238E27FC236}">
                <a16:creationId xmlns:a16="http://schemas.microsoft.com/office/drawing/2014/main" id="{B8695FB8-5358-59F4-420C-D9E81C03C922}"/>
              </a:ext>
            </a:extLst>
          </p:cNvPr>
          <p:cNvSpPr>
            <a:spLocks noGrp="1"/>
          </p:cNvSpPr>
          <p:nvPr>
            <p:ph type="body" sz="quarter" idx="15"/>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0D493C24-4E3E-2A02-65ED-8191B4546237}"/>
              </a:ext>
            </a:extLst>
          </p:cNvPr>
          <p:cNvSpPr>
            <a:spLocks noGrp="1"/>
          </p:cNvSpPr>
          <p:nvPr>
            <p:ph type="body" sz="quarter" idx="16"/>
          </p:nvPr>
        </p:nvSpPr>
        <p:spPr>
          <a:xfrm>
            <a:off x="511175"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1" name="Text Placeholder 9">
            <a:extLst>
              <a:ext uri="{FF2B5EF4-FFF2-40B4-BE49-F238E27FC236}">
                <a16:creationId xmlns:a16="http://schemas.microsoft.com/office/drawing/2014/main" id="{C21240A8-93CA-CA86-87C8-2B6B05DCD856}"/>
              </a:ext>
            </a:extLst>
          </p:cNvPr>
          <p:cNvSpPr>
            <a:spLocks noGrp="1"/>
          </p:cNvSpPr>
          <p:nvPr>
            <p:ph type="body" sz="quarter" idx="17"/>
          </p:nvPr>
        </p:nvSpPr>
        <p:spPr>
          <a:xfrm>
            <a:off x="4308134"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2" name="Text Placeholder 9">
            <a:extLst>
              <a:ext uri="{FF2B5EF4-FFF2-40B4-BE49-F238E27FC236}">
                <a16:creationId xmlns:a16="http://schemas.microsoft.com/office/drawing/2014/main" id="{4C626A78-D122-9B29-0498-A377DB541C30}"/>
              </a:ext>
            </a:extLst>
          </p:cNvPr>
          <p:cNvSpPr>
            <a:spLocks noGrp="1"/>
          </p:cNvSpPr>
          <p:nvPr>
            <p:ph type="body" sz="quarter" idx="18"/>
          </p:nvPr>
        </p:nvSpPr>
        <p:spPr>
          <a:xfrm>
            <a:off x="8119357"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4" name="Picture Placeholder 13">
            <a:extLst>
              <a:ext uri="{FF2B5EF4-FFF2-40B4-BE49-F238E27FC236}">
                <a16:creationId xmlns:a16="http://schemas.microsoft.com/office/drawing/2014/main" id="{F19666AC-2D6E-A5A6-AFF6-FBCDB9C60461}"/>
              </a:ext>
            </a:extLst>
          </p:cNvPr>
          <p:cNvSpPr>
            <a:spLocks noGrp="1"/>
          </p:cNvSpPr>
          <p:nvPr>
            <p:ph type="pic" sz="quarter" idx="19"/>
          </p:nvPr>
        </p:nvSpPr>
        <p:spPr>
          <a:xfrm>
            <a:off x="512763" y="1714500"/>
            <a:ext cx="3218192" cy="1663700"/>
          </a:xfrm>
          <a:solidFill>
            <a:schemeClr val="accent2"/>
          </a:solidFill>
        </p:spPr>
        <p:txBody>
          <a:bodyPr anchor="ctr"/>
          <a:lstStyle>
            <a:lvl1pPr algn="ctr">
              <a:defRPr/>
            </a:lvl1pPr>
          </a:lstStyle>
          <a:p>
            <a:endParaRPr lang="en-US"/>
          </a:p>
        </p:txBody>
      </p:sp>
      <p:sp>
        <p:nvSpPr>
          <p:cNvPr id="15" name="Picture Placeholder 13">
            <a:extLst>
              <a:ext uri="{FF2B5EF4-FFF2-40B4-BE49-F238E27FC236}">
                <a16:creationId xmlns:a16="http://schemas.microsoft.com/office/drawing/2014/main" id="{5ECC9D67-89DD-AD94-3BE8-8AB77F93F3AC}"/>
              </a:ext>
            </a:extLst>
          </p:cNvPr>
          <p:cNvSpPr>
            <a:spLocks noGrp="1"/>
          </p:cNvSpPr>
          <p:nvPr>
            <p:ph type="pic" sz="quarter" idx="20"/>
          </p:nvPr>
        </p:nvSpPr>
        <p:spPr>
          <a:xfrm>
            <a:off x="4308134" y="1714500"/>
            <a:ext cx="3218192" cy="1663700"/>
          </a:xfrm>
          <a:solidFill>
            <a:schemeClr val="accent2"/>
          </a:solidFill>
        </p:spPr>
        <p:txBody>
          <a:bodyPr anchor="ctr"/>
          <a:lstStyle>
            <a:lvl1pPr algn="ctr">
              <a:defRPr/>
            </a:lvl1pPr>
          </a:lstStyle>
          <a:p>
            <a:endParaRPr lang="en-US"/>
          </a:p>
        </p:txBody>
      </p:sp>
      <p:sp>
        <p:nvSpPr>
          <p:cNvPr id="16" name="Picture Placeholder 13">
            <a:extLst>
              <a:ext uri="{FF2B5EF4-FFF2-40B4-BE49-F238E27FC236}">
                <a16:creationId xmlns:a16="http://schemas.microsoft.com/office/drawing/2014/main" id="{F11DEFB8-BA80-BB3D-C458-66465402BFDC}"/>
              </a:ext>
            </a:extLst>
          </p:cNvPr>
          <p:cNvSpPr>
            <a:spLocks noGrp="1"/>
          </p:cNvSpPr>
          <p:nvPr>
            <p:ph type="pic" sz="quarter" idx="21"/>
          </p:nvPr>
        </p:nvSpPr>
        <p:spPr>
          <a:xfrm>
            <a:off x="8119357" y="1714500"/>
            <a:ext cx="3218192" cy="1663700"/>
          </a:xfrm>
          <a:solidFill>
            <a:schemeClr val="accent2"/>
          </a:solidFill>
        </p:spPr>
        <p:txBody>
          <a:bodyPr anchor="ctr"/>
          <a:lstStyle>
            <a:lvl1pPr algn="ctr">
              <a:defRPr/>
            </a:lvl1pPr>
          </a:lstStyle>
          <a:p>
            <a:endParaRPr lang="en-US"/>
          </a:p>
        </p:txBody>
      </p:sp>
      <p:sp>
        <p:nvSpPr>
          <p:cNvPr id="20" name="Footer Placeholder 5">
            <a:extLst>
              <a:ext uri="{FF2B5EF4-FFF2-40B4-BE49-F238E27FC236}">
                <a16:creationId xmlns:a16="http://schemas.microsoft.com/office/drawing/2014/main" id="{F0E166F0-F95F-1D05-A287-251A139C6CA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3497BD9B-3994-7C1E-50C9-AB457C7F02B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Rectangle 2">
            <a:extLst>
              <a:ext uri="{FF2B5EF4-FFF2-40B4-BE49-F238E27FC236}">
                <a16:creationId xmlns:a16="http://schemas.microsoft.com/office/drawing/2014/main" id="{20DC396A-37C3-88E2-4F5B-E5AA818428C1}"/>
              </a:ext>
            </a:extLst>
          </p:cNvPr>
          <p:cNvSpPr/>
          <p:nvPr userDrawn="1"/>
        </p:nvSpPr>
        <p:spPr>
          <a:xfrm>
            <a:off x="512763" y="3378197"/>
            <a:ext cx="3218192" cy="182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72BCF2-879C-41F5-074F-3C352C123100}"/>
              </a:ext>
            </a:extLst>
          </p:cNvPr>
          <p:cNvSpPr/>
          <p:nvPr userDrawn="1"/>
        </p:nvSpPr>
        <p:spPr>
          <a:xfrm>
            <a:off x="4308134" y="3378197"/>
            <a:ext cx="3218192"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6EA6AB-2EF1-6F7D-4247-F7254496D6EE}"/>
              </a:ext>
            </a:extLst>
          </p:cNvPr>
          <p:cNvSpPr/>
          <p:nvPr userDrawn="1"/>
        </p:nvSpPr>
        <p:spPr>
          <a:xfrm>
            <a:off x="8119357" y="3378197"/>
            <a:ext cx="3218192" cy="1828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09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Callout with Image_R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25C47B-E583-4956-949C-9708AC0FABD9}"/>
              </a:ext>
            </a:extLst>
          </p:cNvPr>
          <p:cNvSpPr/>
          <p:nvPr userDrawn="1"/>
        </p:nvSpPr>
        <p:spPr>
          <a:xfrm>
            <a:off x="7095281" y="0"/>
            <a:ext cx="5096719" cy="5821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69282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Callout with Image_ GRADIENT">
    <p:spTree>
      <p:nvGrpSpPr>
        <p:cNvPr id="1" name=""/>
        <p:cNvGrpSpPr/>
        <p:nvPr/>
      </p:nvGrpSpPr>
      <p:grpSpPr>
        <a:xfrm>
          <a:off x="0" y="0"/>
          <a:ext cx="0" cy="0"/>
          <a:chOff x="0" y="0"/>
          <a:chExt cx="0" cy="0"/>
        </a:xfrm>
      </p:grpSpPr>
      <p:pic>
        <p:nvPicPr>
          <p:cNvPr id="2" name="Content Placeholder 4" descr="A red and green background&#10;&#10;AI-generated content may be incorrect.">
            <a:extLst>
              <a:ext uri="{FF2B5EF4-FFF2-40B4-BE49-F238E27FC236}">
                <a16:creationId xmlns:a16="http://schemas.microsoft.com/office/drawing/2014/main" id="{F572A1C8-8552-05CD-8DEF-01C2B53523B7}"/>
              </a:ext>
            </a:extLst>
          </p:cNvPr>
          <p:cNvPicPr>
            <a:picLocks noChangeAspect="1"/>
          </p:cNvPicPr>
          <p:nvPr userDrawn="1"/>
        </p:nvPicPr>
        <p:blipFill>
          <a:blip r:embed="rId2" cstate="email">
            <a:extLst>
              <a:ext uri="{28A0092B-C50C-407E-A947-70E740481C1C}">
                <a14:useLocalDpi xmlns:a14="http://schemas.microsoft.com/office/drawing/2010/main"/>
              </a:ext>
            </a:extLst>
          </a:blip>
          <a:srcRect l="50753"/>
          <a:stretch/>
        </p:blipFill>
        <p:spPr>
          <a:xfrm>
            <a:off x="7095280" y="0"/>
            <a:ext cx="5096719" cy="5821680"/>
          </a:xfrm>
          <a:prstGeom prst="rect">
            <a:avLst/>
          </a:prstGeom>
        </p:spPr>
      </p:pic>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81309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o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5185-B6F2-DA27-97F5-A261008249C0}"/>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5" name="Rectangle 4">
            <a:extLst>
              <a:ext uri="{FF2B5EF4-FFF2-40B4-BE49-F238E27FC236}">
                <a16:creationId xmlns:a16="http://schemas.microsoft.com/office/drawing/2014/main" id="{895E45AE-8CD3-04FD-8145-5F22A12DA9AD}"/>
              </a:ext>
            </a:extLst>
          </p:cNvPr>
          <p:cNvSpPr/>
          <p:nvPr userDrawn="1"/>
        </p:nvSpPr>
        <p:spPr>
          <a:xfrm>
            <a:off x="0" y="4220063"/>
            <a:ext cx="12192000" cy="191403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3D3821-B7C2-E329-9CF4-E787569C31B2}"/>
              </a:ext>
            </a:extLst>
          </p:cNvPr>
          <p:cNvSpPr/>
          <p:nvPr userDrawn="1"/>
        </p:nvSpPr>
        <p:spPr>
          <a:xfrm>
            <a:off x="1233708"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19B13CA-8DC4-867F-D557-D69CBB8B67DA}"/>
              </a:ext>
            </a:extLst>
          </p:cNvPr>
          <p:cNvSpPr/>
          <p:nvPr userDrawn="1"/>
        </p:nvSpPr>
        <p:spPr>
          <a:xfrm>
            <a:off x="4896883"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147C2C-8AD5-4E0E-B86F-FB610E2E8D77}"/>
              </a:ext>
            </a:extLst>
          </p:cNvPr>
          <p:cNvSpPr/>
          <p:nvPr userDrawn="1"/>
        </p:nvSpPr>
        <p:spPr>
          <a:xfrm>
            <a:off x="8508434"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77152127-24A4-5B38-2225-CFB9E1AC963F}"/>
              </a:ext>
            </a:extLst>
          </p:cNvPr>
          <p:cNvSpPr>
            <a:spLocks noGrp="1"/>
          </p:cNvSpPr>
          <p:nvPr>
            <p:ph type="pic" sz="quarter" idx="12"/>
          </p:nvPr>
        </p:nvSpPr>
        <p:spPr>
          <a:xfrm>
            <a:off x="1233488" y="1567448"/>
            <a:ext cx="2398712" cy="2652615"/>
          </a:xfrm>
          <a:solidFill>
            <a:schemeClr val="accent2"/>
          </a:solidFill>
        </p:spPr>
        <p:txBody>
          <a:bodyPr anchor="ctr"/>
          <a:lstStyle>
            <a:lvl1pPr algn="ctr">
              <a:defRPr/>
            </a:lvl1pPr>
          </a:lstStyle>
          <a:p>
            <a:endParaRPr lang="en-US"/>
          </a:p>
        </p:txBody>
      </p:sp>
      <p:sp>
        <p:nvSpPr>
          <p:cNvPr id="12" name="Picture Placeholder 9">
            <a:extLst>
              <a:ext uri="{FF2B5EF4-FFF2-40B4-BE49-F238E27FC236}">
                <a16:creationId xmlns:a16="http://schemas.microsoft.com/office/drawing/2014/main" id="{4B1E2DD4-B1C2-7FB1-C1EA-A46F91A95F78}"/>
              </a:ext>
            </a:extLst>
          </p:cNvPr>
          <p:cNvSpPr>
            <a:spLocks noGrp="1"/>
          </p:cNvSpPr>
          <p:nvPr>
            <p:ph type="pic" sz="quarter" idx="13"/>
          </p:nvPr>
        </p:nvSpPr>
        <p:spPr>
          <a:xfrm>
            <a:off x="4896883" y="1567448"/>
            <a:ext cx="2398712" cy="2652615"/>
          </a:xfrm>
          <a:solidFill>
            <a:schemeClr val="accent2"/>
          </a:solidFill>
        </p:spPr>
        <p:txBody>
          <a:bodyPr anchor="ctr"/>
          <a:lstStyle>
            <a:lvl1pPr algn="ctr">
              <a:defRPr/>
            </a:lvl1pPr>
          </a:lstStyle>
          <a:p>
            <a:endParaRPr lang="en-US" dirty="0"/>
          </a:p>
        </p:txBody>
      </p:sp>
      <p:sp>
        <p:nvSpPr>
          <p:cNvPr id="13" name="Picture Placeholder 9">
            <a:extLst>
              <a:ext uri="{FF2B5EF4-FFF2-40B4-BE49-F238E27FC236}">
                <a16:creationId xmlns:a16="http://schemas.microsoft.com/office/drawing/2014/main" id="{5B101D83-A82D-5B8E-7FA6-80AB668E9941}"/>
              </a:ext>
            </a:extLst>
          </p:cNvPr>
          <p:cNvSpPr>
            <a:spLocks noGrp="1"/>
          </p:cNvSpPr>
          <p:nvPr>
            <p:ph type="pic" sz="quarter" idx="14"/>
          </p:nvPr>
        </p:nvSpPr>
        <p:spPr>
          <a:xfrm>
            <a:off x="8508434" y="1567448"/>
            <a:ext cx="2398712" cy="2652615"/>
          </a:xfrm>
          <a:solidFill>
            <a:schemeClr val="accent2"/>
          </a:solidFill>
        </p:spPr>
        <p:txBody>
          <a:bodyPr anchor="ctr"/>
          <a:lstStyle>
            <a:lvl1pPr algn="ctr">
              <a:defRPr/>
            </a:lvl1pPr>
          </a:lstStyle>
          <a:p>
            <a:endParaRPr lang="en-US" dirty="0"/>
          </a:p>
        </p:txBody>
      </p:sp>
      <p:sp>
        <p:nvSpPr>
          <p:cNvPr id="15" name="Text Placeholder 14">
            <a:extLst>
              <a:ext uri="{FF2B5EF4-FFF2-40B4-BE49-F238E27FC236}">
                <a16:creationId xmlns:a16="http://schemas.microsoft.com/office/drawing/2014/main" id="{02A3F5B9-E2E5-EC83-A97F-CE3D39998690}"/>
              </a:ext>
            </a:extLst>
          </p:cNvPr>
          <p:cNvSpPr>
            <a:spLocks noGrp="1"/>
          </p:cNvSpPr>
          <p:nvPr>
            <p:ph type="body" sz="quarter" idx="15"/>
          </p:nvPr>
        </p:nvSpPr>
        <p:spPr>
          <a:xfrm>
            <a:off x="832803"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E3CD09CE-CBA6-D7B7-229E-1DC0D3426C35}"/>
              </a:ext>
            </a:extLst>
          </p:cNvPr>
          <p:cNvSpPr>
            <a:spLocks noGrp="1"/>
          </p:cNvSpPr>
          <p:nvPr>
            <p:ph type="body" sz="quarter" idx="16"/>
          </p:nvPr>
        </p:nvSpPr>
        <p:spPr>
          <a:xfrm>
            <a:off x="4510882"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7" name="Text Placeholder 14">
            <a:extLst>
              <a:ext uri="{FF2B5EF4-FFF2-40B4-BE49-F238E27FC236}">
                <a16:creationId xmlns:a16="http://schemas.microsoft.com/office/drawing/2014/main" id="{50936DEA-0015-2C53-7764-81D237AA5780}"/>
              </a:ext>
            </a:extLst>
          </p:cNvPr>
          <p:cNvSpPr>
            <a:spLocks noGrp="1"/>
          </p:cNvSpPr>
          <p:nvPr>
            <p:ph type="body" sz="quarter" idx="17"/>
          </p:nvPr>
        </p:nvSpPr>
        <p:spPr>
          <a:xfrm>
            <a:off x="8133080"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21" name="Footer Placeholder 5">
            <a:extLst>
              <a:ext uri="{FF2B5EF4-FFF2-40B4-BE49-F238E27FC236}">
                <a16:creationId xmlns:a16="http://schemas.microsoft.com/office/drawing/2014/main" id="{35EEC88B-64D7-58A8-A6A3-BAE15852FF3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2" name="Slide Number Placeholder 6">
            <a:extLst>
              <a:ext uri="{FF2B5EF4-FFF2-40B4-BE49-F238E27FC236}">
                <a16:creationId xmlns:a16="http://schemas.microsoft.com/office/drawing/2014/main" id="{9DA960EC-7047-D992-6A0D-B2B2BF704DDC}"/>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23" name="Text Placeholder 5">
            <a:extLst>
              <a:ext uri="{FF2B5EF4-FFF2-40B4-BE49-F238E27FC236}">
                <a16:creationId xmlns:a16="http://schemas.microsoft.com/office/drawing/2014/main" id="{73B05B23-359F-5932-B1A5-F90563302333}"/>
              </a:ext>
            </a:extLst>
          </p:cNvPr>
          <p:cNvSpPr>
            <a:spLocks noGrp="1"/>
          </p:cNvSpPr>
          <p:nvPr>
            <p:ph type="body" sz="quarter" idx="18"/>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Tree>
    <p:extLst>
      <p:ext uri="{BB962C8B-B14F-4D97-AF65-F5344CB8AC3E}">
        <p14:creationId xmlns:p14="http://schemas.microsoft.com/office/powerpoint/2010/main" val="101420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7E08-94CF-6FA6-259A-D4B0215436A1}"/>
              </a:ext>
            </a:extLst>
          </p:cNvPr>
          <p:cNvSpPr>
            <a:spLocks noGrp="1"/>
          </p:cNvSpPr>
          <p:nvPr>
            <p:ph type="title" hasCustomPrompt="1"/>
          </p:nvPr>
        </p:nvSpPr>
        <p:spPr>
          <a:xfrm>
            <a:off x="511427" y="2357290"/>
            <a:ext cx="3593213" cy="980194"/>
          </a:xfrm>
        </p:spPr>
        <p:txBody>
          <a:bodyPr/>
          <a:lstStyle>
            <a:lvl1pPr>
              <a:defRPr sz="5400">
                <a:latin typeface="Georgia" panose="02040502050405020303" pitchFamily="18" charset="0"/>
              </a:defRPr>
            </a:lvl1pPr>
          </a:lstStyle>
          <a:p>
            <a:r>
              <a:rPr lang="en-US" dirty="0"/>
              <a:t>Agenda</a:t>
            </a:r>
          </a:p>
        </p:txBody>
      </p:sp>
      <p:sp>
        <p:nvSpPr>
          <p:cNvPr id="5" name="Rectangle 4">
            <a:extLst>
              <a:ext uri="{FF2B5EF4-FFF2-40B4-BE49-F238E27FC236}">
                <a16:creationId xmlns:a16="http://schemas.microsoft.com/office/drawing/2014/main" id="{4FAF18C4-8E88-BC25-A282-A9E543495953}"/>
              </a:ext>
            </a:extLst>
          </p:cNvPr>
          <p:cNvSpPr/>
          <p:nvPr userDrawn="1"/>
        </p:nvSpPr>
        <p:spPr>
          <a:xfrm>
            <a:off x="4104640" y="619760"/>
            <a:ext cx="8087360" cy="51409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Content Placeholder 4">
            <a:extLst>
              <a:ext uri="{FF2B5EF4-FFF2-40B4-BE49-F238E27FC236}">
                <a16:creationId xmlns:a16="http://schemas.microsoft.com/office/drawing/2014/main" id="{98F1CF70-BAC4-4070-0CC3-53C7E9D3856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104641" y="5509548"/>
            <a:ext cx="8085245" cy="251171"/>
          </a:xfrm>
          <a:prstGeom prst="rect">
            <a:avLst/>
          </a:prstGeom>
        </p:spPr>
      </p:pic>
      <p:cxnSp>
        <p:nvCxnSpPr>
          <p:cNvPr id="7" name="Straight Connector 6">
            <a:extLst>
              <a:ext uri="{FF2B5EF4-FFF2-40B4-BE49-F238E27FC236}">
                <a16:creationId xmlns:a16="http://schemas.microsoft.com/office/drawing/2014/main" id="{81604BCD-BC3A-DE84-90AD-BB35133C98FF}"/>
              </a:ext>
            </a:extLst>
          </p:cNvPr>
          <p:cNvCxnSpPr>
            <a:cxnSpLocks/>
          </p:cNvCxnSpPr>
          <p:nvPr userDrawn="1"/>
        </p:nvCxnSpPr>
        <p:spPr>
          <a:xfrm>
            <a:off x="512763" y="1696519"/>
            <a:ext cx="1424596"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8" name="Text Placeholder 10">
            <a:extLst>
              <a:ext uri="{FF2B5EF4-FFF2-40B4-BE49-F238E27FC236}">
                <a16:creationId xmlns:a16="http://schemas.microsoft.com/office/drawing/2014/main" id="{F7FF7787-EC31-5F16-15F3-D99D80060DCB}"/>
              </a:ext>
            </a:extLst>
          </p:cNvPr>
          <p:cNvSpPr>
            <a:spLocks noGrp="1"/>
          </p:cNvSpPr>
          <p:nvPr>
            <p:ph type="body" sz="quarter" idx="12"/>
          </p:nvPr>
        </p:nvSpPr>
        <p:spPr>
          <a:xfrm>
            <a:off x="512763" y="1217639"/>
            <a:ext cx="2977197" cy="402336"/>
          </a:xfrm>
        </p:spPr>
        <p:txBody>
          <a:bodyPr>
            <a:noAutofit/>
          </a:bodyPr>
          <a:lstStyle>
            <a:lvl1pPr>
              <a:defRPr sz="1800" i="0">
                <a:solidFill>
                  <a:schemeClr val="tx2"/>
                </a:solidFill>
              </a:defRPr>
            </a:lvl1pPr>
          </a:lstStyle>
          <a:p>
            <a:pPr lvl="0"/>
            <a:r>
              <a:rPr lang="en-US" dirty="0"/>
              <a:t>Click to edit Master text styles</a:t>
            </a:r>
          </a:p>
        </p:txBody>
      </p:sp>
      <p:sp>
        <p:nvSpPr>
          <p:cNvPr id="13" name="Footer Placeholder 5">
            <a:extLst>
              <a:ext uri="{FF2B5EF4-FFF2-40B4-BE49-F238E27FC236}">
                <a16:creationId xmlns:a16="http://schemas.microsoft.com/office/drawing/2014/main" id="{C4E4B447-5E78-26D1-11D4-9F10C5ADB49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4" name="Slide Number Placeholder 6">
            <a:extLst>
              <a:ext uri="{FF2B5EF4-FFF2-40B4-BE49-F238E27FC236}">
                <a16:creationId xmlns:a16="http://schemas.microsoft.com/office/drawing/2014/main" id="{DE2CBB75-E971-3468-55D8-59660AE2DE5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84092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00642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Only_GRADIENT">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537" y="6134100"/>
            <a:ext cx="12189463" cy="723901"/>
          </a:xfrm>
          <a:prstGeom prst="rect">
            <a:avLst/>
          </a:prstGeom>
        </p:spPr>
      </p:pic>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pic>
        <p:nvPicPr>
          <p:cNvPr id="3" name="Graphic 2">
            <a:extLst>
              <a:ext uri="{FF2B5EF4-FFF2-40B4-BE49-F238E27FC236}">
                <a16:creationId xmlns:a16="http://schemas.microsoft.com/office/drawing/2014/main" id="{FE06A606-B049-1036-FB09-50B455B5BAA2}"/>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85211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subhead and gradient footer">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6134099"/>
            <a:ext cx="12190732" cy="723901"/>
          </a:xfrm>
          <a:prstGeom prst="rect">
            <a:avLst/>
          </a:prstGeom>
        </p:spPr>
      </p:pic>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6" name="Graphic 5">
            <a:extLst>
              <a:ext uri="{FF2B5EF4-FFF2-40B4-BE49-F238E27FC236}">
                <a16:creationId xmlns:a16="http://schemas.microsoft.com/office/drawing/2014/main" id="{E90BD3B1-489B-2447-0D11-E1BF10A2A188}"/>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71347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subhead and red foot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3525CB-3575-15ED-8355-4B7991B1D33D}"/>
              </a:ext>
            </a:extLst>
          </p:cNvPr>
          <p:cNvSpPr/>
          <p:nvPr userDrawn="1"/>
        </p:nvSpPr>
        <p:spPr>
          <a:xfrm>
            <a:off x="0" y="6134099"/>
            <a:ext cx="12192000" cy="72920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2" name="Graphic 1">
            <a:extLst>
              <a:ext uri="{FF2B5EF4-FFF2-40B4-BE49-F238E27FC236}">
                <a16:creationId xmlns:a16="http://schemas.microsoft.com/office/drawing/2014/main" id="{DA132C04-CB78-14F0-5958-754E3BF58D22}"/>
              </a:ext>
            </a:extLst>
          </p:cNvPr>
          <p:cNvPicPr>
            <a:picLocks noChangeAspect="1"/>
          </p:cNvPicPr>
          <p:nvPr userDrawn="1"/>
        </p:nvPicPr>
        <p:blipFill>
          <a:blip r:embed="rId2">
            <a:extLst>
              <a:ext uri="{96DAC541-7B7A-43D3-8B79-37D633B846F1}">
                <asvg:svgBlip xmlns:asvg="http://schemas.microsoft.com/office/drawing/2016/SVG/main" r:embed="rId3"/>
              </a:ext>
            </a:extLst>
          </a:blip>
          <a:srcRect r="42800"/>
          <a:stretch>
            <a:fillRect/>
          </a:stretch>
        </p:blipFill>
        <p:spPr>
          <a:xfrm>
            <a:off x="511426" y="6353070"/>
            <a:ext cx="1359904" cy="323734"/>
          </a:xfrm>
          <a:prstGeom prst="rect">
            <a:avLst/>
          </a:prstGeom>
        </p:spPr>
      </p:pic>
    </p:spTree>
    <p:extLst>
      <p:ext uri="{BB962C8B-B14F-4D97-AF65-F5344CB8AC3E}">
        <p14:creationId xmlns:p14="http://schemas.microsoft.com/office/powerpoint/2010/main" val="368502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pic>
        <p:nvPicPr>
          <p:cNvPr id="10" name="Graphic 9">
            <a:extLst>
              <a:ext uri="{FF2B5EF4-FFF2-40B4-BE49-F238E27FC236}">
                <a16:creationId xmlns:a16="http://schemas.microsoft.com/office/drawing/2014/main" id="{9275B372-8BD2-273A-2BEE-315CE5994D44}"/>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466"/>
          <a:stretch>
            <a:fillRect/>
          </a:stretch>
        </p:blipFill>
        <p:spPr>
          <a:xfrm>
            <a:off x="512763" y="1500396"/>
            <a:ext cx="2377921" cy="562806"/>
          </a:xfrm>
          <a:prstGeom prst="rect">
            <a:avLst/>
          </a:prstGeom>
        </p:spPr>
      </p:pic>
      <p:sp>
        <p:nvSpPr>
          <p:cNvPr id="12" name="Text Placeholder 15">
            <a:extLst>
              <a:ext uri="{FF2B5EF4-FFF2-40B4-BE49-F238E27FC236}">
                <a16:creationId xmlns:a16="http://schemas.microsoft.com/office/drawing/2014/main" id="{1298D4D4-817F-775A-F0A7-805017E61827}"/>
              </a:ext>
            </a:extLst>
          </p:cNvPr>
          <p:cNvSpPr>
            <a:spLocks noGrp="1"/>
          </p:cNvSpPr>
          <p:nvPr>
            <p:ph type="body" sz="quarter" idx="13"/>
          </p:nvPr>
        </p:nvSpPr>
        <p:spPr>
          <a:xfrm>
            <a:off x="512763" y="2451633"/>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CDC51F79-C1BF-23EE-E735-4465B3DB39B0}"/>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381766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3074" name="Picture 2" descr="PhD in Social Work - Brown School at Washington University in St. Louis">
            <a:extLst>
              <a:ext uri="{FF2B5EF4-FFF2-40B4-BE49-F238E27FC236}">
                <a16:creationId xmlns:a16="http://schemas.microsoft.com/office/drawing/2014/main" id="{4F9A68E1-9E2A-544D-6695-F11E6951FED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6404"/>
          <a:stretch>
            <a:fillRect/>
          </a:stretch>
        </p:blipFill>
        <p:spPr bwMode="auto">
          <a:xfrm>
            <a:off x="0" y="-1"/>
            <a:ext cx="5135880"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4">
            <a:extLst>
              <a:ext uri="{96DAC541-7B7A-43D3-8B79-37D633B846F1}">
                <asvg:svgBlip xmlns:asvg="http://schemas.microsoft.com/office/drawing/2016/SVG/main" r:embed="rId5"/>
              </a:ext>
            </a:extLst>
          </a:blip>
          <a:srcRect r="41317"/>
          <a:stretch>
            <a:fillRect/>
          </a:stretch>
        </p:blipFill>
        <p:spPr>
          <a:xfrm>
            <a:off x="6979921" y="755694"/>
            <a:ext cx="1493519" cy="346564"/>
          </a:xfrm>
          <a:prstGeom prst="rect">
            <a:avLst/>
          </a:prstGeom>
        </p:spPr>
      </p:pic>
      <p:sp>
        <p:nvSpPr>
          <p:cNvPr id="13" name="TextBox 12">
            <a:extLst>
              <a:ext uri="{FF2B5EF4-FFF2-40B4-BE49-F238E27FC236}">
                <a16:creationId xmlns:a16="http://schemas.microsoft.com/office/drawing/2014/main" id="{BA2A41D4-AB3D-151D-66DD-4962AAC7904A}"/>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4" name="Footer Placeholder 5">
            <a:extLst>
              <a:ext uri="{FF2B5EF4-FFF2-40B4-BE49-F238E27FC236}">
                <a16:creationId xmlns:a16="http://schemas.microsoft.com/office/drawing/2014/main" id="{466E0752-FF39-E98C-C771-E737A49D9DAE}"/>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344416E3-AC56-3F3E-611F-87B839A4BD81}"/>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009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2052" name="Picture 4" descr="Master of Social Work - Brown School at Washington University in St. Louis">
            <a:extLst>
              <a:ext uri="{FF2B5EF4-FFF2-40B4-BE49-F238E27FC236}">
                <a16:creationId xmlns:a16="http://schemas.microsoft.com/office/drawing/2014/main" id="{397DCBF1-43F9-4AFE-21A3-1A39F7F9B88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3202" b="3202"/>
          <a:stretch>
            <a:fillRect/>
          </a:stretch>
        </p:blipFill>
        <p:spPr bwMode="auto">
          <a:xfrm>
            <a:off x="0" y="1"/>
            <a:ext cx="513588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189"/>
          <a:stretch>
            <a:fillRect/>
          </a:stretch>
        </p:blipFill>
        <p:spPr>
          <a:xfrm>
            <a:off x="6979922" y="755694"/>
            <a:ext cx="1471352"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6" name="Footer Placeholder 5">
            <a:extLst>
              <a:ext uri="{FF2B5EF4-FFF2-40B4-BE49-F238E27FC236}">
                <a16:creationId xmlns:a16="http://schemas.microsoft.com/office/drawing/2014/main" id="{A51CCE03-8C2C-223C-A359-11D05E7AE85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B298CEF6-7196-D2B3-7D3B-ADF792888D5F}"/>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3602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reaker 4">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9" name="Picture Placeholder 6">
            <a:extLst>
              <a:ext uri="{FF2B5EF4-FFF2-40B4-BE49-F238E27FC236}">
                <a16:creationId xmlns:a16="http://schemas.microsoft.com/office/drawing/2014/main" id="{A07E073C-A36B-F166-AFE6-5A5B30179E5D}"/>
              </a:ext>
            </a:extLst>
          </p:cNvPr>
          <p:cNvSpPr>
            <a:spLocks noGrp="1"/>
          </p:cNvSpPr>
          <p:nvPr>
            <p:ph type="pic" sz="quarter" idx="14"/>
          </p:nvPr>
        </p:nvSpPr>
        <p:spPr>
          <a:xfrm>
            <a:off x="0" y="0"/>
            <a:ext cx="6267450" cy="6858000"/>
          </a:xfrm>
          <a:solidFill>
            <a:schemeClr val="accent2"/>
          </a:solidFill>
        </p:spPr>
        <p:txBody>
          <a:bodyPr anchor="ctr"/>
          <a:lstStyle>
            <a:lvl1pPr algn="ctr">
              <a:defRPr/>
            </a:lvl1pPr>
          </a:lstStyle>
          <a:p>
            <a:endParaRPr lang="en-US"/>
          </a:p>
        </p:txBody>
      </p:sp>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856"/>
          <a:stretch>
            <a:fillRect/>
          </a:stretch>
        </p:blipFill>
        <p:spPr>
          <a:xfrm>
            <a:off x="6979921" y="755694"/>
            <a:ext cx="1479793"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1" name="Footer Placeholder 5">
            <a:extLst>
              <a:ext uri="{FF2B5EF4-FFF2-40B4-BE49-F238E27FC236}">
                <a16:creationId xmlns:a16="http://schemas.microsoft.com/office/drawing/2014/main" id="{234E558C-D3AB-836C-0C04-164B1113537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46EC1455-E1D2-32ED-96F9-1FB01D1EDCE4}"/>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84106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Statement with Eyebrow">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cxnSp>
        <p:nvCxnSpPr>
          <p:cNvPr id="7" name="Straight Connector 6">
            <a:extLst>
              <a:ext uri="{FF2B5EF4-FFF2-40B4-BE49-F238E27FC236}">
                <a16:creationId xmlns:a16="http://schemas.microsoft.com/office/drawing/2014/main" id="{20D28EA1-5C18-4BC9-D6AE-63A3D89C12B3}"/>
              </a:ext>
            </a:extLst>
          </p:cNvPr>
          <p:cNvCxnSpPr>
            <a:cxnSpLocks/>
          </p:cNvCxnSpPr>
          <p:nvPr userDrawn="1"/>
        </p:nvCxnSpPr>
        <p:spPr>
          <a:xfrm>
            <a:off x="512764" y="1159727"/>
            <a:ext cx="1424596" cy="0"/>
          </a:xfrm>
          <a:prstGeom prst="line">
            <a:avLst/>
          </a:prstGeom>
          <a:ln w="57150">
            <a:solidFill>
              <a:schemeClr val="bg1"/>
            </a:solidFill>
          </a:ln>
        </p:spPr>
        <p:style>
          <a:lnRef idx="1">
            <a:schemeClr val="accent6"/>
          </a:lnRef>
          <a:fillRef idx="0">
            <a:schemeClr val="accent6"/>
          </a:fillRef>
          <a:effectRef idx="0">
            <a:schemeClr val="accent6"/>
          </a:effectRef>
          <a:fontRef idx="minor">
            <a:schemeClr val="tx1"/>
          </a:fontRef>
        </p:style>
      </p:cxnSp>
      <p:sp>
        <p:nvSpPr>
          <p:cNvPr id="11" name="Text Placeholder 10">
            <a:extLst>
              <a:ext uri="{FF2B5EF4-FFF2-40B4-BE49-F238E27FC236}">
                <a16:creationId xmlns:a16="http://schemas.microsoft.com/office/drawing/2014/main" id="{8021CCD9-6C33-1B29-15B6-F3FF2BB661CD}"/>
              </a:ext>
            </a:extLst>
          </p:cNvPr>
          <p:cNvSpPr>
            <a:spLocks noGrp="1"/>
          </p:cNvSpPr>
          <p:nvPr>
            <p:ph type="body" sz="quarter" idx="12"/>
          </p:nvPr>
        </p:nvSpPr>
        <p:spPr>
          <a:xfrm>
            <a:off x="512764" y="680847"/>
            <a:ext cx="4886555" cy="402336"/>
          </a:xfrm>
        </p:spPr>
        <p:txBody>
          <a:bodyPr>
            <a:noAutofit/>
          </a:bodyPr>
          <a:lstStyle>
            <a:lvl1pPr>
              <a:defRPr sz="1800" i="0">
                <a:solidFill>
                  <a:schemeClr val="bg1"/>
                </a:solidFill>
              </a:defRPr>
            </a:lvl1pPr>
          </a:lstStyle>
          <a:p>
            <a:pPr lvl="0"/>
            <a:r>
              <a:rPr lang="en-US" dirty="0"/>
              <a:t>Click to edit Master text styles</a:t>
            </a:r>
          </a:p>
        </p:txBody>
      </p:sp>
      <p:sp>
        <p:nvSpPr>
          <p:cNvPr id="16" name="Text Placeholder 15">
            <a:extLst>
              <a:ext uri="{FF2B5EF4-FFF2-40B4-BE49-F238E27FC236}">
                <a16:creationId xmlns:a16="http://schemas.microsoft.com/office/drawing/2014/main" id="{6E56F3DC-9167-0BC6-E0AD-B6B4E6BDBD8E}"/>
              </a:ext>
            </a:extLst>
          </p:cNvPr>
          <p:cNvSpPr>
            <a:spLocks noGrp="1"/>
          </p:cNvSpPr>
          <p:nvPr>
            <p:ph type="body" sz="quarter" idx="13"/>
          </p:nvPr>
        </p:nvSpPr>
        <p:spPr>
          <a:xfrm>
            <a:off x="512763" y="1487665"/>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7" name="TextBox 16">
            <a:extLst>
              <a:ext uri="{FF2B5EF4-FFF2-40B4-BE49-F238E27FC236}">
                <a16:creationId xmlns:a16="http://schemas.microsoft.com/office/drawing/2014/main" id="{B7BEF91C-6E18-2231-3C63-8D5E788FA7F9}"/>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254984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Statement 2">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D9A7C88-DE74-6283-B4A4-1DD45AE677E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5196" b="4206"/>
          <a:stretch>
            <a:fillRect/>
          </a:stretch>
        </p:blipFill>
        <p:spPr bwMode="auto">
          <a:xfrm>
            <a:off x="-6893" y="1"/>
            <a:ext cx="1219889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a:extLst>
              <a:ext uri="{FF2B5EF4-FFF2-40B4-BE49-F238E27FC236}">
                <a16:creationId xmlns:a16="http://schemas.microsoft.com/office/drawing/2014/main" id="{07672B93-86ED-2C39-6490-F7DF186BF34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903720" y="0"/>
            <a:ext cx="4634970" cy="548640"/>
          </a:xfrm>
          <a:prstGeom prst="rect">
            <a:avLst/>
          </a:prstGeom>
        </p:spPr>
      </p:pic>
      <p:sp>
        <p:nvSpPr>
          <p:cNvPr id="7" name="Text Placeholder 6">
            <a:extLst>
              <a:ext uri="{FF2B5EF4-FFF2-40B4-BE49-F238E27FC236}">
                <a16:creationId xmlns:a16="http://schemas.microsoft.com/office/drawing/2014/main" id="{A6578ACD-6DBC-F910-C01D-E10BC6695467}"/>
              </a:ext>
            </a:extLst>
          </p:cNvPr>
          <p:cNvSpPr>
            <a:spLocks noGrp="1"/>
          </p:cNvSpPr>
          <p:nvPr>
            <p:ph type="body" sz="quarter" idx="12"/>
          </p:nvPr>
        </p:nvSpPr>
        <p:spPr>
          <a:xfrm>
            <a:off x="6904038" y="549275"/>
            <a:ext cx="4635500" cy="3849688"/>
          </a:xfrm>
          <a:solidFill>
            <a:schemeClr val="bg1"/>
          </a:solidFill>
        </p:spPr>
        <p:txBody>
          <a:bodyPr lIns="548640" anchor="ctr"/>
          <a:lstStyle>
            <a:lvl1pPr>
              <a:defRPr sz="3200"/>
            </a:lvl1pPr>
            <a:lvl2pPr>
              <a:spcBef>
                <a:spcPts val="2500"/>
              </a:spcBef>
              <a:defRPr sz="1600"/>
            </a:lvl2pPr>
          </a:lstStyle>
          <a:p>
            <a:pPr lvl="0"/>
            <a:r>
              <a:rPr lang="en-US" dirty="0"/>
              <a:t>Click to edit Master text styles</a:t>
            </a:r>
          </a:p>
          <a:p>
            <a:pPr lvl="1"/>
            <a:r>
              <a:rPr lang="en-US" dirty="0"/>
              <a:t>Second level</a:t>
            </a:r>
          </a:p>
        </p:txBody>
      </p:sp>
      <p:sp>
        <p:nvSpPr>
          <p:cNvPr id="14" name="TextBox 13">
            <a:extLst>
              <a:ext uri="{FF2B5EF4-FFF2-40B4-BE49-F238E27FC236}">
                <a16:creationId xmlns:a16="http://schemas.microsoft.com/office/drawing/2014/main" id="{7E847C79-CC1A-B80C-4F37-51F734C13046}"/>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12855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7C4EBF34-8EB4-A4D6-7E35-2C97CE8F0BE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E3C86DE6-86C2-5AB7-06B8-F8A11E14561F}"/>
              </a:ext>
            </a:extLst>
          </p:cNvPr>
          <p:cNvPicPr>
            <a:picLocks noChangeAspect="1"/>
          </p:cNvPicPr>
          <p:nvPr userDrawn="1"/>
        </p:nvPicPr>
        <p:blipFill>
          <a:blip r:embed="rId3">
            <a:extLst>
              <a:ext uri="{96DAC541-7B7A-43D3-8B79-37D633B846F1}">
                <asvg:svgBlip xmlns:asvg="http://schemas.microsoft.com/office/drawing/2016/SVG/main" r:embed="rId4"/>
              </a:ext>
            </a:extLst>
          </a:blip>
          <a:srcRect r="42316"/>
          <a:stretch>
            <a:fillRect/>
          </a:stretch>
        </p:blipFill>
        <p:spPr>
          <a:xfrm>
            <a:off x="4398335" y="3028244"/>
            <a:ext cx="3395329" cy="801511"/>
          </a:xfrm>
          <a:prstGeom prst="rect">
            <a:avLst/>
          </a:prstGeom>
        </p:spPr>
      </p:pic>
    </p:spTree>
    <p:extLst>
      <p:ext uri="{BB962C8B-B14F-4D97-AF65-F5344CB8AC3E}">
        <p14:creationId xmlns:p14="http://schemas.microsoft.com/office/powerpoint/2010/main" val="3445174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 Id="rId3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1427" y="437444"/>
            <a:ext cx="11167811" cy="980194"/>
          </a:xfrm>
          <a:prstGeom prst="rect">
            <a:avLst/>
          </a:prstGeom>
        </p:spPr>
        <p:txBody>
          <a:bodyPr vert="horz" lIns="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11426" y="1710372"/>
            <a:ext cx="11167811" cy="4423728"/>
          </a:xfrm>
          <a:prstGeom prst="rect">
            <a:avLst/>
          </a:prstGeom>
          <a:ln>
            <a:noFill/>
          </a:ln>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EC011EB-C8DD-A0FA-332D-2345BA9928D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C7015D9D-4496-53BC-5543-A7CD7127CBC5}"/>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pic>
        <p:nvPicPr>
          <p:cNvPr id="10" name="Graphic 9">
            <a:extLst>
              <a:ext uri="{FF2B5EF4-FFF2-40B4-BE49-F238E27FC236}">
                <a16:creationId xmlns:a16="http://schemas.microsoft.com/office/drawing/2014/main" id="{5A093176-96C9-BEE1-C4CD-B5CEAF9D7715}"/>
              </a:ext>
            </a:extLst>
          </p:cNvPr>
          <p:cNvPicPr>
            <a:picLocks noChangeAspect="1"/>
          </p:cNvPicPr>
          <p:nvPr userDrawn="1"/>
        </p:nvPicPr>
        <p:blipFill>
          <a:blip r:embed="rId31">
            <a:extLst>
              <a:ext uri="{96DAC541-7B7A-43D3-8B79-37D633B846F1}">
                <asvg:svgBlip xmlns:asvg="http://schemas.microsoft.com/office/drawing/2016/SVG/main" r:embed="rId32"/>
              </a:ext>
            </a:extLst>
          </a:blip>
          <a:srcRect r="42790"/>
          <a:stretch>
            <a:fillRect/>
          </a:stretch>
        </p:blipFill>
        <p:spPr>
          <a:xfrm>
            <a:off x="509322" y="6326908"/>
            <a:ext cx="1360118" cy="323736"/>
          </a:xfrm>
          <a:prstGeom prst="rect">
            <a:avLst/>
          </a:prstGeom>
        </p:spPr>
      </p:pic>
    </p:spTree>
    <p:extLst>
      <p:ext uri="{BB962C8B-B14F-4D97-AF65-F5344CB8AC3E}">
        <p14:creationId xmlns:p14="http://schemas.microsoft.com/office/powerpoint/2010/main" val="673511293"/>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51" r:id="rId3"/>
    <p:sldLayoutId id="2147483675" r:id="rId4"/>
    <p:sldLayoutId id="2147483670" r:id="rId5"/>
    <p:sldLayoutId id="2147483653" r:id="rId6"/>
    <p:sldLayoutId id="2147483654" r:id="rId7"/>
    <p:sldLayoutId id="2147483648" r:id="rId8"/>
    <p:sldLayoutId id="2147483652" r:id="rId9"/>
    <p:sldLayoutId id="2147483649" r:id="rId10"/>
    <p:sldLayoutId id="2147483659" r:id="rId11"/>
    <p:sldLayoutId id="2147483668" r:id="rId12"/>
    <p:sldLayoutId id="2147483660" r:id="rId13"/>
    <p:sldLayoutId id="2147483666" r:id="rId14"/>
    <p:sldLayoutId id="2147483672" r:id="rId15"/>
    <p:sldLayoutId id="2147483673" r:id="rId16"/>
    <p:sldLayoutId id="2147483663" r:id="rId17"/>
    <p:sldLayoutId id="2147483658" r:id="rId18"/>
    <p:sldLayoutId id="2147483669" r:id="rId19"/>
    <p:sldLayoutId id="2147483674" r:id="rId20"/>
    <p:sldLayoutId id="2147483676" r:id="rId21"/>
    <p:sldLayoutId id="2147483734" r:id="rId22"/>
    <p:sldLayoutId id="2147483655" r:id="rId23"/>
    <p:sldLayoutId id="2147483661" r:id="rId24"/>
    <p:sldLayoutId id="2147483662" r:id="rId25"/>
    <p:sldLayoutId id="2147483671" r:id="rId26"/>
    <p:sldLayoutId id="2147483656" r:id="rId27"/>
    <p:sldLayoutId id="2147483667" r:id="rId28"/>
    <p:sldLayoutId id="2147483657"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457200" rtl="0" eaLnBrk="1" latinLnBrk="0" hangingPunct="1">
        <a:lnSpc>
          <a:spcPct val="85000"/>
        </a:lnSpc>
        <a:spcBef>
          <a:spcPct val="0"/>
        </a:spcBef>
        <a:buNone/>
        <a:defRPr sz="3600" b="1" kern="1200">
          <a:solidFill>
            <a:schemeClr val="tx1"/>
          </a:solidFill>
          <a:latin typeface="+mj-lt"/>
          <a:ea typeface="Georgia" panose="02040502050405020303" pitchFamily="18" charset="0"/>
          <a:cs typeface="Times New Roman" charset="0"/>
        </a:defRPr>
      </a:lvl1pPr>
    </p:titleStyle>
    <p:bodyStyle>
      <a:lvl1pPr marL="0" indent="0" algn="l" defTabSz="457200" rtl="0" eaLnBrk="1" latinLnBrk="0" hangingPunct="1">
        <a:lnSpc>
          <a:spcPct val="90000"/>
        </a:lnSpc>
        <a:spcBef>
          <a:spcPct val="20000"/>
        </a:spcBef>
        <a:buFont typeface="Arial"/>
        <a:buNone/>
        <a:tabLst/>
        <a:defRPr sz="2200" b="1"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defTabSz="457200" rtl="0" eaLnBrk="1" latinLnBrk="0" hangingPunct="1">
        <a:spcBef>
          <a:spcPts val="800"/>
        </a:spcBef>
        <a:buFont typeface="Arial" panose="020B0604020202020204" pitchFamily="34" charset="0"/>
        <a:buNone/>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39700" indent="-139700" algn="l" defTabSz="457200" rtl="0" eaLnBrk="1" latinLnBrk="0" hangingPunct="1">
        <a:spcBef>
          <a:spcPts val="1200"/>
        </a:spcBef>
        <a:buClr>
          <a:schemeClr val="accent3"/>
        </a:buClr>
        <a:buFont typeface="Arial" panose="020B0604020202020204" pitchFamily="34" charset="0"/>
        <a:buChar char="•"/>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482600" indent="-139700" algn="l" defTabSz="457200" rtl="0" eaLnBrk="1" latinLnBrk="0" hangingPunct="1">
        <a:spcBef>
          <a:spcPts val="800"/>
        </a:spcBef>
        <a:buClr>
          <a:schemeClr val="accent3"/>
        </a:buClr>
        <a:buFont typeface="Arial" panose="020B0604020202020204" pitchFamily="34" charset="0"/>
        <a:buChar char="•"/>
        <a:tabLst/>
        <a:defRPr sz="16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974725" indent="-114300" algn="l" defTabSz="457200" rtl="0" eaLnBrk="1" latinLnBrk="0" hangingPunct="1">
        <a:spcBef>
          <a:spcPts val="800"/>
        </a:spcBef>
        <a:buClr>
          <a:schemeClr val="accent3"/>
        </a:buClr>
        <a:buFont typeface="Arial" panose="020B0604020202020204" pitchFamily="34" charset="0"/>
        <a:buChar char="•"/>
        <a:tabLst/>
        <a:defRPr sz="1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57" userDrawn="1">
          <p15:clr>
            <a:srgbClr val="F26B43"/>
          </p15:clr>
        </p15:guide>
        <p15:guide id="2" pos="323" userDrawn="1">
          <p15:clr>
            <a:srgbClr val="F26B43"/>
          </p15:clr>
        </p15:guide>
        <p15:guide id="3" orient="horz" pos="1080" userDrawn="1">
          <p15:clr>
            <a:srgbClr val="F26B43"/>
          </p15:clr>
        </p15:guide>
        <p15:guide id="4"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AI-Empowered Research</a:t>
            </a:r>
          </a:p>
        </p:txBody>
      </p:sp>
      <p:sp>
        <p:nvSpPr>
          <p:cNvPr id="3" name="Text Placeholder 2"/>
          <p:cNvSpPr>
            <a:spLocks noGrp="1"/>
          </p:cNvSpPr>
          <p:nvPr>
            <p:ph type="body" idx="14" sz="quarter"/>
          </p:nvPr>
        </p:nvSpPr>
        <p:spPr>
          <a:xfrm>
            <a:off x="3657600" y="4434840"/>
            <a:ext cx="8138160" cy="457200"/>
          </a:xfrm>
        </p:spPr>
        <p:txBody>
          <a:bodyPr/>
          <a:lstStyle/>
          <a:p>
            <a:r>
              <a:rPr sz="2400"/>
              <a:t>Part 3 · Live Workflow: An Education-Policy Study</a:t>
            </a:r>
          </a:p>
        </p:txBody>
      </p:sp>
      <p:sp>
        <p:nvSpPr>
          <p:cNvPr id="4" name="TextBox 3"/>
          <p:cNvSpPr txBox="1"/>
          <p:nvPr/>
        </p:nvSpPr>
        <p:spPr>
          <a:xfrm>
            <a:off x="3657600" y="4983480"/>
            <a:ext cx="8138160" cy="365760"/>
          </a:xfrm>
          <a:prstGeom prst="rect">
            <a:avLst/>
          </a:prstGeom>
          <a:noFill/>
        </p:spPr>
        <p:txBody>
          <a:bodyPr wrap="square" lIns="0" rIns="0" tIns="0" bIns="0" anchor="t">
            <a:spAutoFit/>
          </a:bodyPr>
          <a:lstStyle/>
          <a:p>
            <a:pPr algn="l"/>
            <a:r>
              <a:rPr sz="1600" b="0" i="0">
                <a:solidFill>
                  <a:srgbClr val="5F5F5F"/>
                </a:solidFill>
              </a:rPr>
              <a:t>Yung Chun · CERP³ · Hillman Hall 130 · 2026-10-16</a:t>
            </a:r>
          </a:p>
        </p:txBody>
      </p:sp>
      <p:pic>
        <p:nvPicPr>
          <p:cNvPr id="5" name="Picture 4" descr="FaTriangleExclamation_red.png"/>
          <p:cNvPicPr>
            <a:picLocks noChangeAspect="1"/>
          </p:cNvPicPr>
          <p:nvPr/>
        </p:nvPicPr>
        <p:blipFill>
          <a:blip r:embed="rId3"/>
          <a:stretch>
            <a:fillRect/>
          </a:stretch>
        </p:blipFill>
        <p:spPr>
          <a:xfrm>
            <a:off x="3657600" y="5577840"/>
            <a:ext cx="310896" cy="310896"/>
          </a:xfrm>
          <a:prstGeom prst="rect">
            <a:avLst/>
          </a:prstGeom>
        </p:spPr>
      </p:pic>
      <p:sp>
        <p:nvSpPr>
          <p:cNvPr id="6" name="TextBox 5"/>
          <p:cNvSpPr txBox="1"/>
          <p:nvPr/>
        </p:nvSpPr>
        <p:spPr>
          <a:xfrm>
            <a:off x="4114800" y="5513832"/>
            <a:ext cx="7680960" cy="438912"/>
          </a:xfrm>
          <a:prstGeom prst="rect">
            <a:avLst/>
          </a:prstGeom>
          <a:noFill/>
        </p:spPr>
        <p:txBody>
          <a:bodyPr wrap="square" lIns="0" rIns="0" tIns="0" bIns="0" anchor="ctr">
            <a:spAutoFit/>
          </a:bodyPr>
          <a:lstStyle/>
          <a:p>
            <a:pPr algn="l"/>
            <a:r>
              <a:rPr sz="1700" b="1" i="0">
                <a:solidFill>
                  <a:schemeClr val="tx2"/>
                </a:solidFill>
              </a:rPr>
              <a:t>All data are synthetic. The results are hypothetical.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starting point</a:t>
            </a:r>
          </a:p>
        </p:txBody>
      </p:sp>
      <p:sp>
        <p:nvSpPr>
          <p:cNvPr id="3" name="Text Placeholder 2"/>
          <p:cNvSpPr>
            <a:spLocks noGrp="1"/>
          </p:cNvSpPr>
          <p:nvPr>
            <p:ph type="body" idx="12" sz="quarter"/>
          </p:nvPr>
        </p:nvSpPr>
        <p:spPr/>
        <p:txBody>
          <a:bodyPr/>
          <a:lstStyle/>
          <a:p>
            <a:r>
              <a:t>A research question, raw data, and five prompts. Nothing else</a:t>
            </a:r>
          </a:p>
        </p:txBody>
      </p:sp>
      <p:sp>
        <p:nvSpPr>
          <p:cNvPr id="4" name="Text Placeholder 3"/>
          <p:cNvSpPr>
            <a:spLocks noGrp="1"/>
          </p:cNvSpPr>
          <p:nvPr>
            <p:ph type="body" idx="14" sz="quarter"/>
          </p:nvPr>
        </p:nvSpPr>
        <p:spPr/>
        <p:txBody>
          <a:bodyPr/>
          <a:lstStyle/>
          <a:p>
            <a:r>
              <a:t>Part 3 · Live workflow</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code_block"/>
          <p:cNvSpPr/>
          <p:nvPr/>
        </p:nvSpPr>
        <p:spPr>
          <a:xfrm>
            <a:off x="512064" y="1920240"/>
            <a:ext cx="5394960" cy="30175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3232" y="1920240"/>
            <a:ext cx="5029200" cy="30175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part3_live_workflow/</a:t>
            </a:r>
          </a:p>
          <a:p>
            <a:pPr algn="l">
              <a:spcAft>
                <a:spcPts val="200"/>
              </a:spcAft>
            </a:pPr>
            <a:r>
              <a:rPr sz="1500" b="0" i="0">
                <a:solidFill>
                  <a:srgbClr val="FFFFFF"/>
                </a:solidFill>
                <a:latin typeface="Courier New"/>
              </a:rPr>
              <a:t>├── CLAUDE.md   </a:t>
            </a:r>
            <a:r>
              <a:rPr sz="1500" b="0" i="0">
                <a:solidFill>
                  <a:srgbClr val="9FD3C7"/>
                </a:solidFill>
                <a:latin typeface="Courier New"/>
              </a:rPr>
              <a:t>  # question + rules</a:t>
            </a:r>
          </a:p>
          <a:p>
            <a:pPr algn="l">
              <a:spcAft>
                <a:spcPts val="200"/>
              </a:spcAft>
            </a:pPr>
            <a:r>
              <a:rPr sz="1500" b="0" i="0">
                <a:solidFill>
                  <a:srgbClr val="FFFFFF"/>
                </a:solidFill>
                <a:latin typeface="Courier New"/>
              </a:rPr>
              <a:t>├── prompts/    </a:t>
            </a:r>
            <a:r>
              <a:rPr sz="1500" b="0" i="0">
                <a:solidFill>
                  <a:srgbClr val="9FD3C7"/>
                </a:solidFill>
                <a:latin typeface="Courier New"/>
              </a:rPr>
              <a:t>  # 01 → 05</a:t>
            </a:r>
          </a:p>
          <a:p>
            <a:pPr algn="l">
              <a:spcAft>
                <a:spcPts val="200"/>
              </a:spcAft>
            </a:pPr>
            <a:r>
              <a:rPr sz="1500" b="0" i="0">
                <a:solidFill>
                  <a:srgbClr val="FFFFFF"/>
                </a:solidFill>
                <a:latin typeface="Courier New"/>
              </a:rPr>
              <a:t>├── data_raw/   </a:t>
            </a:r>
            <a:r>
              <a:rPr sz="1500" b="0" i="0">
                <a:solidFill>
                  <a:srgbClr val="9FD3C7"/>
                </a:solidFill>
                <a:latin typeface="Courier New"/>
              </a:rPr>
              <a:t>  # 7 CSVs + codebook</a:t>
            </a:r>
          </a:p>
          <a:p>
            <a:pPr algn="l">
              <a:spcAft>
                <a:spcPts val="200"/>
              </a:spcAft>
            </a:pPr>
            <a:r>
              <a:rPr sz="1500" b="0" i="0">
                <a:solidFill>
                  <a:srgbClr val="FFFFFF"/>
                </a:solidFill>
                <a:latin typeface="Courier New"/>
              </a:rPr>
              <a:t>├── code/       </a:t>
            </a:r>
            <a:r>
              <a:rPr sz="1500" b="0" i="0">
                <a:solidFill>
                  <a:srgbClr val="9FD3C7"/>
                </a:solidFill>
                <a:latin typeface="Courier New"/>
              </a:rPr>
              <a:t>  # empty</a:t>
            </a:r>
          </a:p>
          <a:p>
            <a:pPr algn="l">
              <a:spcAft>
                <a:spcPts val="200"/>
              </a:spcAft>
            </a:pPr>
            <a:r>
              <a:rPr sz="1500" b="0" i="0">
                <a:solidFill>
                  <a:srgbClr val="FFFFFF"/>
                </a:solidFill>
                <a:latin typeface="Courier New"/>
              </a:rPr>
              <a:t>├── data_clean/ </a:t>
            </a:r>
            <a:r>
              <a:rPr sz="1500" b="0" i="0">
                <a:solidFill>
                  <a:srgbClr val="9FD3C7"/>
                </a:solidFill>
                <a:latin typeface="Courier New"/>
              </a:rPr>
              <a:t>  # empty</a:t>
            </a:r>
          </a:p>
          <a:p>
            <a:pPr algn="l">
              <a:spcAft>
                <a:spcPts val="200"/>
              </a:spcAft>
            </a:pPr>
            <a:r>
              <a:rPr sz="1500" b="0" i="0">
                <a:solidFill>
                  <a:srgbClr val="FFFFFF"/>
                </a:solidFill>
                <a:latin typeface="Courier New"/>
              </a:rPr>
              <a:t>├── outputs/    </a:t>
            </a:r>
            <a:r>
              <a:rPr sz="1500" b="0" i="0">
                <a:solidFill>
                  <a:srgbClr val="9FD3C7"/>
                </a:solidFill>
                <a:latin typeface="Courier New"/>
              </a:rPr>
              <a:t>  # empty</a:t>
            </a:r>
          </a:p>
          <a:p>
            <a:pPr algn="l">
              <a:spcAft>
                <a:spcPts val="200"/>
              </a:spcAft>
            </a:pPr>
            <a:r>
              <a:rPr sz="1500" b="0" i="0">
                <a:solidFill>
                  <a:srgbClr val="FFFFFF"/>
                </a:solidFill>
                <a:latin typeface="Courier New"/>
              </a:rPr>
              <a:t>└── writing/    </a:t>
            </a:r>
            <a:r>
              <a:rPr sz="1500" b="0" i="0">
                <a:solidFill>
                  <a:srgbClr val="9FD3C7"/>
                </a:solidFill>
                <a:latin typeface="Courier New"/>
              </a:rPr>
              <a:t>  # empty</a:t>
            </a:r>
          </a:p>
        </p:txBody>
      </p:sp>
      <p:sp>
        <p:nvSpPr>
          <p:cNvPr id="15" name="TextBox 14"/>
          <p:cNvSpPr txBox="1"/>
          <p:nvPr/>
        </p:nvSpPr>
        <p:spPr>
          <a:xfrm>
            <a:off x="512064" y="5074920"/>
            <a:ext cx="5394960" cy="548640"/>
          </a:xfrm>
          <a:prstGeom prst="rect">
            <a:avLst/>
          </a:prstGeom>
          <a:noFill/>
        </p:spPr>
        <p:txBody>
          <a:bodyPr wrap="square" lIns="0" rIns="0" tIns="0" bIns="0" anchor="t">
            <a:spAutoFit/>
          </a:bodyPr>
          <a:lstStyle/>
          <a:p>
            <a:pPr algn="l"/>
            <a:r>
              <a:rPr sz="1500" b="0" i="1">
                <a:solidFill>
                  <a:srgbClr val="5F5F5F"/>
                </a:solidFill>
              </a:rPr>
              <a:t>Everything in the empty folders at the end was produced in this room.</a:t>
            </a:r>
          </a:p>
        </p:txBody>
      </p:sp>
      <p:sp>
        <p:nvSpPr>
          <p:cNvPr id="16" name="Rounded Rectangle 15"/>
          <p:cNvSpPr/>
          <p:nvPr/>
        </p:nvSpPr>
        <p:spPr>
          <a:xfrm>
            <a:off x="6263640" y="1920240"/>
            <a:ext cx="5413248" cy="26974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con_FaCircleQuestion_circle"/>
          <p:cNvSpPr/>
          <p:nvPr/>
        </p:nvSpPr>
        <p:spPr>
          <a:xfrm>
            <a:off x="6537959" y="2176272"/>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aCircleQuestion_white.png"/>
          <p:cNvPicPr>
            <a:picLocks noChangeAspect="1"/>
          </p:cNvPicPr>
          <p:nvPr/>
        </p:nvPicPr>
        <p:blipFill>
          <a:blip r:embed="rId3"/>
          <a:stretch>
            <a:fillRect/>
          </a:stretch>
        </p:blipFill>
        <p:spPr>
          <a:xfrm>
            <a:off x="6675120" y="2313432"/>
            <a:ext cx="274320" cy="274320"/>
          </a:xfrm>
          <a:prstGeom prst="rect">
            <a:avLst/>
          </a:prstGeom>
        </p:spPr>
      </p:pic>
      <p:sp>
        <p:nvSpPr>
          <p:cNvPr id="19" name="TextBox 18"/>
          <p:cNvSpPr txBox="1"/>
          <p:nvPr/>
        </p:nvSpPr>
        <p:spPr>
          <a:xfrm>
            <a:off x="7269479" y="2176272"/>
            <a:ext cx="4224528" cy="548640"/>
          </a:xfrm>
          <a:prstGeom prst="rect">
            <a:avLst/>
          </a:prstGeom>
          <a:noFill/>
        </p:spPr>
        <p:txBody>
          <a:bodyPr wrap="square" lIns="0" rIns="0" tIns="0" bIns="0" anchor="ctr">
            <a:spAutoFit/>
          </a:bodyPr>
          <a:lstStyle/>
          <a:p>
            <a:pPr algn="l"/>
            <a:r>
              <a:rPr sz="1800" b="1" i="0">
                <a:solidFill>
                  <a:schemeClr val="tx1"/>
                </a:solidFill>
              </a:rPr>
              <a:t>Research question</a:t>
            </a:r>
          </a:p>
        </p:txBody>
      </p:sp>
      <p:sp>
        <p:nvSpPr>
          <p:cNvPr id="20" name="TextBox 19"/>
          <p:cNvSpPr txBox="1"/>
          <p:nvPr/>
        </p:nvSpPr>
        <p:spPr>
          <a:xfrm>
            <a:off x="6537959" y="2834640"/>
            <a:ext cx="4864608" cy="1737360"/>
          </a:xfrm>
          <a:prstGeom prst="rect">
            <a:avLst/>
          </a:prstGeom>
          <a:noFill/>
        </p:spPr>
        <p:txBody>
          <a:bodyPr wrap="square" lIns="0" rIns="0" tIns="0" bIns="0" anchor="t">
            <a:spAutoFit/>
          </a:bodyPr>
          <a:lstStyle/>
          <a:p>
            <a:pPr algn="l"/>
            <a:r>
              <a:rPr sz="1500" b="0" i="0">
                <a:solidFill>
                  <a:schemeClr val="tx1"/>
                </a:solidFill>
              </a:rPr>
              <a:t>Did the Choice Neighborhoods Initiative (CNI), which began in 2019 in ZIP 63106 and five schools, (a) change who lives in the neighborhood and (b) raise test scores for students who entered CNI schools or moved in?</a:t>
            </a:r>
          </a:p>
        </p:txBody>
      </p:sp>
      <p:sp>
        <p:nvSpPr>
          <p:cNvPr id="21" name="Rounded Rectangle 20"/>
          <p:cNvSpPr/>
          <p:nvPr/>
        </p:nvSpPr>
        <p:spPr>
          <a:xfrm>
            <a:off x="6263640" y="4800600"/>
            <a:ext cx="5413248" cy="9144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TriangleExclamation_white.png"/>
          <p:cNvPicPr>
            <a:picLocks noChangeAspect="1"/>
          </p:cNvPicPr>
          <p:nvPr/>
        </p:nvPicPr>
        <p:blipFill>
          <a:blip r:embed="rId4"/>
          <a:stretch>
            <a:fillRect/>
          </a:stretch>
        </p:blipFill>
        <p:spPr>
          <a:xfrm>
            <a:off x="6537959" y="5056632"/>
            <a:ext cx="402336" cy="402336"/>
          </a:xfrm>
          <a:prstGeom prst="rect">
            <a:avLst/>
          </a:prstGeom>
        </p:spPr>
      </p:pic>
      <p:sp>
        <p:nvSpPr>
          <p:cNvPr id="23" name="TextBox 22"/>
          <p:cNvSpPr txBox="1"/>
          <p:nvPr/>
        </p:nvSpPr>
        <p:spPr>
          <a:xfrm>
            <a:off x="7132320" y="4800600"/>
            <a:ext cx="4361688" cy="914400"/>
          </a:xfrm>
          <a:prstGeom prst="rect">
            <a:avLst/>
          </a:prstGeom>
          <a:noFill/>
        </p:spPr>
        <p:txBody>
          <a:bodyPr wrap="square" lIns="0" rIns="0" tIns="0" bIns="0" anchor="ctr">
            <a:spAutoFit/>
          </a:bodyPr>
          <a:lstStyle/>
          <a:p>
            <a:pPr algn="l"/>
            <a:r>
              <a:rPr sz="1800" b="1" i="0">
                <a:solidFill>
                  <a:schemeClr val="bg1"/>
                </a:solidFill>
              </a:rPr>
              <a:t>All data are synthetic. The results are hypothetical.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Five steps, five checkpoints</a:t>
            </a:r>
          </a:p>
        </p:txBody>
      </p:sp>
      <p:sp>
        <p:nvSpPr>
          <p:cNvPr id="3" name="Text Placeholder 2"/>
          <p:cNvSpPr>
            <a:spLocks noGrp="1"/>
          </p:cNvSpPr>
          <p:nvPr>
            <p:ph type="body" idx="12" sz="quarter"/>
          </p:nvPr>
        </p:nvSpPr>
        <p:spPr/>
        <p:txBody>
          <a:bodyPr/>
          <a:lstStyle/>
          <a:p>
            <a:r>
              <a:t>Each prompt ends with: stop and wait for the researcher</a:t>
            </a:r>
          </a:p>
        </p:txBody>
      </p:sp>
      <p:sp>
        <p:nvSpPr>
          <p:cNvPr id="4" name="Text Placeholder 3"/>
          <p:cNvSpPr>
            <a:spLocks noGrp="1"/>
          </p:cNvSpPr>
          <p:nvPr>
            <p:ph type="body" idx="14" sz="quarter"/>
          </p:nvPr>
        </p:nvSpPr>
        <p:spPr/>
        <p:txBody>
          <a:bodyPr/>
          <a:lstStyle/>
          <a:p>
            <a:r>
              <a:t>Part 3 · Live workflow</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2086660" cy="31546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94944" y="210312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2103120"/>
            <a:ext cx="548640" cy="548640"/>
          </a:xfrm>
          <a:prstGeom prst="rect">
            <a:avLst/>
          </a:prstGeom>
          <a:noFill/>
        </p:spPr>
        <p:txBody>
          <a:bodyPr wrap="square" lIns="0" rIns="0" tIns="0" bIns="0" anchor="ctr">
            <a:spAutoFit/>
          </a:bodyPr>
          <a:lstStyle/>
          <a:p>
            <a:pPr algn="ctr"/>
            <a:r>
              <a:rPr sz="1600" b="1" i="0">
                <a:solidFill>
                  <a:schemeClr val="bg1"/>
                </a:solidFill>
              </a:rPr>
              <a:t>01</a:t>
            </a:r>
          </a:p>
        </p:txBody>
      </p:sp>
      <p:sp>
        <p:nvSpPr>
          <p:cNvPr id="16" name="TextBox 15"/>
          <p:cNvSpPr txBox="1"/>
          <p:nvPr/>
        </p:nvSpPr>
        <p:spPr>
          <a:xfrm>
            <a:off x="1380744" y="2103120"/>
            <a:ext cx="1126540" cy="548640"/>
          </a:xfrm>
          <a:prstGeom prst="rect">
            <a:avLst/>
          </a:prstGeom>
          <a:noFill/>
        </p:spPr>
        <p:txBody>
          <a:bodyPr wrap="square" lIns="0" rIns="0" tIns="0" bIns="0" anchor="ctr">
            <a:spAutoFit/>
          </a:bodyPr>
          <a:lstStyle/>
          <a:p>
            <a:pPr algn="l"/>
            <a:r>
              <a:rPr sz="1800" b="1" i="0">
                <a:solidFill>
                  <a:schemeClr val="tx1"/>
                </a:solidFill>
              </a:rPr>
              <a:t>Data audit</a:t>
            </a:r>
          </a:p>
        </p:txBody>
      </p:sp>
      <p:sp>
        <p:nvSpPr>
          <p:cNvPr id="17" name="TextBox 16"/>
          <p:cNvSpPr txBox="1"/>
          <p:nvPr/>
        </p:nvSpPr>
        <p:spPr>
          <a:xfrm>
            <a:off x="694944" y="2834640"/>
            <a:ext cx="1720900" cy="274320"/>
          </a:xfrm>
          <a:prstGeom prst="rect">
            <a:avLst/>
          </a:prstGeom>
          <a:noFill/>
        </p:spPr>
        <p:txBody>
          <a:bodyPr wrap="square" lIns="0" rIns="0" tIns="0" bIns="0" anchor="t">
            <a:spAutoFit/>
          </a:bodyPr>
          <a:lstStyle/>
          <a:p>
            <a:pPr algn="l"/>
            <a:r>
              <a:rPr sz="1300" b="1" i="0">
                <a:solidFill>
                  <a:srgbClr val="5F5F5F"/>
                </a:solidFill>
              </a:rPr>
              <a:t>Claude produces</a:t>
            </a:r>
          </a:p>
        </p:txBody>
      </p:sp>
      <p:sp>
        <p:nvSpPr>
          <p:cNvPr id="18" name="TextBox 17"/>
          <p:cNvSpPr txBox="1"/>
          <p:nvPr/>
        </p:nvSpPr>
        <p:spPr>
          <a:xfrm>
            <a:off x="694944" y="3108960"/>
            <a:ext cx="1720900" cy="914400"/>
          </a:xfrm>
          <a:prstGeom prst="rect">
            <a:avLst/>
          </a:prstGeom>
          <a:noFill/>
        </p:spPr>
        <p:txBody>
          <a:bodyPr wrap="square" lIns="0" rIns="0" tIns="0" bIns="0" anchor="t">
            <a:spAutoFit/>
          </a:bodyPr>
          <a:lstStyle/>
          <a:p>
            <a:pPr algn="l"/>
            <a:r>
              <a:rPr sz="1400" b="0" i="0">
                <a:solidFill>
                  <a:schemeClr val="tx1"/>
                </a:solidFill>
              </a:rPr>
              <a:t>An import script and a data audit</a:t>
            </a:r>
          </a:p>
        </p:txBody>
      </p:sp>
      <p:sp>
        <p:nvSpPr>
          <p:cNvPr id="19" name="TextBox 18"/>
          <p:cNvSpPr txBox="1"/>
          <p:nvPr/>
        </p:nvSpPr>
        <p:spPr>
          <a:xfrm>
            <a:off x="694944" y="4023360"/>
            <a:ext cx="1720900" cy="274320"/>
          </a:xfrm>
          <a:prstGeom prst="rect">
            <a:avLst/>
          </a:prstGeom>
          <a:noFill/>
        </p:spPr>
        <p:txBody>
          <a:bodyPr wrap="square" lIns="0" rIns="0" tIns="0" bIns="0" anchor="t">
            <a:spAutoFit/>
          </a:bodyPr>
          <a:lstStyle/>
          <a:p>
            <a:pPr algn="l"/>
            <a:r>
              <a:rPr sz="1300" b="1" i="0">
                <a:solidFill>
                  <a:schemeClr val="tx2"/>
                </a:solidFill>
              </a:rPr>
              <a:t>You decide</a:t>
            </a:r>
          </a:p>
        </p:txBody>
      </p:sp>
      <p:sp>
        <p:nvSpPr>
          <p:cNvPr id="20" name="TextBox 19"/>
          <p:cNvSpPr txBox="1"/>
          <p:nvPr/>
        </p:nvSpPr>
        <p:spPr>
          <a:xfrm>
            <a:off x="694944" y="4297680"/>
            <a:ext cx="1720900" cy="731520"/>
          </a:xfrm>
          <a:prstGeom prst="rect">
            <a:avLst/>
          </a:prstGeom>
          <a:noFill/>
        </p:spPr>
        <p:txBody>
          <a:bodyPr wrap="square" lIns="0" rIns="0" tIns="0" bIns="0" anchor="t">
            <a:spAutoFit/>
          </a:bodyPr>
          <a:lstStyle/>
          <a:p>
            <a:pPr algn="l"/>
            <a:r>
              <a:rPr sz="1500" b="1" i="0">
                <a:solidFill>
                  <a:schemeClr val="tx2"/>
                </a:solidFill>
              </a:rPr>
              <a:t>How to fix each issue</a:t>
            </a:r>
          </a:p>
        </p:txBody>
      </p:sp>
      <p:sp>
        <p:nvSpPr>
          <p:cNvPr id="21" name="Rounded Rectangle 20"/>
          <p:cNvSpPr/>
          <p:nvPr/>
        </p:nvSpPr>
        <p:spPr>
          <a:xfrm>
            <a:off x="2781604" y="1920240"/>
            <a:ext cx="2086660" cy="31546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2964484" y="210312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964484" y="2103120"/>
            <a:ext cx="548640" cy="548640"/>
          </a:xfrm>
          <a:prstGeom prst="rect">
            <a:avLst/>
          </a:prstGeom>
          <a:noFill/>
        </p:spPr>
        <p:txBody>
          <a:bodyPr wrap="square" lIns="0" rIns="0" tIns="0" bIns="0" anchor="ctr">
            <a:spAutoFit/>
          </a:bodyPr>
          <a:lstStyle/>
          <a:p>
            <a:pPr algn="ctr"/>
            <a:r>
              <a:rPr sz="1600" b="1" i="0">
                <a:solidFill>
                  <a:schemeClr val="bg1"/>
                </a:solidFill>
              </a:rPr>
              <a:t>02</a:t>
            </a:r>
          </a:p>
        </p:txBody>
      </p:sp>
      <p:sp>
        <p:nvSpPr>
          <p:cNvPr id="24" name="TextBox 23"/>
          <p:cNvSpPr txBox="1"/>
          <p:nvPr/>
        </p:nvSpPr>
        <p:spPr>
          <a:xfrm>
            <a:off x="3650284" y="2103120"/>
            <a:ext cx="1126540" cy="548640"/>
          </a:xfrm>
          <a:prstGeom prst="rect">
            <a:avLst/>
          </a:prstGeom>
          <a:noFill/>
        </p:spPr>
        <p:txBody>
          <a:bodyPr wrap="square" lIns="0" rIns="0" tIns="0" bIns="0" anchor="ctr">
            <a:spAutoFit/>
          </a:bodyPr>
          <a:lstStyle/>
          <a:p>
            <a:pPr algn="l"/>
            <a:r>
              <a:rPr sz="1800" b="1" i="0">
                <a:solidFill>
                  <a:schemeClr val="tx1"/>
                </a:solidFill>
              </a:rPr>
              <a:t>Cleaning</a:t>
            </a:r>
          </a:p>
        </p:txBody>
      </p:sp>
      <p:sp>
        <p:nvSpPr>
          <p:cNvPr id="25" name="TextBox 24"/>
          <p:cNvSpPr txBox="1"/>
          <p:nvPr/>
        </p:nvSpPr>
        <p:spPr>
          <a:xfrm>
            <a:off x="2964484" y="2834640"/>
            <a:ext cx="1720900" cy="274320"/>
          </a:xfrm>
          <a:prstGeom prst="rect">
            <a:avLst/>
          </a:prstGeom>
          <a:noFill/>
        </p:spPr>
        <p:txBody>
          <a:bodyPr wrap="square" lIns="0" rIns="0" tIns="0" bIns="0" anchor="t">
            <a:spAutoFit/>
          </a:bodyPr>
          <a:lstStyle/>
          <a:p>
            <a:pPr algn="l"/>
            <a:r>
              <a:rPr sz="1300" b="1" i="0">
                <a:solidFill>
                  <a:srgbClr val="5F5F5F"/>
                </a:solidFill>
              </a:rPr>
              <a:t>Claude produces</a:t>
            </a:r>
          </a:p>
        </p:txBody>
      </p:sp>
      <p:sp>
        <p:nvSpPr>
          <p:cNvPr id="26" name="TextBox 25"/>
          <p:cNvSpPr txBox="1"/>
          <p:nvPr/>
        </p:nvSpPr>
        <p:spPr>
          <a:xfrm>
            <a:off x="2964484" y="3108960"/>
            <a:ext cx="1720900" cy="914400"/>
          </a:xfrm>
          <a:prstGeom prst="rect">
            <a:avLst/>
          </a:prstGeom>
          <a:noFill/>
        </p:spPr>
        <p:txBody>
          <a:bodyPr wrap="square" lIns="0" rIns="0" tIns="0" bIns="0" anchor="t">
            <a:spAutoFit/>
          </a:bodyPr>
          <a:lstStyle/>
          <a:p>
            <a:pPr algn="l"/>
            <a:r>
              <a:rPr sz="1400" b="0" i="0">
                <a:solidFill>
                  <a:schemeClr val="tx1"/>
                </a:solidFill>
              </a:rPr>
              <a:t>1000-series scripts, clean .rds files, a cleaning log</a:t>
            </a:r>
          </a:p>
        </p:txBody>
      </p:sp>
      <p:sp>
        <p:nvSpPr>
          <p:cNvPr id="27" name="TextBox 26"/>
          <p:cNvSpPr txBox="1"/>
          <p:nvPr/>
        </p:nvSpPr>
        <p:spPr>
          <a:xfrm>
            <a:off x="2964484" y="4023360"/>
            <a:ext cx="1720900" cy="274320"/>
          </a:xfrm>
          <a:prstGeom prst="rect">
            <a:avLst/>
          </a:prstGeom>
          <a:noFill/>
        </p:spPr>
        <p:txBody>
          <a:bodyPr wrap="square" lIns="0" rIns="0" tIns="0" bIns="0" anchor="t">
            <a:spAutoFit/>
          </a:bodyPr>
          <a:lstStyle/>
          <a:p>
            <a:pPr algn="l"/>
            <a:r>
              <a:rPr sz="1300" b="1" i="0">
                <a:solidFill>
                  <a:schemeClr val="tx2"/>
                </a:solidFill>
              </a:rPr>
              <a:t>You decide</a:t>
            </a:r>
          </a:p>
        </p:txBody>
      </p:sp>
      <p:sp>
        <p:nvSpPr>
          <p:cNvPr id="28" name="TextBox 27"/>
          <p:cNvSpPr txBox="1"/>
          <p:nvPr/>
        </p:nvSpPr>
        <p:spPr>
          <a:xfrm>
            <a:off x="2964484" y="4297680"/>
            <a:ext cx="1720900" cy="731520"/>
          </a:xfrm>
          <a:prstGeom prst="rect">
            <a:avLst/>
          </a:prstGeom>
          <a:noFill/>
        </p:spPr>
        <p:txBody>
          <a:bodyPr wrap="square" lIns="0" rIns="0" tIns="0" bIns="0" anchor="t">
            <a:spAutoFit/>
          </a:bodyPr>
          <a:lstStyle/>
          <a:p>
            <a:pPr algn="l"/>
            <a:r>
              <a:rPr sz="1500" b="1" i="0">
                <a:solidFill>
                  <a:schemeClr val="tx2"/>
                </a:solidFill>
              </a:rPr>
              <a:t>Whether the clean data look right</a:t>
            </a:r>
          </a:p>
        </p:txBody>
      </p:sp>
      <p:sp>
        <p:nvSpPr>
          <p:cNvPr id="29" name="Rounded Rectangle 28"/>
          <p:cNvSpPr/>
          <p:nvPr/>
        </p:nvSpPr>
        <p:spPr>
          <a:xfrm>
            <a:off x="5051145" y="1920240"/>
            <a:ext cx="2086660" cy="315468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5234025" y="210312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234025" y="2103120"/>
            <a:ext cx="548640" cy="548640"/>
          </a:xfrm>
          <a:prstGeom prst="rect">
            <a:avLst/>
          </a:prstGeom>
          <a:noFill/>
        </p:spPr>
        <p:txBody>
          <a:bodyPr wrap="square" lIns="0" rIns="0" tIns="0" bIns="0" anchor="ctr">
            <a:spAutoFit/>
          </a:bodyPr>
          <a:lstStyle/>
          <a:p>
            <a:pPr algn="ctr"/>
            <a:r>
              <a:rPr sz="1600" b="1" i="0">
                <a:solidFill>
                  <a:schemeClr val="bg1"/>
                </a:solidFill>
              </a:rPr>
              <a:t>03</a:t>
            </a:r>
          </a:p>
        </p:txBody>
      </p:sp>
      <p:sp>
        <p:nvSpPr>
          <p:cNvPr id="32" name="TextBox 31"/>
          <p:cNvSpPr txBox="1"/>
          <p:nvPr/>
        </p:nvSpPr>
        <p:spPr>
          <a:xfrm>
            <a:off x="5919825" y="2103120"/>
            <a:ext cx="1126540" cy="548640"/>
          </a:xfrm>
          <a:prstGeom prst="rect">
            <a:avLst/>
          </a:prstGeom>
          <a:noFill/>
        </p:spPr>
        <p:txBody>
          <a:bodyPr wrap="square" lIns="0" rIns="0" tIns="0" bIns="0" anchor="ctr">
            <a:spAutoFit/>
          </a:bodyPr>
          <a:lstStyle/>
          <a:p>
            <a:pPr algn="l"/>
            <a:r>
              <a:rPr sz="1800" b="1" i="0">
                <a:solidFill>
                  <a:schemeClr val="tx1"/>
                </a:solidFill>
              </a:rPr>
              <a:t>Strategy</a:t>
            </a:r>
          </a:p>
        </p:txBody>
      </p:sp>
      <p:sp>
        <p:nvSpPr>
          <p:cNvPr id="33" name="TextBox 32"/>
          <p:cNvSpPr txBox="1"/>
          <p:nvPr/>
        </p:nvSpPr>
        <p:spPr>
          <a:xfrm>
            <a:off x="5234025" y="2834640"/>
            <a:ext cx="1720900" cy="274320"/>
          </a:xfrm>
          <a:prstGeom prst="rect">
            <a:avLst/>
          </a:prstGeom>
          <a:noFill/>
        </p:spPr>
        <p:txBody>
          <a:bodyPr wrap="square" lIns="0" rIns="0" tIns="0" bIns="0" anchor="t">
            <a:spAutoFit/>
          </a:bodyPr>
          <a:lstStyle/>
          <a:p>
            <a:pPr algn="l"/>
            <a:r>
              <a:rPr sz="1300" b="1" i="0">
                <a:solidFill>
                  <a:srgbClr val="5F5F5F"/>
                </a:solidFill>
              </a:rPr>
              <a:t>Claude produces</a:t>
            </a:r>
          </a:p>
        </p:txBody>
      </p:sp>
      <p:sp>
        <p:nvSpPr>
          <p:cNvPr id="34" name="TextBox 33"/>
          <p:cNvSpPr txBox="1"/>
          <p:nvPr/>
        </p:nvSpPr>
        <p:spPr>
          <a:xfrm>
            <a:off x="5234025" y="3108960"/>
            <a:ext cx="1720900" cy="914400"/>
          </a:xfrm>
          <a:prstGeom prst="rect">
            <a:avLst/>
          </a:prstGeom>
          <a:noFill/>
        </p:spPr>
        <p:txBody>
          <a:bodyPr wrap="square" lIns="0" rIns="0" tIns="0" bIns="0" anchor="t">
            <a:spAutoFit/>
          </a:bodyPr>
          <a:lstStyle/>
          <a:p>
            <a:pPr algn="l"/>
            <a:r>
              <a:rPr sz="1400" b="0" i="0">
                <a:solidFill>
                  <a:schemeClr val="tx1"/>
                </a:solidFill>
              </a:rPr>
              <a:t>An analysis plan (in plan mode)</a:t>
            </a:r>
          </a:p>
        </p:txBody>
      </p:sp>
      <p:sp>
        <p:nvSpPr>
          <p:cNvPr id="35" name="TextBox 34"/>
          <p:cNvSpPr txBox="1"/>
          <p:nvPr/>
        </p:nvSpPr>
        <p:spPr>
          <a:xfrm>
            <a:off x="5234025" y="4023360"/>
            <a:ext cx="1720900" cy="274320"/>
          </a:xfrm>
          <a:prstGeom prst="rect">
            <a:avLst/>
          </a:prstGeom>
          <a:noFill/>
        </p:spPr>
        <p:txBody>
          <a:bodyPr wrap="square" lIns="0" rIns="0" tIns="0" bIns="0" anchor="t">
            <a:spAutoFit/>
          </a:bodyPr>
          <a:lstStyle/>
          <a:p>
            <a:pPr algn="l"/>
            <a:r>
              <a:rPr sz="1300" b="1" i="0">
                <a:solidFill>
                  <a:schemeClr val="tx2"/>
                </a:solidFill>
              </a:rPr>
              <a:t>You decide</a:t>
            </a:r>
          </a:p>
        </p:txBody>
      </p:sp>
      <p:sp>
        <p:nvSpPr>
          <p:cNvPr id="36" name="TextBox 35"/>
          <p:cNvSpPr txBox="1"/>
          <p:nvPr/>
        </p:nvSpPr>
        <p:spPr>
          <a:xfrm>
            <a:off x="5234025" y="4297680"/>
            <a:ext cx="1720900" cy="731520"/>
          </a:xfrm>
          <a:prstGeom prst="rect">
            <a:avLst/>
          </a:prstGeom>
          <a:noFill/>
        </p:spPr>
        <p:txBody>
          <a:bodyPr wrap="square" lIns="0" rIns="0" tIns="0" bIns="0" anchor="t">
            <a:spAutoFit/>
          </a:bodyPr>
          <a:lstStyle/>
          <a:p>
            <a:pPr algn="l"/>
            <a:r>
              <a:rPr sz="1500" b="1" i="0">
                <a:solidFill>
                  <a:schemeClr val="tx2"/>
                </a:solidFill>
              </a:rPr>
              <a:t>Which design</a:t>
            </a:r>
          </a:p>
        </p:txBody>
      </p:sp>
      <p:sp>
        <p:nvSpPr>
          <p:cNvPr id="37" name="Rounded Rectangle 36"/>
          <p:cNvSpPr/>
          <p:nvPr/>
        </p:nvSpPr>
        <p:spPr>
          <a:xfrm>
            <a:off x="7320686" y="1920240"/>
            <a:ext cx="2086660" cy="31546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7503566" y="210312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503566" y="2103120"/>
            <a:ext cx="548640" cy="548640"/>
          </a:xfrm>
          <a:prstGeom prst="rect">
            <a:avLst/>
          </a:prstGeom>
          <a:noFill/>
        </p:spPr>
        <p:txBody>
          <a:bodyPr wrap="square" lIns="0" rIns="0" tIns="0" bIns="0" anchor="ctr">
            <a:spAutoFit/>
          </a:bodyPr>
          <a:lstStyle/>
          <a:p>
            <a:pPr algn="ctr"/>
            <a:r>
              <a:rPr sz="1600" b="1" i="0">
                <a:solidFill>
                  <a:schemeClr val="bg1"/>
                </a:solidFill>
              </a:rPr>
              <a:t>04</a:t>
            </a:r>
          </a:p>
        </p:txBody>
      </p:sp>
      <p:sp>
        <p:nvSpPr>
          <p:cNvPr id="40" name="TextBox 39"/>
          <p:cNvSpPr txBox="1"/>
          <p:nvPr/>
        </p:nvSpPr>
        <p:spPr>
          <a:xfrm>
            <a:off x="8189366" y="2103120"/>
            <a:ext cx="1126540" cy="548640"/>
          </a:xfrm>
          <a:prstGeom prst="rect">
            <a:avLst/>
          </a:prstGeom>
          <a:noFill/>
        </p:spPr>
        <p:txBody>
          <a:bodyPr wrap="square" lIns="0" rIns="0" tIns="0" bIns="0" anchor="ctr">
            <a:spAutoFit/>
          </a:bodyPr>
          <a:lstStyle/>
          <a:p>
            <a:pPr algn="l"/>
            <a:r>
              <a:rPr sz="1800" b="1" i="0">
                <a:solidFill>
                  <a:schemeClr val="tx1"/>
                </a:solidFill>
              </a:rPr>
              <a:t>Analysis</a:t>
            </a:r>
          </a:p>
        </p:txBody>
      </p:sp>
      <p:sp>
        <p:nvSpPr>
          <p:cNvPr id="41" name="TextBox 40"/>
          <p:cNvSpPr txBox="1"/>
          <p:nvPr/>
        </p:nvSpPr>
        <p:spPr>
          <a:xfrm>
            <a:off x="7503566" y="2834640"/>
            <a:ext cx="1720900" cy="274320"/>
          </a:xfrm>
          <a:prstGeom prst="rect">
            <a:avLst/>
          </a:prstGeom>
          <a:noFill/>
        </p:spPr>
        <p:txBody>
          <a:bodyPr wrap="square" lIns="0" rIns="0" tIns="0" bIns="0" anchor="t">
            <a:spAutoFit/>
          </a:bodyPr>
          <a:lstStyle/>
          <a:p>
            <a:pPr algn="l"/>
            <a:r>
              <a:rPr sz="1300" b="1" i="0">
                <a:solidFill>
                  <a:srgbClr val="5F5F5F"/>
                </a:solidFill>
              </a:rPr>
              <a:t>Claude produces</a:t>
            </a:r>
          </a:p>
        </p:txBody>
      </p:sp>
      <p:sp>
        <p:nvSpPr>
          <p:cNvPr id="42" name="TextBox 41"/>
          <p:cNvSpPr txBox="1"/>
          <p:nvPr/>
        </p:nvSpPr>
        <p:spPr>
          <a:xfrm>
            <a:off x="7503566" y="3108960"/>
            <a:ext cx="1720900" cy="914400"/>
          </a:xfrm>
          <a:prstGeom prst="rect">
            <a:avLst/>
          </a:prstGeom>
          <a:noFill/>
        </p:spPr>
        <p:txBody>
          <a:bodyPr wrap="square" lIns="0" rIns="0" tIns="0" bIns="0" anchor="t">
            <a:spAutoFit/>
          </a:bodyPr>
          <a:lstStyle/>
          <a:p>
            <a:pPr algn="l"/>
            <a:r>
              <a:rPr sz="1400" b="0" i="0">
                <a:solidFill>
                  <a:schemeClr val="tx1"/>
                </a:solidFill>
              </a:rPr>
              <a:t>2000/3000 scripts, figures and tables</a:t>
            </a:r>
          </a:p>
        </p:txBody>
      </p:sp>
      <p:sp>
        <p:nvSpPr>
          <p:cNvPr id="43" name="TextBox 42"/>
          <p:cNvSpPr txBox="1"/>
          <p:nvPr/>
        </p:nvSpPr>
        <p:spPr>
          <a:xfrm>
            <a:off x="7503566" y="4023360"/>
            <a:ext cx="1720900" cy="274320"/>
          </a:xfrm>
          <a:prstGeom prst="rect">
            <a:avLst/>
          </a:prstGeom>
          <a:noFill/>
        </p:spPr>
        <p:txBody>
          <a:bodyPr wrap="square" lIns="0" rIns="0" tIns="0" bIns="0" anchor="t">
            <a:spAutoFit/>
          </a:bodyPr>
          <a:lstStyle/>
          <a:p>
            <a:pPr algn="l"/>
            <a:r>
              <a:rPr sz="1300" b="1" i="0">
                <a:solidFill>
                  <a:schemeClr val="tx2"/>
                </a:solidFill>
              </a:rPr>
              <a:t>You decide</a:t>
            </a:r>
          </a:p>
        </p:txBody>
      </p:sp>
      <p:sp>
        <p:nvSpPr>
          <p:cNvPr id="44" name="TextBox 43"/>
          <p:cNvSpPr txBox="1"/>
          <p:nvPr/>
        </p:nvSpPr>
        <p:spPr>
          <a:xfrm>
            <a:off x="7503566" y="4297680"/>
            <a:ext cx="1720900" cy="731520"/>
          </a:xfrm>
          <a:prstGeom prst="rect">
            <a:avLst/>
          </a:prstGeom>
          <a:noFill/>
        </p:spPr>
        <p:txBody>
          <a:bodyPr wrap="square" lIns="0" rIns="0" tIns="0" bIns="0" anchor="t">
            <a:spAutoFit/>
          </a:bodyPr>
          <a:lstStyle/>
          <a:p>
            <a:pPr algn="l"/>
            <a:r>
              <a:rPr sz="1500" b="1" i="0">
                <a:solidFill>
                  <a:schemeClr val="tx2"/>
                </a:solidFill>
              </a:rPr>
              <a:t>Whether results are plausible</a:t>
            </a:r>
          </a:p>
        </p:txBody>
      </p:sp>
      <p:sp>
        <p:nvSpPr>
          <p:cNvPr id="45" name="Rounded Rectangle 44"/>
          <p:cNvSpPr/>
          <p:nvPr/>
        </p:nvSpPr>
        <p:spPr>
          <a:xfrm>
            <a:off x="9590227" y="1920240"/>
            <a:ext cx="2086660" cy="31546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9773107" y="210312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773107" y="2103120"/>
            <a:ext cx="548640" cy="548640"/>
          </a:xfrm>
          <a:prstGeom prst="rect">
            <a:avLst/>
          </a:prstGeom>
          <a:noFill/>
        </p:spPr>
        <p:txBody>
          <a:bodyPr wrap="square" lIns="0" rIns="0" tIns="0" bIns="0" anchor="ctr">
            <a:spAutoFit/>
          </a:bodyPr>
          <a:lstStyle/>
          <a:p>
            <a:pPr algn="ctr"/>
            <a:r>
              <a:rPr sz="1600" b="1" i="0">
                <a:solidFill>
                  <a:schemeClr val="bg1"/>
                </a:solidFill>
              </a:rPr>
              <a:t>05</a:t>
            </a:r>
          </a:p>
        </p:txBody>
      </p:sp>
      <p:sp>
        <p:nvSpPr>
          <p:cNvPr id="48" name="TextBox 47"/>
          <p:cNvSpPr txBox="1"/>
          <p:nvPr/>
        </p:nvSpPr>
        <p:spPr>
          <a:xfrm>
            <a:off x="10458907" y="2103120"/>
            <a:ext cx="1126540" cy="548640"/>
          </a:xfrm>
          <a:prstGeom prst="rect">
            <a:avLst/>
          </a:prstGeom>
          <a:noFill/>
        </p:spPr>
        <p:txBody>
          <a:bodyPr wrap="square" lIns="0" rIns="0" tIns="0" bIns="0" anchor="ctr">
            <a:spAutoFit/>
          </a:bodyPr>
          <a:lstStyle/>
          <a:p>
            <a:pPr algn="l"/>
            <a:r>
              <a:rPr sz="1800" b="1" i="0">
                <a:solidFill>
                  <a:schemeClr val="tx1"/>
                </a:solidFill>
              </a:rPr>
              <a:t>Brief</a:t>
            </a:r>
          </a:p>
        </p:txBody>
      </p:sp>
      <p:sp>
        <p:nvSpPr>
          <p:cNvPr id="49" name="TextBox 48"/>
          <p:cNvSpPr txBox="1"/>
          <p:nvPr/>
        </p:nvSpPr>
        <p:spPr>
          <a:xfrm>
            <a:off x="9773107" y="2834640"/>
            <a:ext cx="1720900" cy="274320"/>
          </a:xfrm>
          <a:prstGeom prst="rect">
            <a:avLst/>
          </a:prstGeom>
          <a:noFill/>
        </p:spPr>
        <p:txBody>
          <a:bodyPr wrap="square" lIns="0" rIns="0" tIns="0" bIns="0" anchor="t">
            <a:spAutoFit/>
          </a:bodyPr>
          <a:lstStyle/>
          <a:p>
            <a:pPr algn="l"/>
            <a:r>
              <a:rPr sz="1300" b="1" i="0">
                <a:solidFill>
                  <a:srgbClr val="5F5F5F"/>
                </a:solidFill>
              </a:rPr>
              <a:t>Claude produces</a:t>
            </a:r>
          </a:p>
        </p:txBody>
      </p:sp>
      <p:sp>
        <p:nvSpPr>
          <p:cNvPr id="50" name="TextBox 49"/>
          <p:cNvSpPr txBox="1"/>
          <p:nvPr/>
        </p:nvSpPr>
        <p:spPr>
          <a:xfrm>
            <a:off x="9773107" y="3108960"/>
            <a:ext cx="1720900" cy="914400"/>
          </a:xfrm>
          <a:prstGeom prst="rect">
            <a:avLst/>
          </a:prstGeom>
          <a:noFill/>
        </p:spPr>
        <p:txBody>
          <a:bodyPr wrap="square" lIns="0" rIns="0" tIns="0" bIns="0" anchor="t">
            <a:spAutoFit/>
          </a:bodyPr>
          <a:lstStyle/>
          <a:p>
            <a:pPr algn="l"/>
            <a:r>
              <a:rPr sz="1400" b="0" i="0">
                <a:solidFill>
                  <a:schemeClr val="tx1"/>
                </a:solidFill>
              </a:rPr>
              <a:t>A manuscript brief</a:t>
            </a:r>
          </a:p>
        </p:txBody>
      </p:sp>
      <p:sp>
        <p:nvSpPr>
          <p:cNvPr id="51" name="TextBox 50"/>
          <p:cNvSpPr txBox="1"/>
          <p:nvPr/>
        </p:nvSpPr>
        <p:spPr>
          <a:xfrm>
            <a:off x="9773107" y="4023360"/>
            <a:ext cx="1720900" cy="274320"/>
          </a:xfrm>
          <a:prstGeom prst="rect">
            <a:avLst/>
          </a:prstGeom>
          <a:noFill/>
        </p:spPr>
        <p:txBody>
          <a:bodyPr wrap="square" lIns="0" rIns="0" tIns="0" bIns="0" anchor="t">
            <a:spAutoFit/>
          </a:bodyPr>
          <a:lstStyle/>
          <a:p>
            <a:pPr algn="l"/>
            <a:r>
              <a:rPr sz="1300" b="1" i="0">
                <a:solidFill>
                  <a:schemeClr val="tx2"/>
                </a:solidFill>
              </a:rPr>
              <a:t>You decide</a:t>
            </a:r>
          </a:p>
        </p:txBody>
      </p:sp>
      <p:sp>
        <p:nvSpPr>
          <p:cNvPr id="52" name="TextBox 51"/>
          <p:cNvSpPr txBox="1"/>
          <p:nvPr/>
        </p:nvSpPr>
        <p:spPr>
          <a:xfrm>
            <a:off x="9773107" y="4297680"/>
            <a:ext cx="1720900" cy="731520"/>
          </a:xfrm>
          <a:prstGeom prst="rect">
            <a:avLst/>
          </a:prstGeom>
          <a:noFill/>
        </p:spPr>
        <p:txBody>
          <a:bodyPr wrap="square" lIns="0" rIns="0" tIns="0" bIns="0" anchor="t">
            <a:spAutoFit/>
          </a:bodyPr>
          <a:lstStyle/>
          <a:p>
            <a:pPr algn="l"/>
            <a:r>
              <a:rPr sz="1500" b="1" i="0">
                <a:solidFill>
                  <a:schemeClr val="tx2"/>
                </a:solidFill>
              </a:rPr>
              <a:t>Framing, interpretation, claims</a:t>
            </a:r>
          </a:p>
        </p:txBody>
      </p:sp>
      <p:sp>
        <p:nvSpPr>
          <p:cNvPr id="53" name="Rounded Rectangle 52"/>
          <p:cNvSpPr/>
          <p:nvPr/>
        </p:nvSpPr>
        <p:spPr>
          <a:xfrm>
            <a:off x="512064" y="5257800"/>
            <a:ext cx="11164824" cy="54864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86384" y="5257800"/>
            <a:ext cx="10616184" cy="548640"/>
          </a:xfrm>
          <a:prstGeom prst="rect">
            <a:avLst/>
          </a:prstGeom>
          <a:noFill/>
        </p:spPr>
        <p:txBody>
          <a:bodyPr wrap="square" lIns="0" rIns="0" tIns="0" bIns="0" anchor="ctr">
            <a:spAutoFit/>
          </a:bodyPr>
          <a:lstStyle/>
          <a:p>
            <a:pPr algn="l"/>
            <a:r>
              <a:rPr sz="1500" b="1" i="0">
                <a:solidFill>
                  <a:schemeClr val="bg1"/>
                </a:solidFill>
              </a:rPr>
              <a:t>Standing rules → </a:t>
            </a:r>
            <a:r>
              <a:rPr sz="1500" b="0" i="0">
                <a:solidFill>
                  <a:schemeClr val="bg1"/>
                </a:solidFill>
                <a:latin typeface="Courier New"/>
              </a:rPr>
              <a:t>CLAUDE.md</a:t>
            </a:r>
            <a:r>
              <a:rPr sz="1500" b="1" i="0">
                <a:solidFill>
                  <a:schemeClr val="bg1"/>
                </a:solidFill>
              </a:rPr>
              <a:t>      Step instructions → </a:t>
            </a:r>
            <a:r>
              <a:rPr sz="1500" b="0" i="0">
                <a:solidFill>
                  <a:schemeClr val="bg1"/>
                </a:solidFill>
                <a:latin typeface="Courier New"/>
              </a:rPr>
              <a:t>prompts/</a:t>
            </a:r>
            <a:r>
              <a:rPr sz="1500" b="1" i="0">
                <a:solidFill>
                  <a:schemeClr val="bg1"/>
                </a:solidFill>
              </a:rPr>
              <a:t>      Run: </a:t>
            </a:r>
            <a:r>
              <a:rPr sz="1500" b="0" i="0">
                <a:solidFill>
                  <a:schemeClr val="bg1"/>
                </a:solidFill>
                <a:latin typeface="Courier New"/>
              </a:rPr>
              <a:t>Follow @prompts/01_data_audit.md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audit</a:t>
            </a:r>
          </a:p>
        </p:txBody>
      </p:sp>
      <p:sp>
        <p:nvSpPr>
          <p:cNvPr id="3" name="Text Placeholder 2"/>
          <p:cNvSpPr>
            <a:spLocks noGrp="1"/>
          </p:cNvSpPr>
          <p:nvPr>
            <p:ph type="body" idx="12" sz="quarter"/>
          </p:nvPr>
        </p:nvSpPr>
        <p:spPr/>
        <p:txBody>
          <a:bodyPr/>
          <a:lstStyle/>
          <a:p>
            <a:r>
              <a:t>Read before writing. Report each problem with a count, not a record</a:t>
            </a:r>
          </a:p>
        </p:txBody>
      </p:sp>
      <p:sp>
        <p:nvSpPr>
          <p:cNvPr id="4" name="Text Placeholder 3"/>
          <p:cNvSpPr>
            <a:spLocks noGrp="1"/>
          </p:cNvSpPr>
          <p:nvPr>
            <p:ph type="body" idx="14" sz="quarter"/>
          </p:nvPr>
        </p:nvSpPr>
        <p:spPr/>
        <p:txBody>
          <a:bodyPr/>
          <a:lstStyle/>
          <a:p>
            <a:r>
              <a:t>Part 3 · Live workflow · step 01</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2024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20240"/>
            <a:ext cx="731520" cy="731520"/>
          </a:xfrm>
          <a:prstGeom prst="rect">
            <a:avLst/>
          </a:prstGeom>
          <a:noFill/>
        </p:spPr>
        <p:txBody>
          <a:bodyPr wrap="square" lIns="0" rIns="0" tIns="0" bIns="0" anchor="ctr">
            <a:spAutoFit/>
          </a:bodyPr>
          <a:lstStyle/>
          <a:p>
            <a:pPr algn="ctr"/>
            <a:r>
              <a:rPr sz="2200" b="1" i="0">
                <a:solidFill>
                  <a:schemeClr val="bg1"/>
                </a:solidFill>
              </a:rPr>
              <a:t>01</a:t>
            </a:r>
          </a:p>
        </p:txBody>
      </p:sp>
      <p:sp>
        <p:nvSpPr>
          <p:cNvPr id="15" name="Rounded Rectangle 14"/>
          <p:cNvSpPr/>
          <p:nvPr/>
        </p:nvSpPr>
        <p:spPr>
          <a:xfrm>
            <a:off x="5715000" y="2057400"/>
            <a:ext cx="1051560" cy="457200"/>
          </a:xfrm>
          <a:prstGeom prst="roundRect">
            <a:avLst>
              <a:gd name="adj" fmla="val 3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715000" y="2057400"/>
            <a:ext cx="1051560" cy="457200"/>
          </a:xfrm>
          <a:prstGeom prst="rect">
            <a:avLst/>
          </a:prstGeom>
          <a:noFill/>
        </p:spPr>
        <p:txBody>
          <a:bodyPr wrap="square" lIns="0" rIns="0" tIns="0" bIns="0" anchor="ctr">
            <a:spAutoFit/>
          </a:bodyPr>
          <a:lstStyle/>
          <a:p>
            <a:pPr algn="ctr"/>
            <a:r>
              <a:rPr sz="1400" b="1" i="0">
                <a:solidFill>
                  <a:schemeClr val="tx2"/>
                </a:solidFill>
              </a:rPr>
              <a:t>≈ 6 min</a:t>
            </a:r>
          </a:p>
        </p:txBody>
      </p:sp>
      <p:sp>
        <p:nvSpPr>
          <p:cNvPr id="17" name="code_block"/>
          <p:cNvSpPr/>
          <p:nvPr/>
        </p:nvSpPr>
        <p:spPr>
          <a:xfrm>
            <a:off x="512064" y="2834640"/>
            <a:ext cx="6254496" cy="5029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2834640"/>
            <a:ext cx="5888736" cy="5029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Follow @prompts/01_data_audit.md</a:t>
            </a:r>
          </a:p>
        </p:txBody>
      </p:sp>
      <p:sp>
        <p:nvSpPr>
          <p:cNvPr id="19" name="TextBox 18"/>
          <p:cNvSpPr txBox="1"/>
          <p:nvPr/>
        </p:nvSpPr>
        <p:spPr>
          <a:xfrm>
            <a:off x="512064" y="3566160"/>
            <a:ext cx="6217920" cy="365760"/>
          </a:xfrm>
          <a:prstGeom prst="rect">
            <a:avLst/>
          </a:prstGeom>
          <a:noFill/>
        </p:spPr>
        <p:txBody>
          <a:bodyPr wrap="square" lIns="0" rIns="0" tIns="0" bIns="0" anchor="t">
            <a:spAutoFit/>
          </a:bodyPr>
          <a:lstStyle/>
          <a:p>
            <a:pPr algn="l"/>
            <a:r>
              <a:rPr sz="1700" b="1" i="0">
                <a:solidFill>
                  <a:schemeClr val="tx2"/>
                </a:solidFill>
              </a:rPr>
              <a:t>Claude produces</a:t>
            </a:r>
          </a:p>
        </p:txBody>
      </p:sp>
      <p:pic>
        <p:nvPicPr>
          <p:cNvPr id="20" name="Picture 19" descr="FaCheck_red.png"/>
          <p:cNvPicPr>
            <a:picLocks noChangeAspect="1"/>
          </p:cNvPicPr>
          <p:nvPr/>
        </p:nvPicPr>
        <p:blipFill>
          <a:blip r:embed="rId3"/>
          <a:stretch>
            <a:fillRect/>
          </a:stretch>
        </p:blipFill>
        <p:spPr>
          <a:xfrm>
            <a:off x="530352" y="4050791"/>
            <a:ext cx="237744" cy="237744"/>
          </a:xfrm>
          <a:prstGeom prst="rect">
            <a:avLst/>
          </a:prstGeom>
        </p:spPr>
      </p:pic>
      <p:sp>
        <p:nvSpPr>
          <p:cNvPr id="21" name="TextBox 20"/>
          <p:cNvSpPr txBox="1"/>
          <p:nvPr/>
        </p:nvSpPr>
        <p:spPr>
          <a:xfrm>
            <a:off x="923544" y="3977639"/>
            <a:ext cx="5852160" cy="411480"/>
          </a:xfrm>
          <a:prstGeom prst="rect">
            <a:avLst/>
          </a:prstGeom>
          <a:noFill/>
        </p:spPr>
        <p:txBody>
          <a:bodyPr wrap="square" lIns="0" rIns="0" tIns="0" bIns="0" anchor="ctr">
            <a:spAutoFit/>
          </a:bodyPr>
          <a:lstStyle/>
          <a:p>
            <a:pPr algn="l"/>
            <a:r>
              <a:rPr sz="1600" b="0" i="0">
                <a:solidFill>
                  <a:schemeClr val="tx1"/>
                </a:solidFill>
              </a:rPr>
              <a:t>code/0000_import.Rmd (inspection only)</a:t>
            </a:r>
          </a:p>
        </p:txBody>
      </p:sp>
      <p:pic>
        <p:nvPicPr>
          <p:cNvPr id="22" name="Picture 21" descr="FaCheck_red.png"/>
          <p:cNvPicPr>
            <a:picLocks noChangeAspect="1"/>
          </p:cNvPicPr>
          <p:nvPr/>
        </p:nvPicPr>
        <p:blipFill>
          <a:blip r:embed="rId3"/>
          <a:stretch>
            <a:fillRect/>
          </a:stretch>
        </p:blipFill>
        <p:spPr>
          <a:xfrm>
            <a:off x="530352" y="4507992"/>
            <a:ext cx="237744" cy="237744"/>
          </a:xfrm>
          <a:prstGeom prst="rect">
            <a:avLst/>
          </a:prstGeom>
        </p:spPr>
      </p:pic>
      <p:sp>
        <p:nvSpPr>
          <p:cNvPr id="23" name="TextBox 22"/>
          <p:cNvSpPr txBox="1"/>
          <p:nvPr/>
        </p:nvSpPr>
        <p:spPr>
          <a:xfrm>
            <a:off x="923544" y="4434840"/>
            <a:ext cx="5852160" cy="411480"/>
          </a:xfrm>
          <a:prstGeom prst="rect">
            <a:avLst/>
          </a:prstGeom>
          <a:noFill/>
        </p:spPr>
        <p:txBody>
          <a:bodyPr wrap="square" lIns="0" rIns="0" tIns="0" bIns="0" anchor="ctr">
            <a:spAutoFit/>
          </a:bodyPr>
          <a:lstStyle/>
          <a:p>
            <a:pPr algn="l"/>
            <a:r>
              <a:rPr sz="1600" b="0" i="0">
                <a:solidFill>
                  <a:schemeClr val="tx1"/>
                </a:solidFill>
              </a:rPr>
              <a:t>writing/data_audit.md: inventory and links</a:t>
            </a:r>
          </a:p>
        </p:txBody>
      </p:sp>
      <p:pic>
        <p:nvPicPr>
          <p:cNvPr id="24" name="Picture 23" descr="FaCheck_red.png"/>
          <p:cNvPicPr>
            <a:picLocks noChangeAspect="1"/>
          </p:cNvPicPr>
          <p:nvPr/>
        </p:nvPicPr>
        <p:blipFill>
          <a:blip r:embed="rId3"/>
          <a:stretch>
            <a:fillRect/>
          </a:stretch>
        </p:blipFill>
        <p:spPr>
          <a:xfrm>
            <a:off x="530352" y="4965192"/>
            <a:ext cx="237744" cy="237744"/>
          </a:xfrm>
          <a:prstGeom prst="rect">
            <a:avLst/>
          </a:prstGeom>
        </p:spPr>
      </p:pic>
      <p:sp>
        <p:nvSpPr>
          <p:cNvPr id="25" name="TextBox 24"/>
          <p:cNvSpPr txBox="1"/>
          <p:nvPr/>
        </p:nvSpPr>
        <p:spPr>
          <a:xfrm>
            <a:off x="923544" y="4892040"/>
            <a:ext cx="5852160" cy="411480"/>
          </a:xfrm>
          <a:prstGeom prst="rect">
            <a:avLst/>
          </a:prstGeom>
          <a:noFill/>
        </p:spPr>
        <p:txBody>
          <a:bodyPr wrap="square" lIns="0" rIns="0" tIns="0" bIns="0" anchor="ctr">
            <a:spAutoFit/>
          </a:bodyPr>
          <a:lstStyle/>
          <a:p>
            <a:pPr algn="l"/>
            <a:r>
              <a:rPr sz="1600" b="0" i="0">
                <a:solidFill>
                  <a:schemeClr val="tx1"/>
                </a:solidFill>
              </a:rPr>
              <a:t>Each issue with evidence (a count) and a fix</a:t>
            </a:r>
          </a:p>
        </p:txBody>
      </p:sp>
      <p:pic>
        <p:nvPicPr>
          <p:cNvPr id="26" name="Picture 25" descr="FaCheck_red.png"/>
          <p:cNvPicPr>
            <a:picLocks noChangeAspect="1"/>
          </p:cNvPicPr>
          <p:nvPr/>
        </p:nvPicPr>
        <p:blipFill>
          <a:blip r:embed="rId3"/>
          <a:stretch>
            <a:fillRect/>
          </a:stretch>
        </p:blipFill>
        <p:spPr>
          <a:xfrm>
            <a:off x="530352" y="5422392"/>
            <a:ext cx="237744" cy="237744"/>
          </a:xfrm>
          <a:prstGeom prst="rect">
            <a:avLst/>
          </a:prstGeom>
        </p:spPr>
      </p:pic>
      <p:sp>
        <p:nvSpPr>
          <p:cNvPr id="27" name="TextBox 26"/>
          <p:cNvSpPr txBox="1"/>
          <p:nvPr/>
        </p:nvSpPr>
        <p:spPr>
          <a:xfrm>
            <a:off x="923544" y="5349240"/>
            <a:ext cx="5852160" cy="411480"/>
          </a:xfrm>
          <a:prstGeom prst="rect">
            <a:avLst/>
          </a:prstGeom>
          <a:noFill/>
        </p:spPr>
        <p:txBody>
          <a:bodyPr wrap="square" lIns="0" rIns="0" tIns="0" bIns="0" anchor="ctr">
            <a:spAutoFit/>
          </a:bodyPr>
          <a:lstStyle/>
          <a:p>
            <a:pPr algn="l"/>
            <a:r>
              <a:rPr sz="1600" b="0" i="0">
                <a:solidFill>
                  <a:schemeClr val="tx1"/>
                </a:solidFill>
              </a:rPr>
              <a:t>Open questions for the researcher</a:t>
            </a:r>
          </a:p>
        </p:txBody>
      </p:sp>
      <p:sp>
        <p:nvSpPr>
          <p:cNvPr id="28" name="Rounded Rectangle 27"/>
          <p:cNvSpPr/>
          <p:nvPr/>
        </p:nvSpPr>
        <p:spPr>
          <a:xfrm>
            <a:off x="7086600" y="1920240"/>
            <a:ext cx="4590288" cy="17830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Eye_circle"/>
          <p:cNvSpPr/>
          <p:nvPr/>
        </p:nvSpPr>
        <p:spPr>
          <a:xfrm>
            <a:off x="7360920" y="217627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Eye_dark.png"/>
          <p:cNvPicPr>
            <a:picLocks noChangeAspect="1"/>
          </p:cNvPicPr>
          <p:nvPr/>
        </p:nvPicPr>
        <p:blipFill>
          <a:blip r:embed="rId4"/>
          <a:stretch>
            <a:fillRect/>
          </a:stretch>
        </p:blipFill>
        <p:spPr>
          <a:xfrm>
            <a:off x="7486650" y="2302002"/>
            <a:ext cx="251460" cy="251460"/>
          </a:xfrm>
          <a:prstGeom prst="rect">
            <a:avLst/>
          </a:prstGeom>
        </p:spPr>
      </p:pic>
      <p:sp>
        <p:nvSpPr>
          <p:cNvPr id="31" name="TextBox 30"/>
          <p:cNvSpPr txBox="1"/>
          <p:nvPr/>
        </p:nvSpPr>
        <p:spPr>
          <a:xfrm>
            <a:off x="8046720" y="2176272"/>
            <a:ext cx="3401568" cy="502920"/>
          </a:xfrm>
          <a:prstGeom prst="rect">
            <a:avLst/>
          </a:prstGeom>
          <a:noFill/>
        </p:spPr>
        <p:txBody>
          <a:bodyPr wrap="square" lIns="0" rIns="0" tIns="0" bIns="0" anchor="ctr">
            <a:spAutoFit/>
          </a:bodyPr>
          <a:lstStyle/>
          <a:p>
            <a:pPr algn="l"/>
            <a:r>
              <a:rPr sz="1800" b="1" i="0">
                <a:solidFill>
                  <a:schemeClr val="tx1"/>
                </a:solidFill>
              </a:rPr>
              <a:t>Watch for</a:t>
            </a:r>
          </a:p>
        </p:txBody>
      </p:sp>
      <p:sp>
        <p:nvSpPr>
          <p:cNvPr id="32" name="TextBox 31"/>
          <p:cNvSpPr txBox="1"/>
          <p:nvPr/>
        </p:nvSpPr>
        <p:spPr>
          <a:xfrm>
            <a:off x="7360920" y="2788920"/>
            <a:ext cx="4041648" cy="868680"/>
          </a:xfrm>
          <a:prstGeom prst="rect">
            <a:avLst/>
          </a:prstGeom>
          <a:noFill/>
        </p:spPr>
        <p:txBody>
          <a:bodyPr wrap="square" lIns="0" rIns="0" tIns="0" bIns="0" anchor="t">
            <a:spAutoFit/>
          </a:bodyPr>
          <a:lstStyle/>
          <a:p>
            <a:pPr algn="l"/>
            <a:r>
              <a:rPr sz="1500" b="0" i="0">
                <a:solidFill>
                  <a:schemeClr val="tx1"/>
                </a:solidFill>
              </a:rPr>
              <a:t>Issues the codebook doesn't mention: mid-year movers, ZIP+4 and blank ZIPs, out-of-area students, no 2020 tests…</a:t>
            </a:r>
          </a:p>
        </p:txBody>
      </p:sp>
      <p:sp>
        <p:nvSpPr>
          <p:cNvPr id="33" name="Rounded Rectangle 32"/>
          <p:cNvSpPr/>
          <p:nvPr/>
        </p:nvSpPr>
        <p:spPr>
          <a:xfrm>
            <a:off x="7086600" y="3931920"/>
            <a:ext cx="4590288" cy="17830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_FaUser_circle"/>
          <p:cNvSpPr/>
          <p:nvPr/>
        </p:nvSpPr>
        <p:spPr>
          <a:xfrm>
            <a:off x="7360920" y="4187952"/>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aUser_red.png"/>
          <p:cNvPicPr>
            <a:picLocks noChangeAspect="1"/>
          </p:cNvPicPr>
          <p:nvPr/>
        </p:nvPicPr>
        <p:blipFill>
          <a:blip r:embed="rId5"/>
          <a:stretch>
            <a:fillRect/>
          </a:stretch>
        </p:blipFill>
        <p:spPr>
          <a:xfrm>
            <a:off x="7486650" y="4313682"/>
            <a:ext cx="251460" cy="251460"/>
          </a:xfrm>
          <a:prstGeom prst="rect">
            <a:avLst/>
          </a:prstGeom>
        </p:spPr>
      </p:pic>
      <p:sp>
        <p:nvSpPr>
          <p:cNvPr id="36" name="TextBox 35"/>
          <p:cNvSpPr txBox="1"/>
          <p:nvPr/>
        </p:nvSpPr>
        <p:spPr>
          <a:xfrm>
            <a:off x="8046720" y="4187952"/>
            <a:ext cx="3401568" cy="502920"/>
          </a:xfrm>
          <a:prstGeom prst="rect">
            <a:avLst/>
          </a:prstGeom>
          <a:noFill/>
        </p:spPr>
        <p:txBody>
          <a:bodyPr wrap="square" lIns="0" rIns="0" tIns="0" bIns="0" anchor="ctr">
            <a:spAutoFit/>
          </a:bodyPr>
          <a:lstStyle/>
          <a:p>
            <a:pPr algn="l"/>
            <a:r>
              <a:rPr sz="1800" b="1" i="0">
                <a:solidFill>
                  <a:schemeClr val="bg1"/>
                </a:solidFill>
              </a:rPr>
              <a:t>Checkpoint: you decide</a:t>
            </a:r>
          </a:p>
        </p:txBody>
      </p:sp>
      <p:sp>
        <p:nvSpPr>
          <p:cNvPr id="37" name="TextBox 36"/>
          <p:cNvSpPr txBox="1"/>
          <p:nvPr/>
        </p:nvSpPr>
        <p:spPr>
          <a:xfrm>
            <a:off x="7360920" y="4800600"/>
            <a:ext cx="4041648" cy="868680"/>
          </a:xfrm>
          <a:prstGeom prst="rect">
            <a:avLst/>
          </a:prstGeom>
          <a:noFill/>
        </p:spPr>
        <p:txBody>
          <a:bodyPr wrap="square" lIns="0" rIns="0" tIns="0" bIns="0" anchor="t">
            <a:spAutoFit/>
          </a:bodyPr>
          <a:lstStyle/>
          <a:p>
            <a:pPr algn="l"/>
            <a:r>
              <a:rPr sz="1600" b="0" i="0">
                <a:solidFill>
                  <a:schemeClr val="bg1"/>
                </a:solidFill>
              </a:rPr>
              <a:t>Approve, change, or reject each proposed fix.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Cleaning</a:t>
            </a:r>
          </a:p>
        </p:txBody>
      </p:sp>
      <p:sp>
        <p:nvSpPr>
          <p:cNvPr id="3" name="Text Placeholder 2"/>
          <p:cNvSpPr>
            <a:spLocks noGrp="1"/>
          </p:cNvSpPr>
          <p:nvPr>
            <p:ph type="body" idx="12" sz="quarter"/>
          </p:nvPr>
        </p:nvSpPr>
        <p:spPr/>
        <p:txBody>
          <a:bodyPr/>
          <a:lstStyle/>
          <a:p>
            <a:r>
              <a:t>Apply exactly the approved fixes, and nothing else</a:t>
            </a:r>
          </a:p>
        </p:txBody>
      </p:sp>
      <p:sp>
        <p:nvSpPr>
          <p:cNvPr id="4" name="Text Placeholder 3"/>
          <p:cNvSpPr>
            <a:spLocks noGrp="1"/>
          </p:cNvSpPr>
          <p:nvPr>
            <p:ph type="body" idx="14" sz="quarter"/>
          </p:nvPr>
        </p:nvSpPr>
        <p:spPr/>
        <p:txBody>
          <a:bodyPr/>
          <a:lstStyle/>
          <a:p>
            <a:r>
              <a:t>Part 3 · Live workflow · step 02</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2024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20240"/>
            <a:ext cx="731520" cy="731520"/>
          </a:xfrm>
          <a:prstGeom prst="rect">
            <a:avLst/>
          </a:prstGeom>
          <a:noFill/>
        </p:spPr>
        <p:txBody>
          <a:bodyPr wrap="square" lIns="0" rIns="0" tIns="0" bIns="0" anchor="ctr">
            <a:spAutoFit/>
          </a:bodyPr>
          <a:lstStyle/>
          <a:p>
            <a:pPr algn="ctr"/>
            <a:r>
              <a:rPr sz="2200" b="1" i="0">
                <a:solidFill>
                  <a:schemeClr val="bg1"/>
                </a:solidFill>
              </a:rPr>
              <a:t>02</a:t>
            </a:r>
          </a:p>
        </p:txBody>
      </p:sp>
      <p:sp>
        <p:nvSpPr>
          <p:cNvPr id="15" name="Rounded Rectangle 14"/>
          <p:cNvSpPr/>
          <p:nvPr/>
        </p:nvSpPr>
        <p:spPr>
          <a:xfrm>
            <a:off x="5715000" y="2057400"/>
            <a:ext cx="1051560" cy="457200"/>
          </a:xfrm>
          <a:prstGeom prst="roundRect">
            <a:avLst>
              <a:gd name="adj" fmla="val 3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715000" y="2057400"/>
            <a:ext cx="1051560" cy="457200"/>
          </a:xfrm>
          <a:prstGeom prst="rect">
            <a:avLst/>
          </a:prstGeom>
          <a:noFill/>
        </p:spPr>
        <p:txBody>
          <a:bodyPr wrap="square" lIns="0" rIns="0" tIns="0" bIns="0" anchor="ctr">
            <a:spAutoFit/>
          </a:bodyPr>
          <a:lstStyle/>
          <a:p>
            <a:pPr algn="ctr"/>
            <a:r>
              <a:rPr sz="1400" b="1" i="0">
                <a:solidFill>
                  <a:schemeClr val="tx2"/>
                </a:solidFill>
              </a:rPr>
              <a:t>≈ 8 min</a:t>
            </a:r>
          </a:p>
        </p:txBody>
      </p:sp>
      <p:sp>
        <p:nvSpPr>
          <p:cNvPr id="17" name="code_block"/>
          <p:cNvSpPr/>
          <p:nvPr/>
        </p:nvSpPr>
        <p:spPr>
          <a:xfrm>
            <a:off x="512064" y="2834640"/>
            <a:ext cx="6254496" cy="5029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2834640"/>
            <a:ext cx="5888736" cy="5029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Follow @prompts/02_data_cleaning.md</a:t>
            </a:r>
          </a:p>
        </p:txBody>
      </p:sp>
      <p:sp>
        <p:nvSpPr>
          <p:cNvPr id="19" name="TextBox 18"/>
          <p:cNvSpPr txBox="1"/>
          <p:nvPr/>
        </p:nvSpPr>
        <p:spPr>
          <a:xfrm>
            <a:off x="512064" y="3566160"/>
            <a:ext cx="6217920" cy="365760"/>
          </a:xfrm>
          <a:prstGeom prst="rect">
            <a:avLst/>
          </a:prstGeom>
          <a:noFill/>
        </p:spPr>
        <p:txBody>
          <a:bodyPr wrap="square" lIns="0" rIns="0" tIns="0" bIns="0" anchor="t">
            <a:spAutoFit/>
          </a:bodyPr>
          <a:lstStyle/>
          <a:p>
            <a:pPr algn="l"/>
            <a:r>
              <a:rPr sz="1700" b="1" i="0">
                <a:solidFill>
                  <a:schemeClr val="tx2"/>
                </a:solidFill>
              </a:rPr>
              <a:t>Claude produces</a:t>
            </a:r>
          </a:p>
        </p:txBody>
      </p:sp>
      <p:pic>
        <p:nvPicPr>
          <p:cNvPr id="20" name="Picture 19" descr="FaCheck_red.png"/>
          <p:cNvPicPr>
            <a:picLocks noChangeAspect="1"/>
          </p:cNvPicPr>
          <p:nvPr/>
        </p:nvPicPr>
        <p:blipFill>
          <a:blip r:embed="rId3"/>
          <a:stretch>
            <a:fillRect/>
          </a:stretch>
        </p:blipFill>
        <p:spPr>
          <a:xfrm>
            <a:off x="530352" y="4050791"/>
            <a:ext cx="237744" cy="237744"/>
          </a:xfrm>
          <a:prstGeom prst="rect">
            <a:avLst/>
          </a:prstGeom>
        </p:spPr>
      </p:pic>
      <p:sp>
        <p:nvSpPr>
          <p:cNvPr id="21" name="TextBox 20"/>
          <p:cNvSpPr txBox="1"/>
          <p:nvPr/>
        </p:nvSpPr>
        <p:spPr>
          <a:xfrm>
            <a:off x="923544" y="3977639"/>
            <a:ext cx="5852160" cy="411480"/>
          </a:xfrm>
          <a:prstGeom prst="rect">
            <a:avLst/>
          </a:prstGeom>
          <a:noFill/>
        </p:spPr>
        <p:txBody>
          <a:bodyPr wrap="square" lIns="0" rIns="0" tIns="0" bIns="0" anchor="ctr">
            <a:spAutoFit/>
          </a:bodyPr>
          <a:lstStyle/>
          <a:p>
            <a:pPr algn="l"/>
            <a:r>
              <a:rPr sz="1600" b="0" i="0">
                <a:solidFill>
                  <a:schemeClr val="tx1"/>
                </a:solidFill>
              </a:rPr>
              <a:t>One row per student-year, with treatment timing</a:t>
            </a:r>
          </a:p>
        </p:txBody>
      </p:sp>
      <p:pic>
        <p:nvPicPr>
          <p:cNvPr id="22" name="Picture 21" descr="FaCheck_red.png"/>
          <p:cNvPicPr>
            <a:picLocks noChangeAspect="1"/>
          </p:cNvPicPr>
          <p:nvPr/>
        </p:nvPicPr>
        <p:blipFill>
          <a:blip r:embed="rId3"/>
          <a:stretch>
            <a:fillRect/>
          </a:stretch>
        </p:blipFill>
        <p:spPr>
          <a:xfrm>
            <a:off x="530352" y="4507992"/>
            <a:ext cx="237744" cy="237744"/>
          </a:xfrm>
          <a:prstGeom prst="rect">
            <a:avLst/>
          </a:prstGeom>
        </p:spPr>
      </p:pic>
      <p:sp>
        <p:nvSpPr>
          <p:cNvPr id="23" name="TextBox 22"/>
          <p:cNvSpPr txBox="1"/>
          <p:nvPr/>
        </p:nvSpPr>
        <p:spPr>
          <a:xfrm>
            <a:off x="923544" y="4434840"/>
            <a:ext cx="5852160" cy="411480"/>
          </a:xfrm>
          <a:prstGeom prst="rect">
            <a:avLst/>
          </a:prstGeom>
          <a:noFill/>
        </p:spPr>
        <p:txBody>
          <a:bodyPr wrap="square" lIns="0" rIns="0" tIns="0" bIns="0" anchor="ctr">
            <a:spAutoFit/>
          </a:bodyPr>
          <a:lstStyle/>
          <a:p>
            <a:pPr algn="l"/>
            <a:r>
              <a:rPr sz="1600" b="0" i="0">
                <a:solidFill>
                  <a:schemeClr val="tx1"/>
                </a:solidFill>
              </a:rPr>
              <a:t>A ZIP-year panel for the neighborhood question</a:t>
            </a:r>
          </a:p>
        </p:txBody>
      </p:sp>
      <p:pic>
        <p:nvPicPr>
          <p:cNvPr id="24" name="Picture 23" descr="FaCheck_red.png"/>
          <p:cNvPicPr>
            <a:picLocks noChangeAspect="1"/>
          </p:cNvPicPr>
          <p:nvPr/>
        </p:nvPicPr>
        <p:blipFill>
          <a:blip r:embed="rId3"/>
          <a:stretch>
            <a:fillRect/>
          </a:stretch>
        </p:blipFill>
        <p:spPr>
          <a:xfrm>
            <a:off x="530352" y="4965192"/>
            <a:ext cx="237744" cy="237744"/>
          </a:xfrm>
          <a:prstGeom prst="rect">
            <a:avLst/>
          </a:prstGeom>
        </p:spPr>
      </p:pic>
      <p:sp>
        <p:nvSpPr>
          <p:cNvPr id="25" name="TextBox 24"/>
          <p:cNvSpPr txBox="1"/>
          <p:nvPr/>
        </p:nvSpPr>
        <p:spPr>
          <a:xfrm>
            <a:off x="923544" y="4892040"/>
            <a:ext cx="5852160" cy="411480"/>
          </a:xfrm>
          <a:prstGeom prst="rect">
            <a:avLst/>
          </a:prstGeom>
          <a:noFill/>
        </p:spPr>
        <p:txBody>
          <a:bodyPr wrap="square" lIns="0" rIns="0" tIns="0" bIns="0" anchor="ctr">
            <a:spAutoFit/>
          </a:bodyPr>
          <a:lstStyle/>
          <a:p>
            <a:pPr algn="l"/>
            <a:r>
              <a:rPr sz="1600" b="0" i="0">
                <a:solidFill>
                  <a:schemeClr val="tx1"/>
                </a:solidFill>
              </a:rPr>
              <a:t>A cleaning log: rows and students after each step</a:t>
            </a:r>
          </a:p>
        </p:txBody>
      </p:sp>
      <p:pic>
        <p:nvPicPr>
          <p:cNvPr id="26" name="Picture 25" descr="FaCheck_red.png"/>
          <p:cNvPicPr>
            <a:picLocks noChangeAspect="1"/>
          </p:cNvPicPr>
          <p:nvPr/>
        </p:nvPicPr>
        <p:blipFill>
          <a:blip r:embed="rId3"/>
          <a:stretch>
            <a:fillRect/>
          </a:stretch>
        </p:blipFill>
        <p:spPr>
          <a:xfrm>
            <a:off x="530352" y="5422392"/>
            <a:ext cx="237744" cy="237744"/>
          </a:xfrm>
          <a:prstGeom prst="rect">
            <a:avLst/>
          </a:prstGeom>
        </p:spPr>
      </p:pic>
      <p:sp>
        <p:nvSpPr>
          <p:cNvPr id="27" name="TextBox 26"/>
          <p:cNvSpPr txBox="1"/>
          <p:nvPr/>
        </p:nvSpPr>
        <p:spPr>
          <a:xfrm>
            <a:off x="923544" y="5349240"/>
            <a:ext cx="5852160" cy="411480"/>
          </a:xfrm>
          <a:prstGeom prst="rect">
            <a:avLst/>
          </a:prstGeom>
          <a:noFill/>
        </p:spPr>
        <p:txBody>
          <a:bodyPr wrap="square" lIns="0" rIns="0" tIns="0" bIns="0" anchor="ctr">
            <a:spAutoFit/>
          </a:bodyPr>
          <a:lstStyle/>
          <a:p>
            <a:pPr algn="l"/>
            <a:r>
              <a:rPr sz="1600" b="0" i="0">
                <a:solidFill>
                  <a:schemeClr val="tx1"/>
                </a:solidFill>
              </a:rPr>
              <a:t>Checks that stop the script if keys aren't unique</a:t>
            </a:r>
          </a:p>
        </p:txBody>
      </p:sp>
      <p:sp>
        <p:nvSpPr>
          <p:cNvPr id="28" name="Rounded Rectangle 27"/>
          <p:cNvSpPr/>
          <p:nvPr/>
        </p:nvSpPr>
        <p:spPr>
          <a:xfrm>
            <a:off x="7086600" y="1920240"/>
            <a:ext cx="4590288" cy="17830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Eye_circle"/>
          <p:cNvSpPr/>
          <p:nvPr/>
        </p:nvSpPr>
        <p:spPr>
          <a:xfrm>
            <a:off x="7360920" y="217627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Eye_dark.png"/>
          <p:cNvPicPr>
            <a:picLocks noChangeAspect="1"/>
          </p:cNvPicPr>
          <p:nvPr/>
        </p:nvPicPr>
        <p:blipFill>
          <a:blip r:embed="rId4"/>
          <a:stretch>
            <a:fillRect/>
          </a:stretch>
        </p:blipFill>
        <p:spPr>
          <a:xfrm>
            <a:off x="7486650" y="2302002"/>
            <a:ext cx="251460" cy="251460"/>
          </a:xfrm>
          <a:prstGeom prst="rect">
            <a:avLst/>
          </a:prstGeom>
        </p:spPr>
      </p:pic>
      <p:sp>
        <p:nvSpPr>
          <p:cNvPr id="31" name="TextBox 30"/>
          <p:cNvSpPr txBox="1"/>
          <p:nvPr/>
        </p:nvSpPr>
        <p:spPr>
          <a:xfrm>
            <a:off x="8046720" y="2176272"/>
            <a:ext cx="3401568" cy="502920"/>
          </a:xfrm>
          <a:prstGeom prst="rect">
            <a:avLst/>
          </a:prstGeom>
          <a:noFill/>
        </p:spPr>
        <p:txBody>
          <a:bodyPr wrap="square" lIns="0" rIns="0" tIns="0" bIns="0" anchor="ctr">
            <a:spAutoFit/>
          </a:bodyPr>
          <a:lstStyle/>
          <a:p>
            <a:pPr algn="l"/>
            <a:r>
              <a:rPr sz="1800" b="1" i="0">
                <a:solidFill>
                  <a:schemeClr val="tx1"/>
                </a:solidFill>
              </a:rPr>
              <a:t>Watch for</a:t>
            </a:r>
          </a:p>
        </p:txBody>
      </p:sp>
      <p:sp>
        <p:nvSpPr>
          <p:cNvPr id="32" name="TextBox 31"/>
          <p:cNvSpPr txBox="1"/>
          <p:nvPr/>
        </p:nvSpPr>
        <p:spPr>
          <a:xfrm>
            <a:off x="7360920" y="2788920"/>
            <a:ext cx="4041648" cy="868680"/>
          </a:xfrm>
          <a:prstGeom prst="rect">
            <a:avLst/>
          </a:prstGeom>
          <a:noFill/>
        </p:spPr>
        <p:txBody>
          <a:bodyPr wrap="square" lIns="0" rIns="0" tIns="0" bIns="0" anchor="t">
            <a:spAutoFit/>
          </a:bodyPr>
          <a:lstStyle/>
          <a:p>
            <a:pPr algn="l"/>
            <a:r>
              <a:rPr sz="1500" b="0" i="0">
                <a:solidFill>
                  <a:schemeClr val="tx1"/>
                </a:solidFill>
              </a:rPr>
              <a:t>data_raw/ is never touched. Only 1000-series scripts write to data_clean/.</a:t>
            </a:r>
          </a:p>
        </p:txBody>
      </p:sp>
      <p:sp>
        <p:nvSpPr>
          <p:cNvPr id="33" name="Rounded Rectangle 32"/>
          <p:cNvSpPr/>
          <p:nvPr/>
        </p:nvSpPr>
        <p:spPr>
          <a:xfrm>
            <a:off x="7086600" y="3931920"/>
            <a:ext cx="4590288" cy="17830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_FaUser_circle"/>
          <p:cNvSpPr/>
          <p:nvPr/>
        </p:nvSpPr>
        <p:spPr>
          <a:xfrm>
            <a:off x="7360920" y="4187952"/>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aUser_red.png"/>
          <p:cNvPicPr>
            <a:picLocks noChangeAspect="1"/>
          </p:cNvPicPr>
          <p:nvPr/>
        </p:nvPicPr>
        <p:blipFill>
          <a:blip r:embed="rId5"/>
          <a:stretch>
            <a:fillRect/>
          </a:stretch>
        </p:blipFill>
        <p:spPr>
          <a:xfrm>
            <a:off x="7486650" y="4313682"/>
            <a:ext cx="251460" cy="251460"/>
          </a:xfrm>
          <a:prstGeom prst="rect">
            <a:avLst/>
          </a:prstGeom>
        </p:spPr>
      </p:pic>
      <p:sp>
        <p:nvSpPr>
          <p:cNvPr id="36" name="TextBox 35"/>
          <p:cNvSpPr txBox="1"/>
          <p:nvPr/>
        </p:nvSpPr>
        <p:spPr>
          <a:xfrm>
            <a:off x="8046720" y="4187952"/>
            <a:ext cx="3401568" cy="502920"/>
          </a:xfrm>
          <a:prstGeom prst="rect">
            <a:avLst/>
          </a:prstGeom>
          <a:noFill/>
        </p:spPr>
        <p:txBody>
          <a:bodyPr wrap="square" lIns="0" rIns="0" tIns="0" bIns="0" anchor="ctr">
            <a:spAutoFit/>
          </a:bodyPr>
          <a:lstStyle/>
          <a:p>
            <a:pPr algn="l"/>
            <a:r>
              <a:rPr sz="1800" b="1" i="0">
                <a:solidFill>
                  <a:schemeClr val="bg1"/>
                </a:solidFill>
              </a:rPr>
              <a:t>Checkpoint: you decide</a:t>
            </a:r>
          </a:p>
        </p:txBody>
      </p:sp>
      <p:sp>
        <p:nvSpPr>
          <p:cNvPr id="37" name="TextBox 36"/>
          <p:cNvSpPr txBox="1"/>
          <p:nvPr/>
        </p:nvSpPr>
        <p:spPr>
          <a:xfrm>
            <a:off x="7360920" y="4800600"/>
            <a:ext cx="4041648" cy="868680"/>
          </a:xfrm>
          <a:prstGeom prst="rect">
            <a:avLst/>
          </a:prstGeom>
          <a:noFill/>
        </p:spPr>
        <p:txBody>
          <a:bodyPr wrap="square" lIns="0" rIns="0" tIns="0" bIns="0" anchor="t">
            <a:spAutoFit/>
          </a:bodyPr>
          <a:lstStyle/>
          <a:p>
            <a:pPr algn="l"/>
            <a:r>
              <a:rPr sz="1600" b="0" i="0">
                <a:solidFill>
                  <a:schemeClr val="bg1"/>
                </a:solidFill>
              </a:rPr>
              <a:t>Do the clean data look right? About 4,000 students, minus a few blank ZIPs.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Empirical strategy</a:t>
            </a:r>
          </a:p>
        </p:txBody>
      </p:sp>
      <p:sp>
        <p:nvSpPr>
          <p:cNvPr id="3" name="Text Placeholder 2"/>
          <p:cNvSpPr>
            <a:spLocks noGrp="1"/>
          </p:cNvSpPr>
          <p:nvPr>
            <p:ph type="body" idx="12" sz="quarter"/>
          </p:nvPr>
        </p:nvSpPr>
        <p:spPr/>
        <p:txBody>
          <a:bodyPr/>
          <a:lstStyle/>
          <a:p>
            <a:r>
              <a:t>Claude can read and think, but can't edit anything</a:t>
            </a:r>
          </a:p>
        </p:txBody>
      </p:sp>
      <p:sp>
        <p:nvSpPr>
          <p:cNvPr id="4" name="Text Placeholder 3"/>
          <p:cNvSpPr>
            <a:spLocks noGrp="1"/>
          </p:cNvSpPr>
          <p:nvPr>
            <p:ph type="body" idx="14" sz="quarter"/>
          </p:nvPr>
        </p:nvSpPr>
        <p:spPr/>
        <p:txBody>
          <a:bodyPr/>
          <a:lstStyle/>
          <a:p>
            <a:r>
              <a:t>Part 3 · Live workflow · step 03</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2024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20240"/>
            <a:ext cx="731520" cy="731520"/>
          </a:xfrm>
          <a:prstGeom prst="rect">
            <a:avLst/>
          </a:prstGeom>
          <a:noFill/>
        </p:spPr>
        <p:txBody>
          <a:bodyPr wrap="square" lIns="0" rIns="0" tIns="0" bIns="0" anchor="ctr">
            <a:spAutoFit/>
          </a:bodyPr>
          <a:lstStyle/>
          <a:p>
            <a:pPr algn="ctr"/>
            <a:r>
              <a:rPr sz="2200" b="1" i="0">
                <a:solidFill>
                  <a:schemeClr val="bg1"/>
                </a:solidFill>
              </a:rPr>
              <a:t>03</a:t>
            </a:r>
          </a:p>
        </p:txBody>
      </p:sp>
      <p:sp>
        <p:nvSpPr>
          <p:cNvPr id="15" name="Rounded Rectangle 14"/>
          <p:cNvSpPr/>
          <p:nvPr/>
        </p:nvSpPr>
        <p:spPr>
          <a:xfrm>
            <a:off x="1426464" y="2057400"/>
            <a:ext cx="3017520" cy="457200"/>
          </a:xfrm>
          <a:prstGeom prst="roundRect">
            <a:avLst>
              <a:gd name="adj" fmla="val 3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26464" y="2057400"/>
            <a:ext cx="3017520" cy="457200"/>
          </a:xfrm>
          <a:prstGeom prst="rect">
            <a:avLst/>
          </a:prstGeom>
          <a:noFill/>
        </p:spPr>
        <p:txBody>
          <a:bodyPr wrap="square" lIns="0" rIns="0" tIns="0" bIns="0" anchor="ctr">
            <a:spAutoFit/>
          </a:bodyPr>
          <a:lstStyle/>
          <a:p>
            <a:pPr algn="ctr"/>
            <a:r>
              <a:rPr sz="1400" b="1" i="0">
                <a:solidFill>
                  <a:schemeClr val="bg1"/>
                </a:solidFill>
              </a:rPr>
              <a:t>Shift+Tab → plan mode first</a:t>
            </a:r>
          </a:p>
        </p:txBody>
      </p:sp>
      <p:sp>
        <p:nvSpPr>
          <p:cNvPr id="17" name="Rounded Rectangle 16"/>
          <p:cNvSpPr/>
          <p:nvPr/>
        </p:nvSpPr>
        <p:spPr>
          <a:xfrm>
            <a:off x="5715000" y="2057400"/>
            <a:ext cx="1051560" cy="457200"/>
          </a:xfrm>
          <a:prstGeom prst="roundRect">
            <a:avLst>
              <a:gd name="adj" fmla="val 3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15000" y="2057400"/>
            <a:ext cx="1051560" cy="457200"/>
          </a:xfrm>
          <a:prstGeom prst="rect">
            <a:avLst/>
          </a:prstGeom>
          <a:noFill/>
        </p:spPr>
        <p:txBody>
          <a:bodyPr wrap="square" lIns="0" rIns="0" tIns="0" bIns="0" anchor="ctr">
            <a:spAutoFit/>
          </a:bodyPr>
          <a:lstStyle/>
          <a:p>
            <a:pPr algn="ctr"/>
            <a:r>
              <a:rPr sz="1400" b="1" i="0">
                <a:solidFill>
                  <a:schemeClr val="tx2"/>
                </a:solidFill>
              </a:rPr>
              <a:t>≈ 8 min</a:t>
            </a:r>
          </a:p>
        </p:txBody>
      </p:sp>
      <p:sp>
        <p:nvSpPr>
          <p:cNvPr id="19" name="code_block"/>
          <p:cNvSpPr/>
          <p:nvPr/>
        </p:nvSpPr>
        <p:spPr>
          <a:xfrm>
            <a:off x="512064" y="2834640"/>
            <a:ext cx="6254496" cy="5029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3232" y="2834640"/>
            <a:ext cx="5888736" cy="5029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Follow @prompts/03_empirical_strategy.md</a:t>
            </a:r>
          </a:p>
        </p:txBody>
      </p:sp>
      <p:sp>
        <p:nvSpPr>
          <p:cNvPr id="21" name="Rounded Rectangle 20"/>
          <p:cNvSpPr/>
          <p:nvPr/>
        </p:nvSpPr>
        <p:spPr>
          <a:xfrm>
            <a:off x="512064" y="3611880"/>
            <a:ext cx="6254496" cy="585216"/>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con_FaListOl_circle"/>
          <p:cNvSpPr/>
          <p:nvPr/>
        </p:nvSpPr>
        <p:spPr>
          <a:xfrm>
            <a:off x="676656" y="3703320"/>
            <a:ext cx="402336" cy="40233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aListOl_white.png"/>
          <p:cNvPicPr>
            <a:picLocks noChangeAspect="1"/>
          </p:cNvPicPr>
          <p:nvPr/>
        </p:nvPicPr>
        <p:blipFill>
          <a:blip r:embed="rId3"/>
          <a:stretch>
            <a:fillRect/>
          </a:stretch>
        </p:blipFill>
        <p:spPr>
          <a:xfrm>
            <a:off x="777240" y="3803904"/>
            <a:ext cx="201168" cy="201168"/>
          </a:xfrm>
          <a:prstGeom prst="rect">
            <a:avLst/>
          </a:prstGeom>
        </p:spPr>
      </p:pic>
      <p:sp>
        <p:nvSpPr>
          <p:cNvPr id="24" name="TextBox 23"/>
          <p:cNvSpPr txBox="1"/>
          <p:nvPr/>
        </p:nvSpPr>
        <p:spPr>
          <a:xfrm>
            <a:off x="1216152" y="3611880"/>
            <a:ext cx="5440679" cy="585216"/>
          </a:xfrm>
          <a:prstGeom prst="rect">
            <a:avLst/>
          </a:prstGeom>
          <a:noFill/>
        </p:spPr>
        <p:txBody>
          <a:bodyPr wrap="square" lIns="0" rIns="0" tIns="0" bIns="0" anchor="ctr">
            <a:spAutoFit/>
          </a:bodyPr>
          <a:lstStyle/>
          <a:p>
            <a:pPr algn="l"/>
            <a:r>
              <a:rPr sz="1600" b="0" i="0">
                <a:solidFill>
                  <a:schemeClr val="tx1"/>
                </a:solidFill>
              </a:rPr>
              <a:t>2–3 candidate designs per question</a:t>
            </a:r>
          </a:p>
        </p:txBody>
      </p:sp>
      <p:sp>
        <p:nvSpPr>
          <p:cNvPr id="25" name="Rounded Rectangle 24"/>
          <p:cNvSpPr/>
          <p:nvPr/>
        </p:nvSpPr>
        <p:spPr>
          <a:xfrm>
            <a:off x="512064" y="4325112"/>
            <a:ext cx="6254496" cy="585216"/>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con_FaFlask_circle"/>
          <p:cNvSpPr/>
          <p:nvPr/>
        </p:nvSpPr>
        <p:spPr>
          <a:xfrm>
            <a:off x="676656" y="4416552"/>
            <a:ext cx="402336" cy="40233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aFlask_white.png"/>
          <p:cNvPicPr>
            <a:picLocks noChangeAspect="1"/>
          </p:cNvPicPr>
          <p:nvPr/>
        </p:nvPicPr>
        <p:blipFill>
          <a:blip r:embed="rId4"/>
          <a:stretch>
            <a:fillRect/>
          </a:stretch>
        </p:blipFill>
        <p:spPr>
          <a:xfrm>
            <a:off x="777240" y="4517136"/>
            <a:ext cx="201168" cy="201168"/>
          </a:xfrm>
          <a:prstGeom prst="rect">
            <a:avLst/>
          </a:prstGeom>
        </p:spPr>
      </p:pic>
      <p:sp>
        <p:nvSpPr>
          <p:cNvPr id="28" name="TextBox 27"/>
          <p:cNvSpPr txBox="1"/>
          <p:nvPr/>
        </p:nvSpPr>
        <p:spPr>
          <a:xfrm>
            <a:off x="1216152" y="4325112"/>
            <a:ext cx="5440679" cy="585216"/>
          </a:xfrm>
          <a:prstGeom prst="rect">
            <a:avLst/>
          </a:prstGeom>
          <a:noFill/>
        </p:spPr>
        <p:txBody>
          <a:bodyPr wrap="square" lIns="0" rIns="0" tIns="0" bIns="0" anchor="ctr">
            <a:spAutoFit/>
          </a:bodyPr>
          <a:lstStyle/>
          <a:p>
            <a:pPr algn="l"/>
            <a:r>
              <a:rPr sz="1600" b="0" i="0">
                <a:solidFill>
                  <a:schemeClr val="tx1"/>
                </a:solidFill>
              </a:rPr>
              <a:t>Assumption · how to check it · threats</a:t>
            </a:r>
          </a:p>
        </p:txBody>
      </p:sp>
      <p:sp>
        <p:nvSpPr>
          <p:cNvPr id="29" name="Rounded Rectangle 28"/>
          <p:cNvSpPr/>
          <p:nvPr/>
        </p:nvSpPr>
        <p:spPr>
          <a:xfrm>
            <a:off x="512064" y="5038344"/>
            <a:ext cx="6254496" cy="585216"/>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con_FaLightbulb_circle"/>
          <p:cNvSpPr/>
          <p:nvPr/>
        </p:nvSpPr>
        <p:spPr>
          <a:xfrm>
            <a:off x="676656" y="5129783"/>
            <a:ext cx="402336" cy="40233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aLightbulb_white.png"/>
          <p:cNvPicPr>
            <a:picLocks noChangeAspect="1"/>
          </p:cNvPicPr>
          <p:nvPr/>
        </p:nvPicPr>
        <p:blipFill>
          <a:blip r:embed="rId5"/>
          <a:stretch>
            <a:fillRect/>
          </a:stretch>
        </p:blipFill>
        <p:spPr>
          <a:xfrm>
            <a:off x="777240" y="5230368"/>
            <a:ext cx="201168" cy="201168"/>
          </a:xfrm>
          <a:prstGeom prst="rect">
            <a:avLst/>
          </a:prstGeom>
        </p:spPr>
      </p:pic>
      <p:sp>
        <p:nvSpPr>
          <p:cNvPr id="32" name="TextBox 31"/>
          <p:cNvSpPr txBox="1"/>
          <p:nvPr/>
        </p:nvSpPr>
        <p:spPr>
          <a:xfrm>
            <a:off x="1216152" y="5038344"/>
            <a:ext cx="5440679" cy="585216"/>
          </a:xfrm>
          <a:prstGeom prst="rect">
            <a:avLst/>
          </a:prstGeom>
          <a:noFill/>
        </p:spPr>
        <p:txBody>
          <a:bodyPr wrap="square" lIns="0" rIns="0" tIns="0" bIns="0" anchor="ctr">
            <a:spAutoFit/>
          </a:bodyPr>
          <a:lstStyle/>
          <a:p>
            <a:pPr algn="l"/>
            <a:r>
              <a:rPr sz="1600" b="0" i="0">
                <a:solidFill>
                  <a:schemeClr val="tx1"/>
                </a:solidFill>
              </a:rPr>
              <a:t>A recommendation, not a choice</a:t>
            </a:r>
          </a:p>
        </p:txBody>
      </p:sp>
      <p:sp>
        <p:nvSpPr>
          <p:cNvPr id="33" name="Rounded Rectangle 32"/>
          <p:cNvSpPr/>
          <p:nvPr/>
        </p:nvSpPr>
        <p:spPr>
          <a:xfrm>
            <a:off x="7086600" y="1920240"/>
            <a:ext cx="4590288" cy="18288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06640" y="1920240"/>
            <a:ext cx="3950207" cy="1828800"/>
          </a:xfrm>
          <a:prstGeom prst="rect">
            <a:avLst/>
          </a:prstGeom>
          <a:noFill/>
        </p:spPr>
        <p:txBody>
          <a:bodyPr wrap="square" lIns="0" rIns="0" tIns="0" bIns="0" anchor="ctr">
            <a:spAutoFit/>
          </a:bodyPr>
          <a:lstStyle/>
          <a:p>
            <a:pPr algn="l"/>
            <a:r>
              <a:rPr sz="2600" b="1" i="0">
                <a:solidFill>
                  <a:schemeClr val="bg1"/>
                </a:solidFill>
              </a:rPr>
              <a:t>The design is the researcher's decision.</a:t>
            </a:r>
          </a:p>
        </p:txBody>
      </p:sp>
      <p:sp>
        <p:nvSpPr>
          <p:cNvPr id="35" name="TextBox 34"/>
          <p:cNvSpPr txBox="1"/>
          <p:nvPr/>
        </p:nvSpPr>
        <p:spPr>
          <a:xfrm>
            <a:off x="7086600" y="3931920"/>
            <a:ext cx="4590288" cy="320040"/>
          </a:xfrm>
          <a:prstGeom prst="rect">
            <a:avLst/>
          </a:prstGeom>
          <a:noFill/>
        </p:spPr>
        <p:txBody>
          <a:bodyPr wrap="square" lIns="0" rIns="0" tIns="0" bIns="0" anchor="t">
            <a:spAutoFit/>
          </a:bodyPr>
          <a:lstStyle/>
          <a:p>
            <a:pPr algn="l"/>
            <a:r>
              <a:rPr sz="1500" b="1" i="0">
                <a:solidFill>
                  <a:schemeClr val="tx2"/>
                </a:solidFill>
              </a:rPr>
              <a:t>Today's choice</a:t>
            </a:r>
          </a:p>
        </p:txBody>
      </p:sp>
      <p:sp>
        <p:nvSpPr>
          <p:cNvPr id="36" name="Rounded Rectangle 35"/>
          <p:cNvSpPr/>
          <p:nvPr/>
        </p:nvSpPr>
        <p:spPr>
          <a:xfrm>
            <a:off x="7086600" y="4297680"/>
            <a:ext cx="4590288"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con_FaHouse_circle"/>
          <p:cNvSpPr/>
          <p:nvPr/>
        </p:nvSpPr>
        <p:spPr>
          <a:xfrm>
            <a:off x="7251192" y="4398264"/>
            <a:ext cx="420624" cy="42062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aHouse_white.png"/>
          <p:cNvPicPr>
            <a:picLocks noChangeAspect="1"/>
          </p:cNvPicPr>
          <p:nvPr/>
        </p:nvPicPr>
        <p:blipFill>
          <a:blip r:embed="rId6"/>
          <a:stretch>
            <a:fillRect/>
          </a:stretch>
        </p:blipFill>
        <p:spPr>
          <a:xfrm>
            <a:off x="7356348" y="4503420"/>
            <a:ext cx="210312" cy="210312"/>
          </a:xfrm>
          <a:prstGeom prst="rect">
            <a:avLst/>
          </a:prstGeom>
        </p:spPr>
      </p:pic>
      <p:sp>
        <p:nvSpPr>
          <p:cNvPr id="39" name="TextBox 38"/>
          <p:cNvSpPr txBox="1"/>
          <p:nvPr/>
        </p:nvSpPr>
        <p:spPr>
          <a:xfrm>
            <a:off x="7818120" y="4297680"/>
            <a:ext cx="3721607" cy="621792"/>
          </a:xfrm>
          <a:prstGeom prst="rect">
            <a:avLst/>
          </a:prstGeom>
          <a:noFill/>
        </p:spPr>
        <p:txBody>
          <a:bodyPr wrap="square" lIns="0" rIns="0" tIns="0" bIns="0" anchor="ctr">
            <a:spAutoFit/>
          </a:bodyPr>
          <a:lstStyle/>
          <a:p>
            <a:pPr algn="l"/>
            <a:r>
              <a:rPr sz="1500" b="1" i="0">
                <a:solidFill>
                  <a:schemeClr val="tx1"/>
                </a:solidFill>
              </a:rPr>
              <a:t>Neighborhood: </a:t>
            </a:r>
            <a:r>
              <a:rPr sz="1500" b="0" i="0">
                <a:solidFill>
                  <a:schemeClr val="tx1"/>
                </a:solidFill>
              </a:rPr>
              <a:t>Synthetic control on the ACS ZIP panel</a:t>
            </a:r>
          </a:p>
        </p:txBody>
      </p:sp>
      <p:sp>
        <p:nvSpPr>
          <p:cNvPr id="40" name="Rounded Rectangle 39"/>
          <p:cNvSpPr/>
          <p:nvPr/>
        </p:nvSpPr>
        <p:spPr>
          <a:xfrm>
            <a:off x="7086600" y="5029200"/>
            <a:ext cx="4590288"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con_FaSchool_circle"/>
          <p:cNvSpPr/>
          <p:nvPr/>
        </p:nvSpPr>
        <p:spPr>
          <a:xfrm>
            <a:off x="7251192" y="5129784"/>
            <a:ext cx="420624" cy="42062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FaSchool_white.png"/>
          <p:cNvPicPr>
            <a:picLocks noChangeAspect="1"/>
          </p:cNvPicPr>
          <p:nvPr/>
        </p:nvPicPr>
        <p:blipFill>
          <a:blip r:embed="rId7"/>
          <a:stretch>
            <a:fillRect/>
          </a:stretch>
        </p:blipFill>
        <p:spPr>
          <a:xfrm>
            <a:off x="7356348" y="5234940"/>
            <a:ext cx="210312" cy="210312"/>
          </a:xfrm>
          <a:prstGeom prst="rect">
            <a:avLst/>
          </a:prstGeom>
        </p:spPr>
      </p:pic>
      <p:sp>
        <p:nvSpPr>
          <p:cNvPr id="43" name="TextBox 42"/>
          <p:cNvSpPr txBox="1"/>
          <p:nvPr/>
        </p:nvSpPr>
        <p:spPr>
          <a:xfrm>
            <a:off x="7818120" y="5029200"/>
            <a:ext cx="3721607" cy="621792"/>
          </a:xfrm>
          <a:prstGeom prst="rect">
            <a:avLst/>
          </a:prstGeom>
          <a:noFill/>
        </p:spPr>
        <p:txBody>
          <a:bodyPr wrap="square" lIns="0" rIns="0" tIns="0" bIns="0" anchor="ctr">
            <a:spAutoFit/>
          </a:bodyPr>
          <a:lstStyle/>
          <a:p>
            <a:pPr algn="l"/>
            <a:r>
              <a:rPr sz="1500" b="1" i="0">
                <a:solidFill>
                  <a:schemeClr val="tx1"/>
                </a:solidFill>
              </a:rPr>
              <a:t>Students: </a:t>
            </a:r>
            <a:r>
              <a:rPr sz="1500" b="0" i="0">
                <a:solidFill>
                  <a:schemeClr val="tx1"/>
                </a:solidFill>
              </a:rPr>
              <a:t>Callaway &amp; Sant'Anna staggered DiD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Analysis</a:t>
            </a:r>
          </a:p>
        </p:txBody>
      </p:sp>
      <p:sp>
        <p:nvSpPr>
          <p:cNvPr id="3" name="Text Placeholder 2"/>
          <p:cNvSpPr>
            <a:spLocks noGrp="1"/>
          </p:cNvSpPr>
          <p:nvPr>
            <p:ph type="body" idx="12" sz="quarter"/>
          </p:nvPr>
        </p:nvSpPr>
        <p:spPr/>
        <p:txBody>
          <a:bodyPr/>
          <a:lstStyle/>
          <a:p>
            <a:r>
              <a:t>Implement the approved plan exactly, then check whether it makes sense</a:t>
            </a:r>
          </a:p>
        </p:txBody>
      </p:sp>
      <p:sp>
        <p:nvSpPr>
          <p:cNvPr id="4" name="Text Placeholder 3"/>
          <p:cNvSpPr>
            <a:spLocks noGrp="1"/>
          </p:cNvSpPr>
          <p:nvPr>
            <p:ph type="body" idx="14" sz="quarter"/>
          </p:nvPr>
        </p:nvSpPr>
        <p:spPr/>
        <p:txBody>
          <a:bodyPr/>
          <a:lstStyle/>
          <a:p>
            <a:r>
              <a:t>Part 3 · Live workflow · step 04</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2024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20240"/>
            <a:ext cx="731520" cy="731520"/>
          </a:xfrm>
          <a:prstGeom prst="rect">
            <a:avLst/>
          </a:prstGeom>
          <a:noFill/>
        </p:spPr>
        <p:txBody>
          <a:bodyPr wrap="square" lIns="0" rIns="0" tIns="0" bIns="0" anchor="ctr">
            <a:spAutoFit/>
          </a:bodyPr>
          <a:lstStyle/>
          <a:p>
            <a:pPr algn="ctr"/>
            <a:r>
              <a:rPr sz="2200" b="1" i="0">
                <a:solidFill>
                  <a:schemeClr val="bg1"/>
                </a:solidFill>
              </a:rPr>
              <a:t>04</a:t>
            </a:r>
          </a:p>
        </p:txBody>
      </p:sp>
      <p:sp>
        <p:nvSpPr>
          <p:cNvPr id="15" name="Rounded Rectangle 14"/>
          <p:cNvSpPr/>
          <p:nvPr/>
        </p:nvSpPr>
        <p:spPr>
          <a:xfrm>
            <a:off x="5715000" y="2057400"/>
            <a:ext cx="1051560" cy="457200"/>
          </a:xfrm>
          <a:prstGeom prst="roundRect">
            <a:avLst>
              <a:gd name="adj" fmla="val 3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715000" y="2057400"/>
            <a:ext cx="1051560" cy="457200"/>
          </a:xfrm>
          <a:prstGeom prst="rect">
            <a:avLst/>
          </a:prstGeom>
          <a:noFill/>
        </p:spPr>
        <p:txBody>
          <a:bodyPr wrap="square" lIns="0" rIns="0" tIns="0" bIns="0" anchor="ctr">
            <a:spAutoFit/>
          </a:bodyPr>
          <a:lstStyle/>
          <a:p>
            <a:pPr algn="ctr"/>
            <a:r>
              <a:rPr sz="1400" b="1" i="0">
                <a:solidFill>
                  <a:schemeClr val="tx2"/>
                </a:solidFill>
              </a:rPr>
              <a:t>≈ 8 min</a:t>
            </a:r>
          </a:p>
        </p:txBody>
      </p:sp>
      <p:sp>
        <p:nvSpPr>
          <p:cNvPr id="17" name="code_block"/>
          <p:cNvSpPr/>
          <p:nvPr/>
        </p:nvSpPr>
        <p:spPr>
          <a:xfrm>
            <a:off x="512064" y="2834640"/>
            <a:ext cx="6254496" cy="5029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2834640"/>
            <a:ext cx="5888736" cy="5029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Follow @prompts/04_analysis.md</a:t>
            </a:r>
          </a:p>
        </p:txBody>
      </p:sp>
      <p:sp>
        <p:nvSpPr>
          <p:cNvPr id="19" name="TextBox 18"/>
          <p:cNvSpPr txBox="1"/>
          <p:nvPr/>
        </p:nvSpPr>
        <p:spPr>
          <a:xfrm>
            <a:off x="512064" y="3566160"/>
            <a:ext cx="6217920" cy="365760"/>
          </a:xfrm>
          <a:prstGeom prst="rect">
            <a:avLst/>
          </a:prstGeom>
          <a:noFill/>
        </p:spPr>
        <p:txBody>
          <a:bodyPr wrap="square" lIns="0" rIns="0" tIns="0" bIns="0" anchor="t">
            <a:spAutoFit/>
          </a:bodyPr>
          <a:lstStyle/>
          <a:p>
            <a:pPr algn="l"/>
            <a:r>
              <a:rPr sz="1700" b="1" i="0">
                <a:solidFill>
                  <a:schemeClr val="tx2"/>
                </a:solidFill>
              </a:rPr>
              <a:t>Claude produces</a:t>
            </a:r>
          </a:p>
        </p:txBody>
      </p:sp>
      <p:pic>
        <p:nvPicPr>
          <p:cNvPr id="20" name="Picture 19" descr="FaCheck_red.png"/>
          <p:cNvPicPr>
            <a:picLocks noChangeAspect="1"/>
          </p:cNvPicPr>
          <p:nvPr/>
        </p:nvPicPr>
        <p:blipFill>
          <a:blip r:embed="rId3"/>
          <a:stretch>
            <a:fillRect/>
          </a:stretch>
        </p:blipFill>
        <p:spPr>
          <a:xfrm>
            <a:off x="530352" y="4050791"/>
            <a:ext cx="237744" cy="237744"/>
          </a:xfrm>
          <a:prstGeom prst="rect">
            <a:avLst/>
          </a:prstGeom>
        </p:spPr>
      </p:pic>
      <p:sp>
        <p:nvSpPr>
          <p:cNvPr id="21" name="TextBox 20"/>
          <p:cNvSpPr txBox="1"/>
          <p:nvPr/>
        </p:nvSpPr>
        <p:spPr>
          <a:xfrm>
            <a:off x="923544" y="3977639"/>
            <a:ext cx="5852160" cy="411480"/>
          </a:xfrm>
          <a:prstGeom prst="rect">
            <a:avLst/>
          </a:prstGeom>
          <a:noFill/>
        </p:spPr>
        <p:txBody>
          <a:bodyPr wrap="square" lIns="0" rIns="0" tIns="0" bIns="0" anchor="ctr">
            <a:spAutoFit/>
          </a:bodyPr>
          <a:lstStyle/>
          <a:p>
            <a:pPr algn="l"/>
            <a:r>
              <a:rPr sz="1600" b="0" i="0">
                <a:solidFill>
                  <a:schemeClr val="tx1"/>
                </a:solidFill>
              </a:rPr>
              <a:t>2000 descriptives: sample, gaps, timing, trends</a:t>
            </a:r>
          </a:p>
        </p:txBody>
      </p:sp>
      <p:pic>
        <p:nvPicPr>
          <p:cNvPr id="22" name="Picture 21" descr="FaCheck_red.png"/>
          <p:cNvPicPr>
            <a:picLocks noChangeAspect="1"/>
          </p:cNvPicPr>
          <p:nvPr/>
        </p:nvPicPr>
        <p:blipFill>
          <a:blip r:embed="rId3"/>
          <a:stretch>
            <a:fillRect/>
          </a:stretch>
        </p:blipFill>
        <p:spPr>
          <a:xfrm>
            <a:off x="530352" y="4507992"/>
            <a:ext cx="237744" cy="237744"/>
          </a:xfrm>
          <a:prstGeom prst="rect">
            <a:avLst/>
          </a:prstGeom>
        </p:spPr>
      </p:pic>
      <p:sp>
        <p:nvSpPr>
          <p:cNvPr id="23" name="TextBox 22"/>
          <p:cNvSpPr txBox="1"/>
          <p:nvPr/>
        </p:nvSpPr>
        <p:spPr>
          <a:xfrm>
            <a:off x="923544" y="4434840"/>
            <a:ext cx="5852160" cy="411480"/>
          </a:xfrm>
          <a:prstGeom prst="rect">
            <a:avLst/>
          </a:prstGeom>
          <a:noFill/>
        </p:spPr>
        <p:txBody>
          <a:bodyPr wrap="square" lIns="0" rIns="0" tIns="0" bIns="0" anchor="ctr">
            <a:spAutoFit/>
          </a:bodyPr>
          <a:lstStyle/>
          <a:p>
            <a:pPr algn="l"/>
            <a:r>
              <a:rPr sz="1600" b="0" i="0">
                <a:solidFill>
                  <a:schemeClr val="tx1"/>
                </a:solidFill>
              </a:rPr>
              <a:t>3000 CSDID (students) · 3100 synthetic control</a:t>
            </a:r>
          </a:p>
        </p:txBody>
      </p:sp>
      <p:pic>
        <p:nvPicPr>
          <p:cNvPr id="24" name="Picture 23" descr="FaCheck_red.png"/>
          <p:cNvPicPr>
            <a:picLocks noChangeAspect="1"/>
          </p:cNvPicPr>
          <p:nvPr/>
        </p:nvPicPr>
        <p:blipFill>
          <a:blip r:embed="rId3"/>
          <a:stretch>
            <a:fillRect/>
          </a:stretch>
        </p:blipFill>
        <p:spPr>
          <a:xfrm>
            <a:off x="530352" y="4965192"/>
            <a:ext cx="237744" cy="237744"/>
          </a:xfrm>
          <a:prstGeom prst="rect">
            <a:avLst/>
          </a:prstGeom>
        </p:spPr>
      </p:pic>
      <p:sp>
        <p:nvSpPr>
          <p:cNvPr id="25" name="TextBox 24"/>
          <p:cNvSpPr txBox="1"/>
          <p:nvPr/>
        </p:nvSpPr>
        <p:spPr>
          <a:xfrm>
            <a:off x="923544" y="4892040"/>
            <a:ext cx="5852160" cy="411480"/>
          </a:xfrm>
          <a:prstGeom prst="rect">
            <a:avLst/>
          </a:prstGeom>
          <a:noFill/>
        </p:spPr>
        <p:txBody>
          <a:bodyPr wrap="square" lIns="0" rIns="0" tIns="0" bIns="0" anchor="ctr">
            <a:spAutoFit/>
          </a:bodyPr>
          <a:lstStyle/>
          <a:p>
            <a:pPr algn="l"/>
            <a:r>
              <a:rPr sz="1600" b="0" i="0">
                <a:solidFill>
                  <a:schemeClr val="tx1"/>
                </a:solidFill>
              </a:rPr>
              <a:t>Diagnostics: event study · placebo ZIPs</a:t>
            </a:r>
          </a:p>
        </p:txBody>
      </p:sp>
      <p:pic>
        <p:nvPicPr>
          <p:cNvPr id="26" name="Picture 25" descr="FaCheck_red.png"/>
          <p:cNvPicPr>
            <a:picLocks noChangeAspect="1"/>
          </p:cNvPicPr>
          <p:nvPr/>
        </p:nvPicPr>
        <p:blipFill>
          <a:blip r:embed="rId3"/>
          <a:stretch>
            <a:fillRect/>
          </a:stretch>
        </p:blipFill>
        <p:spPr>
          <a:xfrm>
            <a:off x="530352" y="5422392"/>
            <a:ext cx="237744" cy="237744"/>
          </a:xfrm>
          <a:prstGeom prst="rect">
            <a:avLst/>
          </a:prstGeom>
        </p:spPr>
      </p:pic>
      <p:sp>
        <p:nvSpPr>
          <p:cNvPr id="27" name="TextBox 26"/>
          <p:cNvSpPr txBox="1"/>
          <p:nvPr/>
        </p:nvSpPr>
        <p:spPr>
          <a:xfrm>
            <a:off x="923544" y="5349240"/>
            <a:ext cx="5852160" cy="411480"/>
          </a:xfrm>
          <a:prstGeom prst="rect">
            <a:avLst/>
          </a:prstGeom>
          <a:noFill/>
        </p:spPr>
        <p:txBody>
          <a:bodyPr wrap="square" lIns="0" rIns="0" tIns="0" bIns="0" anchor="ctr">
            <a:spAutoFit/>
          </a:bodyPr>
          <a:lstStyle/>
          <a:p>
            <a:pPr algn="l"/>
            <a:r>
              <a:rPr sz="1600" b="0" i="0">
                <a:solidFill>
                  <a:schemeClr val="tx1"/>
                </a:solidFill>
              </a:rPr>
              <a:t>Sanity check against a benchmark; flag anything odd</a:t>
            </a:r>
          </a:p>
        </p:txBody>
      </p:sp>
      <p:sp>
        <p:nvSpPr>
          <p:cNvPr id="28" name="Rounded Rectangle 27"/>
          <p:cNvSpPr/>
          <p:nvPr/>
        </p:nvSpPr>
        <p:spPr>
          <a:xfrm>
            <a:off x="7086600" y="1920240"/>
            <a:ext cx="4590288" cy="17830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Eye_circle"/>
          <p:cNvSpPr/>
          <p:nvPr/>
        </p:nvSpPr>
        <p:spPr>
          <a:xfrm>
            <a:off x="7360920" y="217627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Eye_dark.png"/>
          <p:cNvPicPr>
            <a:picLocks noChangeAspect="1"/>
          </p:cNvPicPr>
          <p:nvPr/>
        </p:nvPicPr>
        <p:blipFill>
          <a:blip r:embed="rId4"/>
          <a:stretch>
            <a:fillRect/>
          </a:stretch>
        </p:blipFill>
        <p:spPr>
          <a:xfrm>
            <a:off x="7486650" y="2302002"/>
            <a:ext cx="251460" cy="251460"/>
          </a:xfrm>
          <a:prstGeom prst="rect">
            <a:avLst/>
          </a:prstGeom>
        </p:spPr>
      </p:pic>
      <p:sp>
        <p:nvSpPr>
          <p:cNvPr id="31" name="TextBox 30"/>
          <p:cNvSpPr txBox="1"/>
          <p:nvPr/>
        </p:nvSpPr>
        <p:spPr>
          <a:xfrm>
            <a:off x="8046720" y="2176272"/>
            <a:ext cx="3401568" cy="502920"/>
          </a:xfrm>
          <a:prstGeom prst="rect">
            <a:avLst/>
          </a:prstGeom>
          <a:noFill/>
        </p:spPr>
        <p:txBody>
          <a:bodyPr wrap="square" lIns="0" rIns="0" tIns="0" bIns="0" anchor="ctr">
            <a:spAutoFit/>
          </a:bodyPr>
          <a:lstStyle/>
          <a:p>
            <a:pPr algn="l"/>
            <a:r>
              <a:rPr sz="1800" b="1" i="0">
                <a:solidFill>
                  <a:schemeClr val="tx1"/>
                </a:solidFill>
              </a:rPr>
              <a:t>Watch for</a:t>
            </a:r>
          </a:p>
        </p:txBody>
      </p:sp>
      <p:sp>
        <p:nvSpPr>
          <p:cNvPr id="32" name="TextBox 31"/>
          <p:cNvSpPr txBox="1"/>
          <p:nvPr/>
        </p:nvSpPr>
        <p:spPr>
          <a:xfrm>
            <a:off x="7360920" y="2788920"/>
            <a:ext cx="4041648" cy="868680"/>
          </a:xfrm>
          <a:prstGeom prst="rect">
            <a:avLst/>
          </a:prstGeom>
          <a:noFill/>
        </p:spPr>
        <p:txBody>
          <a:bodyPr wrap="square" lIns="0" rIns="0" tIns="0" bIns="0" anchor="t">
            <a:spAutoFit/>
          </a:bodyPr>
          <a:lstStyle/>
          <a:p>
            <a:pPr algn="l"/>
            <a:r>
              <a:rPr sz="1500" b="0" i="0">
                <a:solidFill>
                  <a:schemeClr val="tx1"/>
                </a:solidFill>
              </a:rPr>
              <a:t>Nothing extra run and quietly dropped. Extra specifications must be reported.</a:t>
            </a:r>
          </a:p>
        </p:txBody>
      </p:sp>
      <p:sp>
        <p:nvSpPr>
          <p:cNvPr id="33" name="Rounded Rectangle 32"/>
          <p:cNvSpPr/>
          <p:nvPr/>
        </p:nvSpPr>
        <p:spPr>
          <a:xfrm>
            <a:off x="7086600" y="3931920"/>
            <a:ext cx="4590288" cy="17830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_FaUser_circle"/>
          <p:cNvSpPr/>
          <p:nvPr/>
        </p:nvSpPr>
        <p:spPr>
          <a:xfrm>
            <a:off x="7360920" y="4187952"/>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aUser_red.png"/>
          <p:cNvPicPr>
            <a:picLocks noChangeAspect="1"/>
          </p:cNvPicPr>
          <p:nvPr/>
        </p:nvPicPr>
        <p:blipFill>
          <a:blip r:embed="rId5"/>
          <a:stretch>
            <a:fillRect/>
          </a:stretch>
        </p:blipFill>
        <p:spPr>
          <a:xfrm>
            <a:off x="7486650" y="4313682"/>
            <a:ext cx="251460" cy="251460"/>
          </a:xfrm>
          <a:prstGeom prst="rect">
            <a:avLst/>
          </a:prstGeom>
        </p:spPr>
      </p:pic>
      <p:sp>
        <p:nvSpPr>
          <p:cNvPr id="36" name="TextBox 35"/>
          <p:cNvSpPr txBox="1"/>
          <p:nvPr/>
        </p:nvSpPr>
        <p:spPr>
          <a:xfrm>
            <a:off x="8046720" y="4187952"/>
            <a:ext cx="3401568" cy="502920"/>
          </a:xfrm>
          <a:prstGeom prst="rect">
            <a:avLst/>
          </a:prstGeom>
          <a:noFill/>
        </p:spPr>
        <p:txBody>
          <a:bodyPr wrap="square" lIns="0" rIns="0" tIns="0" bIns="0" anchor="ctr">
            <a:spAutoFit/>
          </a:bodyPr>
          <a:lstStyle/>
          <a:p>
            <a:pPr algn="l"/>
            <a:r>
              <a:rPr sz="1800" b="1" i="0">
                <a:solidFill>
                  <a:schemeClr val="bg1"/>
                </a:solidFill>
              </a:rPr>
              <a:t>Checkpoint: you decide</a:t>
            </a:r>
          </a:p>
        </p:txBody>
      </p:sp>
      <p:sp>
        <p:nvSpPr>
          <p:cNvPr id="37" name="TextBox 36"/>
          <p:cNvSpPr txBox="1"/>
          <p:nvPr/>
        </p:nvSpPr>
        <p:spPr>
          <a:xfrm>
            <a:off x="7360920" y="4800600"/>
            <a:ext cx="4041648" cy="868680"/>
          </a:xfrm>
          <a:prstGeom prst="rect">
            <a:avLst/>
          </a:prstGeom>
          <a:noFill/>
        </p:spPr>
        <p:txBody>
          <a:bodyPr wrap="square" lIns="0" rIns="0" tIns="0" bIns="0" anchor="t">
            <a:spAutoFit/>
          </a:bodyPr>
          <a:lstStyle/>
          <a:p>
            <a:pPr algn="l"/>
            <a:r>
              <a:rPr sz="1600" b="0" i="0">
                <a:solidFill>
                  <a:schemeClr val="bg1"/>
                </a:solidFill>
              </a:rPr>
              <a:t>Are the results plausible?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+23 points plausible?</a:t>
            </a:r>
          </a:p>
        </p:txBody>
      </p:sp>
      <p:sp>
        <p:nvSpPr>
          <p:cNvPr id="3" name="Text Placeholder 2"/>
          <p:cNvSpPr>
            <a:spLocks noGrp="1"/>
          </p:cNvSpPr>
          <p:nvPr>
            <p:ph type="body" idx="12" sz="quarter"/>
          </p:nvPr>
        </p:nvSpPr>
        <p:spPr/>
        <p:txBody>
          <a:bodyPr/>
          <a:lstStyle/>
          <a:p>
            <a:r>
              <a:t>Year 3 after entering a CNI school. The code ran without errors. Which estimate is right?</a:t>
            </a:r>
          </a:p>
        </p:txBody>
      </p:sp>
      <p:sp>
        <p:nvSpPr>
          <p:cNvPr id="4" name="Text Placeholder 3"/>
          <p:cNvSpPr>
            <a:spLocks noGrp="1"/>
          </p:cNvSpPr>
          <p:nvPr>
            <p:ph type="body" idx="14" sz="quarter"/>
          </p:nvPr>
        </p:nvSpPr>
        <p:spPr/>
        <p:txBody>
          <a:bodyPr/>
          <a:lstStyle/>
          <a:p>
            <a:r>
              <a:t>Part 3 · Live workflow · step 04</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120640" cy="21945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2104" y="2148840"/>
            <a:ext cx="4572000" cy="365760"/>
          </a:xfrm>
          <a:prstGeom prst="rect">
            <a:avLst/>
          </a:prstGeom>
          <a:noFill/>
        </p:spPr>
        <p:txBody>
          <a:bodyPr wrap="square" lIns="0" rIns="0" tIns="0" bIns="0" anchor="t">
            <a:spAutoFit/>
          </a:bodyPr>
          <a:lstStyle/>
          <a:p>
            <a:pPr algn="l"/>
            <a:r>
              <a:rPr sz="1600" b="1" i="0">
                <a:solidFill>
                  <a:schemeClr val="bg1"/>
                </a:solidFill>
              </a:rPr>
              <a:t>CSDID on raw MAP points</a:t>
            </a:r>
          </a:p>
        </p:txBody>
      </p:sp>
      <p:sp>
        <p:nvSpPr>
          <p:cNvPr id="15" name="TextBox 14"/>
          <p:cNvSpPr txBox="1"/>
          <p:nvPr/>
        </p:nvSpPr>
        <p:spPr>
          <a:xfrm>
            <a:off x="832104" y="2560320"/>
            <a:ext cx="4572000" cy="1005840"/>
          </a:xfrm>
          <a:prstGeom prst="rect">
            <a:avLst/>
          </a:prstGeom>
          <a:noFill/>
        </p:spPr>
        <p:txBody>
          <a:bodyPr wrap="square" lIns="0" rIns="0" tIns="0" bIns="0" anchor="t">
            <a:spAutoFit/>
          </a:bodyPr>
          <a:lstStyle/>
          <a:p>
            <a:pPr algn="l"/>
            <a:r>
              <a:rPr sz="5400" b="1" i="0">
                <a:solidFill>
                  <a:schemeClr val="bg1"/>
                </a:solidFill>
              </a:rPr>
              <a:t>+23 to +25</a:t>
            </a:r>
          </a:p>
        </p:txBody>
      </p:sp>
      <p:sp>
        <p:nvSpPr>
          <p:cNvPr id="16" name="TextBox 15"/>
          <p:cNvSpPr txBox="1"/>
          <p:nvPr/>
        </p:nvSpPr>
        <p:spPr>
          <a:xfrm>
            <a:off x="832104" y="3566160"/>
            <a:ext cx="4572000" cy="365760"/>
          </a:xfrm>
          <a:prstGeom prst="rect">
            <a:avLst/>
          </a:prstGeom>
          <a:noFill/>
        </p:spPr>
        <p:txBody>
          <a:bodyPr wrap="square" lIns="0" rIns="0" tIns="0" bIns="0" anchor="t">
            <a:spAutoFit/>
          </a:bodyPr>
          <a:lstStyle/>
          <a:p>
            <a:pPr algn="l"/>
            <a:r>
              <a:rPr sz="1600" b="0" i="0">
                <a:solidFill>
                  <a:schemeClr val="bg1"/>
                </a:solidFill>
              </a:rPr>
              <a:t>points, ELA to Math</a:t>
            </a:r>
          </a:p>
        </p:txBody>
      </p:sp>
      <p:sp>
        <p:nvSpPr>
          <p:cNvPr id="17" name="TextBox 16"/>
          <p:cNvSpPr txBox="1"/>
          <p:nvPr/>
        </p:nvSpPr>
        <p:spPr>
          <a:xfrm>
            <a:off x="5669280" y="1920240"/>
            <a:ext cx="822960" cy="2194560"/>
          </a:xfrm>
          <a:prstGeom prst="rect">
            <a:avLst/>
          </a:prstGeom>
          <a:noFill/>
        </p:spPr>
        <p:txBody>
          <a:bodyPr wrap="square" lIns="0" rIns="0" tIns="0" bIns="0" anchor="ctr">
            <a:spAutoFit/>
          </a:bodyPr>
          <a:lstStyle/>
          <a:p>
            <a:pPr algn="ctr"/>
            <a:r>
              <a:rPr sz="2600" b="1" i="0">
                <a:solidFill>
                  <a:srgbClr val="5F5F5F"/>
                </a:solidFill>
              </a:rPr>
              <a:t>vs.</a:t>
            </a:r>
          </a:p>
        </p:txBody>
      </p:sp>
      <p:sp>
        <p:nvSpPr>
          <p:cNvPr id="18" name="Rounded Rectangle 17"/>
          <p:cNvSpPr/>
          <p:nvPr/>
        </p:nvSpPr>
        <p:spPr>
          <a:xfrm>
            <a:off x="6556248" y="1920240"/>
            <a:ext cx="5120640" cy="2194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76288" y="2148840"/>
            <a:ext cx="4572000" cy="365760"/>
          </a:xfrm>
          <a:prstGeom prst="rect">
            <a:avLst/>
          </a:prstGeom>
          <a:noFill/>
        </p:spPr>
        <p:txBody>
          <a:bodyPr wrap="square" lIns="0" rIns="0" tIns="0" bIns="0" anchor="t">
            <a:spAutoFit/>
          </a:bodyPr>
          <a:lstStyle/>
          <a:p>
            <a:pPr algn="l"/>
            <a:r>
              <a:rPr sz="1600" b="1" i="0">
                <a:solidFill>
                  <a:schemeClr val="tx2"/>
                </a:solidFill>
              </a:rPr>
              <a:t>Standardized within grade × year</a:t>
            </a:r>
          </a:p>
        </p:txBody>
      </p:sp>
      <p:sp>
        <p:nvSpPr>
          <p:cNvPr id="20" name="TextBox 19"/>
          <p:cNvSpPr txBox="1"/>
          <p:nvPr/>
        </p:nvSpPr>
        <p:spPr>
          <a:xfrm>
            <a:off x="6876288" y="2560320"/>
            <a:ext cx="4572000" cy="1005840"/>
          </a:xfrm>
          <a:prstGeom prst="rect">
            <a:avLst/>
          </a:prstGeom>
          <a:noFill/>
        </p:spPr>
        <p:txBody>
          <a:bodyPr wrap="square" lIns="0" rIns="0" tIns="0" bIns="0" anchor="t">
            <a:spAutoFit/>
          </a:bodyPr>
          <a:lstStyle/>
          <a:p>
            <a:pPr algn="l"/>
            <a:r>
              <a:rPr sz="5400" b="1" i="0">
                <a:solidFill>
                  <a:schemeClr val="tx1"/>
                </a:solidFill>
              </a:rPr>
              <a:t>+13 to +14</a:t>
            </a:r>
          </a:p>
        </p:txBody>
      </p:sp>
      <p:sp>
        <p:nvSpPr>
          <p:cNvPr id="21" name="TextBox 20"/>
          <p:cNvSpPr txBox="1"/>
          <p:nvPr/>
        </p:nvSpPr>
        <p:spPr>
          <a:xfrm>
            <a:off x="6876288" y="3566160"/>
            <a:ext cx="4572000" cy="365760"/>
          </a:xfrm>
          <a:prstGeom prst="rect">
            <a:avLst/>
          </a:prstGeom>
          <a:noFill/>
        </p:spPr>
        <p:txBody>
          <a:bodyPr wrap="square" lIns="0" rIns="0" tIns="0" bIns="0" anchor="t">
            <a:spAutoFit/>
          </a:bodyPr>
          <a:lstStyle/>
          <a:p>
            <a:pPr algn="l"/>
            <a:r>
              <a:rPr sz="1600" b="0" i="0">
                <a:solidFill>
                  <a:srgbClr val="5F5F5F"/>
                </a:solidFill>
              </a:rPr>
              <a:t>points (SD ≈ 12), ELA to Math</a:t>
            </a:r>
          </a:p>
        </p:txBody>
      </p:sp>
      <p:sp>
        <p:nvSpPr>
          <p:cNvPr id="22" name="TextBox 21"/>
          <p:cNvSpPr txBox="1"/>
          <p:nvPr/>
        </p:nvSpPr>
        <p:spPr>
          <a:xfrm>
            <a:off x="512064" y="4206240"/>
            <a:ext cx="11164824" cy="685800"/>
          </a:xfrm>
          <a:prstGeom prst="rect">
            <a:avLst/>
          </a:prstGeom>
          <a:noFill/>
        </p:spPr>
        <p:txBody>
          <a:bodyPr wrap="square" lIns="0" rIns="0" tIns="0" bIns="0" anchor="ctr">
            <a:spAutoFit/>
          </a:bodyPr>
          <a:lstStyle/>
          <a:p>
            <a:pPr algn="ctr"/>
            <a:r>
              <a:rPr sz="1900" b="1" i="0">
                <a:solidFill>
                  <a:schemeClr val="tx1"/>
                </a:solidFill>
              </a:rPr>
              <a:t>A year of school is worth 5–6 points. </a:t>
            </a:r>
            <a:r>
              <a:rPr sz="1900" b="0" i="0">
                <a:solidFill>
                  <a:schemeClr val="tx1"/>
                </a:solidFill>
              </a:rPr>
              <a:t>The raw number is bigger by about two years of growth. Which one is measuring the program?</a:t>
            </a:r>
          </a:p>
        </p:txBody>
      </p:sp>
      <p:sp>
        <p:nvSpPr>
          <p:cNvPr id="23" name="Rounded Rectangle 22"/>
          <p:cNvSpPr/>
          <p:nvPr/>
        </p:nvSpPr>
        <p:spPr>
          <a:xfrm>
            <a:off x="512064" y="4983480"/>
            <a:ext cx="11164824"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Ruler_white.png"/>
          <p:cNvPicPr>
            <a:picLocks noChangeAspect="1"/>
          </p:cNvPicPr>
          <p:nvPr/>
        </p:nvPicPr>
        <p:blipFill>
          <a:blip r:embed="rId3"/>
          <a:stretch>
            <a:fillRect/>
          </a:stretch>
        </p:blipFill>
        <p:spPr>
          <a:xfrm>
            <a:off x="786384" y="5138928"/>
            <a:ext cx="420624" cy="420624"/>
          </a:xfrm>
          <a:prstGeom prst="rect">
            <a:avLst/>
          </a:prstGeom>
        </p:spPr>
      </p:pic>
      <p:sp>
        <p:nvSpPr>
          <p:cNvPr id="25" name="TextBox 24"/>
          <p:cNvSpPr txBox="1"/>
          <p:nvPr/>
        </p:nvSpPr>
        <p:spPr>
          <a:xfrm>
            <a:off x="1426464" y="4983480"/>
            <a:ext cx="9976104" cy="731520"/>
          </a:xfrm>
          <a:prstGeom prst="rect">
            <a:avLst/>
          </a:prstGeom>
          <a:noFill/>
        </p:spPr>
        <p:txBody>
          <a:bodyPr wrap="square" lIns="0" rIns="0" tIns="0" bIns="0" anchor="ctr">
            <a:spAutoFit/>
          </a:bodyPr>
          <a:lstStyle/>
          <a:p>
            <a:pPr algn="l"/>
            <a:r>
              <a:rPr sz="1800" b="0" i="0">
                <a:solidFill>
                  <a:schemeClr val="bg1"/>
                </a:solidFill>
              </a:rPr>
              <a:t>Grade growth was counted as treatment effect. </a:t>
            </a:r>
            <a:r>
              <a:rPr sz="1800" b="1" i="0">
                <a:solidFill>
                  <a:schemeClr val="bg1"/>
                </a:solidFill>
              </a:rPr>
              <a:t>Standardize within grade ×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Callback: where Gemini fits</a:t>
            </a:r>
          </a:p>
        </p:txBody>
      </p:sp>
      <p:sp>
        <p:nvSpPr>
          <p:cNvPr id="3" name="Text Placeholder 2"/>
          <p:cNvSpPr>
            <a:spLocks noGrp="1"/>
          </p:cNvSpPr>
          <p:nvPr>
            <p:ph type="body" idx="12" sz="quarter"/>
          </p:nvPr>
        </p:nvSpPr>
        <p:spPr/>
        <p:txBody>
          <a:bodyPr/>
          <a:lstStyle/>
          <a:p>
            <a:r>
              <a:t>Reading is file-free work. Do it for free, then hand it over as a file</a:t>
            </a:r>
          </a:p>
        </p:txBody>
      </p:sp>
      <p:sp>
        <p:nvSpPr>
          <p:cNvPr id="4" name="Text Placeholder 3"/>
          <p:cNvSpPr>
            <a:spLocks noGrp="1"/>
          </p:cNvSpPr>
          <p:nvPr>
            <p:ph type="body" idx="14" sz="quarter"/>
          </p:nvPr>
        </p:nvSpPr>
        <p:spPr/>
        <p:txBody>
          <a:bodyPr/>
          <a:lstStyle/>
          <a:p>
            <a:r>
              <a:t>Part 3 · Live workflow</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3291840" cy="23774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BookOpenReader_circle"/>
          <p:cNvSpPr/>
          <p:nvPr/>
        </p:nvSpPr>
        <p:spPr>
          <a:xfrm>
            <a:off x="786384" y="2194560"/>
            <a:ext cx="640080" cy="6400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BookOpenReader_dark.png"/>
          <p:cNvPicPr>
            <a:picLocks noChangeAspect="1"/>
          </p:cNvPicPr>
          <p:nvPr/>
        </p:nvPicPr>
        <p:blipFill>
          <a:blip r:embed="rId3"/>
          <a:stretch>
            <a:fillRect/>
          </a:stretch>
        </p:blipFill>
        <p:spPr>
          <a:xfrm>
            <a:off x="946404" y="2354579"/>
            <a:ext cx="320040" cy="320040"/>
          </a:xfrm>
          <a:prstGeom prst="rect">
            <a:avLst/>
          </a:prstGeom>
        </p:spPr>
      </p:pic>
      <p:sp>
        <p:nvSpPr>
          <p:cNvPr id="16" name="TextBox 15"/>
          <p:cNvSpPr txBox="1"/>
          <p:nvPr/>
        </p:nvSpPr>
        <p:spPr>
          <a:xfrm>
            <a:off x="786384" y="2971800"/>
            <a:ext cx="2743200" cy="411480"/>
          </a:xfrm>
          <a:prstGeom prst="rect">
            <a:avLst/>
          </a:prstGeom>
          <a:noFill/>
        </p:spPr>
        <p:txBody>
          <a:bodyPr wrap="square" lIns="0" rIns="0" tIns="0" bIns="0" anchor="t">
            <a:spAutoFit/>
          </a:bodyPr>
          <a:lstStyle/>
          <a:p>
            <a:pPr algn="l"/>
            <a:r>
              <a:rPr sz="2200" b="1" i="0">
                <a:solidFill>
                  <a:schemeClr val="tx1"/>
                </a:solidFill>
              </a:rPr>
              <a:t>Gemini</a:t>
            </a:r>
          </a:p>
        </p:txBody>
      </p:sp>
      <p:sp>
        <p:nvSpPr>
          <p:cNvPr id="17" name="TextBox 16"/>
          <p:cNvSpPr txBox="1"/>
          <p:nvPr/>
        </p:nvSpPr>
        <p:spPr>
          <a:xfrm>
            <a:off x="786384" y="3383280"/>
            <a:ext cx="2743200" cy="320040"/>
          </a:xfrm>
          <a:prstGeom prst="rect">
            <a:avLst/>
          </a:prstGeom>
          <a:noFill/>
        </p:spPr>
        <p:txBody>
          <a:bodyPr wrap="square" lIns="0" rIns="0" tIns="0" bIns="0" anchor="t">
            <a:spAutoFit/>
          </a:bodyPr>
          <a:lstStyle/>
          <a:p>
            <a:pPr algn="l"/>
            <a:r>
              <a:rPr sz="1400" b="0" i="0">
                <a:solidFill>
                  <a:srgbClr val="5F5F5F"/>
                </a:solidFill>
              </a:rPr>
              <a:t>free through WashU</a:t>
            </a:r>
          </a:p>
        </p:txBody>
      </p:sp>
      <p:sp>
        <p:nvSpPr>
          <p:cNvPr id="18" name="TextBox 17"/>
          <p:cNvSpPr txBox="1"/>
          <p:nvPr/>
        </p:nvSpPr>
        <p:spPr>
          <a:xfrm>
            <a:off x="786384" y="3703320"/>
            <a:ext cx="2743200" cy="548640"/>
          </a:xfrm>
          <a:prstGeom prst="rect">
            <a:avLst/>
          </a:prstGeom>
          <a:noFill/>
        </p:spPr>
        <p:txBody>
          <a:bodyPr wrap="square" lIns="0" rIns="0" tIns="0" bIns="0" anchor="t">
            <a:spAutoFit/>
          </a:bodyPr>
          <a:lstStyle/>
          <a:p>
            <a:pPr algn="l"/>
            <a:r>
              <a:rPr sz="1500" b="0" i="0">
                <a:solidFill>
                  <a:schemeClr val="tx1"/>
                </a:solidFill>
              </a:rPr>
              <a:t>Literature map and framing for the paper</a:t>
            </a:r>
          </a:p>
        </p:txBody>
      </p:sp>
      <p:cxnSp>
        <p:nvCxnSpPr>
          <p:cNvPr id="19" name="Connector 18"/>
          <p:cNvCxnSpPr/>
          <p:nvPr/>
        </p:nvCxnSpPr>
        <p:spPr>
          <a:xfrm>
            <a:off x="3877056" y="3108960"/>
            <a:ext cx="498348"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48556" y="1920240"/>
            <a:ext cx="3291840" cy="237744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_FaFileLines_circle"/>
          <p:cNvSpPr/>
          <p:nvPr/>
        </p:nvSpPr>
        <p:spPr>
          <a:xfrm>
            <a:off x="4722876"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FileLines_white.png"/>
          <p:cNvPicPr>
            <a:picLocks noChangeAspect="1"/>
          </p:cNvPicPr>
          <p:nvPr/>
        </p:nvPicPr>
        <p:blipFill>
          <a:blip r:embed="rId4"/>
          <a:stretch>
            <a:fillRect/>
          </a:stretch>
        </p:blipFill>
        <p:spPr>
          <a:xfrm>
            <a:off x="4882896" y="2354579"/>
            <a:ext cx="320040" cy="320040"/>
          </a:xfrm>
          <a:prstGeom prst="rect">
            <a:avLst/>
          </a:prstGeom>
        </p:spPr>
      </p:pic>
      <p:sp>
        <p:nvSpPr>
          <p:cNvPr id="23" name="TextBox 22"/>
          <p:cNvSpPr txBox="1"/>
          <p:nvPr/>
        </p:nvSpPr>
        <p:spPr>
          <a:xfrm>
            <a:off x="4722876" y="2971800"/>
            <a:ext cx="2743200" cy="411480"/>
          </a:xfrm>
          <a:prstGeom prst="rect">
            <a:avLst/>
          </a:prstGeom>
          <a:noFill/>
        </p:spPr>
        <p:txBody>
          <a:bodyPr wrap="square" lIns="0" rIns="0" tIns="0" bIns="0" anchor="t">
            <a:spAutoFit/>
          </a:bodyPr>
          <a:lstStyle/>
          <a:p>
            <a:pPr algn="l"/>
            <a:r>
              <a:rPr sz="2200" b="1" i="0">
                <a:solidFill>
                  <a:schemeClr val="tx1"/>
                </a:solidFill>
              </a:rPr>
              <a:t>The handoff</a:t>
            </a:r>
          </a:p>
        </p:txBody>
      </p:sp>
      <p:sp>
        <p:nvSpPr>
          <p:cNvPr id="24" name="TextBox 23"/>
          <p:cNvSpPr txBox="1"/>
          <p:nvPr/>
        </p:nvSpPr>
        <p:spPr>
          <a:xfrm>
            <a:off x="4722876" y="3383280"/>
            <a:ext cx="2743200" cy="320040"/>
          </a:xfrm>
          <a:prstGeom prst="rect">
            <a:avLst/>
          </a:prstGeom>
          <a:noFill/>
        </p:spPr>
        <p:txBody>
          <a:bodyPr wrap="square" lIns="0" rIns="0" tIns="0" bIns="0" anchor="t">
            <a:spAutoFit/>
          </a:bodyPr>
          <a:lstStyle/>
          <a:p>
            <a:pPr algn="l"/>
            <a:r>
              <a:rPr sz="1400" b="0" i="0">
                <a:solidFill>
                  <a:srgbClr val="5F5F5F"/>
                </a:solidFill>
              </a:rPr>
              <a:t>is just a file</a:t>
            </a:r>
          </a:p>
        </p:txBody>
      </p:sp>
      <p:sp>
        <p:nvSpPr>
          <p:cNvPr id="25" name="TextBox 24"/>
          <p:cNvSpPr txBox="1"/>
          <p:nvPr/>
        </p:nvSpPr>
        <p:spPr>
          <a:xfrm>
            <a:off x="4722876" y="3703320"/>
            <a:ext cx="2743200" cy="548640"/>
          </a:xfrm>
          <a:prstGeom prst="rect">
            <a:avLst/>
          </a:prstGeom>
          <a:noFill/>
        </p:spPr>
        <p:txBody>
          <a:bodyPr wrap="square" lIns="0" rIns="0" tIns="0" bIns="0" anchor="t">
            <a:spAutoFit/>
          </a:bodyPr>
          <a:lstStyle/>
          <a:p>
            <a:pPr algn="l"/>
            <a:r>
              <a:rPr sz="1400" b="1" i="0">
                <a:solidFill>
                  <a:schemeClr val="tx1"/>
                </a:solidFill>
                <a:latin typeface="Courier New"/>
              </a:rPr>
              <a:t>writing/literature_map.md</a:t>
            </a:r>
          </a:p>
        </p:txBody>
      </p:sp>
      <p:cxnSp>
        <p:nvCxnSpPr>
          <p:cNvPr id="26" name="Connector 25"/>
          <p:cNvCxnSpPr/>
          <p:nvPr/>
        </p:nvCxnSpPr>
        <p:spPr>
          <a:xfrm>
            <a:off x="7813548" y="3108960"/>
            <a:ext cx="498348"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385048" y="1920240"/>
            <a:ext cx="3291840" cy="23774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Terminal_circle"/>
          <p:cNvSpPr/>
          <p:nvPr/>
        </p:nvSpPr>
        <p:spPr>
          <a:xfrm>
            <a:off x="8659368"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Terminal_white.png"/>
          <p:cNvPicPr>
            <a:picLocks noChangeAspect="1"/>
          </p:cNvPicPr>
          <p:nvPr/>
        </p:nvPicPr>
        <p:blipFill>
          <a:blip r:embed="rId5"/>
          <a:stretch>
            <a:fillRect/>
          </a:stretch>
        </p:blipFill>
        <p:spPr>
          <a:xfrm>
            <a:off x="8819388" y="2354579"/>
            <a:ext cx="320040" cy="320040"/>
          </a:xfrm>
          <a:prstGeom prst="rect">
            <a:avLst/>
          </a:prstGeom>
        </p:spPr>
      </p:pic>
      <p:sp>
        <p:nvSpPr>
          <p:cNvPr id="30" name="TextBox 29"/>
          <p:cNvSpPr txBox="1"/>
          <p:nvPr/>
        </p:nvSpPr>
        <p:spPr>
          <a:xfrm>
            <a:off x="8659368" y="2971800"/>
            <a:ext cx="2743200" cy="411480"/>
          </a:xfrm>
          <a:prstGeom prst="rect">
            <a:avLst/>
          </a:prstGeom>
          <a:noFill/>
        </p:spPr>
        <p:txBody>
          <a:bodyPr wrap="square" lIns="0" rIns="0" tIns="0" bIns="0" anchor="t">
            <a:spAutoFit/>
          </a:bodyPr>
          <a:lstStyle/>
          <a:p>
            <a:pPr algn="l"/>
            <a:r>
              <a:rPr sz="2200" b="1" i="0">
                <a:solidFill>
                  <a:schemeClr val="tx1"/>
                </a:solidFill>
              </a:rPr>
              <a:t>Claude CLI</a:t>
            </a:r>
          </a:p>
        </p:txBody>
      </p:sp>
      <p:sp>
        <p:nvSpPr>
          <p:cNvPr id="31" name="TextBox 30"/>
          <p:cNvSpPr txBox="1"/>
          <p:nvPr/>
        </p:nvSpPr>
        <p:spPr>
          <a:xfrm>
            <a:off x="8659368" y="3383280"/>
            <a:ext cx="2743200" cy="320040"/>
          </a:xfrm>
          <a:prstGeom prst="rect">
            <a:avLst/>
          </a:prstGeom>
          <a:noFill/>
        </p:spPr>
        <p:txBody>
          <a:bodyPr wrap="square" lIns="0" rIns="0" tIns="0" bIns="0" anchor="t">
            <a:spAutoFit/>
          </a:bodyPr>
          <a:lstStyle/>
          <a:p>
            <a:pPr algn="l"/>
            <a:r>
              <a:rPr sz="1400" b="0" i="0">
                <a:solidFill>
                  <a:srgbClr val="5F5F5F"/>
                </a:solidFill>
              </a:rPr>
              <a:t>reads it as context</a:t>
            </a:r>
          </a:p>
        </p:txBody>
      </p:sp>
      <p:sp>
        <p:nvSpPr>
          <p:cNvPr id="32" name="TextBox 31"/>
          <p:cNvSpPr txBox="1"/>
          <p:nvPr/>
        </p:nvSpPr>
        <p:spPr>
          <a:xfrm>
            <a:off x="8659368" y="3703320"/>
            <a:ext cx="2743200" cy="548640"/>
          </a:xfrm>
          <a:prstGeom prst="rect">
            <a:avLst/>
          </a:prstGeom>
          <a:noFill/>
        </p:spPr>
        <p:txBody>
          <a:bodyPr wrap="square" lIns="0" rIns="0" tIns="0" bIns="0" anchor="t">
            <a:spAutoFit/>
          </a:bodyPr>
          <a:lstStyle/>
          <a:p>
            <a:pPr algn="l"/>
            <a:r>
              <a:rPr sz="1500" b="0" i="0">
                <a:solidFill>
                  <a:schemeClr val="tx1"/>
                </a:solidFill>
              </a:rPr>
              <a:t>Uses it for the brief in step 05</a:t>
            </a:r>
          </a:p>
        </p:txBody>
      </p:sp>
      <p:sp>
        <p:nvSpPr>
          <p:cNvPr id="33" name="Rounded Rectangle 32"/>
          <p:cNvSpPr/>
          <p:nvPr/>
        </p:nvSpPr>
        <p:spPr>
          <a:xfrm>
            <a:off x="512064" y="4572000"/>
            <a:ext cx="11164824" cy="10972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2104" y="4572000"/>
            <a:ext cx="10524744" cy="1097280"/>
          </a:xfrm>
          <a:prstGeom prst="rect">
            <a:avLst/>
          </a:prstGeom>
          <a:noFill/>
        </p:spPr>
        <p:txBody>
          <a:bodyPr wrap="square" lIns="0" rIns="0" tIns="0" bIns="0" anchor="ctr">
            <a:spAutoFit/>
          </a:bodyPr>
          <a:lstStyle/>
          <a:p>
            <a:pPr algn="l">
              <a:spcAft>
                <a:spcPts val="400"/>
              </a:spcAft>
            </a:pPr>
            <a:r>
              <a:rPr sz="1700" b="0" i="0">
                <a:solidFill>
                  <a:schemeClr val="bg1"/>
                </a:solidFill>
              </a:rPr>
              <a:t>Never invents a citation: it writes </a:t>
            </a:r>
            <a:r>
              <a:rPr sz="1700" b="1" i="0">
                <a:solidFill>
                  <a:schemeClr val="bg1"/>
                </a:solidFill>
                <a:latin typeface="Courier New"/>
              </a:rPr>
              <a:t>[CITATION NEEDED]</a:t>
            </a:r>
            <a:r>
              <a:rPr sz="1700" b="0" i="0">
                <a:solidFill>
                  <a:schemeClr val="bg1"/>
                </a:solidFill>
              </a:rPr>
              <a:t>.</a:t>
            </a:r>
          </a:p>
          <a:p>
            <a:pPr algn="l">
              <a:spcAft>
                <a:spcPts val="400"/>
              </a:spcAft>
            </a:pPr>
            <a:r>
              <a:rPr sz="1700" b="1" i="0">
                <a:solidFill>
                  <a:schemeClr val="bg1"/>
                </a:solidFill>
              </a:rPr>
              <a:t>Any citation that does appear, a person opens and verifies (a Part 4 red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Manuscript brief</a:t>
            </a:r>
          </a:p>
        </p:txBody>
      </p:sp>
      <p:sp>
        <p:nvSpPr>
          <p:cNvPr id="3" name="Text Placeholder 2"/>
          <p:cNvSpPr>
            <a:spLocks noGrp="1"/>
          </p:cNvSpPr>
          <p:nvPr>
            <p:ph type="body" idx="12" sz="quarter"/>
          </p:nvPr>
        </p:nvSpPr>
        <p:spPr/>
        <p:txBody>
          <a:bodyPr/>
          <a:lstStyle/>
          <a:p>
            <a:r>
              <a:t>Not the paper: a brief to draft Methods and Results from</a:t>
            </a:r>
          </a:p>
        </p:txBody>
      </p:sp>
      <p:sp>
        <p:nvSpPr>
          <p:cNvPr id="4" name="Text Placeholder 3"/>
          <p:cNvSpPr>
            <a:spLocks noGrp="1"/>
          </p:cNvSpPr>
          <p:nvPr>
            <p:ph type="body" idx="14" sz="quarter"/>
          </p:nvPr>
        </p:nvSpPr>
        <p:spPr/>
        <p:txBody>
          <a:bodyPr/>
          <a:lstStyle/>
          <a:p>
            <a:r>
              <a:t>Part 3 · Live workflow · step 05</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2024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20240"/>
            <a:ext cx="731520" cy="731520"/>
          </a:xfrm>
          <a:prstGeom prst="rect">
            <a:avLst/>
          </a:prstGeom>
          <a:noFill/>
        </p:spPr>
        <p:txBody>
          <a:bodyPr wrap="square" lIns="0" rIns="0" tIns="0" bIns="0" anchor="ctr">
            <a:spAutoFit/>
          </a:bodyPr>
          <a:lstStyle/>
          <a:p>
            <a:pPr algn="ctr"/>
            <a:r>
              <a:rPr sz="2200" b="1" i="0">
                <a:solidFill>
                  <a:schemeClr val="bg1"/>
                </a:solidFill>
              </a:rPr>
              <a:t>05</a:t>
            </a:r>
          </a:p>
        </p:txBody>
      </p:sp>
      <p:sp>
        <p:nvSpPr>
          <p:cNvPr id="15" name="Rounded Rectangle 14"/>
          <p:cNvSpPr/>
          <p:nvPr/>
        </p:nvSpPr>
        <p:spPr>
          <a:xfrm>
            <a:off x="5715000" y="2057400"/>
            <a:ext cx="1051560" cy="457200"/>
          </a:xfrm>
          <a:prstGeom prst="roundRect">
            <a:avLst>
              <a:gd name="adj" fmla="val 3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715000" y="2057400"/>
            <a:ext cx="1051560" cy="457200"/>
          </a:xfrm>
          <a:prstGeom prst="rect">
            <a:avLst/>
          </a:prstGeom>
          <a:noFill/>
        </p:spPr>
        <p:txBody>
          <a:bodyPr wrap="square" lIns="0" rIns="0" tIns="0" bIns="0" anchor="ctr">
            <a:spAutoFit/>
          </a:bodyPr>
          <a:lstStyle/>
          <a:p>
            <a:pPr algn="ctr"/>
            <a:r>
              <a:rPr sz="1400" b="1" i="0">
                <a:solidFill>
                  <a:schemeClr val="tx2"/>
                </a:solidFill>
              </a:rPr>
              <a:t>≈ 6 min</a:t>
            </a:r>
          </a:p>
        </p:txBody>
      </p:sp>
      <p:sp>
        <p:nvSpPr>
          <p:cNvPr id="17" name="code_block"/>
          <p:cNvSpPr/>
          <p:nvPr/>
        </p:nvSpPr>
        <p:spPr>
          <a:xfrm>
            <a:off x="512064" y="2834640"/>
            <a:ext cx="6254496" cy="5029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2834640"/>
            <a:ext cx="5888736" cy="5029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Follow @prompts/05_manuscript_brief.md</a:t>
            </a:r>
          </a:p>
        </p:txBody>
      </p:sp>
      <p:sp>
        <p:nvSpPr>
          <p:cNvPr id="19" name="TextBox 18"/>
          <p:cNvSpPr txBox="1"/>
          <p:nvPr/>
        </p:nvSpPr>
        <p:spPr>
          <a:xfrm>
            <a:off x="512064" y="3566160"/>
            <a:ext cx="6217920" cy="365760"/>
          </a:xfrm>
          <a:prstGeom prst="rect">
            <a:avLst/>
          </a:prstGeom>
          <a:noFill/>
        </p:spPr>
        <p:txBody>
          <a:bodyPr wrap="square" lIns="0" rIns="0" tIns="0" bIns="0" anchor="t">
            <a:spAutoFit/>
          </a:bodyPr>
          <a:lstStyle/>
          <a:p>
            <a:pPr algn="l"/>
            <a:r>
              <a:rPr sz="1700" b="1" i="0">
                <a:solidFill>
                  <a:schemeClr val="tx2"/>
                </a:solidFill>
              </a:rPr>
              <a:t>Claude produces</a:t>
            </a:r>
          </a:p>
        </p:txBody>
      </p:sp>
      <p:pic>
        <p:nvPicPr>
          <p:cNvPr id="20" name="Picture 19" descr="FaCheck_red.png"/>
          <p:cNvPicPr>
            <a:picLocks noChangeAspect="1"/>
          </p:cNvPicPr>
          <p:nvPr/>
        </p:nvPicPr>
        <p:blipFill>
          <a:blip r:embed="rId3"/>
          <a:stretch>
            <a:fillRect/>
          </a:stretch>
        </p:blipFill>
        <p:spPr>
          <a:xfrm>
            <a:off x="530352" y="4050791"/>
            <a:ext cx="237744" cy="237744"/>
          </a:xfrm>
          <a:prstGeom prst="rect">
            <a:avLst/>
          </a:prstGeom>
        </p:spPr>
      </p:pic>
      <p:sp>
        <p:nvSpPr>
          <p:cNvPr id="21" name="TextBox 20"/>
          <p:cNvSpPr txBox="1"/>
          <p:nvPr/>
        </p:nvSpPr>
        <p:spPr>
          <a:xfrm>
            <a:off x="923544" y="3977639"/>
            <a:ext cx="5852160" cy="411480"/>
          </a:xfrm>
          <a:prstGeom prst="rect">
            <a:avLst/>
          </a:prstGeom>
          <a:noFill/>
        </p:spPr>
        <p:txBody>
          <a:bodyPr wrap="square" lIns="0" rIns="0" tIns="0" bIns="0" anchor="ctr">
            <a:spAutoFit/>
          </a:bodyPr>
          <a:lstStyle/>
          <a:p>
            <a:pPr algn="l"/>
            <a:r>
              <a:rPr sz="1600" b="0" i="0">
                <a:solidFill>
                  <a:schemeClr val="tx1"/>
                </a:solidFill>
              </a:rPr>
              <a:t>Every number → &lt;!-- source: outputs/... --&gt;</a:t>
            </a:r>
          </a:p>
        </p:txBody>
      </p:sp>
      <p:pic>
        <p:nvPicPr>
          <p:cNvPr id="22" name="Picture 21" descr="FaCheck_red.png"/>
          <p:cNvPicPr>
            <a:picLocks noChangeAspect="1"/>
          </p:cNvPicPr>
          <p:nvPr/>
        </p:nvPicPr>
        <p:blipFill>
          <a:blip r:embed="rId3"/>
          <a:stretch>
            <a:fillRect/>
          </a:stretch>
        </p:blipFill>
        <p:spPr>
          <a:xfrm>
            <a:off x="530352" y="4507992"/>
            <a:ext cx="237744" cy="237744"/>
          </a:xfrm>
          <a:prstGeom prst="rect">
            <a:avLst/>
          </a:prstGeom>
        </p:spPr>
      </p:pic>
      <p:sp>
        <p:nvSpPr>
          <p:cNvPr id="23" name="TextBox 22"/>
          <p:cNvSpPr txBox="1"/>
          <p:nvPr/>
        </p:nvSpPr>
        <p:spPr>
          <a:xfrm>
            <a:off x="923544" y="4434840"/>
            <a:ext cx="5852160" cy="411480"/>
          </a:xfrm>
          <a:prstGeom prst="rect">
            <a:avLst/>
          </a:prstGeom>
          <a:noFill/>
        </p:spPr>
        <p:txBody>
          <a:bodyPr wrap="square" lIns="0" rIns="0" tIns="0" bIns="0" anchor="ctr">
            <a:spAutoFit/>
          </a:bodyPr>
          <a:lstStyle/>
          <a:p>
            <a:pPr algn="l"/>
            <a:r>
              <a:rPr sz="1600" b="0" i="0">
                <a:solidFill>
                  <a:schemeClr val="tx1"/>
                </a:solidFill>
              </a:rPr>
              <a:t>Causal language only where the design supports it</a:t>
            </a:r>
          </a:p>
        </p:txBody>
      </p:sp>
      <p:pic>
        <p:nvPicPr>
          <p:cNvPr id="24" name="Picture 23" descr="FaCheck_red.png"/>
          <p:cNvPicPr>
            <a:picLocks noChangeAspect="1"/>
          </p:cNvPicPr>
          <p:nvPr/>
        </p:nvPicPr>
        <p:blipFill>
          <a:blip r:embed="rId3"/>
          <a:stretch>
            <a:fillRect/>
          </a:stretch>
        </p:blipFill>
        <p:spPr>
          <a:xfrm>
            <a:off x="530352" y="4965192"/>
            <a:ext cx="237744" cy="237744"/>
          </a:xfrm>
          <a:prstGeom prst="rect">
            <a:avLst/>
          </a:prstGeom>
        </p:spPr>
      </p:pic>
      <p:sp>
        <p:nvSpPr>
          <p:cNvPr id="25" name="TextBox 24"/>
          <p:cNvSpPr txBox="1"/>
          <p:nvPr/>
        </p:nvSpPr>
        <p:spPr>
          <a:xfrm>
            <a:off x="923544" y="4892040"/>
            <a:ext cx="5852160" cy="411480"/>
          </a:xfrm>
          <a:prstGeom prst="rect">
            <a:avLst/>
          </a:prstGeom>
          <a:noFill/>
        </p:spPr>
        <p:txBody>
          <a:bodyPr wrap="square" lIns="0" rIns="0" tIns="0" bIns="0" anchor="ctr">
            <a:spAutoFit/>
          </a:bodyPr>
          <a:lstStyle/>
          <a:p>
            <a:pPr algn="l"/>
            <a:r>
              <a:rPr sz="1600" b="0" i="0">
                <a:solidFill>
                  <a:schemeClr val="tx1"/>
                </a:solidFill>
              </a:rPr>
              <a:t>Decisions left to the researcher</a:t>
            </a:r>
          </a:p>
        </p:txBody>
      </p:sp>
      <p:pic>
        <p:nvPicPr>
          <p:cNvPr id="26" name="Picture 25" descr="FaCheck_red.png"/>
          <p:cNvPicPr>
            <a:picLocks noChangeAspect="1"/>
          </p:cNvPicPr>
          <p:nvPr/>
        </p:nvPicPr>
        <p:blipFill>
          <a:blip r:embed="rId3"/>
          <a:stretch>
            <a:fillRect/>
          </a:stretch>
        </p:blipFill>
        <p:spPr>
          <a:xfrm>
            <a:off x="530352" y="5422392"/>
            <a:ext cx="237744" cy="237744"/>
          </a:xfrm>
          <a:prstGeom prst="rect">
            <a:avLst/>
          </a:prstGeom>
        </p:spPr>
      </p:pic>
      <p:sp>
        <p:nvSpPr>
          <p:cNvPr id="27" name="TextBox 26"/>
          <p:cNvSpPr txBox="1"/>
          <p:nvPr/>
        </p:nvSpPr>
        <p:spPr>
          <a:xfrm>
            <a:off x="923544" y="5349240"/>
            <a:ext cx="5852160" cy="411480"/>
          </a:xfrm>
          <a:prstGeom prst="rect">
            <a:avLst/>
          </a:prstGeom>
          <a:noFill/>
        </p:spPr>
        <p:txBody>
          <a:bodyPr wrap="square" lIns="0" rIns="0" tIns="0" bIns="0" anchor="ctr">
            <a:spAutoFit/>
          </a:bodyPr>
          <a:lstStyle/>
          <a:p>
            <a:pPr algn="l"/>
            <a:r>
              <a:rPr sz="1600" b="0" i="0">
                <a:solidFill>
                  <a:schemeClr val="tx1"/>
                </a:solidFill>
              </a:rPr>
              <a:t>A draft AI-use disclosure</a:t>
            </a:r>
          </a:p>
        </p:txBody>
      </p:sp>
      <p:sp>
        <p:nvSpPr>
          <p:cNvPr id="28" name="Rounded Rectangle 27"/>
          <p:cNvSpPr/>
          <p:nvPr/>
        </p:nvSpPr>
        <p:spPr>
          <a:xfrm>
            <a:off x="7086600" y="1920240"/>
            <a:ext cx="4590288" cy="17830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Eye_circle"/>
          <p:cNvSpPr/>
          <p:nvPr/>
        </p:nvSpPr>
        <p:spPr>
          <a:xfrm>
            <a:off x="7360920" y="217627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Eye_dark.png"/>
          <p:cNvPicPr>
            <a:picLocks noChangeAspect="1"/>
          </p:cNvPicPr>
          <p:nvPr/>
        </p:nvPicPr>
        <p:blipFill>
          <a:blip r:embed="rId4"/>
          <a:stretch>
            <a:fillRect/>
          </a:stretch>
        </p:blipFill>
        <p:spPr>
          <a:xfrm>
            <a:off x="7486650" y="2302002"/>
            <a:ext cx="251460" cy="251460"/>
          </a:xfrm>
          <a:prstGeom prst="rect">
            <a:avLst/>
          </a:prstGeom>
        </p:spPr>
      </p:pic>
      <p:sp>
        <p:nvSpPr>
          <p:cNvPr id="31" name="TextBox 30"/>
          <p:cNvSpPr txBox="1"/>
          <p:nvPr/>
        </p:nvSpPr>
        <p:spPr>
          <a:xfrm>
            <a:off x="8046720" y="2176272"/>
            <a:ext cx="3401568" cy="502920"/>
          </a:xfrm>
          <a:prstGeom prst="rect">
            <a:avLst/>
          </a:prstGeom>
          <a:noFill/>
        </p:spPr>
        <p:txBody>
          <a:bodyPr wrap="square" lIns="0" rIns="0" tIns="0" bIns="0" anchor="ctr">
            <a:spAutoFit/>
          </a:bodyPr>
          <a:lstStyle/>
          <a:p>
            <a:pPr algn="l"/>
            <a:r>
              <a:rPr sz="1800" b="1" i="0">
                <a:solidFill>
                  <a:schemeClr val="tx1"/>
                </a:solidFill>
              </a:rPr>
              <a:t>Watch for</a:t>
            </a:r>
          </a:p>
        </p:txBody>
      </p:sp>
      <p:sp>
        <p:nvSpPr>
          <p:cNvPr id="32" name="TextBox 31"/>
          <p:cNvSpPr txBox="1"/>
          <p:nvPr/>
        </p:nvSpPr>
        <p:spPr>
          <a:xfrm>
            <a:off x="7360920" y="2788920"/>
            <a:ext cx="4041648" cy="868680"/>
          </a:xfrm>
          <a:prstGeom prst="rect">
            <a:avLst/>
          </a:prstGeom>
          <a:noFill/>
        </p:spPr>
        <p:txBody>
          <a:bodyPr wrap="square" lIns="0" rIns="0" tIns="0" bIns="0" anchor="t">
            <a:spAutoFit/>
          </a:bodyPr>
          <a:lstStyle/>
          <a:p>
            <a:pPr algn="l"/>
            <a:r>
              <a:rPr sz="1500" b="0" i="0">
                <a:solidFill>
                  <a:schemeClr val="tx1"/>
                </a:solidFill>
              </a:rPr>
              <a:t>Spot-check one number: find its source comment, open the CSV, confirm it matches.</a:t>
            </a:r>
          </a:p>
        </p:txBody>
      </p:sp>
      <p:sp>
        <p:nvSpPr>
          <p:cNvPr id="33" name="Rounded Rectangle 32"/>
          <p:cNvSpPr/>
          <p:nvPr/>
        </p:nvSpPr>
        <p:spPr>
          <a:xfrm>
            <a:off x="7086600" y="3931920"/>
            <a:ext cx="4590288" cy="17830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_FaUser_circle"/>
          <p:cNvSpPr/>
          <p:nvPr/>
        </p:nvSpPr>
        <p:spPr>
          <a:xfrm>
            <a:off x="7360920" y="4187952"/>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aUser_red.png"/>
          <p:cNvPicPr>
            <a:picLocks noChangeAspect="1"/>
          </p:cNvPicPr>
          <p:nvPr/>
        </p:nvPicPr>
        <p:blipFill>
          <a:blip r:embed="rId5"/>
          <a:stretch>
            <a:fillRect/>
          </a:stretch>
        </p:blipFill>
        <p:spPr>
          <a:xfrm>
            <a:off x="7486650" y="4313682"/>
            <a:ext cx="251460" cy="251460"/>
          </a:xfrm>
          <a:prstGeom prst="rect">
            <a:avLst/>
          </a:prstGeom>
        </p:spPr>
      </p:pic>
      <p:sp>
        <p:nvSpPr>
          <p:cNvPr id="36" name="TextBox 35"/>
          <p:cNvSpPr txBox="1"/>
          <p:nvPr/>
        </p:nvSpPr>
        <p:spPr>
          <a:xfrm>
            <a:off x="8046720" y="4187952"/>
            <a:ext cx="3401568" cy="502920"/>
          </a:xfrm>
          <a:prstGeom prst="rect">
            <a:avLst/>
          </a:prstGeom>
          <a:noFill/>
        </p:spPr>
        <p:txBody>
          <a:bodyPr wrap="square" lIns="0" rIns="0" tIns="0" bIns="0" anchor="ctr">
            <a:spAutoFit/>
          </a:bodyPr>
          <a:lstStyle/>
          <a:p>
            <a:pPr algn="l"/>
            <a:r>
              <a:rPr sz="1800" b="1" i="0">
                <a:solidFill>
                  <a:schemeClr val="bg1"/>
                </a:solidFill>
              </a:rPr>
              <a:t>Checkpoint: you decide</a:t>
            </a:r>
          </a:p>
        </p:txBody>
      </p:sp>
      <p:sp>
        <p:nvSpPr>
          <p:cNvPr id="37" name="TextBox 36"/>
          <p:cNvSpPr txBox="1"/>
          <p:nvPr/>
        </p:nvSpPr>
        <p:spPr>
          <a:xfrm>
            <a:off x="7360920" y="4800600"/>
            <a:ext cx="4041648" cy="868680"/>
          </a:xfrm>
          <a:prstGeom prst="rect">
            <a:avLst/>
          </a:prstGeom>
          <a:noFill/>
        </p:spPr>
        <p:txBody>
          <a:bodyPr wrap="square" lIns="0" rIns="0" tIns="0" bIns="0" anchor="t">
            <a:spAutoFit/>
          </a:bodyPr>
          <a:lstStyle/>
          <a:p>
            <a:pPr algn="l"/>
            <a:r>
              <a:rPr sz="1600" b="0" i="0">
                <a:solidFill>
                  <a:schemeClr val="bg1"/>
                </a:solidFill>
              </a:rPr>
              <a:t>What did it get right? What did it overstate? What can only you decide?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Take it home</a:t>
            </a:r>
          </a:p>
        </p:txBody>
      </p:sp>
      <p:sp>
        <p:nvSpPr>
          <p:cNvPr id="3" name="TextBox 2"/>
          <p:cNvSpPr txBox="1"/>
          <p:nvPr/>
        </p:nvSpPr>
        <p:spPr>
          <a:xfrm>
            <a:off x="6172200" y="777240"/>
            <a:ext cx="5486400" cy="548640"/>
          </a:xfrm>
          <a:prstGeom prst="rect">
            <a:avLst/>
          </a:prstGeom>
          <a:noFill/>
        </p:spPr>
        <p:txBody>
          <a:bodyPr wrap="square" lIns="0" rIns="0" tIns="0" bIns="0" anchor="t">
            <a:spAutoFit/>
          </a:bodyPr>
          <a:lstStyle/>
          <a:p>
            <a:pPr algn="l"/>
            <a:r>
              <a:rPr sz="2200" b="1" i="0">
                <a:solidFill>
                  <a:schemeClr val="bg1"/>
                </a:solidFill>
              </a:rPr>
              <a:t>The prompts work on your project too.</a:t>
            </a:r>
          </a:p>
        </p:txBody>
      </p:sp>
      <p:sp>
        <p:nvSpPr>
          <p:cNvPr id="4" name="Oval 3"/>
          <p:cNvSpPr/>
          <p:nvPr/>
        </p:nvSpPr>
        <p:spPr>
          <a:xfrm>
            <a:off x="6172200" y="1600200"/>
            <a:ext cx="457200" cy="4572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72200" y="1600200"/>
            <a:ext cx="457200" cy="457200"/>
          </a:xfrm>
          <a:prstGeom prst="rect">
            <a:avLst/>
          </a:prstGeom>
          <a:noFill/>
        </p:spPr>
        <p:txBody>
          <a:bodyPr wrap="square" lIns="0" rIns="0" tIns="0" bIns="0" anchor="ctr">
            <a:spAutoFit/>
          </a:bodyPr>
          <a:lstStyle/>
          <a:p>
            <a:pPr algn="ctr"/>
            <a:r>
              <a:rPr sz="1600" b="1" i="0">
                <a:solidFill>
                  <a:schemeClr val="tx2"/>
                </a:solidFill>
              </a:rPr>
              <a:t>1</a:t>
            </a:r>
          </a:p>
        </p:txBody>
      </p:sp>
      <p:sp>
        <p:nvSpPr>
          <p:cNvPr id="6" name="TextBox 5"/>
          <p:cNvSpPr txBox="1"/>
          <p:nvPr/>
        </p:nvSpPr>
        <p:spPr>
          <a:xfrm>
            <a:off x="6812280" y="1554480"/>
            <a:ext cx="4846320" cy="566928"/>
          </a:xfrm>
          <a:prstGeom prst="rect">
            <a:avLst/>
          </a:prstGeom>
          <a:noFill/>
        </p:spPr>
        <p:txBody>
          <a:bodyPr wrap="square" lIns="0" rIns="0" tIns="0" bIns="0" anchor="ctr">
            <a:spAutoFit/>
          </a:bodyPr>
          <a:lstStyle/>
          <a:p>
            <a:pPr algn="l"/>
            <a:r>
              <a:rPr sz="1600" b="0" i="0">
                <a:solidFill>
                  <a:schemeClr val="bg1"/>
                </a:solidFill>
              </a:rPr>
              <a:t>Copy part2_setup/project_template/</a:t>
            </a:r>
          </a:p>
        </p:txBody>
      </p:sp>
      <p:sp>
        <p:nvSpPr>
          <p:cNvPr id="7" name="Oval 6"/>
          <p:cNvSpPr/>
          <p:nvPr/>
        </p:nvSpPr>
        <p:spPr>
          <a:xfrm>
            <a:off x="6172200" y="2313432"/>
            <a:ext cx="457200" cy="4572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172200" y="2313432"/>
            <a:ext cx="457200" cy="457200"/>
          </a:xfrm>
          <a:prstGeom prst="rect">
            <a:avLst/>
          </a:prstGeom>
          <a:noFill/>
        </p:spPr>
        <p:txBody>
          <a:bodyPr wrap="square" lIns="0" rIns="0" tIns="0" bIns="0" anchor="ctr">
            <a:spAutoFit/>
          </a:bodyPr>
          <a:lstStyle/>
          <a:p>
            <a:pPr algn="ctr"/>
            <a:r>
              <a:rPr sz="1600" b="1" i="0">
                <a:solidFill>
                  <a:schemeClr val="tx2"/>
                </a:solidFill>
              </a:rPr>
              <a:t>2</a:t>
            </a:r>
          </a:p>
        </p:txBody>
      </p:sp>
      <p:sp>
        <p:nvSpPr>
          <p:cNvPr id="9" name="TextBox 8"/>
          <p:cNvSpPr txBox="1"/>
          <p:nvPr/>
        </p:nvSpPr>
        <p:spPr>
          <a:xfrm>
            <a:off x="6812280" y="2267712"/>
            <a:ext cx="4846320" cy="566928"/>
          </a:xfrm>
          <a:prstGeom prst="rect">
            <a:avLst/>
          </a:prstGeom>
          <a:noFill/>
        </p:spPr>
        <p:txBody>
          <a:bodyPr wrap="square" lIns="0" rIns="0" tIns="0" bIns="0" anchor="ctr">
            <a:spAutoFit/>
          </a:bodyPr>
          <a:lstStyle/>
          <a:p>
            <a:pPr algn="l"/>
            <a:r>
              <a:rPr sz="1600" b="0" i="0">
                <a:solidFill>
                  <a:schemeClr val="bg1"/>
                </a:solidFill>
              </a:rPr>
              <a:t>Fill in CLAUDE.md (compare with part3_live_workflow/CLAUDE.md)</a:t>
            </a:r>
          </a:p>
        </p:txBody>
      </p:sp>
      <p:sp>
        <p:nvSpPr>
          <p:cNvPr id="10" name="Oval 9"/>
          <p:cNvSpPr/>
          <p:nvPr/>
        </p:nvSpPr>
        <p:spPr>
          <a:xfrm>
            <a:off x="6172200" y="3026664"/>
            <a:ext cx="457200" cy="4572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72200" y="3026664"/>
            <a:ext cx="457200" cy="457200"/>
          </a:xfrm>
          <a:prstGeom prst="rect">
            <a:avLst/>
          </a:prstGeom>
          <a:noFill/>
        </p:spPr>
        <p:txBody>
          <a:bodyPr wrap="square" lIns="0" rIns="0" tIns="0" bIns="0" anchor="ctr">
            <a:spAutoFit/>
          </a:bodyPr>
          <a:lstStyle/>
          <a:p>
            <a:pPr algn="ctr"/>
            <a:r>
              <a:rPr sz="1600" b="1" i="0">
                <a:solidFill>
                  <a:schemeClr val="tx2"/>
                </a:solidFill>
              </a:rPr>
              <a:t>3</a:t>
            </a:r>
          </a:p>
        </p:txBody>
      </p:sp>
      <p:sp>
        <p:nvSpPr>
          <p:cNvPr id="12" name="TextBox 11"/>
          <p:cNvSpPr txBox="1"/>
          <p:nvPr/>
        </p:nvSpPr>
        <p:spPr>
          <a:xfrm>
            <a:off x="6812280" y="2980944"/>
            <a:ext cx="4846320" cy="566928"/>
          </a:xfrm>
          <a:prstGeom prst="rect">
            <a:avLst/>
          </a:prstGeom>
          <a:noFill/>
        </p:spPr>
        <p:txBody>
          <a:bodyPr wrap="square" lIns="0" rIns="0" tIns="0" bIns="0" anchor="ctr">
            <a:spAutoFit/>
          </a:bodyPr>
          <a:lstStyle/>
          <a:p>
            <a:pPr algn="l"/>
            <a:r>
              <a:rPr sz="1600" b="0" i="0">
                <a:solidFill>
                  <a:schemeClr val="bg1"/>
                </a:solidFill>
              </a:rPr>
              <a:t>Put your files in data_raw/; copy in prompts/</a:t>
            </a:r>
          </a:p>
        </p:txBody>
      </p:sp>
      <p:sp>
        <p:nvSpPr>
          <p:cNvPr id="13" name="Oval 12"/>
          <p:cNvSpPr/>
          <p:nvPr/>
        </p:nvSpPr>
        <p:spPr>
          <a:xfrm>
            <a:off x="6172200" y="3739896"/>
            <a:ext cx="457200" cy="4572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72200" y="3739896"/>
            <a:ext cx="457200" cy="457200"/>
          </a:xfrm>
          <a:prstGeom prst="rect">
            <a:avLst/>
          </a:prstGeom>
          <a:noFill/>
        </p:spPr>
        <p:txBody>
          <a:bodyPr wrap="square" lIns="0" rIns="0" tIns="0" bIns="0" anchor="ctr">
            <a:spAutoFit/>
          </a:bodyPr>
          <a:lstStyle/>
          <a:p>
            <a:pPr algn="ctr"/>
            <a:r>
              <a:rPr sz="1600" b="1" i="0">
                <a:solidFill>
                  <a:schemeClr val="tx2"/>
                </a:solidFill>
              </a:rPr>
              <a:t>4</a:t>
            </a:r>
          </a:p>
        </p:txBody>
      </p:sp>
      <p:sp>
        <p:nvSpPr>
          <p:cNvPr id="15" name="TextBox 14"/>
          <p:cNvSpPr txBox="1"/>
          <p:nvPr/>
        </p:nvSpPr>
        <p:spPr>
          <a:xfrm>
            <a:off x="6812280" y="3694176"/>
            <a:ext cx="4846320" cy="566928"/>
          </a:xfrm>
          <a:prstGeom prst="rect">
            <a:avLst/>
          </a:prstGeom>
          <a:noFill/>
        </p:spPr>
        <p:txBody>
          <a:bodyPr wrap="square" lIns="0" rIns="0" tIns="0" bIns="0" anchor="ctr">
            <a:spAutoFit/>
          </a:bodyPr>
          <a:lstStyle/>
          <a:p>
            <a:pPr algn="l"/>
            <a:r>
              <a:rPr sz="1600" b="0" i="0">
                <a:solidFill>
                  <a:schemeClr val="bg1"/>
                </a:solidFill>
              </a:rPr>
              <a:t>Follow @prompts/01_data_audit.md</a:t>
            </a:r>
          </a:p>
        </p:txBody>
      </p:sp>
      <p:sp>
        <p:nvSpPr>
          <p:cNvPr id="16" name="TextBox 15"/>
          <p:cNvSpPr txBox="1"/>
          <p:nvPr/>
        </p:nvSpPr>
        <p:spPr>
          <a:xfrm>
            <a:off x="6172200" y="4526280"/>
            <a:ext cx="5486400" cy="411480"/>
          </a:xfrm>
          <a:prstGeom prst="rect">
            <a:avLst/>
          </a:prstGeom>
          <a:noFill/>
        </p:spPr>
        <p:txBody>
          <a:bodyPr wrap="square" lIns="0" rIns="0" tIns="0" bIns="0" anchor="t">
            <a:spAutoFit/>
          </a:bodyPr>
          <a:lstStyle/>
          <a:p>
            <a:pPr algn="l"/>
            <a:r>
              <a:rPr sz="1400" b="0" i="0">
                <a:solidFill>
                  <a:schemeClr val="bg1"/>
                </a:solidFill>
              </a:rPr>
              <a:t>Answer key and finished outputs: </a:t>
            </a:r>
            <a:r>
              <a:rPr sz="1400" b="0" i="0">
                <a:solidFill>
                  <a:schemeClr val="bg1"/>
                </a:solidFill>
                <a:latin typeface="Courier New"/>
              </a:rPr>
              <a:t>part3_live_workflow/answer_key/</a:t>
            </a:r>
          </a:p>
        </p:txBody>
      </p:sp>
      <p:sp>
        <p:nvSpPr>
          <p:cNvPr id="17" name="TextBox 16"/>
          <p:cNvSpPr txBox="1"/>
          <p:nvPr/>
        </p:nvSpPr>
        <p:spPr>
          <a:xfrm>
            <a:off x="6172200" y="5257800"/>
            <a:ext cx="5486400" cy="548640"/>
          </a:xfrm>
          <a:prstGeom prst="rect">
            <a:avLst/>
          </a:prstGeom>
          <a:noFill/>
        </p:spPr>
        <p:txBody>
          <a:bodyPr wrap="square" lIns="0" rIns="0" tIns="0" bIns="0" anchor="t">
            <a:spAutoFit/>
          </a:bodyPr>
          <a:lstStyle/>
          <a:p>
            <a:pPr algn="l"/>
            <a:r>
              <a:rPr sz="2000" b="1" i="0">
                <a:solidFill>
                  <a:schemeClr val="bg1"/>
                </a:solidFill>
              </a:rPr>
              <a:t>Next: </a:t>
            </a:r>
            <a:r>
              <a:rPr sz="2000" b="0" i="0">
                <a:solidFill>
                  <a:schemeClr val="bg1"/>
                </a:solidFill>
              </a:rPr>
              <a:t>Part 4 · Who answers for this?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B1 · What the audit finds</a:t>
            </a:r>
          </a:p>
        </p:txBody>
      </p:sp>
      <p:sp>
        <p:nvSpPr>
          <p:cNvPr id="3" name="Text Placeholder 2"/>
          <p:cNvSpPr>
            <a:spLocks noGrp="1"/>
          </p:cNvSpPr>
          <p:nvPr>
            <p:ph type="body" idx="12" sz="quarter"/>
          </p:nvPr>
        </p:nvSpPr>
        <p:spPr/>
        <p:txBody>
          <a:bodyPr/>
          <a:lstStyle/>
          <a:p>
            <a:r>
              <a:t>Eight built-in issues. The codebook documents only #1 and #5</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graphicFrame>
        <p:nvGraphicFramePr>
          <p:cNvPr id="13" name="Table 12"/>
          <p:cNvGraphicFramePr>
            <a:graphicFrameLocks noGrp="1"/>
          </p:cNvGraphicFramePr>
          <p:nvPr/>
        </p:nvGraphicFramePr>
        <p:xfrm>
          <a:off x="512064" y="1810512"/>
          <a:ext cx="11164824" cy="4023360"/>
        </p:xfrm>
        <a:graphic>
          <a:graphicData uri="http://schemas.openxmlformats.org/drawingml/2006/table">
            <a:tbl>
              <a:tblPr firstRow="1">
                <a:tableStyleId>{5C22544A-7EE6-4342-B048-85BDC9FD1C3A}</a:tableStyleId>
              </a:tblPr>
              <a:tblGrid>
                <a:gridCol w="411480"/>
                <a:gridCol w="4069080"/>
                <a:gridCol w="3703320"/>
                <a:gridCol w="2980944"/>
              </a:tblGrid>
              <a:tr h="365760">
                <a:tc>
                  <a:txBody>
                    <a:bodyPr wrap="square"/>
                    <a:lstStyle/>
                    <a:p>
                      <a:r>
                        <a:rPr sz="1400" b="1">
                          <a:solidFill>
                            <a:schemeClr val="bg1"/>
                          </a:solidFill>
                        </a:rPr>
                        <a:t>#</a:t>
                      </a:r>
                    </a:p>
                  </a:txBody>
                  <a:tcPr marL="91440" marR="91440" marT="36576" marB="36576" anchor="ctr">
                    <a:solidFill>
                      <a:schemeClr val="tx2"/>
                    </a:solidFill>
                  </a:tcPr>
                </a:tc>
                <a:tc>
                  <a:txBody>
                    <a:bodyPr wrap="square"/>
                    <a:lstStyle/>
                    <a:p>
                      <a:r>
                        <a:rPr sz="1400" b="1">
                          <a:solidFill>
                            <a:schemeClr val="bg1"/>
                          </a:solidFill>
                        </a:rPr>
                        <a:t>Issue</a:t>
                      </a:r>
                    </a:p>
                  </a:txBody>
                  <a:tcPr marL="91440" marR="91440" marT="36576" marB="36576" anchor="ctr">
                    <a:solidFill>
                      <a:schemeClr val="tx2"/>
                    </a:solidFill>
                  </a:tcPr>
                </a:tc>
                <a:tc>
                  <a:txBody>
                    <a:bodyPr wrap="square"/>
                    <a:lstStyle/>
                    <a:p>
                      <a:r>
                        <a:rPr sz="1400" b="1">
                          <a:solidFill>
                            <a:schemeClr val="bg1"/>
                          </a:solidFill>
                        </a:rPr>
                        <a:t>Expected evidence</a:t>
                      </a:r>
                    </a:p>
                  </a:txBody>
                  <a:tcPr marL="91440" marR="91440" marT="36576" marB="36576" anchor="ctr">
                    <a:solidFill>
                      <a:schemeClr val="tx2"/>
                    </a:solidFill>
                  </a:tcPr>
                </a:tc>
                <a:tc>
                  <a:txBody>
                    <a:bodyPr wrap="square"/>
                    <a:lstStyle/>
                    <a:p>
                      <a:r>
                        <a:rPr sz="1400" b="1">
                          <a:solidFill>
                            <a:schemeClr val="bg1"/>
                          </a:solidFill>
                        </a:rPr>
                        <a:t>Fix to approve</a:t>
                      </a:r>
                    </a:p>
                  </a:txBody>
                  <a:tcPr marL="91440" marR="91440" marT="36576" marB="36576" anchor="ctr">
                    <a:solidFill>
                      <a:schemeClr val="tx2"/>
                    </a:solidFill>
                  </a:tcPr>
                </a:tc>
              </a:tr>
              <a:tr h="457200">
                <a:tc>
                  <a:txBody>
                    <a:bodyPr wrap="square"/>
                    <a:lstStyle/>
                    <a:p>
                      <a:r>
                        <a:rPr sz="1400" b="1">
                          <a:solidFill>
                            <a:schemeClr val="tx1"/>
                          </a:solidFill>
                        </a:rPr>
                        <a:t>1</a:t>
                      </a:r>
                    </a:p>
                  </a:txBody>
                  <a:tcPr marL="91440" marR="91440" marT="36576" marB="36576" anchor="ctr">
                    <a:solidFill>
                      <a:srgbClr val="F6E2E6"/>
                    </a:solidFill>
                  </a:tcPr>
                </a:tc>
                <a:tc>
                  <a:txBody>
                    <a:bodyPr wrap="square"/>
                    <a:lstStyle/>
                    <a:p>
                      <a:r>
                        <a:rPr sz="1400" b="0">
                          <a:solidFill>
                            <a:schemeClr val="tx1"/>
                          </a:solidFill>
                        </a:rPr>
                        <a:t>Mid-year movers have two core records (seq)</a:t>
                      </a:r>
                    </a:p>
                  </a:txBody>
                  <a:tcPr marL="91440" marR="91440" marT="36576" marB="36576" anchor="ctr">
                    <a:solidFill>
                      <a:srgbClr val="F6E2E6"/>
                    </a:solidFill>
                  </a:tcPr>
                </a:tc>
                <a:tc>
                  <a:txBody>
                    <a:bodyPr wrap="square"/>
                    <a:lstStyle/>
                    <a:p>
                      <a:r>
                        <a:rPr sz="1400" b="0">
                          <a:solidFill>
                            <a:schemeClr val="tx1"/>
                          </a:solidFill>
                        </a:rPr>
                        <a:t>2,592 student-years with seq = 2</a:t>
                      </a:r>
                    </a:p>
                  </a:txBody>
                  <a:tcPr marL="91440" marR="91440" marT="36576" marB="36576" anchor="ctr">
                    <a:solidFill>
                      <a:srgbClr val="F6E2E6"/>
                    </a:solidFill>
                  </a:tcPr>
                </a:tc>
                <a:tc>
                  <a:txBody>
                    <a:bodyPr wrap="square"/>
                    <a:lstStyle/>
                    <a:p>
                      <a:r>
                        <a:rPr sz="1400" b="0">
                          <a:solidFill>
                            <a:schemeClr val="tx1"/>
                          </a:solidFill>
                        </a:rPr>
                        <a:t>Keep highest seq</a:t>
                      </a:r>
                    </a:p>
                  </a:txBody>
                  <a:tcPr marL="91440" marR="91440" marT="36576" marB="36576" anchor="ctr">
                    <a:solidFill>
                      <a:srgbClr val="F6E2E6"/>
                    </a:solidFill>
                  </a:tcPr>
                </a:tc>
              </a:tr>
              <a:tr h="457200">
                <a:tc>
                  <a:txBody>
                    <a:bodyPr wrap="square"/>
                    <a:lstStyle/>
                    <a:p>
                      <a:r>
                        <a:rPr sz="1400" b="1">
                          <a:solidFill>
                            <a:schemeClr val="tx1"/>
                          </a:solidFill>
                        </a:rPr>
                        <a:t>2</a:t>
                      </a:r>
                    </a:p>
                  </a:txBody>
                  <a:tcPr marL="91440" marR="91440" marT="36576" marB="36576" anchor="ctr">
                    <a:solidFill>
                      <a:schemeClr val="bg1"/>
                    </a:solidFill>
                  </a:tcPr>
                </a:tc>
                <a:tc>
                  <a:txBody>
                    <a:bodyPr wrap="square"/>
                    <a:lstStyle/>
                    <a:p>
                      <a:r>
                        <a:rPr sz="1400" b="0">
                          <a:solidFill>
                            <a:schemeClr val="tx1"/>
                          </a:solidFill>
                        </a:rPr>
                        <a:t>Years before the study period</a:t>
                      </a:r>
                    </a:p>
                  </a:txBody>
                  <a:tcPr marL="91440" marR="91440" marT="36576" marB="36576" anchor="ctr">
                    <a:solidFill>
                      <a:schemeClr val="bg1"/>
                    </a:solidFill>
                  </a:tcPr>
                </a:tc>
                <a:tc>
                  <a:txBody>
                    <a:bodyPr wrap="square"/>
                    <a:lstStyle/>
                    <a:p>
                      <a:r>
                        <a:rPr sz="1400" b="0">
                          <a:solidFill>
                            <a:schemeClr val="tx1"/>
                          </a:solidFill>
                        </a:rPr>
                        <a:t>2,970 core rows in 2012–2013</a:t>
                      </a:r>
                    </a:p>
                  </a:txBody>
                  <a:tcPr marL="91440" marR="91440" marT="36576" marB="36576" anchor="ctr">
                    <a:solidFill>
                      <a:schemeClr val="bg1"/>
                    </a:solidFill>
                  </a:tcPr>
                </a:tc>
                <a:tc>
                  <a:txBody>
                    <a:bodyPr wrap="square"/>
                    <a:lstStyle/>
                    <a:p>
                      <a:r>
                        <a:rPr sz="1400" b="0">
                          <a:solidFill>
                            <a:schemeClr val="tx1"/>
                          </a:solidFill>
                        </a:rPr>
                        <a:t>Drop years &lt; 2014</a:t>
                      </a:r>
                    </a:p>
                  </a:txBody>
                  <a:tcPr marL="91440" marR="91440" marT="36576" marB="36576" anchor="ctr">
                    <a:solidFill>
                      <a:schemeClr val="bg1"/>
                    </a:solidFill>
                  </a:tcPr>
                </a:tc>
              </a:tr>
              <a:tr h="457200">
                <a:tc>
                  <a:txBody>
                    <a:bodyPr wrap="square"/>
                    <a:lstStyle/>
                    <a:p>
                      <a:r>
                        <a:rPr sz="1400" b="1">
                          <a:solidFill>
                            <a:schemeClr val="tx1"/>
                          </a:solidFill>
                        </a:rPr>
                        <a:t>3</a:t>
                      </a:r>
                    </a:p>
                  </a:txBody>
                  <a:tcPr marL="91440" marR="91440" marT="36576" marB="36576" anchor="ctr">
                    <a:solidFill>
                      <a:schemeClr val="bg1"/>
                    </a:solidFill>
                  </a:tcPr>
                </a:tc>
                <a:tc>
                  <a:txBody>
                    <a:bodyPr wrap="square"/>
                    <a:lstStyle/>
                    <a:p>
                      <a:r>
                        <a:rPr sz="1400" b="0">
                          <a:solidFill>
                            <a:schemeClr val="tx1"/>
                          </a:solidFill>
                        </a:rPr>
                        <a:t>ZIP formats</a:t>
                      </a:r>
                    </a:p>
                  </a:txBody>
                  <a:tcPr marL="91440" marR="91440" marT="36576" marB="36576" anchor="ctr">
                    <a:solidFill>
                      <a:schemeClr val="bg1"/>
                    </a:solidFill>
                  </a:tcPr>
                </a:tc>
                <a:tc>
                  <a:txBody>
                    <a:bodyPr wrap="square"/>
                    <a:lstStyle/>
                    <a:p>
                      <a:r>
                        <a:rPr sz="1400" b="0">
                          <a:solidFill>
                            <a:schemeClr val="tx1"/>
                          </a:solidFill>
                        </a:rPr>
                        <a:t>3,468 ZIP+4 and 450 blank (of 23,077)</a:t>
                      </a:r>
                    </a:p>
                  </a:txBody>
                  <a:tcPr marL="91440" marR="91440" marT="36576" marB="36576" anchor="ctr">
                    <a:solidFill>
                      <a:schemeClr val="bg1"/>
                    </a:solidFill>
                  </a:tcPr>
                </a:tc>
                <a:tc>
                  <a:txBody>
                    <a:bodyPr wrap="square"/>
                    <a:lstStyle/>
                    <a:p>
                      <a:r>
                        <a:rPr sz="1400" b="0">
                          <a:solidFill>
                            <a:schemeClr val="tx1"/>
                          </a:solidFill>
                        </a:rPr>
                        <a:t>Cut to 5 digits; drop blank</a:t>
                      </a:r>
                    </a:p>
                  </a:txBody>
                  <a:tcPr marL="91440" marR="91440" marT="36576" marB="36576" anchor="ctr">
                    <a:solidFill>
                      <a:schemeClr val="bg1"/>
                    </a:solidFill>
                  </a:tcPr>
                </a:tc>
              </a:tr>
              <a:tr h="457200">
                <a:tc>
                  <a:txBody>
                    <a:bodyPr wrap="square"/>
                    <a:lstStyle/>
                    <a:p>
                      <a:r>
                        <a:rPr sz="1400" b="1">
                          <a:solidFill>
                            <a:schemeClr val="tx1"/>
                          </a:solidFill>
                        </a:rPr>
                        <a:t>4</a:t>
                      </a:r>
                    </a:p>
                  </a:txBody>
                  <a:tcPr marL="91440" marR="91440" marT="36576" marB="36576" anchor="ctr">
                    <a:solidFill>
                      <a:schemeClr val="bg1"/>
                    </a:solidFill>
                  </a:tcPr>
                </a:tc>
                <a:tc>
                  <a:txBody>
                    <a:bodyPr wrap="square"/>
                    <a:lstStyle/>
                    <a:p>
                      <a:r>
                        <a:rPr sz="1400" b="0">
                          <a:solidFill>
                            <a:schemeClr val="tx1"/>
                          </a:solidFill>
                        </a:rPr>
                        <a:t>Out-of-area students</a:t>
                      </a:r>
                    </a:p>
                  </a:txBody>
                  <a:tcPr marL="91440" marR="91440" marT="36576" marB="36576" anchor="ctr">
                    <a:solidFill>
                      <a:schemeClr val="bg1"/>
                    </a:solidFill>
                  </a:tcPr>
                </a:tc>
                <a:tc>
                  <a:txBody>
                    <a:bodyPr wrap="square"/>
                    <a:lstStyle/>
                    <a:p>
                      <a:r>
                        <a:rPr sz="1400" b="0">
                          <a:solidFill>
                            <a:schemeClr val="tx1"/>
                          </a:solidFill>
                        </a:rPr>
                        <a:t>400 students in 641xx / 652xx / 658xx</a:t>
                      </a:r>
                    </a:p>
                  </a:txBody>
                  <a:tcPr marL="91440" marR="91440" marT="36576" marB="36576" anchor="ctr">
                    <a:solidFill>
                      <a:schemeClr val="bg1"/>
                    </a:solidFill>
                  </a:tcPr>
                </a:tc>
                <a:tc>
                  <a:txBody>
                    <a:bodyPr wrap="square"/>
                    <a:lstStyle/>
                    <a:p>
                      <a:r>
                        <a:rPr sz="1400" b="0">
                          <a:solidFill>
                            <a:schemeClr val="tx1"/>
                          </a:solidFill>
                        </a:rPr>
                        <a:t>Drop</a:t>
                      </a:r>
                    </a:p>
                  </a:txBody>
                  <a:tcPr marL="91440" marR="91440" marT="36576" marB="36576" anchor="ctr">
                    <a:solidFill>
                      <a:schemeClr val="bg1"/>
                    </a:solidFill>
                  </a:tcPr>
                </a:tc>
              </a:tr>
              <a:tr h="457200">
                <a:tc>
                  <a:txBody>
                    <a:bodyPr wrap="square"/>
                    <a:lstStyle/>
                    <a:p>
                      <a:r>
                        <a:rPr sz="1400" b="1">
                          <a:solidFill>
                            <a:schemeClr val="tx1"/>
                          </a:solidFill>
                        </a:rPr>
                        <a:t>5</a:t>
                      </a:r>
                    </a:p>
                  </a:txBody>
                  <a:tcPr marL="91440" marR="91440" marT="36576" marB="36576" anchor="ctr">
                    <a:solidFill>
                      <a:srgbClr val="F6E2E6"/>
                    </a:solidFill>
                  </a:tcPr>
                </a:tc>
                <a:tc>
                  <a:txBody>
                    <a:bodyPr wrap="square"/>
                    <a:lstStyle/>
                    <a:p>
                      <a:r>
                        <a:rPr sz="1400" b="0">
                          <a:solidFill>
                            <a:schemeClr val="tx1"/>
                          </a:solidFill>
                        </a:rPr>
                        <a:t>MAP +2000 flag</a:t>
                      </a:r>
                    </a:p>
                  </a:txBody>
                  <a:tcPr marL="91440" marR="91440" marT="36576" marB="36576" anchor="ctr">
                    <a:solidFill>
                      <a:srgbClr val="F6E2E6"/>
                    </a:solidFill>
                  </a:tcPr>
                </a:tc>
                <a:tc>
                  <a:txBody>
                    <a:bodyPr wrap="square"/>
                    <a:lstStyle/>
                    <a:p>
                      <a:r>
                        <a:rPr sz="1400" b="0">
                          <a:solidFill>
                            <a:schemeClr val="tx1"/>
                          </a:solidFill>
                        </a:rPr>
                        <a:t>548 of 13,697 scores ≥ 2000</a:t>
                      </a:r>
                    </a:p>
                  </a:txBody>
                  <a:tcPr marL="91440" marR="91440" marT="36576" marB="36576" anchor="ctr">
                    <a:solidFill>
                      <a:srgbClr val="F6E2E6"/>
                    </a:solidFill>
                  </a:tcPr>
                </a:tc>
                <a:tc>
                  <a:txBody>
                    <a:bodyPr wrap="square"/>
                    <a:lstStyle/>
                    <a:p>
                      <a:r>
                        <a:rPr sz="1400" b="0">
                          <a:solidFill>
                            <a:schemeClr val="tx1"/>
                          </a:solidFill>
                        </a:rPr>
                        <a:t>Subtract 2000</a:t>
                      </a:r>
                    </a:p>
                  </a:txBody>
                  <a:tcPr marL="91440" marR="91440" marT="36576" marB="36576" anchor="ctr">
                    <a:solidFill>
                      <a:srgbClr val="F6E2E6"/>
                    </a:solidFill>
                  </a:tcPr>
                </a:tc>
              </a:tr>
              <a:tr h="457200">
                <a:tc>
                  <a:txBody>
                    <a:bodyPr wrap="square"/>
                    <a:lstStyle/>
                    <a:p>
                      <a:r>
                        <a:rPr sz="1400" b="1">
                          <a:solidFill>
                            <a:schemeClr val="tx1"/>
                          </a:solidFill>
                        </a:rPr>
                        <a:t>6</a:t>
                      </a:r>
                    </a:p>
                  </a:txBody>
                  <a:tcPr marL="91440" marR="91440" marT="36576" marB="36576" anchor="ctr">
                    <a:solidFill>
                      <a:schemeClr val="bg1"/>
                    </a:solidFill>
                  </a:tcPr>
                </a:tc>
                <a:tc>
                  <a:txBody>
                    <a:bodyPr wrap="square"/>
                    <a:lstStyle/>
                    <a:p>
                      <a:r>
                        <a:rPr sz="1400" b="0">
                          <a:solidFill>
                            <a:schemeClr val="tx1"/>
                          </a:solidFill>
                        </a:rPr>
                        <a:t>No MAP tests in 2020; one subject missing</a:t>
                      </a:r>
                    </a:p>
                  </a:txBody>
                  <a:tcPr marL="91440" marR="91440" marT="36576" marB="36576" anchor="ctr">
                    <a:solidFill>
                      <a:schemeClr val="bg1"/>
                    </a:solidFill>
                  </a:tcPr>
                </a:tc>
                <a:tc>
                  <a:txBody>
                    <a:bodyPr wrap="square"/>
                    <a:lstStyle/>
                    <a:p>
                      <a:r>
                        <a:rPr sz="1400" b="0">
                          <a:solidFill>
                            <a:schemeClr val="tx1"/>
                          </a:solidFill>
                        </a:rPr>
                        <a:t>0 rows in 2020; 405 with one blank</a:t>
                      </a:r>
                    </a:p>
                  </a:txBody>
                  <a:tcPr marL="91440" marR="91440" marT="36576" marB="36576" anchor="ctr">
                    <a:solidFill>
                      <a:schemeClr val="bg1"/>
                    </a:solidFill>
                  </a:tcPr>
                </a:tc>
                <a:tc>
                  <a:txBody>
                    <a:bodyPr wrap="square"/>
                    <a:lstStyle/>
                    <a:p>
                      <a:r>
                        <a:rPr sz="1400" b="0">
                          <a:solidFill>
                            <a:schemeClr val="tx1"/>
                          </a:solidFill>
                        </a:rPr>
                        <a:t>Keep as NA</a:t>
                      </a:r>
                    </a:p>
                  </a:txBody>
                  <a:tcPr marL="91440" marR="91440" marT="36576" marB="36576" anchor="ctr">
                    <a:solidFill>
                      <a:schemeClr val="bg1"/>
                    </a:solidFill>
                  </a:tcPr>
                </a:tc>
              </a:tr>
              <a:tr h="457200">
                <a:tc>
                  <a:txBody>
                    <a:bodyPr wrap="square"/>
                    <a:lstStyle/>
                    <a:p>
                      <a:r>
                        <a:rPr sz="1400" b="1">
                          <a:solidFill>
                            <a:schemeClr val="tx1"/>
                          </a:solidFill>
                        </a:rPr>
                        <a:t>7</a:t>
                      </a:r>
                    </a:p>
                  </a:txBody>
                  <a:tcPr marL="91440" marR="91440" marT="36576" marB="36576" anchor="ctr">
                    <a:solidFill>
                      <a:schemeClr val="bg1"/>
                    </a:solidFill>
                  </a:tcPr>
                </a:tc>
                <a:tc>
                  <a:txBody>
                    <a:bodyPr wrap="square"/>
                    <a:lstStyle/>
                    <a:p>
                      <a:r>
                        <a:rPr sz="1400" b="0">
                          <a:solidFill>
                            <a:schemeClr val="tx1"/>
                          </a:solidFill>
                        </a:rPr>
                        <a:t>Discipline is long; missing lengths; one 180-day expulsion</a:t>
                      </a:r>
                    </a:p>
                  </a:txBody>
                  <a:tcPr marL="91440" marR="91440" marT="36576" marB="36576" anchor="ctr">
                    <a:solidFill>
                      <a:schemeClr val="bg1"/>
                    </a:solidFill>
                  </a:tcPr>
                </a:tc>
                <a:tc>
                  <a:txBody>
                    <a:bodyPr wrap="square"/>
                    <a:lstStyle/>
                    <a:p>
                      <a:r>
                        <a:rPr sz="1400" b="0">
                          <a:solidFill>
                            <a:schemeClr val="tx1"/>
                          </a:solidFill>
                        </a:rPr>
                        <a:t>2,652 incidents; 97 missing</a:t>
                      </a:r>
                    </a:p>
                  </a:txBody>
                  <a:tcPr marL="91440" marR="91440" marT="36576" marB="36576" anchor="ctr">
                    <a:solidFill>
                      <a:schemeClr val="bg1"/>
                    </a:solidFill>
                  </a:tcPr>
                </a:tc>
                <a:tc>
                  <a:txBody>
                    <a:bodyPr wrap="square"/>
                    <a:lstStyle/>
                    <a:p>
                      <a:r>
                        <a:rPr sz="1400" b="0">
                          <a:solidFill>
                            <a:schemeClr val="tx1"/>
                          </a:solidFill>
                        </a:rPr>
                        <a:t>Sum ISS + OSS days; no row = 0</a:t>
                      </a:r>
                    </a:p>
                  </a:txBody>
                  <a:tcPr marL="91440" marR="91440" marT="36576" marB="36576" anchor="ctr">
                    <a:solidFill>
                      <a:schemeClr val="bg1"/>
                    </a:solidFill>
                  </a:tcPr>
                </a:tc>
              </a:tr>
              <a:tr h="457200">
                <a:tc>
                  <a:txBody>
                    <a:bodyPr wrap="square"/>
                    <a:lstStyle/>
                    <a:p>
                      <a:r>
                        <a:rPr sz="1400" b="1">
                          <a:solidFill>
                            <a:schemeClr val="tx1"/>
                          </a:solidFill>
                        </a:rPr>
                        <a:t>8</a:t>
                      </a:r>
                    </a:p>
                  </a:txBody>
                  <a:tcPr marL="91440" marR="91440" marT="36576" marB="36576" anchor="ctr">
                    <a:solidFill>
                      <a:schemeClr val="bg1"/>
                    </a:solidFill>
                  </a:tcPr>
                </a:tc>
                <a:tc>
                  <a:txBody>
                    <a:bodyPr wrap="square"/>
                    <a:lstStyle/>
                    <a:p>
                      <a:r>
                        <a:rPr sz="1400" b="0">
                          <a:solidFill>
                            <a:schemeClr val="tx1"/>
                          </a:solidFill>
                        </a:rPr>
                        <a:t>Enrollment duplicates for movers</a:t>
                      </a:r>
                    </a:p>
                  </a:txBody>
                  <a:tcPr marL="91440" marR="91440" marT="36576" marB="36576" anchor="ctr">
                    <a:solidFill>
                      <a:schemeClr val="bg1"/>
                    </a:solidFill>
                  </a:tcPr>
                </a:tc>
                <a:tc>
                  <a:txBody>
                    <a:bodyPr wrap="square"/>
                    <a:lstStyle/>
                    <a:p>
                      <a:r>
                        <a:rPr sz="1400" b="0">
                          <a:solidFill>
                            <a:schemeClr val="tx1"/>
                          </a:solidFill>
                        </a:rPr>
                        <a:t>2,592 student-years with two rows</a:t>
                      </a:r>
                    </a:p>
                  </a:txBody>
                  <a:tcPr marL="91440" marR="91440" marT="36576" marB="36576" anchor="ctr">
                    <a:solidFill>
                      <a:schemeClr val="bg1"/>
                    </a:solidFill>
                  </a:tcPr>
                </a:tc>
                <a:tc>
                  <a:txBody>
                    <a:bodyPr wrap="square"/>
                    <a:lstStyle/>
                    <a:p>
                      <a:r>
                        <a:rPr sz="1400" b="0">
                          <a:solidFill>
                            <a:schemeClr val="tx1"/>
                          </a:solidFill>
                        </a:rPr>
                        <a:t>Collapse; weight attendance by days</a:t>
                      </a:r>
                    </a:p>
                  </a:txBody>
                  <a:tcPr marL="91440" marR="91440" marT="36576" marB="36576" anchor="ctr">
                    <a:solidFill>
                      <a:schemeClr val="bg1"/>
                    </a:solidFill>
                  </a:tcPr>
                </a:tc>
              </a:tr>
            </a:tbl>
          </a:graphicData>
        </a:graphic>
      </p:graphicFrame>
      <p:sp>
        <p:nvSpPr>
          <p:cNvPr id="14"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Counts computed from data_raw/ on 2026-10-12. Highlighted rows: documented in the codebook.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B2 · Cleaning log and treatment cohorts</a:t>
            </a:r>
          </a:p>
        </p:txBody>
      </p:sp>
      <p:sp>
        <p:nvSpPr>
          <p:cNvPr id="3" name="Text Placeholder 2"/>
          <p:cNvSpPr>
            <a:spLocks noGrp="1"/>
          </p:cNvSpPr>
          <p:nvPr>
            <p:ph type="body" idx="12" sz="quarter"/>
          </p:nvPr>
        </p:nvSpPr>
        <p:spPr/>
        <p:txBody>
          <a:bodyPr/>
          <a:lstStyle/>
          <a:p>
            <a:r>
              <a:t>From answer_key/code/1000_clean_demo.Rmd</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graphicFrame>
        <p:nvGraphicFramePr>
          <p:cNvPr id="13" name="Table 12"/>
          <p:cNvGraphicFramePr>
            <a:graphicFrameLocks noGrp="1"/>
          </p:cNvGraphicFramePr>
          <p:nvPr/>
        </p:nvGraphicFramePr>
        <p:xfrm>
          <a:off x="512064" y="1920240"/>
          <a:ext cx="6675120" cy="2926080"/>
        </p:xfrm>
        <a:graphic>
          <a:graphicData uri="http://schemas.openxmlformats.org/drawingml/2006/table">
            <a:tbl>
              <a:tblPr firstRow="1">
                <a:tableStyleId>{5C22544A-7EE6-4342-B048-85BDC9FD1C3A}</a:tableStyleId>
              </a:tblPr>
              <a:tblGrid>
                <a:gridCol w="4114800"/>
                <a:gridCol w="1280160"/>
                <a:gridCol w="1280160"/>
              </a:tblGrid>
              <a:tr h="411480">
                <a:tc>
                  <a:txBody>
                    <a:bodyPr wrap="square"/>
                    <a:lstStyle/>
                    <a:p>
                      <a:r>
                        <a:rPr sz="1500" b="1">
                          <a:solidFill>
                            <a:schemeClr val="bg1"/>
                          </a:solidFill>
                        </a:rPr>
                        <a:t>Step</a:t>
                      </a:r>
                    </a:p>
                  </a:txBody>
                  <a:tcPr marL="91440" marR="91440" marT="36576" marB="36576" anchor="ctr">
                    <a:solidFill>
                      <a:schemeClr val="tx2"/>
                    </a:solidFill>
                  </a:tcPr>
                </a:tc>
                <a:tc>
                  <a:txBody>
                    <a:bodyPr wrap="square"/>
                    <a:lstStyle/>
                    <a:p>
                      <a:r>
                        <a:rPr sz="1500" b="1">
                          <a:solidFill>
                            <a:schemeClr val="bg1"/>
                          </a:solidFill>
                        </a:rPr>
                        <a:t>Rows</a:t>
                      </a:r>
                    </a:p>
                  </a:txBody>
                  <a:tcPr marL="91440" marR="91440" marT="36576" marB="36576" anchor="ctr">
                    <a:solidFill>
                      <a:schemeClr val="tx2"/>
                    </a:solidFill>
                  </a:tcPr>
                </a:tc>
                <a:tc>
                  <a:txBody>
                    <a:bodyPr wrap="square"/>
                    <a:lstStyle/>
                    <a:p>
                      <a:r>
                        <a:rPr sz="1500" b="1">
                          <a:solidFill>
                            <a:schemeClr val="bg1"/>
                          </a:solidFill>
                        </a:rPr>
                        <a:t>Students</a:t>
                      </a:r>
                    </a:p>
                  </a:txBody>
                  <a:tcPr marL="91440" marR="91440" marT="36576" marB="36576" anchor="ctr">
                    <a:solidFill>
                      <a:schemeClr val="tx2"/>
                    </a:solidFill>
                  </a:tcPr>
                </a:tc>
              </a:tr>
              <a:tr h="502920">
                <a:tc>
                  <a:txBody>
                    <a:bodyPr wrap="square"/>
                    <a:lstStyle/>
                    <a:p>
                      <a:r>
                        <a:rPr sz="1500" b="1">
                          <a:solidFill>
                            <a:schemeClr val="tx1"/>
                          </a:solidFill>
                        </a:rPr>
                        <a:t>Raw core records</a:t>
                      </a:r>
                    </a:p>
                  </a:txBody>
                  <a:tcPr marL="91440" marR="91440" marT="36576" marB="36576" anchor="ctr">
                    <a:solidFill>
                      <a:schemeClr val="bg1"/>
                    </a:solidFill>
                  </a:tcPr>
                </a:tc>
                <a:tc>
                  <a:txBody>
                    <a:bodyPr wrap="square"/>
                    <a:lstStyle/>
                    <a:p>
                      <a:r>
                        <a:rPr sz="1500" b="0">
                          <a:solidFill>
                            <a:schemeClr val="tx1"/>
                          </a:solidFill>
                        </a:rPr>
                        <a:t>23,077</a:t>
                      </a:r>
                    </a:p>
                  </a:txBody>
                  <a:tcPr marL="91440" marR="91440" marT="36576" marB="36576" anchor="ctr">
                    <a:solidFill>
                      <a:schemeClr val="bg1"/>
                    </a:solidFill>
                  </a:tcPr>
                </a:tc>
                <a:tc>
                  <a:txBody>
                    <a:bodyPr wrap="square"/>
                    <a:lstStyle/>
                    <a:p>
                      <a:r>
                        <a:rPr sz="1500" b="0">
                          <a:solidFill>
                            <a:schemeClr val="tx1"/>
                          </a:solidFill>
                        </a:rPr>
                        <a:t>4,400</a:t>
                      </a:r>
                    </a:p>
                  </a:txBody>
                  <a:tcPr marL="91440" marR="91440" marT="36576" marB="36576" anchor="ctr">
                    <a:solidFill>
                      <a:schemeClr val="bg1"/>
                    </a:solidFill>
                  </a:tcPr>
                </a:tc>
              </a:tr>
              <a:tr h="502920">
                <a:tc>
                  <a:txBody>
                    <a:bodyPr wrap="square"/>
                    <a:lstStyle/>
                    <a:p>
                      <a:r>
                        <a:rPr sz="1500" b="1">
                          <a:solidFill>
                            <a:schemeClr val="tx1"/>
                          </a:solidFill>
                        </a:rPr>
                        <a:t>Drop years before 2014</a:t>
                      </a:r>
                    </a:p>
                  </a:txBody>
                  <a:tcPr marL="91440" marR="91440" marT="36576" marB="36576" anchor="ctr">
                    <a:solidFill>
                      <a:schemeClr val="bg1"/>
                    </a:solidFill>
                  </a:tcPr>
                </a:tc>
                <a:tc>
                  <a:txBody>
                    <a:bodyPr wrap="square"/>
                    <a:lstStyle/>
                    <a:p>
                      <a:r>
                        <a:rPr sz="1500" b="0">
                          <a:solidFill>
                            <a:schemeClr val="tx1"/>
                          </a:solidFill>
                        </a:rPr>
                        <a:t>20,107</a:t>
                      </a:r>
                    </a:p>
                  </a:txBody>
                  <a:tcPr marL="91440" marR="91440" marT="36576" marB="36576" anchor="ctr">
                    <a:solidFill>
                      <a:schemeClr val="bg1"/>
                    </a:solidFill>
                  </a:tcPr>
                </a:tc>
                <a:tc>
                  <a:txBody>
                    <a:bodyPr wrap="square"/>
                    <a:lstStyle/>
                    <a:p>
                      <a:r>
                        <a:rPr sz="1500" b="0">
                          <a:solidFill>
                            <a:schemeClr val="tx1"/>
                          </a:solidFill>
                        </a:rPr>
                        <a:t>4,400</a:t>
                      </a:r>
                    </a:p>
                  </a:txBody>
                  <a:tcPr marL="91440" marR="91440" marT="36576" marB="36576" anchor="ctr">
                    <a:solidFill>
                      <a:schemeClr val="bg1"/>
                    </a:solidFill>
                  </a:tcPr>
                </a:tc>
              </a:tr>
              <a:tr h="502920">
                <a:tc>
                  <a:txBody>
                    <a:bodyPr wrap="square"/>
                    <a:lstStyle/>
                    <a:p>
                      <a:r>
                        <a:rPr sz="1500" b="1">
                          <a:solidFill>
                            <a:schemeClr val="tx1"/>
                          </a:solidFill>
                        </a:rPr>
                        <a:t>Keep highest seq per student-year</a:t>
                      </a:r>
                    </a:p>
                  </a:txBody>
                  <a:tcPr marL="91440" marR="91440" marT="36576" marB="36576" anchor="ctr">
                    <a:solidFill>
                      <a:schemeClr val="bg1"/>
                    </a:solidFill>
                  </a:tcPr>
                </a:tc>
                <a:tc>
                  <a:txBody>
                    <a:bodyPr wrap="square"/>
                    <a:lstStyle/>
                    <a:p>
                      <a:r>
                        <a:rPr sz="1500" b="0">
                          <a:solidFill>
                            <a:schemeClr val="tx1"/>
                          </a:solidFill>
                        </a:rPr>
                        <a:t>17,698</a:t>
                      </a:r>
                    </a:p>
                  </a:txBody>
                  <a:tcPr marL="91440" marR="91440" marT="36576" marB="36576" anchor="ctr">
                    <a:solidFill>
                      <a:schemeClr val="bg1"/>
                    </a:solidFill>
                  </a:tcPr>
                </a:tc>
                <a:tc>
                  <a:txBody>
                    <a:bodyPr wrap="square"/>
                    <a:lstStyle/>
                    <a:p>
                      <a:r>
                        <a:rPr sz="1500" b="0">
                          <a:solidFill>
                            <a:schemeClr val="tx1"/>
                          </a:solidFill>
                        </a:rPr>
                        <a:t>4,400</a:t>
                      </a:r>
                    </a:p>
                  </a:txBody>
                  <a:tcPr marL="91440" marR="91440" marT="36576" marB="36576" anchor="ctr">
                    <a:solidFill>
                      <a:schemeClr val="bg1"/>
                    </a:solidFill>
                  </a:tcPr>
                </a:tc>
              </a:tr>
              <a:tr h="502920">
                <a:tc>
                  <a:txBody>
                    <a:bodyPr wrap="square"/>
                    <a:lstStyle/>
                    <a:p>
                      <a:r>
                        <a:rPr sz="1500" b="1">
                          <a:solidFill>
                            <a:schemeClr val="tx1"/>
                          </a:solidFill>
                        </a:rPr>
                        <a:t>Drop blank ZIPs (ZIP+4 cut to 5 digits)</a:t>
                      </a:r>
                    </a:p>
                  </a:txBody>
                  <a:tcPr marL="91440" marR="91440" marT="36576" marB="36576" anchor="ctr">
                    <a:solidFill>
                      <a:schemeClr val="bg1"/>
                    </a:solidFill>
                  </a:tcPr>
                </a:tc>
                <a:tc>
                  <a:txBody>
                    <a:bodyPr wrap="square"/>
                    <a:lstStyle/>
                    <a:p>
                      <a:r>
                        <a:rPr sz="1500" b="0">
                          <a:solidFill>
                            <a:schemeClr val="tx1"/>
                          </a:solidFill>
                        </a:rPr>
                        <a:t>17,360</a:t>
                      </a:r>
                    </a:p>
                  </a:txBody>
                  <a:tcPr marL="91440" marR="91440" marT="36576" marB="36576" anchor="ctr">
                    <a:solidFill>
                      <a:schemeClr val="bg1"/>
                    </a:solidFill>
                  </a:tcPr>
                </a:tc>
                <a:tc>
                  <a:txBody>
                    <a:bodyPr wrap="square"/>
                    <a:lstStyle/>
                    <a:p>
                      <a:r>
                        <a:rPr sz="1500" b="0">
                          <a:solidFill>
                            <a:schemeClr val="tx1"/>
                          </a:solidFill>
                        </a:rPr>
                        <a:t>4,375</a:t>
                      </a:r>
                    </a:p>
                  </a:txBody>
                  <a:tcPr marL="91440" marR="91440" marT="36576" marB="36576" anchor="ctr">
                    <a:solidFill>
                      <a:schemeClr val="bg1"/>
                    </a:solidFill>
                  </a:tcPr>
                </a:tc>
              </a:tr>
              <a:tr h="502920">
                <a:tc>
                  <a:txBody>
                    <a:bodyPr wrap="square"/>
                    <a:lstStyle/>
                    <a:p>
                      <a:r>
                        <a:rPr sz="1500" b="1">
                          <a:solidFill>
                            <a:schemeClr val="tx1"/>
                          </a:solidFill>
                        </a:rPr>
                        <a:t>Keep St. Louis City/County ZIPs</a:t>
                      </a:r>
                    </a:p>
                  </a:txBody>
                  <a:tcPr marL="91440" marR="91440" marT="36576" marB="36576" anchor="ctr">
                    <a:solidFill>
                      <a:srgbClr val="F6E2E6"/>
                    </a:solidFill>
                  </a:tcPr>
                </a:tc>
                <a:tc>
                  <a:txBody>
                    <a:bodyPr wrap="square"/>
                    <a:lstStyle/>
                    <a:p>
                      <a:r>
                        <a:rPr sz="1500" b="1">
                          <a:solidFill>
                            <a:schemeClr val="tx2"/>
                          </a:solidFill>
                        </a:rPr>
                        <a:t>15,737</a:t>
                      </a:r>
                    </a:p>
                  </a:txBody>
                  <a:tcPr marL="91440" marR="91440" marT="36576" marB="36576" anchor="ctr">
                    <a:solidFill>
                      <a:srgbClr val="F6E2E6"/>
                    </a:solidFill>
                  </a:tcPr>
                </a:tc>
                <a:tc>
                  <a:txBody>
                    <a:bodyPr wrap="square"/>
                    <a:lstStyle/>
                    <a:p>
                      <a:r>
                        <a:rPr sz="1500" b="1">
                          <a:solidFill>
                            <a:schemeClr val="tx2"/>
                          </a:solidFill>
                        </a:rPr>
                        <a:t>3,975</a:t>
                      </a:r>
                    </a:p>
                  </a:txBody>
                  <a:tcPr marL="91440" marR="91440" marT="36576" marB="36576" anchor="ctr">
                    <a:solidFill>
                      <a:srgbClr val="F6E2E6"/>
                    </a:solidFill>
                  </a:tcPr>
                </a:tc>
              </a:tr>
            </a:tbl>
          </a:graphicData>
        </a:graphic>
      </p:graphicFrame>
      <p:graphicFrame>
        <p:nvGraphicFramePr>
          <p:cNvPr id="14" name="Table 13"/>
          <p:cNvGraphicFramePr>
            <a:graphicFrameLocks noGrp="1"/>
          </p:cNvGraphicFramePr>
          <p:nvPr/>
        </p:nvGraphicFramePr>
        <p:xfrm>
          <a:off x="7498079" y="1920240"/>
          <a:ext cx="4178808" cy="2990088"/>
        </p:xfrm>
        <a:graphic>
          <a:graphicData uri="http://schemas.openxmlformats.org/drawingml/2006/table">
            <a:tbl>
              <a:tblPr firstRow="1">
                <a:tableStyleId>{5C22544A-7EE6-4342-B048-85BDC9FD1C3A}</a:tableStyleId>
              </a:tblPr>
              <a:tblGrid>
                <a:gridCol w="1188720"/>
                <a:gridCol w="1463040"/>
                <a:gridCol w="1527048"/>
              </a:tblGrid>
              <a:tr h="411480">
                <a:tc>
                  <a:txBody>
                    <a:bodyPr wrap="square"/>
                    <a:lstStyle/>
                    <a:p>
                      <a:r>
                        <a:rPr sz="1500" b="1">
                          <a:solidFill>
                            <a:schemeClr val="bg1"/>
                          </a:solidFill>
                        </a:rPr>
                        <a:t>Cohort</a:t>
                      </a:r>
                    </a:p>
                  </a:txBody>
                  <a:tcPr marL="91440" marR="91440" marT="36576" marB="36576" anchor="ctr">
                    <a:solidFill>
                      <a:schemeClr val="tx2"/>
                    </a:solidFill>
                  </a:tcPr>
                </a:tc>
                <a:tc>
                  <a:txBody>
                    <a:bodyPr wrap="square"/>
                    <a:lstStyle/>
                    <a:p>
                      <a:r>
                        <a:rPr sz="1500" b="1">
                          <a:solidFill>
                            <a:schemeClr val="bg1"/>
                          </a:solidFill>
                        </a:rPr>
                        <a:t>CNI school</a:t>
                      </a:r>
                    </a:p>
                  </a:txBody>
                  <a:tcPr marL="91440" marR="91440" marT="36576" marB="36576" anchor="ctr">
                    <a:solidFill>
                      <a:schemeClr val="tx2"/>
                    </a:solidFill>
                  </a:tcPr>
                </a:tc>
                <a:tc>
                  <a:txBody>
                    <a:bodyPr wrap="square"/>
                    <a:lstStyle/>
                    <a:p>
                      <a:r>
                        <a:rPr sz="1500" b="1">
                          <a:solidFill>
                            <a:schemeClr val="bg1"/>
                          </a:solidFill>
                        </a:rPr>
                        <a:t>ZIP 63106</a:t>
                      </a:r>
                    </a:p>
                  </a:txBody>
                  <a:tcPr marL="91440" marR="91440" marT="36576" marB="36576" anchor="ctr">
                    <a:solidFill>
                      <a:schemeClr val="tx2"/>
                    </a:solidFill>
                  </a:tcPr>
                </a:tc>
              </a:tr>
              <a:tr h="429768">
                <a:tc>
                  <a:txBody>
                    <a:bodyPr wrap="square"/>
                    <a:lstStyle/>
                    <a:p>
                      <a:r>
                        <a:rPr sz="1500" b="1">
                          <a:solidFill>
                            <a:schemeClr val="tx1"/>
                          </a:solidFill>
                        </a:rPr>
                        <a:t>2019</a:t>
                      </a:r>
                    </a:p>
                  </a:txBody>
                  <a:tcPr marL="91440" marR="91440" marT="36576" marB="36576" anchor="ctr">
                    <a:solidFill>
                      <a:schemeClr val="bg1"/>
                    </a:solidFill>
                  </a:tcPr>
                </a:tc>
                <a:tc>
                  <a:txBody>
                    <a:bodyPr wrap="square"/>
                    <a:lstStyle/>
                    <a:p>
                      <a:r>
                        <a:rPr sz="1500" b="0">
                          <a:solidFill>
                            <a:schemeClr val="tx1"/>
                          </a:solidFill>
                        </a:rPr>
                        <a:t>214</a:t>
                      </a:r>
                    </a:p>
                  </a:txBody>
                  <a:tcPr marL="91440" marR="91440" marT="36576" marB="36576" anchor="ctr">
                    <a:solidFill>
                      <a:schemeClr val="bg1"/>
                    </a:solidFill>
                  </a:tcPr>
                </a:tc>
                <a:tc>
                  <a:txBody>
                    <a:bodyPr wrap="square"/>
                    <a:lstStyle/>
                    <a:p>
                      <a:r>
                        <a:rPr sz="1500" b="0">
                          <a:solidFill>
                            <a:schemeClr val="tx1"/>
                          </a:solidFill>
                        </a:rPr>
                        <a:t>74</a:t>
                      </a:r>
                    </a:p>
                  </a:txBody>
                  <a:tcPr marL="91440" marR="91440" marT="36576" marB="36576" anchor="ctr">
                    <a:solidFill>
                      <a:schemeClr val="bg1"/>
                    </a:solidFill>
                  </a:tcPr>
                </a:tc>
              </a:tr>
              <a:tr h="429768">
                <a:tc>
                  <a:txBody>
                    <a:bodyPr wrap="square"/>
                    <a:lstStyle/>
                    <a:p>
                      <a:r>
                        <a:rPr sz="1500" b="1">
                          <a:solidFill>
                            <a:schemeClr val="tx1"/>
                          </a:solidFill>
                        </a:rPr>
                        <a:t>2020</a:t>
                      </a:r>
                    </a:p>
                  </a:txBody>
                  <a:tcPr marL="91440" marR="91440" marT="36576" marB="36576" anchor="ctr">
                    <a:solidFill>
                      <a:schemeClr val="bg1"/>
                    </a:solidFill>
                  </a:tcPr>
                </a:tc>
                <a:tc>
                  <a:txBody>
                    <a:bodyPr wrap="square"/>
                    <a:lstStyle/>
                    <a:p>
                      <a:r>
                        <a:rPr sz="1500" b="0">
                          <a:solidFill>
                            <a:schemeClr val="tx1"/>
                          </a:solidFill>
                        </a:rPr>
                        <a:t>92</a:t>
                      </a:r>
                    </a:p>
                  </a:txBody>
                  <a:tcPr marL="91440" marR="91440" marT="36576" marB="36576" anchor="ctr">
                    <a:solidFill>
                      <a:schemeClr val="bg1"/>
                    </a:solidFill>
                  </a:tcPr>
                </a:tc>
                <a:tc>
                  <a:txBody>
                    <a:bodyPr wrap="square"/>
                    <a:lstStyle/>
                    <a:p>
                      <a:r>
                        <a:rPr sz="1500" b="0">
                          <a:solidFill>
                            <a:schemeClr val="tx1"/>
                          </a:solidFill>
                        </a:rPr>
                        <a:t>35</a:t>
                      </a:r>
                    </a:p>
                  </a:txBody>
                  <a:tcPr marL="91440" marR="91440" marT="36576" marB="36576" anchor="ctr">
                    <a:solidFill>
                      <a:schemeClr val="bg1"/>
                    </a:solidFill>
                  </a:tcPr>
                </a:tc>
              </a:tr>
              <a:tr h="429768">
                <a:tc>
                  <a:txBody>
                    <a:bodyPr wrap="square"/>
                    <a:lstStyle/>
                    <a:p>
                      <a:r>
                        <a:rPr sz="1500" b="1">
                          <a:solidFill>
                            <a:schemeClr val="tx1"/>
                          </a:solidFill>
                        </a:rPr>
                        <a:t>2021</a:t>
                      </a:r>
                    </a:p>
                  </a:txBody>
                  <a:tcPr marL="91440" marR="91440" marT="36576" marB="36576" anchor="ctr">
                    <a:solidFill>
                      <a:schemeClr val="bg1"/>
                    </a:solidFill>
                  </a:tcPr>
                </a:tc>
                <a:tc>
                  <a:txBody>
                    <a:bodyPr wrap="square"/>
                    <a:lstStyle/>
                    <a:p>
                      <a:r>
                        <a:rPr sz="1500" b="0">
                          <a:solidFill>
                            <a:schemeClr val="tx1"/>
                          </a:solidFill>
                        </a:rPr>
                        <a:t>91</a:t>
                      </a:r>
                    </a:p>
                  </a:txBody>
                  <a:tcPr marL="91440" marR="91440" marT="36576" marB="36576" anchor="ctr">
                    <a:solidFill>
                      <a:schemeClr val="bg1"/>
                    </a:solidFill>
                  </a:tcPr>
                </a:tc>
                <a:tc>
                  <a:txBody>
                    <a:bodyPr wrap="square"/>
                    <a:lstStyle/>
                    <a:p>
                      <a:r>
                        <a:rPr sz="1500" b="0">
                          <a:solidFill>
                            <a:schemeClr val="tx1"/>
                          </a:solidFill>
                        </a:rPr>
                        <a:t>32</a:t>
                      </a:r>
                    </a:p>
                  </a:txBody>
                  <a:tcPr marL="91440" marR="91440" marT="36576" marB="36576" anchor="ctr">
                    <a:solidFill>
                      <a:schemeClr val="bg1"/>
                    </a:solidFill>
                  </a:tcPr>
                </a:tc>
              </a:tr>
              <a:tr h="429768">
                <a:tc>
                  <a:txBody>
                    <a:bodyPr wrap="square"/>
                    <a:lstStyle/>
                    <a:p>
                      <a:r>
                        <a:rPr sz="1500" b="1">
                          <a:solidFill>
                            <a:schemeClr val="tx1"/>
                          </a:solidFill>
                        </a:rPr>
                        <a:t>2022</a:t>
                      </a:r>
                    </a:p>
                  </a:txBody>
                  <a:tcPr marL="91440" marR="91440" marT="36576" marB="36576" anchor="ctr">
                    <a:solidFill>
                      <a:schemeClr val="bg1"/>
                    </a:solidFill>
                  </a:tcPr>
                </a:tc>
                <a:tc>
                  <a:txBody>
                    <a:bodyPr wrap="square"/>
                    <a:lstStyle/>
                    <a:p>
                      <a:r>
                        <a:rPr sz="1500" b="0">
                          <a:solidFill>
                            <a:schemeClr val="tx1"/>
                          </a:solidFill>
                        </a:rPr>
                        <a:t>107</a:t>
                      </a:r>
                    </a:p>
                  </a:txBody>
                  <a:tcPr marL="91440" marR="91440" marT="36576" marB="36576" anchor="ctr">
                    <a:solidFill>
                      <a:schemeClr val="bg1"/>
                    </a:solidFill>
                  </a:tcPr>
                </a:tc>
                <a:tc>
                  <a:txBody>
                    <a:bodyPr wrap="square"/>
                    <a:lstStyle/>
                    <a:p>
                      <a:r>
                        <a:rPr sz="1500" b="0">
                          <a:solidFill>
                            <a:schemeClr val="tx1"/>
                          </a:solidFill>
                        </a:rPr>
                        <a:t>31</a:t>
                      </a:r>
                    </a:p>
                  </a:txBody>
                  <a:tcPr marL="91440" marR="91440" marT="36576" marB="36576" anchor="ctr">
                    <a:solidFill>
                      <a:schemeClr val="bg1"/>
                    </a:solidFill>
                  </a:tcPr>
                </a:tc>
              </a:tr>
              <a:tr h="429768">
                <a:tc>
                  <a:txBody>
                    <a:bodyPr wrap="square"/>
                    <a:lstStyle/>
                    <a:p>
                      <a:r>
                        <a:rPr sz="1500" b="1">
                          <a:solidFill>
                            <a:schemeClr val="tx1"/>
                          </a:solidFill>
                        </a:rPr>
                        <a:t>2023</a:t>
                      </a:r>
                    </a:p>
                  </a:txBody>
                  <a:tcPr marL="91440" marR="91440" marT="36576" marB="36576" anchor="ctr">
                    <a:solidFill>
                      <a:schemeClr val="bg1"/>
                    </a:solidFill>
                  </a:tcPr>
                </a:tc>
                <a:tc>
                  <a:txBody>
                    <a:bodyPr wrap="square"/>
                    <a:lstStyle/>
                    <a:p>
                      <a:r>
                        <a:rPr sz="1500" b="0">
                          <a:solidFill>
                            <a:schemeClr val="tx1"/>
                          </a:solidFill>
                        </a:rPr>
                        <a:t>132</a:t>
                      </a:r>
                    </a:p>
                  </a:txBody>
                  <a:tcPr marL="91440" marR="91440" marT="36576" marB="36576" anchor="ctr">
                    <a:solidFill>
                      <a:schemeClr val="bg1"/>
                    </a:solidFill>
                  </a:tcPr>
                </a:tc>
                <a:tc>
                  <a:txBody>
                    <a:bodyPr wrap="square"/>
                    <a:lstStyle/>
                    <a:p>
                      <a:r>
                        <a:rPr sz="1500" b="0">
                          <a:solidFill>
                            <a:schemeClr val="tx1"/>
                          </a:solidFill>
                        </a:rPr>
                        <a:t>54</a:t>
                      </a:r>
                    </a:p>
                  </a:txBody>
                  <a:tcPr marL="91440" marR="91440" marT="36576" marB="36576" anchor="ctr">
                    <a:solidFill>
                      <a:schemeClr val="bg1"/>
                    </a:solidFill>
                  </a:tcPr>
                </a:tc>
              </a:tr>
              <a:tr h="429768">
                <a:tc>
                  <a:txBody>
                    <a:bodyPr wrap="square"/>
                    <a:lstStyle/>
                    <a:p>
                      <a:r>
                        <a:rPr sz="1500" b="1">
                          <a:solidFill>
                            <a:schemeClr val="tx1"/>
                          </a:solidFill>
                        </a:rPr>
                        <a:t>Never</a:t>
                      </a:r>
                    </a:p>
                  </a:txBody>
                  <a:tcPr marL="91440" marR="91440" marT="36576" marB="36576" anchor="ctr">
                    <a:solidFill>
                      <a:schemeClr val="bg1"/>
                    </a:solidFill>
                  </a:tcPr>
                </a:tc>
                <a:tc>
                  <a:txBody>
                    <a:bodyPr wrap="square"/>
                    <a:lstStyle/>
                    <a:p>
                      <a:r>
                        <a:rPr sz="1500" b="0">
                          <a:solidFill>
                            <a:schemeClr val="tx1"/>
                          </a:solidFill>
                        </a:rPr>
                        <a:t>3,339</a:t>
                      </a:r>
                    </a:p>
                  </a:txBody>
                  <a:tcPr marL="91440" marR="91440" marT="36576" marB="36576" anchor="ctr">
                    <a:solidFill>
                      <a:schemeClr val="bg1"/>
                    </a:solidFill>
                  </a:tcPr>
                </a:tc>
                <a:tc>
                  <a:txBody>
                    <a:bodyPr wrap="square"/>
                    <a:lstStyle/>
                    <a:p>
                      <a:r>
                        <a:rPr sz="1500" b="0">
                          <a:solidFill>
                            <a:schemeClr val="tx1"/>
                          </a:solidFill>
                        </a:rPr>
                        <a:t>3,749</a:t>
                      </a:r>
                    </a:p>
                  </a:txBody>
                  <a:tcPr marL="91440" marR="91440" marT="36576" marB="36576" anchor="ctr">
                    <a:solidFill>
                      <a:schemeClr val="bg1"/>
                    </a:solidFill>
                  </a:tcPr>
                </a:tc>
              </a:tr>
            </a:tbl>
          </a:graphicData>
        </a:graphic>
      </p:graphicFrame>
      <p:sp>
        <p:nvSpPr>
          <p:cNvPr id="15" name="TextBox 14"/>
          <p:cNvSpPr txBox="1"/>
          <p:nvPr/>
        </p:nvSpPr>
        <p:spPr>
          <a:xfrm>
            <a:off x="512064" y="5120640"/>
            <a:ext cx="11164824" cy="548640"/>
          </a:xfrm>
          <a:prstGeom prst="rect">
            <a:avLst/>
          </a:prstGeom>
          <a:noFill/>
        </p:spPr>
        <p:txBody>
          <a:bodyPr wrap="square" lIns="0" rIns="0" tIns="0" bIns="0" anchor="ctr">
            <a:spAutoFit/>
          </a:bodyPr>
          <a:lstStyle/>
          <a:p>
            <a:pPr algn="l"/>
            <a:r>
              <a:rPr sz="1600" b="0" i="1">
                <a:solidFill>
                  <a:srgbClr val="5F5F5F"/>
                </a:solidFill>
              </a:rPr>
              <a:t>Treatment is absorbing (intent-to-treat): once a student is in a cohort, they stay in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B3 · Descriptives</a:t>
            </a:r>
          </a:p>
        </p:txBody>
      </p:sp>
      <p:sp>
        <p:nvSpPr>
          <p:cNvPr id="3" name="Text Placeholder 2"/>
          <p:cNvSpPr>
            <a:spLocks noGrp="1"/>
          </p:cNvSpPr>
          <p:nvPr>
            <p:ph type="body" idx="12" sz="quarter"/>
          </p:nvPr>
        </p:nvSpPr>
        <p:spPr/>
        <p:txBody>
          <a:bodyPr/>
          <a:lstStyle/>
          <a:p>
            <a:r>
              <a:t>Staggered timing; noisy pre-2019 trends are a picture, not an estimate</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801367"/>
            <a:ext cx="4901184" cy="2820924"/>
          </a:xfrm>
          <a:prstGeom prst="roundRect">
            <a:avLst>
              <a:gd name="adj" fmla="val 3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2000_treatment_timing.png"/>
          <p:cNvPicPr>
            <a:picLocks noChangeAspect="1"/>
          </p:cNvPicPr>
          <p:nvPr/>
        </p:nvPicPr>
        <p:blipFill>
          <a:blip r:embed="rId3"/>
          <a:stretch>
            <a:fillRect/>
          </a:stretch>
        </p:blipFill>
        <p:spPr>
          <a:xfrm>
            <a:off x="585216" y="1874519"/>
            <a:ext cx="4754880" cy="2674620"/>
          </a:xfrm>
          <a:prstGeom prst="rect">
            <a:avLst/>
          </a:prstGeom>
        </p:spPr>
      </p:pic>
      <p:sp>
        <p:nvSpPr>
          <p:cNvPr id="15" name="Rounded Rectangle 14"/>
          <p:cNvSpPr/>
          <p:nvPr/>
        </p:nvSpPr>
        <p:spPr>
          <a:xfrm>
            <a:off x="5596128" y="1801367"/>
            <a:ext cx="6089904" cy="3118104"/>
          </a:xfrm>
          <a:prstGeom prst="roundRect">
            <a:avLst>
              <a:gd name="adj" fmla="val 3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2000_map_trends.png"/>
          <p:cNvPicPr>
            <a:picLocks noChangeAspect="1"/>
          </p:cNvPicPr>
          <p:nvPr/>
        </p:nvPicPr>
        <p:blipFill>
          <a:blip r:embed="rId4"/>
          <a:stretch>
            <a:fillRect/>
          </a:stretch>
        </p:blipFill>
        <p:spPr>
          <a:xfrm>
            <a:off x="5669280" y="1874519"/>
            <a:ext cx="5943600" cy="2971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B4 · Students: CSDID</a:t>
            </a:r>
          </a:p>
        </p:txBody>
      </p:sp>
      <p:sp>
        <p:nvSpPr>
          <p:cNvPr id="3" name="Text Placeholder 2"/>
          <p:cNvSpPr>
            <a:spLocks noGrp="1"/>
          </p:cNvSpPr>
          <p:nvPr>
            <p:ph type="body" idx="12" sz="quarter"/>
          </p:nvPr>
        </p:nvSpPr>
        <p:spPr/>
        <p:txBody>
          <a:bodyPr/>
          <a:lstStyle/>
          <a:p>
            <a:r>
              <a:t>MAP standardized within grade × year; not-yet-treated controls</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801367"/>
            <a:ext cx="6547104" cy="3346704"/>
          </a:xfrm>
          <a:prstGeom prst="roundRect">
            <a:avLst>
              <a:gd name="adj" fmla="val 3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3000_event_study_school.png"/>
          <p:cNvPicPr>
            <a:picLocks noChangeAspect="1"/>
          </p:cNvPicPr>
          <p:nvPr/>
        </p:nvPicPr>
        <p:blipFill>
          <a:blip r:embed="rId3"/>
          <a:stretch>
            <a:fillRect/>
          </a:stretch>
        </p:blipFill>
        <p:spPr>
          <a:xfrm>
            <a:off x="585216" y="1874519"/>
            <a:ext cx="6400800" cy="3200400"/>
          </a:xfrm>
          <a:prstGeom prst="rect">
            <a:avLst/>
          </a:prstGeom>
        </p:spPr>
      </p:pic>
      <p:graphicFrame>
        <p:nvGraphicFramePr>
          <p:cNvPr id="15" name="Table 14"/>
          <p:cNvGraphicFramePr>
            <a:graphicFrameLocks noGrp="1"/>
          </p:cNvGraphicFramePr>
          <p:nvPr/>
        </p:nvGraphicFramePr>
        <p:xfrm>
          <a:off x="7269480" y="1828800"/>
          <a:ext cx="4407408" cy="2212848"/>
        </p:xfrm>
        <a:graphic>
          <a:graphicData uri="http://schemas.openxmlformats.org/drawingml/2006/table">
            <a:tbl>
              <a:tblPr firstRow="1">
                <a:tableStyleId>{5C22544A-7EE6-4342-B048-85BDC9FD1C3A}</a:tableStyleId>
              </a:tblPr>
              <a:tblGrid>
                <a:gridCol w="1463040"/>
                <a:gridCol w="1463040"/>
                <a:gridCol w="1481328"/>
              </a:tblGrid>
              <a:tr h="384048">
                <a:tc>
                  <a:txBody>
                    <a:bodyPr wrap="square"/>
                    <a:lstStyle/>
                    <a:p>
                      <a:r>
                        <a:rPr sz="1400" b="1">
                          <a:solidFill>
                            <a:schemeClr val="bg1"/>
                          </a:solidFill>
                        </a:rPr>
                        <a:t>Since entry</a:t>
                      </a:r>
                    </a:p>
                  </a:txBody>
                  <a:tcPr marL="91440" marR="91440" marT="36576" marB="36576" anchor="ctr">
                    <a:solidFill>
                      <a:schemeClr val="tx2"/>
                    </a:solidFill>
                  </a:tcPr>
                </a:tc>
                <a:tc>
                  <a:txBody>
                    <a:bodyPr wrap="square"/>
                    <a:lstStyle/>
                    <a:p>
                      <a:r>
                        <a:rPr sz="1400" b="1">
                          <a:solidFill>
                            <a:schemeClr val="bg1"/>
                          </a:solidFill>
                        </a:rPr>
                        <a:t>ELA (pts)</a:t>
                      </a:r>
                    </a:p>
                  </a:txBody>
                  <a:tcPr marL="91440" marR="91440" marT="36576" marB="36576" anchor="ctr">
                    <a:solidFill>
                      <a:schemeClr val="tx2"/>
                    </a:solidFill>
                  </a:tcPr>
                </a:tc>
                <a:tc>
                  <a:txBody>
                    <a:bodyPr wrap="square"/>
                    <a:lstStyle/>
                    <a:p>
                      <a:r>
                        <a:rPr sz="1400" b="1">
                          <a:solidFill>
                            <a:schemeClr val="bg1"/>
                          </a:solidFill>
                        </a:rPr>
                        <a:t>Math (pts)</a:t>
                      </a:r>
                    </a:p>
                  </a:txBody>
                  <a:tcPr marL="91440" marR="91440" marT="36576" marB="36576" anchor="ctr">
                    <a:solidFill>
                      <a:schemeClr val="tx2"/>
                    </a:solidFill>
                  </a:tcPr>
                </a:tc>
              </a:tr>
              <a:tr h="365760">
                <a:tc>
                  <a:txBody>
                    <a:bodyPr wrap="square"/>
                    <a:lstStyle/>
                    <a:p>
                      <a:r>
                        <a:rPr sz="1400" b="1">
                          <a:solidFill>
                            <a:schemeClr val="tx1"/>
                          </a:solidFill>
                        </a:rPr>
                        <a:t>Year 1</a:t>
                      </a:r>
                    </a:p>
                  </a:txBody>
                  <a:tcPr marL="91440" marR="91440" marT="36576" marB="36576" anchor="ctr">
                    <a:solidFill>
                      <a:schemeClr val="bg1"/>
                    </a:solidFill>
                  </a:tcPr>
                </a:tc>
                <a:tc>
                  <a:txBody>
                    <a:bodyPr wrap="square"/>
                    <a:lstStyle/>
                    <a:p>
                      <a:r>
                        <a:rPr sz="1400" b="0">
                          <a:solidFill>
                            <a:schemeClr val="tx1"/>
                          </a:solidFill>
                        </a:rPr>
                        <a:t>+4.2</a:t>
                      </a:r>
                    </a:p>
                  </a:txBody>
                  <a:tcPr marL="91440" marR="91440" marT="36576" marB="36576" anchor="ctr">
                    <a:solidFill>
                      <a:schemeClr val="bg1"/>
                    </a:solidFill>
                  </a:tcPr>
                </a:tc>
                <a:tc>
                  <a:txBody>
                    <a:bodyPr wrap="square"/>
                    <a:lstStyle/>
                    <a:p>
                      <a:r>
                        <a:rPr sz="1400" b="0">
                          <a:solidFill>
                            <a:schemeClr val="tx1"/>
                          </a:solidFill>
                        </a:rPr>
                        <a:t>+4.6</a:t>
                      </a:r>
                    </a:p>
                  </a:txBody>
                  <a:tcPr marL="91440" marR="91440" marT="36576" marB="36576" anchor="ctr">
                    <a:solidFill>
                      <a:schemeClr val="bg1"/>
                    </a:solidFill>
                  </a:tcPr>
                </a:tc>
              </a:tr>
              <a:tr h="365760">
                <a:tc>
                  <a:txBody>
                    <a:bodyPr wrap="square"/>
                    <a:lstStyle/>
                    <a:p>
                      <a:r>
                        <a:rPr sz="1400" b="1">
                          <a:solidFill>
                            <a:schemeClr val="tx1"/>
                          </a:solidFill>
                        </a:rPr>
                        <a:t>Year 2</a:t>
                      </a:r>
                    </a:p>
                  </a:txBody>
                  <a:tcPr marL="91440" marR="91440" marT="36576" marB="36576" anchor="ctr">
                    <a:solidFill>
                      <a:schemeClr val="bg1"/>
                    </a:solidFill>
                  </a:tcPr>
                </a:tc>
                <a:tc>
                  <a:txBody>
                    <a:bodyPr wrap="square"/>
                    <a:lstStyle/>
                    <a:p>
                      <a:r>
                        <a:rPr sz="1400" b="0">
                          <a:solidFill>
                            <a:schemeClr val="tx1"/>
                          </a:solidFill>
                        </a:rPr>
                        <a:t>+7.0</a:t>
                      </a:r>
                    </a:p>
                  </a:txBody>
                  <a:tcPr marL="91440" marR="91440" marT="36576" marB="36576" anchor="ctr">
                    <a:solidFill>
                      <a:schemeClr val="bg1"/>
                    </a:solidFill>
                  </a:tcPr>
                </a:tc>
                <a:tc>
                  <a:txBody>
                    <a:bodyPr wrap="square"/>
                    <a:lstStyle/>
                    <a:p>
                      <a:r>
                        <a:rPr sz="1400" b="0">
                          <a:solidFill>
                            <a:schemeClr val="tx1"/>
                          </a:solidFill>
                        </a:rPr>
                        <a:t>+8.0</a:t>
                      </a:r>
                    </a:p>
                  </a:txBody>
                  <a:tcPr marL="91440" marR="91440" marT="36576" marB="36576" anchor="ctr">
                    <a:solidFill>
                      <a:schemeClr val="bg1"/>
                    </a:solidFill>
                  </a:tcPr>
                </a:tc>
              </a:tr>
              <a:tr h="365760">
                <a:tc>
                  <a:txBody>
                    <a:bodyPr wrap="square"/>
                    <a:lstStyle/>
                    <a:p>
                      <a:r>
                        <a:rPr sz="1400" b="1">
                          <a:solidFill>
                            <a:schemeClr val="tx1"/>
                          </a:solidFill>
                        </a:rPr>
                        <a:t>Year 3</a:t>
                      </a:r>
                    </a:p>
                  </a:txBody>
                  <a:tcPr marL="91440" marR="91440" marT="36576" marB="36576" anchor="ctr">
                    <a:solidFill>
                      <a:srgbClr val="F6E2E6"/>
                    </a:solidFill>
                  </a:tcPr>
                </a:tc>
                <a:tc>
                  <a:txBody>
                    <a:bodyPr wrap="square"/>
                    <a:lstStyle/>
                    <a:p>
                      <a:r>
                        <a:rPr sz="1400" b="1">
                          <a:solidFill>
                            <a:schemeClr val="tx2"/>
                          </a:solidFill>
                        </a:rPr>
                        <a:t>+12.9</a:t>
                      </a:r>
                    </a:p>
                  </a:txBody>
                  <a:tcPr marL="91440" marR="91440" marT="36576" marB="36576" anchor="ctr">
                    <a:solidFill>
                      <a:srgbClr val="F6E2E6"/>
                    </a:solidFill>
                  </a:tcPr>
                </a:tc>
                <a:tc>
                  <a:txBody>
                    <a:bodyPr wrap="square"/>
                    <a:lstStyle/>
                    <a:p>
                      <a:r>
                        <a:rPr sz="1400" b="1">
                          <a:solidFill>
                            <a:schemeClr val="tx2"/>
                          </a:solidFill>
                        </a:rPr>
                        <a:t>+13.8</a:t>
                      </a:r>
                    </a:p>
                  </a:txBody>
                  <a:tcPr marL="91440" marR="91440" marT="36576" marB="36576" anchor="ctr">
                    <a:solidFill>
                      <a:srgbClr val="F6E2E6"/>
                    </a:solidFill>
                  </a:tcPr>
                </a:tc>
              </a:tr>
              <a:tr h="365760">
                <a:tc>
                  <a:txBody>
                    <a:bodyPr wrap="square"/>
                    <a:lstStyle/>
                    <a:p>
                      <a:r>
                        <a:rPr sz="1400" b="1">
                          <a:solidFill>
                            <a:schemeClr val="tx1"/>
                          </a:solidFill>
                        </a:rPr>
                        <a:t>Year 4</a:t>
                      </a:r>
                    </a:p>
                  </a:txBody>
                  <a:tcPr marL="91440" marR="91440" marT="36576" marB="36576" anchor="ctr">
                    <a:solidFill>
                      <a:schemeClr val="bg1"/>
                    </a:solidFill>
                  </a:tcPr>
                </a:tc>
                <a:tc>
                  <a:txBody>
                    <a:bodyPr wrap="square"/>
                    <a:lstStyle/>
                    <a:p>
                      <a:r>
                        <a:rPr sz="1400" b="0">
                          <a:solidFill>
                            <a:schemeClr val="tx1"/>
                          </a:solidFill>
                        </a:rPr>
                        <a:t>+4.6</a:t>
                      </a:r>
                    </a:p>
                  </a:txBody>
                  <a:tcPr marL="91440" marR="91440" marT="36576" marB="36576" anchor="ctr">
                    <a:solidFill>
                      <a:schemeClr val="bg1"/>
                    </a:solidFill>
                  </a:tcPr>
                </a:tc>
                <a:tc>
                  <a:txBody>
                    <a:bodyPr wrap="square"/>
                    <a:lstStyle/>
                    <a:p>
                      <a:r>
                        <a:rPr sz="1400" b="0">
                          <a:solidFill>
                            <a:schemeClr val="tx1"/>
                          </a:solidFill>
                        </a:rPr>
                        <a:t>+4.7</a:t>
                      </a:r>
                    </a:p>
                  </a:txBody>
                  <a:tcPr marL="91440" marR="91440" marT="36576" marB="36576" anchor="ctr">
                    <a:solidFill>
                      <a:schemeClr val="bg1"/>
                    </a:solidFill>
                  </a:tcPr>
                </a:tc>
              </a:tr>
              <a:tr h="365760">
                <a:tc>
                  <a:txBody>
                    <a:bodyPr wrap="square"/>
                    <a:lstStyle/>
                    <a:p>
                      <a:r>
                        <a:rPr sz="1400" b="1">
                          <a:solidFill>
                            <a:schemeClr val="tx1"/>
                          </a:solidFill>
                        </a:rPr>
                        <a:t>Year 5</a:t>
                      </a:r>
                    </a:p>
                  </a:txBody>
                  <a:tcPr marL="91440" marR="91440" marT="36576" marB="36576" anchor="ctr">
                    <a:solidFill>
                      <a:schemeClr val="bg1"/>
                    </a:solidFill>
                  </a:tcPr>
                </a:tc>
                <a:tc>
                  <a:txBody>
                    <a:bodyPr wrap="square"/>
                    <a:lstStyle/>
                    <a:p>
                      <a:r>
                        <a:rPr sz="1400" b="0">
                          <a:solidFill>
                            <a:schemeClr val="tx1"/>
                          </a:solidFill>
                        </a:rPr>
                        <a:t>+4.3</a:t>
                      </a:r>
                    </a:p>
                  </a:txBody>
                  <a:tcPr marL="91440" marR="91440" marT="36576" marB="36576" anchor="ctr">
                    <a:solidFill>
                      <a:schemeClr val="bg1"/>
                    </a:solidFill>
                  </a:tcPr>
                </a:tc>
                <a:tc>
                  <a:txBody>
                    <a:bodyPr wrap="square"/>
                    <a:lstStyle/>
                    <a:p>
                      <a:r>
                        <a:rPr sz="1400" b="0">
                          <a:solidFill>
                            <a:schemeClr val="tx1"/>
                          </a:solidFill>
                        </a:rPr>
                        <a:t>+4.9</a:t>
                      </a:r>
                    </a:p>
                  </a:txBody>
                  <a:tcPr marL="91440" marR="91440" marT="36576" marB="36576" anchor="ctr">
                    <a:solidFill>
                      <a:schemeClr val="bg1"/>
                    </a:solidFill>
                  </a:tcPr>
                </a:tc>
              </a:tr>
            </a:tbl>
          </a:graphicData>
        </a:graphic>
      </p:graphicFrame>
      <p:sp>
        <p:nvSpPr>
          <p:cNvPr id="16" name="Rounded Rectangle 15"/>
          <p:cNvSpPr/>
          <p:nvPr/>
        </p:nvSpPr>
        <p:spPr>
          <a:xfrm>
            <a:off x="7269480" y="4206240"/>
            <a:ext cx="4407408" cy="13258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79" y="4206240"/>
            <a:ext cx="4023360" cy="1325880"/>
          </a:xfrm>
          <a:prstGeom prst="rect">
            <a:avLst/>
          </a:prstGeom>
          <a:noFill/>
        </p:spPr>
        <p:txBody>
          <a:bodyPr wrap="square" lIns="0" rIns="0" tIns="0" bIns="0" anchor="ctr">
            <a:spAutoFit/>
          </a:bodyPr>
          <a:lstStyle/>
          <a:p>
            <a:pPr algn="l">
              <a:spcAft>
                <a:spcPts val="200"/>
              </a:spcAft>
            </a:pPr>
            <a:r>
              <a:rPr sz="1500" b="1" i="0">
                <a:solidFill>
                  <a:schemeClr val="bg1"/>
                </a:solidFill>
              </a:rPr>
              <a:t>Pitfall, raw points, year 3: </a:t>
            </a:r>
          </a:p>
          <a:p>
            <a:pPr algn="l">
              <a:spcAft>
                <a:spcPts val="200"/>
              </a:spcAft>
            </a:pPr>
            <a:r>
              <a:rPr sz="2000" b="1" i="0">
                <a:solidFill>
                  <a:schemeClr val="bg1"/>
                </a:solidFill>
              </a:rPr>
              <a:t>ELA +23 · Math +25</a:t>
            </a:r>
          </a:p>
          <a:p>
            <a:pPr algn="l">
              <a:spcAft>
                <a:spcPts val="200"/>
              </a:spcAft>
            </a:pPr>
            <a:r>
              <a:rPr sz="1500" b="0" i="0">
                <a:solidFill>
                  <a:schemeClr val="bg1"/>
                </a:solidFill>
              </a:rPr>
              <a:t>vs. the standardized row above (Slide 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B5 · Neighborhood: synthetic control</a:t>
            </a:r>
          </a:p>
        </p:txBody>
      </p:sp>
      <p:sp>
        <p:nvSpPr>
          <p:cNvPr id="3" name="Text Placeholder 2"/>
          <p:cNvSpPr>
            <a:spLocks noGrp="1"/>
          </p:cNvSpPr>
          <p:nvPr>
            <p:ph type="body" idx="12" sz="quarter"/>
          </p:nvPr>
        </p:nvSpPr>
        <p:spPr/>
        <p:txBody>
          <a:bodyPr/>
          <a:lstStyle/>
          <a:p>
            <a:r>
              <a:t>ZIP 63106 vs. a weighted combination of 43 donor ZIPs</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801367"/>
            <a:ext cx="7095744" cy="3273552"/>
          </a:xfrm>
          <a:prstGeom prst="roundRect">
            <a:avLst>
              <a:gd name="adj" fmla="val 3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3100_synth_trends.png"/>
          <p:cNvPicPr>
            <a:picLocks noChangeAspect="1"/>
          </p:cNvPicPr>
          <p:nvPr/>
        </p:nvPicPr>
        <p:blipFill>
          <a:blip r:embed="rId3"/>
          <a:stretch>
            <a:fillRect/>
          </a:stretch>
        </p:blipFill>
        <p:spPr>
          <a:xfrm>
            <a:off x="585216" y="1874519"/>
            <a:ext cx="6949440" cy="3127248"/>
          </a:xfrm>
          <a:prstGeom prst="rect">
            <a:avLst/>
          </a:prstGeom>
        </p:spPr>
      </p:pic>
      <p:graphicFrame>
        <p:nvGraphicFramePr>
          <p:cNvPr id="15" name="Table 14"/>
          <p:cNvGraphicFramePr>
            <a:graphicFrameLocks noGrp="1"/>
          </p:cNvGraphicFramePr>
          <p:nvPr/>
        </p:nvGraphicFramePr>
        <p:xfrm>
          <a:off x="7818120" y="1828800"/>
          <a:ext cx="3858768" cy="2331720"/>
        </p:xfrm>
        <a:graphic>
          <a:graphicData uri="http://schemas.openxmlformats.org/drawingml/2006/table">
            <a:tbl>
              <a:tblPr firstRow="1">
                <a:tableStyleId>{5C22544A-7EE6-4342-B048-85BDC9FD1C3A}</a:tableStyleId>
              </a:tblPr>
              <a:tblGrid>
                <a:gridCol w="731520"/>
                <a:gridCol w="1097280"/>
                <a:gridCol w="978408"/>
                <a:gridCol w="1051560"/>
              </a:tblGrid>
              <a:tr h="502920">
                <a:tc>
                  <a:txBody>
                    <a:bodyPr wrap="square"/>
                    <a:lstStyle/>
                    <a:p>
                      <a:r>
                        <a:rPr sz="1300" b="1">
                          <a:solidFill>
                            <a:schemeClr val="bg1"/>
                          </a:solidFill>
                        </a:rPr>
                        <a:t>Year</a:t>
                      </a:r>
                    </a:p>
                  </a:txBody>
                  <a:tcPr marL="91440" marR="91440" marT="36576" marB="36576" anchor="ctr">
                    <a:solidFill>
                      <a:schemeClr val="tx2"/>
                    </a:solidFill>
                  </a:tcPr>
                </a:tc>
                <a:tc>
                  <a:txBody>
                    <a:bodyPr wrap="square"/>
                    <a:lstStyle/>
                    <a:p>
                      <a:r>
                        <a:rPr sz="1300" b="1">
                          <a:solidFill>
                            <a:schemeClr val="bg1"/>
                          </a:solidFill>
                        </a:rPr>
                        <a:t>Pop.</a:t>
                      </a:r>
                    </a:p>
                  </a:txBody>
                  <a:tcPr marL="91440" marR="91440" marT="36576" marB="36576" anchor="ctr">
                    <a:solidFill>
                      <a:schemeClr val="tx2"/>
                    </a:solidFill>
                  </a:tcPr>
                </a:tc>
                <a:tc>
                  <a:txBody>
                    <a:bodyPr wrap="square"/>
                    <a:lstStyle/>
                    <a:p>
                      <a:r>
                        <a:rPr sz="1300" b="1">
                          <a:solidFill>
                            <a:schemeClr val="bg1"/>
                          </a:solidFill>
                        </a:rPr>
                        <a:t>Share Black</a:t>
                      </a:r>
                    </a:p>
                  </a:txBody>
                  <a:tcPr marL="91440" marR="91440" marT="36576" marB="36576" anchor="ctr">
                    <a:solidFill>
                      <a:schemeClr val="tx2"/>
                    </a:solidFill>
                  </a:tcPr>
                </a:tc>
                <a:tc>
                  <a:txBody>
                    <a:bodyPr wrap="square"/>
                    <a:lstStyle/>
                    <a:p>
                      <a:r>
                        <a:rPr sz="1300" b="1">
                          <a:solidFill>
                            <a:schemeClr val="bg1"/>
                          </a:solidFill>
                        </a:rPr>
                        <a:t>Income</a:t>
                      </a:r>
                    </a:p>
                  </a:txBody>
                  <a:tcPr marL="91440" marR="91440" marT="36576" marB="36576" anchor="ctr">
                    <a:solidFill>
                      <a:schemeClr val="tx2"/>
                    </a:solidFill>
                  </a:tcPr>
                </a:tc>
              </a:tr>
              <a:tr h="365760">
                <a:tc>
                  <a:txBody>
                    <a:bodyPr wrap="square"/>
                    <a:lstStyle/>
                    <a:p>
                      <a:r>
                        <a:rPr sz="1300" b="1">
                          <a:solidFill>
                            <a:schemeClr val="tx1"/>
                          </a:solidFill>
                        </a:rPr>
                        <a:t>2019</a:t>
                      </a:r>
                    </a:p>
                  </a:txBody>
                  <a:tcPr marL="91440" marR="91440" marT="36576" marB="36576" anchor="ctr">
                    <a:solidFill>
                      <a:schemeClr val="bg1"/>
                    </a:solidFill>
                  </a:tcPr>
                </a:tc>
                <a:tc>
                  <a:txBody>
                    <a:bodyPr wrap="square"/>
                    <a:lstStyle/>
                    <a:p>
                      <a:r>
                        <a:rPr sz="1300" b="0">
                          <a:solidFill>
                            <a:schemeClr val="tx1"/>
                          </a:solidFill>
                        </a:rPr>
                        <a:t>-11.7%</a:t>
                      </a:r>
                    </a:p>
                  </a:txBody>
                  <a:tcPr marL="91440" marR="91440" marT="36576" marB="36576" anchor="ctr">
                    <a:solidFill>
                      <a:schemeClr val="bg1"/>
                    </a:solidFill>
                  </a:tcPr>
                </a:tc>
                <a:tc>
                  <a:txBody>
                    <a:bodyPr wrap="square"/>
                    <a:lstStyle/>
                    <a:p>
                      <a:r>
                        <a:rPr sz="1300" b="0">
                          <a:solidFill>
                            <a:schemeClr val="tx1"/>
                          </a:solidFill>
                        </a:rPr>
                        <a:t>+0.005</a:t>
                      </a:r>
                    </a:p>
                  </a:txBody>
                  <a:tcPr marL="91440" marR="91440" marT="36576" marB="36576" anchor="ctr">
                    <a:solidFill>
                      <a:schemeClr val="bg1"/>
                    </a:solidFill>
                  </a:tcPr>
                </a:tc>
                <a:tc>
                  <a:txBody>
                    <a:bodyPr wrap="square"/>
                    <a:lstStyle/>
                    <a:p>
                      <a:r>
                        <a:rPr sz="1300" b="0">
                          <a:solidFill>
                            <a:schemeClr val="tx1"/>
                          </a:solidFill>
                        </a:rPr>
                        <a:t>-2.1%</a:t>
                      </a:r>
                    </a:p>
                  </a:txBody>
                  <a:tcPr marL="91440" marR="91440" marT="36576" marB="36576" anchor="ctr">
                    <a:solidFill>
                      <a:schemeClr val="bg1"/>
                    </a:solidFill>
                  </a:tcPr>
                </a:tc>
              </a:tr>
              <a:tr h="365760">
                <a:tc>
                  <a:txBody>
                    <a:bodyPr wrap="square"/>
                    <a:lstStyle/>
                    <a:p>
                      <a:r>
                        <a:rPr sz="1300" b="1">
                          <a:solidFill>
                            <a:schemeClr val="tx1"/>
                          </a:solidFill>
                        </a:rPr>
                        <a:t>2020</a:t>
                      </a:r>
                    </a:p>
                  </a:txBody>
                  <a:tcPr marL="91440" marR="91440" marT="36576" marB="36576" anchor="ctr">
                    <a:solidFill>
                      <a:schemeClr val="bg1"/>
                    </a:solidFill>
                  </a:tcPr>
                </a:tc>
                <a:tc>
                  <a:txBody>
                    <a:bodyPr wrap="square"/>
                    <a:lstStyle/>
                    <a:p>
                      <a:r>
                        <a:rPr sz="1300" b="0">
                          <a:solidFill>
                            <a:schemeClr val="tx1"/>
                          </a:solidFill>
                        </a:rPr>
                        <a:t>-4.0%</a:t>
                      </a:r>
                    </a:p>
                  </a:txBody>
                  <a:tcPr marL="91440" marR="91440" marT="36576" marB="36576" anchor="ctr">
                    <a:solidFill>
                      <a:schemeClr val="bg1"/>
                    </a:solidFill>
                  </a:tcPr>
                </a:tc>
                <a:tc>
                  <a:txBody>
                    <a:bodyPr wrap="square"/>
                    <a:lstStyle/>
                    <a:p>
                      <a:r>
                        <a:rPr sz="1300" b="0">
                          <a:solidFill>
                            <a:schemeClr val="tx1"/>
                          </a:solidFill>
                        </a:rPr>
                        <a:t>+0.004</a:t>
                      </a:r>
                    </a:p>
                  </a:txBody>
                  <a:tcPr marL="91440" marR="91440" marT="36576" marB="36576" anchor="ctr">
                    <a:solidFill>
                      <a:schemeClr val="bg1"/>
                    </a:solidFill>
                  </a:tcPr>
                </a:tc>
                <a:tc>
                  <a:txBody>
                    <a:bodyPr wrap="square"/>
                    <a:lstStyle/>
                    <a:p>
                      <a:r>
                        <a:rPr sz="1300" b="0">
                          <a:solidFill>
                            <a:schemeClr val="tx1"/>
                          </a:solidFill>
                        </a:rPr>
                        <a:t>-1.5%</a:t>
                      </a:r>
                    </a:p>
                  </a:txBody>
                  <a:tcPr marL="91440" marR="91440" marT="36576" marB="36576" anchor="ctr">
                    <a:solidFill>
                      <a:schemeClr val="bg1"/>
                    </a:solidFill>
                  </a:tcPr>
                </a:tc>
              </a:tr>
              <a:tr h="365760">
                <a:tc>
                  <a:txBody>
                    <a:bodyPr wrap="square"/>
                    <a:lstStyle/>
                    <a:p>
                      <a:r>
                        <a:rPr sz="1300" b="1">
                          <a:solidFill>
                            <a:schemeClr val="tx1"/>
                          </a:solidFill>
                        </a:rPr>
                        <a:t>2021</a:t>
                      </a:r>
                    </a:p>
                  </a:txBody>
                  <a:tcPr marL="91440" marR="91440" marT="36576" marB="36576" anchor="ctr">
                    <a:solidFill>
                      <a:schemeClr val="bg1"/>
                    </a:solidFill>
                  </a:tcPr>
                </a:tc>
                <a:tc>
                  <a:txBody>
                    <a:bodyPr wrap="square"/>
                    <a:lstStyle/>
                    <a:p>
                      <a:r>
                        <a:rPr sz="1300" b="0">
                          <a:solidFill>
                            <a:schemeClr val="tx1"/>
                          </a:solidFill>
                        </a:rPr>
                        <a:t>-0.1%</a:t>
                      </a:r>
                    </a:p>
                  </a:txBody>
                  <a:tcPr marL="91440" marR="91440" marT="36576" marB="36576" anchor="ctr">
                    <a:solidFill>
                      <a:schemeClr val="bg1"/>
                    </a:solidFill>
                  </a:tcPr>
                </a:tc>
                <a:tc>
                  <a:txBody>
                    <a:bodyPr wrap="square"/>
                    <a:lstStyle/>
                    <a:p>
                      <a:r>
                        <a:rPr sz="1300" b="0">
                          <a:solidFill>
                            <a:schemeClr val="tx1"/>
                          </a:solidFill>
                        </a:rPr>
                        <a:t>+0.016</a:t>
                      </a:r>
                    </a:p>
                  </a:txBody>
                  <a:tcPr marL="91440" marR="91440" marT="36576" marB="36576" anchor="ctr">
                    <a:solidFill>
                      <a:schemeClr val="bg1"/>
                    </a:solidFill>
                  </a:tcPr>
                </a:tc>
                <a:tc>
                  <a:txBody>
                    <a:bodyPr wrap="square"/>
                    <a:lstStyle/>
                    <a:p>
                      <a:r>
                        <a:rPr sz="1300" b="0">
                          <a:solidFill>
                            <a:schemeClr val="tx1"/>
                          </a:solidFill>
                        </a:rPr>
                        <a:t>+3.1%</a:t>
                      </a:r>
                    </a:p>
                  </a:txBody>
                  <a:tcPr marL="91440" marR="91440" marT="36576" marB="36576" anchor="ctr">
                    <a:solidFill>
                      <a:schemeClr val="bg1"/>
                    </a:solidFill>
                  </a:tcPr>
                </a:tc>
              </a:tr>
              <a:tr h="365760">
                <a:tc>
                  <a:txBody>
                    <a:bodyPr wrap="square"/>
                    <a:lstStyle/>
                    <a:p>
                      <a:r>
                        <a:rPr sz="1300" b="1">
                          <a:solidFill>
                            <a:schemeClr val="tx1"/>
                          </a:solidFill>
                        </a:rPr>
                        <a:t>2022</a:t>
                      </a:r>
                    </a:p>
                  </a:txBody>
                  <a:tcPr marL="91440" marR="91440" marT="36576" marB="36576" anchor="ctr">
                    <a:solidFill>
                      <a:schemeClr val="bg1"/>
                    </a:solidFill>
                  </a:tcPr>
                </a:tc>
                <a:tc>
                  <a:txBody>
                    <a:bodyPr wrap="square"/>
                    <a:lstStyle/>
                    <a:p>
                      <a:r>
                        <a:rPr sz="1300" b="0">
                          <a:solidFill>
                            <a:schemeClr val="tx1"/>
                          </a:solidFill>
                        </a:rPr>
                        <a:t>-0.6%</a:t>
                      </a:r>
                    </a:p>
                  </a:txBody>
                  <a:tcPr marL="91440" marR="91440" marT="36576" marB="36576" anchor="ctr">
                    <a:solidFill>
                      <a:schemeClr val="bg1"/>
                    </a:solidFill>
                  </a:tcPr>
                </a:tc>
                <a:tc>
                  <a:txBody>
                    <a:bodyPr wrap="square"/>
                    <a:lstStyle/>
                    <a:p>
                      <a:r>
                        <a:rPr sz="1300" b="0">
                          <a:solidFill>
                            <a:schemeClr val="tx1"/>
                          </a:solidFill>
                        </a:rPr>
                        <a:t>+0.021</a:t>
                      </a:r>
                    </a:p>
                  </a:txBody>
                  <a:tcPr marL="91440" marR="91440" marT="36576" marB="36576" anchor="ctr">
                    <a:solidFill>
                      <a:schemeClr val="bg1"/>
                    </a:solidFill>
                  </a:tcPr>
                </a:tc>
                <a:tc>
                  <a:txBody>
                    <a:bodyPr wrap="square"/>
                    <a:lstStyle/>
                    <a:p>
                      <a:r>
                        <a:rPr sz="1300" b="0">
                          <a:solidFill>
                            <a:schemeClr val="tx1"/>
                          </a:solidFill>
                        </a:rPr>
                        <a:t>+8.9%</a:t>
                      </a:r>
                    </a:p>
                  </a:txBody>
                  <a:tcPr marL="91440" marR="91440" marT="36576" marB="36576" anchor="ctr">
                    <a:solidFill>
                      <a:schemeClr val="bg1"/>
                    </a:solidFill>
                  </a:tcPr>
                </a:tc>
              </a:tr>
              <a:tr h="365760">
                <a:tc>
                  <a:txBody>
                    <a:bodyPr wrap="square"/>
                    <a:lstStyle/>
                    <a:p>
                      <a:r>
                        <a:rPr sz="1300" b="1">
                          <a:solidFill>
                            <a:schemeClr val="tx1"/>
                          </a:solidFill>
                        </a:rPr>
                        <a:t>2023</a:t>
                      </a:r>
                    </a:p>
                  </a:txBody>
                  <a:tcPr marL="91440" marR="91440" marT="36576" marB="36576" anchor="ctr">
                    <a:solidFill>
                      <a:schemeClr val="bg1"/>
                    </a:solidFill>
                  </a:tcPr>
                </a:tc>
                <a:tc>
                  <a:txBody>
                    <a:bodyPr wrap="square"/>
                    <a:lstStyle/>
                    <a:p>
                      <a:r>
                        <a:rPr sz="1300" b="0">
                          <a:solidFill>
                            <a:schemeClr val="tx1"/>
                          </a:solidFill>
                        </a:rPr>
                        <a:t>+0.5%</a:t>
                      </a:r>
                    </a:p>
                  </a:txBody>
                  <a:tcPr marL="91440" marR="91440" marT="36576" marB="36576" anchor="ctr">
                    <a:solidFill>
                      <a:schemeClr val="bg1"/>
                    </a:solidFill>
                  </a:tcPr>
                </a:tc>
                <a:tc>
                  <a:txBody>
                    <a:bodyPr wrap="square"/>
                    <a:lstStyle/>
                    <a:p>
                      <a:r>
                        <a:rPr sz="1300" b="0">
                          <a:solidFill>
                            <a:schemeClr val="tx1"/>
                          </a:solidFill>
                        </a:rPr>
                        <a:t>+0.015</a:t>
                      </a:r>
                    </a:p>
                  </a:txBody>
                  <a:tcPr marL="91440" marR="91440" marT="36576" marB="36576" anchor="ctr">
                    <a:solidFill>
                      <a:schemeClr val="bg1"/>
                    </a:solidFill>
                  </a:tcPr>
                </a:tc>
                <a:tc>
                  <a:txBody>
                    <a:bodyPr wrap="square"/>
                    <a:lstStyle/>
                    <a:p>
                      <a:r>
                        <a:rPr sz="1300" b="0">
                          <a:solidFill>
                            <a:schemeClr val="tx1"/>
                          </a:solidFill>
                        </a:rPr>
                        <a:t>+12.9%</a:t>
                      </a:r>
                    </a:p>
                  </a:txBody>
                  <a:tcPr marL="91440" marR="91440" marT="36576" marB="36576" anchor="ctr">
                    <a:solidFill>
                      <a:schemeClr val="bg1"/>
                    </a:solidFill>
                  </a:tcPr>
                </a:tc>
              </a:tr>
            </a:tbl>
          </a:graphicData>
        </a:graphic>
      </p:graphicFrame>
      <p:sp>
        <p:nvSpPr>
          <p:cNvPr id="16" name="Rounded Rectangle 15"/>
          <p:cNvSpPr/>
          <p:nvPr/>
        </p:nvSpPr>
        <p:spPr>
          <a:xfrm>
            <a:off x="7818120" y="4343400"/>
            <a:ext cx="3858768" cy="11430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01000" y="4343400"/>
            <a:ext cx="3566160" cy="1143000"/>
          </a:xfrm>
          <a:prstGeom prst="rect">
            <a:avLst/>
          </a:prstGeom>
          <a:noFill/>
        </p:spPr>
        <p:txBody>
          <a:bodyPr wrap="square" lIns="0" rIns="0" tIns="0" bIns="0" anchor="ctr">
            <a:spAutoFit/>
          </a:bodyPr>
          <a:lstStyle/>
          <a:p>
            <a:pPr algn="l">
              <a:spcAft>
                <a:spcPts val="200"/>
              </a:spcAft>
            </a:pPr>
            <a:r>
              <a:rPr sz="1400" b="1" i="0">
                <a:solidFill>
                  <a:schemeClr val="bg1"/>
                </a:solidFill>
              </a:rPr>
              <a:t>Rank of 44 (Fisher p)</a:t>
            </a:r>
          </a:p>
          <a:p>
            <a:pPr algn="l">
              <a:spcAft>
                <a:spcPts val="200"/>
              </a:spcAft>
            </a:pPr>
            <a:r>
              <a:rPr sz="1400" b="0" i="0">
                <a:solidFill>
                  <a:schemeClr val="bg1"/>
                </a:solidFill>
              </a:rPr>
              <a:t>Pop. 2 (0.045) · Black 6 (0.14) · Income 1 (0.023)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B6 · Placebo ZIPs</a:t>
            </a:r>
          </a:p>
        </p:txBody>
      </p:sp>
      <p:sp>
        <p:nvSpPr>
          <p:cNvPr id="3" name="Text Placeholder 2"/>
          <p:cNvSpPr>
            <a:spLocks noGrp="1"/>
          </p:cNvSpPr>
          <p:nvPr>
            <p:ph type="body" idx="12" sz="quarter"/>
          </p:nvPr>
        </p:nvSpPr>
        <p:spPr/>
        <p:txBody>
          <a:bodyPr/>
          <a:lstStyle/>
          <a:p>
            <a:r>
              <a:t>Each gray line is a donor ZIP run as if it were treated</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801367"/>
            <a:ext cx="8010144" cy="3685032"/>
          </a:xfrm>
          <a:prstGeom prst="roundRect">
            <a:avLst>
              <a:gd name="adj" fmla="val 3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3100_synth_placebos.png"/>
          <p:cNvPicPr>
            <a:picLocks noChangeAspect="1"/>
          </p:cNvPicPr>
          <p:nvPr/>
        </p:nvPicPr>
        <p:blipFill>
          <a:blip r:embed="rId3"/>
          <a:stretch>
            <a:fillRect/>
          </a:stretch>
        </p:blipFill>
        <p:spPr>
          <a:xfrm>
            <a:off x="585216" y="1874519"/>
            <a:ext cx="7863840" cy="3538728"/>
          </a:xfrm>
          <a:prstGeom prst="rect">
            <a:avLst/>
          </a:prstGeom>
        </p:spPr>
      </p:pic>
      <p:sp>
        <p:nvSpPr>
          <p:cNvPr id="15" name="Rounded Rectangle 14"/>
          <p:cNvSpPr/>
          <p:nvPr/>
        </p:nvSpPr>
        <p:spPr>
          <a:xfrm>
            <a:off x="8778240" y="1828800"/>
            <a:ext cx="2898648" cy="35661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06840" y="1828800"/>
            <a:ext cx="2468880" cy="3566160"/>
          </a:xfrm>
          <a:prstGeom prst="rect">
            <a:avLst/>
          </a:prstGeom>
          <a:noFill/>
        </p:spPr>
        <p:txBody>
          <a:bodyPr wrap="square" lIns="0" rIns="0" tIns="0" bIns="0" anchor="ctr">
            <a:spAutoFit/>
          </a:bodyPr>
          <a:lstStyle/>
          <a:p>
            <a:pPr algn="l">
              <a:spcAft>
                <a:spcPts val="800"/>
              </a:spcAft>
            </a:pPr>
            <a:r>
              <a:rPr sz="1600" b="1" i="0">
                <a:solidFill>
                  <a:schemeClr val="bg1"/>
                </a:solidFill>
              </a:rPr>
              <a:t>The 2019 population dip and the income rise from 2021 stand out from the placebo ZIPs.</a:t>
            </a:r>
          </a:p>
          <a:p>
            <a:pPr algn="l">
              <a:spcAft>
                <a:spcPts val="800"/>
              </a:spcAft>
            </a:pPr>
            <a:r>
              <a:rPr sz="1600" b="0" i="0">
                <a:solidFill>
                  <a:schemeClr val="bg1"/>
                </a:solidFill>
              </a:rPr>
              <a:t>Share Black stays inside the gray cloud: no change, as planted. A null result is a result.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B7 · Raw ZIP trends</a:t>
            </a:r>
          </a:p>
        </p:txBody>
      </p:sp>
      <p:sp>
        <p:nvSpPr>
          <p:cNvPr id="3" name="Text Placeholder 2"/>
          <p:cNvSpPr>
            <a:spLocks noGrp="1"/>
          </p:cNvSpPr>
          <p:nvPr>
            <p:ph type="body" idx="12" sz="quarter"/>
          </p:nvPr>
        </p:nvSpPr>
        <p:spPr/>
        <p:txBody>
          <a:bodyPr/>
          <a:lstStyle/>
          <a:p>
            <a:r>
              <a:t>ZIP 63106 vs. other St. Louis City and County ZIPs (mock ACS)</a:t>
            </a:r>
          </a:p>
        </p:txBody>
      </p:sp>
      <p:sp>
        <p:nvSpPr>
          <p:cNvPr id="4" name="Text Placeholder 3"/>
          <p:cNvSpPr>
            <a:spLocks noGrp="1"/>
          </p:cNvSpPr>
          <p:nvPr>
            <p:ph type="body" idx="14" sz="quarter"/>
          </p:nvPr>
        </p:nvSpPr>
        <p:spPr/>
        <p:txBody>
          <a:bodyPr/>
          <a:lstStyle/>
          <a:p>
            <a:r>
              <a:t>Backup · use only if the live demo stalls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801367"/>
            <a:ext cx="8010144" cy="3685032"/>
          </a:xfrm>
          <a:prstGeom prst="roundRect">
            <a:avLst>
              <a:gd name="adj" fmla="val 3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2000_zip_trends.png"/>
          <p:cNvPicPr>
            <a:picLocks noChangeAspect="1"/>
          </p:cNvPicPr>
          <p:nvPr/>
        </p:nvPicPr>
        <p:blipFill>
          <a:blip r:embed="rId3"/>
          <a:stretch>
            <a:fillRect/>
          </a:stretch>
        </p:blipFill>
        <p:spPr>
          <a:xfrm>
            <a:off x="585216" y="1874519"/>
            <a:ext cx="7863840" cy="3538728"/>
          </a:xfrm>
          <a:prstGeom prst="rect">
            <a:avLst/>
          </a:prstGeom>
        </p:spPr>
      </p:pic>
      <p:sp>
        <p:nvSpPr>
          <p:cNvPr id="15" name="Rounded Rectangle 14"/>
          <p:cNvSpPr/>
          <p:nvPr/>
        </p:nvSpPr>
        <p:spPr>
          <a:xfrm>
            <a:off x="8778240" y="1828800"/>
            <a:ext cx="2898648" cy="35661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06840" y="1828800"/>
            <a:ext cx="2468880" cy="3566160"/>
          </a:xfrm>
          <a:prstGeom prst="rect">
            <a:avLst/>
          </a:prstGeom>
          <a:noFill/>
        </p:spPr>
        <p:txBody>
          <a:bodyPr wrap="square" lIns="0" rIns="0" tIns="0" bIns="0" anchor="ctr">
            <a:spAutoFit/>
          </a:bodyPr>
          <a:lstStyle/>
          <a:p>
            <a:pPr algn="l">
              <a:spcAft>
                <a:spcPts val="800"/>
              </a:spcAft>
            </a:pPr>
            <a:r>
              <a:rPr sz="1600" b="1" i="0">
                <a:solidFill>
                  <a:schemeClr val="tx2"/>
                </a:solidFill>
              </a:rPr>
              <a:t>A picture, not an estimate.</a:t>
            </a:r>
          </a:p>
          <a:p>
            <a:pPr algn="l">
              <a:spcAft>
                <a:spcPts val="800"/>
              </a:spcAft>
            </a:pPr>
            <a:r>
              <a:rPr sz="1600" b="0" i="0">
                <a:solidFill>
                  <a:schemeClr val="tx1"/>
                </a:solidFill>
              </a:rPr>
              <a:t>The synthetic control (B5) is the comparison; these raw trends show why 63106 needed a matched counterfactual.</a:t>
            </a:r>
          </a:p>
        </p:txBody>
      </p:sp>
    </p:spTree>
  </p:cSld>
  <p:clrMapOvr>
    <a:masterClrMapping/>
  </p:clrMapOvr>
</p:sld>
</file>

<file path=ppt/theme/theme1.xml><?xml version="1.0" encoding="utf-8"?>
<a:theme xmlns:a="http://schemas.openxmlformats.org/drawingml/2006/main" name="Office Theme">
  <a:themeElements>
    <a:clrScheme name="WashU Medicine">
      <a:dk1>
        <a:srgbClr val="000000"/>
      </a:dk1>
      <a:lt1>
        <a:srgbClr val="FFFFFF"/>
      </a:lt1>
      <a:dk2>
        <a:srgbClr val="BA0C2F"/>
      </a:dk2>
      <a:lt2>
        <a:srgbClr val="F5F2EE"/>
      </a:lt2>
      <a:accent1>
        <a:srgbClr val="971B2F"/>
      </a:accent1>
      <a:accent2>
        <a:srgbClr val="D9D9D6"/>
      </a:accent2>
      <a:accent3>
        <a:srgbClr val="215732"/>
      </a:accent3>
      <a:accent4>
        <a:srgbClr val="B5E3D8"/>
      </a:accent4>
      <a:accent5>
        <a:srgbClr val="13322B"/>
      </a:accent5>
      <a:accent6>
        <a:srgbClr val="007D8A"/>
      </a:accent6>
      <a:hlink>
        <a:srgbClr val="BA0C2F"/>
      </a:hlink>
      <a:folHlink>
        <a:srgbClr val="BA0C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accent1"/>
          </a:solidFill>
        </a:ln>
      </a:spPr>
      <a:bodyPr/>
      <a:lstStyle/>
      <a:style>
        <a:lnRef idx="1">
          <a:schemeClr val="accent6"/>
        </a:lnRef>
        <a:fillRef idx="0">
          <a:schemeClr val="accent6"/>
        </a:fillRef>
        <a:effectRef idx="0">
          <a:schemeClr val="accent6"/>
        </a:effectRef>
        <a:fontRef idx="minor">
          <a:schemeClr val="tx1"/>
        </a:fontRef>
      </a:style>
    </a:lnDef>
  </a:objectDefaults>
  <a:extraClrSchemeLst/>
  <a:custClrLst>
    <a:custClr name="WashU Green">
      <a:srgbClr val="215732"/>
    </a:custClr>
    <a:custClr name="Dark Green">
      <a:srgbClr val="13322B"/>
    </a:custClr>
    <a:custClr name="Coral">
      <a:srgbClr val="FF6D6A"/>
    </a:custClr>
    <a:custClr name="Custom Color 4">
      <a:srgbClr val="F1B434"/>
    </a:custClr>
    <a:custClr name="Teal">
      <a:srgbClr val="007D8A"/>
    </a:custClr>
    <a:custClr name="Mint">
      <a:srgbClr val="B5E3D8"/>
    </a:custClr>
    <a:custClr name="Gray">
      <a:srgbClr val="D9D9D6"/>
    </a:custClr>
  </a:custClrLst>
  <a:extLst>
    <a:ext uri="{05A4C25C-085E-4340-85A3-A5531E510DB2}">
      <thm15:themeFamily xmlns:thm15="http://schemas.microsoft.com/office/thememl/2012/main" name="Office Theme" id="{67E72386-5798-4EAD-80CA-990DB467CECF}" vid="{42220F3D-D07F-48BC-873E-53EDB36425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14349</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Georgia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default</dc:creator>
  <cp:lastModifiedBy>Chun, Yung</cp:lastModifiedBy>
  <cp:revision>679</cp:revision>
  <dcterms:created xsi:type="dcterms:W3CDTF">2013-07-09T17:46:55Z</dcterms:created>
  <dcterms:modified xsi:type="dcterms:W3CDTF">2025-09-25T16:12:24Z</dcterms:modified>
</cp:coreProperties>
</file>